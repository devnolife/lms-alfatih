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12192000"/>
  <p:notesSz cx="6858000" cy="9144000"/>
  <p:embeddedFontLst>
    <p:embeddedFont>
      <p:font typeface="Poppins"/>
      <p:regular r:id="rId51"/>
      <p:bold r:id="rId52"/>
      <p:italic r:id="rId53"/>
      <p:boldItalic r:id="rId54"/>
    </p:embeddedFont>
    <p:embeddedFont>
      <p:font typeface="Arial Narrow"/>
      <p:regular r:id="rId55"/>
      <p:bold r:id="rId56"/>
      <p:italic r:id="rId57"/>
      <p:boldItalic r:id="rId58"/>
    </p:embeddedFont>
    <p:embeddedFont>
      <p:font typeface="Helvetica Neue"/>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3" roundtripDataSignature="AMtx7miRIOJufb70FaTcXklij/kwrbB6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E380FBD-D633-47D7-B973-0376D4886842}">
  <a:tblStyle styleId="{6E380FBD-D633-47D7-B973-0376D488684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C48A6876-7C54-4576-B4CA-4D1448779AB6}"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HelveticaNeue-boldItalic.fntdata"/><Relationship Id="rId61" Type="http://schemas.openxmlformats.org/officeDocument/2006/relationships/font" Target="fonts/HelveticaNeue-italic.fntdata"/><Relationship Id="rId20" Type="http://schemas.openxmlformats.org/officeDocument/2006/relationships/slide" Target="slides/slide15.xml"/><Relationship Id="rId63"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HelveticaNeue-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regular.fntdata"/><Relationship Id="rId50" Type="http://schemas.openxmlformats.org/officeDocument/2006/relationships/slide" Target="slides/slide45.xml"/><Relationship Id="rId53" Type="http://schemas.openxmlformats.org/officeDocument/2006/relationships/font" Target="fonts/Poppins-italic.fntdata"/><Relationship Id="rId52" Type="http://schemas.openxmlformats.org/officeDocument/2006/relationships/font" Target="fonts/Poppins-bold.fntdata"/><Relationship Id="rId11" Type="http://schemas.openxmlformats.org/officeDocument/2006/relationships/slide" Target="slides/slide6.xml"/><Relationship Id="rId55" Type="http://schemas.openxmlformats.org/officeDocument/2006/relationships/font" Target="fonts/ArialNarrow-regular.fntdata"/><Relationship Id="rId10" Type="http://schemas.openxmlformats.org/officeDocument/2006/relationships/slide" Target="slides/slide5.xml"/><Relationship Id="rId54" Type="http://schemas.openxmlformats.org/officeDocument/2006/relationships/font" Target="fonts/Poppins-boldItalic.fntdata"/><Relationship Id="rId13" Type="http://schemas.openxmlformats.org/officeDocument/2006/relationships/slide" Target="slides/slide8.xml"/><Relationship Id="rId57" Type="http://schemas.openxmlformats.org/officeDocument/2006/relationships/font" Target="fonts/ArialNarrow-italic.fntdata"/><Relationship Id="rId12" Type="http://schemas.openxmlformats.org/officeDocument/2006/relationships/slide" Target="slides/slide7.xml"/><Relationship Id="rId56" Type="http://schemas.openxmlformats.org/officeDocument/2006/relationships/font" Target="fonts/ArialNarrow-bold.fntdata"/><Relationship Id="rId15" Type="http://schemas.openxmlformats.org/officeDocument/2006/relationships/slide" Target="slides/slide10.xml"/><Relationship Id="rId59" Type="http://schemas.openxmlformats.org/officeDocument/2006/relationships/font" Target="fonts/HelveticaNeue-regular.fntdata"/><Relationship Id="rId14" Type="http://schemas.openxmlformats.org/officeDocument/2006/relationships/slide" Target="slides/slide9.xml"/><Relationship Id="rId58" Type="http://schemas.openxmlformats.org/officeDocument/2006/relationships/font" Target="fonts/ArialNarrow-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 name="Google Shape;6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Pengajaran AI dalam pendidikan K-12 dapat dilakukan dengan berbagai cara, dengan argumen untuk kursus terpisah dan integrasi ke dalam kurikulum Ilmu Komputer.</a:t>
            </a:r>
            <a:endParaRPr/>
          </a:p>
          <a:p>
            <a:pPr indent="0" lvl="0" marL="0" rtl="0" algn="l">
              <a:lnSpc>
                <a:spcPct val="100000"/>
              </a:lnSpc>
              <a:spcBef>
                <a:spcPts val="0"/>
              </a:spcBef>
              <a:spcAft>
                <a:spcPts val="0"/>
              </a:spcAft>
              <a:buSzPts val="1400"/>
              <a:buNone/>
            </a:pPr>
            <a:r>
              <a:rPr lang="en-US"/>
              <a:t>Kursus AI terpisah dapat memberikan pembelajaran yang terfokus, sementara integrasi dapat meningkatkan pemahaman AI dalam konsep komputasi yang lebih luas, mempromosikan keterampilan interdisipliner.</a:t>
            </a:r>
            <a:endParaRPr/>
          </a:p>
        </p:txBody>
      </p:sp>
      <p:sp>
        <p:nvSpPr>
          <p:cNvPr id="128" name="Google Shape;12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Kursus AI Terpisah</a:t>
            </a:r>
            <a:endParaRPr/>
          </a:p>
          <a:p>
            <a:pPr indent="0" lvl="0" marL="0" rtl="0" algn="l">
              <a:lnSpc>
                <a:spcPct val="100000"/>
              </a:lnSpc>
              <a:spcBef>
                <a:spcPts val="0"/>
              </a:spcBef>
              <a:spcAft>
                <a:spcPts val="0"/>
              </a:spcAft>
              <a:buSzPts val="1400"/>
              <a:buNone/>
            </a:pPr>
            <a:r>
              <a:rPr lang="en-US"/>
              <a:t>Pembelajaran Terfokus:</a:t>
            </a:r>
            <a:endParaRPr/>
          </a:p>
          <a:p>
            <a:pPr indent="0" lvl="0" marL="0" rtl="0" algn="l">
              <a:lnSpc>
                <a:spcPct val="100000"/>
              </a:lnSpc>
              <a:spcBef>
                <a:spcPts val="0"/>
              </a:spcBef>
              <a:spcAft>
                <a:spcPts val="0"/>
              </a:spcAft>
              <a:buSzPts val="1400"/>
              <a:buNone/>
            </a:pPr>
            <a:r>
              <a:rPr lang="en-US"/>
              <a:t>Kursus AI khusus memungkinkan eksplorasi mendalam terhadap konsep, teknik, dan aplikasi AI.</a:t>
            </a:r>
            <a:endParaRPr/>
          </a:p>
          <a:p>
            <a:pPr indent="0" lvl="0" marL="0" rtl="0" algn="l">
              <a:lnSpc>
                <a:spcPct val="100000"/>
              </a:lnSpc>
              <a:spcBef>
                <a:spcPts val="0"/>
              </a:spcBef>
              <a:spcAft>
                <a:spcPts val="0"/>
              </a:spcAft>
              <a:buSzPts val="1400"/>
              <a:buNone/>
            </a:pPr>
            <a:r>
              <a:rPr lang="en-US"/>
              <a:t>Spesialisasi:</a:t>
            </a:r>
            <a:endParaRPr/>
          </a:p>
          <a:p>
            <a:pPr indent="0" lvl="0" marL="0" rtl="0" algn="l">
              <a:lnSpc>
                <a:spcPct val="100000"/>
              </a:lnSpc>
              <a:spcBef>
                <a:spcPts val="0"/>
              </a:spcBef>
              <a:spcAft>
                <a:spcPts val="0"/>
              </a:spcAft>
              <a:buSzPts val="1400"/>
              <a:buNone/>
            </a:pPr>
            <a:r>
              <a:rPr lang="en-US"/>
              <a:t>Siswa dapat mengembangkan keterampilan dan pengetahuan khusus yang terkait dengan AI, mempersiapkan mereka untuk studi atau karier masa depan di bidang ini.</a:t>
            </a:r>
            <a:endParaRPr/>
          </a:p>
          <a:p>
            <a:pPr indent="0" lvl="0" marL="0" rtl="0" algn="l">
              <a:lnSpc>
                <a:spcPct val="100000"/>
              </a:lnSpc>
              <a:spcBef>
                <a:spcPts val="0"/>
              </a:spcBef>
              <a:spcAft>
                <a:spcPts val="0"/>
              </a:spcAft>
              <a:buSzPts val="1400"/>
              <a:buNone/>
            </a:pPr>
            <a:r>
              <a:rPr lang="en-US"/>
              <a:t>Fleksibilitas Kurikulum:</a:t>
            </a:r>
            <a:endParaRPr/>
          </a:p>
          <a:p>
            <a:pPr indent="0" lvl="0" marL="0" rtl="0" algn="l">
              <a:lnSpc>
                <a:spcPct val="100000"/>
              </a:lnSpc>
              <a:spcBef>
                <a:spcPts val="0"/>
              </a:spcBef>
              <a:spcAft>
                <a:spcPts val="0"/>
              </a:spcAft>
              <a:buSzPts val="1400"/>
              <a:buNone/>
            </a:pPr>
            <a:r>
              <a:rPr lang="en-US"/>
              <a:t>Kursus mandiri dapat disesuaikan untuk mencakup kemajuan terbaru dalam AI, memastikan bahwa siswa mempelajari materi terkini dan relevan.</a:t>
            </a:r>
            <a:endParaRPr/>
          </a:p>
        </p:txBody>
      </p:sp>
      <p:sp>
        <p:nvSpPr>
          <p:cNvPr id="135" name="Google Shape;13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Integrasi ke dalam Kurikulum Ilmu Komputer</a:t>
            </a:r>
            <a:endParaRPr/>
          </a:p>
          <a:p>
            <a:pPr indent="0" lvl="0" marL="0" rtl="0" algn="l">
              <a:lnSpc>
                <a:spcPct val="100000"/>
              </a:lnSpc>
              <a:spcBef>
                <a:spcPts val="0"/>
              </a:spcBef>
              <a:spcAft>
                <a:spcPts val="0"/>
              </a:spcAft>
              <a:buSzPts val="1400"/>
              <a:buNone/>
            </a:pPr>
            <a:r>
              <a:rPr lang="en-US"/>
              <a:t>Pemahaman Kontekstual:</a:t>
            </a:r>
            <a:endParaRPr/>
          </a:p>
          <a:p>
            <a:pPr indent="0" lvl="0" marL="0" rtl="0" algn="l">
              <a:lnSpc>
                <a:spcPct val="100000"/>
              </a:lnSpc>
              <a:spcBef>
                <a:spcPts val="0"/>
              </a:spcBef>
              <a:spcAft>
                <a:spcPts val="0"/>
              </a:spcAft>
              <a:buSzPts val="1400"/>
              <a:buNone/>
            </a:pPr>
            <a:r>
              <a:rPr lang="en-US"/>
              <a:t>Mengintegrasikan AI ke dalam kurikulum CS membantu siswa melihat AI sebagai bagian dari lanskap teknologi yang lebih luas, meningkatkan pemahaman mereka secara menyeluruh tentang komputasi.</a:t>
            </a:r>
            <a:endParaRPr/>
          </a:p>
          <a:p>
            <a:pPr indent="0" lvl="0" marL="0" rtl="0" algn="l">
              <a:lnSpc>
                <a:spcPct val="100000"/>
              </a:lnSpc>
              <a:spcBef>
                <a:spcPts val="0"/>
              </a:spcBef>
              <a:spcAft>
                <a:spcPts val="0"/>
              </a:spcAft>
              <a:buSzPts val="1400"/>
              <a:buNone/>
            </a:pPr>
            <a:r>
              <a:rPr lang="en-US"/>
              <a:t>Keterampilan Interdisipliner:</a:t>
            </a:r>
            <a:endParaRPr/>
          </a:p>
          <a:p>
            <a:pPr indent="0" lvl="0" marL="0" rtl="0" algn="l">
              <a:lnSpc>
                <a:spcPct val="100000"/>
              </a:lnSpc>
              <a:spcBef>
                <a:spcPts val="0"/>
              </a:spcBef>
              <a:spcAft>
                <a:spcPts val="0"/>
              </a:spcAft>
              <a:buSzPts val="1400"/>
              <a:buNone/>
            </a:pPr>
            <a:r>
              <a:rPr lang="en-US"/>
              <a:t>Pendekatan ini mendorong siswa untuk menerapkan konsep AI di berbagai mata pelajaran, menumbuhkan keterampilan berpikir kritis dan pemecahan masalah.</a:t>
            </a:r>
            <a:endParaRPr/>
          </a:p>
          <a:p>
            <a:pPr indent="0" lvl="0" marL="0" rtl="0" algn="l">
              <a:lnSpc>
                <a:spcPct val="100000"/>
              </a:lnSpc>
              <a:spcBef>
                <a:spcPts val="0"/>
              </a:spcBef>
              <a:spcAft>
                <a:spcPts val="0"/>
              </a:spcAft>
              <a:buSzPts val="1400"/>
              <a:buNone/>
            </a:pPr>
            <a:r>
              <a:rPr lang="en-US"/>
              <a:t>Efisiensi Sumber Daya:</a:t>
            </a:r>
            <a:endParaRPr/>
          </a:p>
          <a:p>
            <a:pPr indent="0" lvl="0" marL="0" rtl="0" algn="l">
              <a:lnSpc>
                <a:spcPct val="100000"/>
              </a:lnSpc>
              <a:spcBef>
                <a:spcPts val="0"/>
              </a:spcBef>
              <a:spcAft>
                <a:spcPts val="0"/>
              </a:spcAft>
              <a:buSzPts val="1400"/>
              <a:buNone/>
            </a:pPr>
            <a:r>
              <a:rPr lang="en-US"/>
              <a:t>Memanfaatkan kelas CS yang ada untuk mengajarkan AI dapat lebih efisien dalam hal sumber daya, karena memanfaatkan staf pengajar dan materi saat ini.</a:t>
            </a:r>
            <a:endParaRPr/>
          </a:p>
        </p:txBody>
      </p:sp>
      <p:sp>
        <p:nvSpPr>
          <p:cNvPr id="142" name="Google Shape;14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Komputer hanyalah sebuah mesin yang dapat memproses serangkaian instruksi sederhana dengan sangat cepat.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Seperangkat instruksi yang diprosesnya</a:t>
            </a:r>
            <a:endParaRPr/>
          </a:p>
          <a:p>
            <a:pPr indent="0" lvl="0" marL="0" rtl="0" algn="l">
              <a:lnSpc>
                <a:spcPct val="100000"/>
              </a:lnSpc>
              <a:spcBef>
                <a:spcPts val="0"/>
              </a:spcBef>
              <a:spcAft>
                <a:spcPts val="0"/>
              </a:spcAft>
              <a:buSzPts val="1400"/>
              <a:buNone/>
            </a:pPr>
            <a:r>
              <a:rPr lang="en-US"/>
              <a:t>dikenal sebagai "program", dan instruksinya dikenal sebagai "kode".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Orang yang menulis program komputer dikenal sebagai "programmer" atau "coder". Program mereka telah memungkinkan komputer menjadi berguna di hampir setiap bidang kehidupan modern: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Program tingkat tinggi modern secara otomatis diterjemahkan ke dalam kode mesin yang dapat dipahami komputer oleh "kompiler" atau "penerjemah". Untuk menjadi seorang pembuat kode, Anda biasanya harus mempelajari setidaknya satu dari bahasa pemrograman tingkat tinggi ini:</a:t>
            </a:r>
            <a:endParaRPr/>
          </a:p>
          <a:p>
            <a:pPr indent="0" lvl="0" marL="0" rtl="0" algn="l">
              <a:lnSpc>
                <a:spcPct val="100000"/>
              </a:lnSpc>
              <a:spcBef>
                <a:spcPts val="0"/>
              </a:spcBef>
              <a:spcAft>
                <a:spcPts val="0"/>
              </a:spcAft>
              <a:buSzPts val="1400"/>
              <a:buNone/>
            </a:pPr>
            <a:r>
              <a:rPr lang="en-US"/>
              <a:t>C – Bahasa terkompilasi yang canggih yang dipetakan secara dekat dengan kode mesin dan digunakan untuk mengembangkan sistem operasi.</a:t>
            </a:r>
            <a:endParaRPr/>
          </a:p>
          <a:p>
            <a:pPr indent="0" lvl="0" marL="0" rtl="0" algn="l">
              <a:lnSpc>
                <a:spcPct val="100000"/>
              </a:lnSpc>
              <a:spcBef>
                <a:spcPts val="0"/>
              </a:spcBef>
              <a:spcAft>
                <a:spcPts val="0"/>
              </a:spcAft>
              <a:buSzPts val="1400"/>
              <a:buNone/>
            </a:pPr>
            <a:r>
              <a:rPr lang="en-US"/>
              <a:t>C++ – Bahasa terkompilasi yang disempurnakan yang dikembangkan pada C untuk menyediakan kelas bagi Pemrograman Berorientasi Objek (OOP).</a:t>
            </a:r>
            <a:endParaRPr/>
          </a:p>
          <a:p>
            <a:pPr indent="0" lvl="0" marL="0" rtl="0" algn="l">
              <a:lnSpc>
                <a:spcPct val="100000"/>
              </a:lnSpc>
              <a:spcBef>
                <a:spcPts val="0"/>
              </a:spcBef>
              <a:spcAft>
                <a:spcPts val="0"/>
              </a:spcAft>
              <a:buSzPts val="1400"/>
              <a:buNone/>
            </a:pPr>
            <a:r>
              <a:rPr lang="en-US"/>
              <a:t>C# – Bahasa terkompilasi modern yang dirancang oleh Microsoft untuk kerangka kerja .NET dan Infrastruktur Bahasa Umum.</a:t>
            </a:r>
            <a:endParaRPr/>
          </a:p>
          <a:p>
            <a:pPr indent="0" lvl="0" marL="0" rtl="0" algn="l">
              <a:lnSpc>
                <a:spcPct val="100000"/>
              </a:lnSpc>
              <a:spcBef>
                <a:spcPts val="0"/>
              </a:spcBef>
              <a:spcAft>
                <a:spcPts val="0"/>
              </a:spcAft>
              <a:buSzPts val="1400"/>
              <a:buNone/>
            </a:pPr>
            <a:r>
              <a:rPr lang="en-US"/>
              <a:t>Java – Bahasa terkompilasi portabel yang dirancang untuk berjalan pada platform apa pun terlepas dari arsitektur perangkat kerasnya.</a:t>
            </a:r>
            <a:endParaRPr/>
          </a:p>
          <a:p>
            <a:pPr indent="0" lvl="0" marL="0" rtl="0" algn="l">
              <a:lnSpc>
                <a:spcPct val="100000"/>
              </a:lnSpc>
              <a:spcBef>
                <a:spcPts val="0"/>
              </a:spcBef>
              <a:spcAft>
                <a:spcPts val="0"/>
              </a:spcAft>
              <a:buSzPts val="1400"/>
              <a:buNone/>
            </a:pPr>
            <a:r>
              <a:rPr lang="en-US"/>
              <a:t>Python – Bahasa terinterpretasi dinamis yang memungkinkan Pemrograman fungsional dan Berorientasi Objek (OOP)</a:t>
            </a:r>
            <a:endParaRPr/>
          </a:p>
        </p:txBody>
      </p:sp>
      <p:sp>
        <p:nvSpPr>
          <p:cNvPr id="172" name="Google Shape;17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Istilah konstruksi perangkat lunak mengacu pada pembuatan perangkat lunak yang berfungsi secara terperinci melalui kombinasi pengodean, verifikasi, pengujian unit, pengujian integrasi, dan penelusuran kesalahan.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Karena konstruksi perangkat lunak memerlukan pengetahuan tentang algoritma dan praktik pengodean, hal ini terkait erat dengan Computing Foundations KA, yang berkaitan dengan dasar-dasar ilmu komputer yang mendukung desain dan konstruksi produk perangkat lunak.</a:t>
            </a:r>
            <a:endParaRPr/>
          </a:p>
        </p:txBody>
      </p:sp>
      <p:sp>
        <p:nvSpPr>
          <p:cNvPr id="198" name="Google Shape;19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Pertimbangan berikut berlaku untuk aktivitas pengkodean konstruksi perangkat lunak</a:t>
            </a:r>
            <a:endParaRPr/>
          </a:p>
          <a:p>
            <a:pPr indent="0" lvl="0" marL="0" rtl="0" algn="l">
              <a:lnSpc>
                <a:spcPct val="100000"/>
              </a:lnSpc>
              <a:spcBef>
                <a:spcPts val="0"/>
              </a:spcBef>
              <a:spcAft>
                <a:spcPts val="0"/>
              </a:spcAft>
              <a:buSzPts val="1400"/>
              <a:buNone/>
            </a:pPr>
            <a:r>
              <a:rPr lang="en-US"/>
              <a:t>Teknik untuk membuat kode sumber yang dapat dipahami, termasuk konvensi penamaan dan tata letak kode sumber;</a:t>
            </a:r>
            <a:endParaRPr/>
          </a:p>
          <a:p>
            <a:pPr indent="0" lvl="0" marL="0" rtl="0" algn="l">
              <a:lnSpc>
                <a:spcPct val="100000"/>
              </a:lnSpc>
              <a:spcBef>
                <a:spcPts val="0"/>
              </a:spcBef>
              <a:spcAft>
                <a:spcPts val="0"/>
              </a:spcAft>
              <a:buSzPts val="1400"/>
              <a:buNone/>
            </a:pPr>
            <a:r>
              <a:rPr lang="en-US"/>
              <a:t>Penggunaan kelas, tipe terhitung, variabel, konstanta bernama, dan entitas serupa lainnya;</a:t>
            </a:r>
            <a:endParaRPr/>
          </a:p>
          <a:p>
            <a:pPr indent="0" lvl="0" marL="0" rtl="0" algn="l">
              <a:lnSpc>
                <a:spcPct val="100000"/>
              </a:lnSpc>
              <a:spcBef>
                <a:spcPts val="0"/>
              </a:spcBef>
              <a:spcAft>
                <a:spcPts val="0"/>
              </a:spcAft>
              <a:buSzPts val="1400"/>
              <a:buNone/>
            </a:pPr>
            <a:r>
              <a:rPr lang="en-US"/>
              <a:t>Penggunaan struktur kontrol;</a:t>
            </a:r>
            <a:endParaRPr/>
          </a:p>
          <a:p>
            <a:pPr indent="0" lvl="0" marL="0" rtl="0" algn="l">
              <a:lnSpc>
                <a:spcPct val="100000"/>
              </a:lnSpc>
              <a:spcBef>
                <a:spcPts val="0"/>
              </a:spcBef>
              <a:spcAft>
                <a:spcPts val="0"/>
              </a:spcAft>
              <a:buSzPts val="1400"/>
              <a:buNone/>
            </a:pPr>
            <a:r>
              <a:rPr lang="en-US"/>
              <a:t>Penanganan kondisi kesalahan—baik yang diantisipasi maupun yang luar biasa (misalnya, input data yang buruk);</a:t>
            </a:r>
            <a:endParaRPr/>
          </a:p>
          <a:p>
            <a:pPr indent="0" lvl="0" marL="0" rtl="0" algn="l">
              <a:lnSpc>
                <a:spcPct val="100000"/>
              </a:lnSpc>
              <a:spcBef>
                <a:spcPts val="0"/>
              </a:spcBef>
              <a:spcAft>
                <a:spcPts val="0"/>
              </a:spcAft>
              <a:buSzPts val="1400"/>
              <a:buNone/>
            </a:pPr>
            <a:r>
              <a:rPr lang="en-US"/>
              <a:t>Pencegahan pelanggaran keamanan tingkat kode (misalnya, luapan buffer atau batasan indeks array);</a:t>
            </a:r>
            <a:endParaRPr/>
          </a:p>
          <a:p>
            <a:pPr indent="0" lvl="0" marL="0" rtl="0" algn="l">
              <a:lnSpc>
                <a:spcPct val="100000"/>
              </a:lnSpc>
              <a:spcBef>
                <a:spcPts val="0"/>
              </a:spcBef>
              <a:spcAft>
                <a:spcPts val="0"/>
              </a:spcAft>
              <a:buSzPts val="1400"/>
              <a:buNone/>
            </a:pPr>
            <a:r>
              <a:rPr lang="en-US"/>
              <a:t>Penggunaan sumber daya melalui penggunaan mekanisme pengecualian dan disiplin dalam mengakses sumber daya yang dapat digunakan kembali secara serial (termasuk utas dan kunci basis data);</a:t>
            </a:r>
            <a:endParaRPr/>
          </a:p>
          <a:p>
            <a:pPr indent="0" lvl="0" marL="0" rtl="0" algn="l">
              <a:lnSpc>
                <a:spcPct val="100000"/>
              </a:lnSpc>
              <a:spcBef>
                <a:spcPts val="0"/>
              </a:spcBef>
              <a:spcAft>
                <a:spcPts val="0"/>
              </a:spcAft>
              <a:buSzPts val="1400"/>
              <a:buNone/>
            </a:pPr>
            <a:r>
              <a:rPr lang="en-US"/>
              <a:t>Pengorganisasian kode sumber (menjadi pernyataan, rutinitas, kelas, paket, atau struktur lainnya);</a:t>
            </a:r>
            <a:endParaRPr/>
          </a:p>
          <a:p>
            <a:pPr indent="0" lvl="0" marL="0" rtl="0" algn="l">
              <a:lnSpc>
                <a:spcPct val="100000"/>
              </a:lnSpc>
              <a:spcBef>
                <a:spcPts val="0"/>
              </a:spcBef>
              <a:spcAft>
                <a:spcPts val="0"/>
              </a:spcAft>
              <a:buSzPts val="1400"/>
              <a:buNone/>
            </a:pPr>
            <a:r>
              <a:rPr lang="en-US"/>
              <a:t>Pendokumentasian kode;</a:t>
            </a:r>
            <a:endParaRPr/>
          </a:p>
        </p:txBody>
      </p:sp>
      <p:sp>
        <p:nvSpPr>
          <p:cNvPr id="208" name="Google Shape;20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 name="Google Shape;412;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sp>
        <p:nvSpPr>
          <p:cNvPr id="16" name="Google Shape;16;p47"/>
          <p:cNvSpPr/>
          <p:nvPr/>
        </p:nvSpPr>
        <p:spPr>
          <a:xfrm>
            <a:off x="0" y="1166259"/>
            <a:ext cx="10167060" cy="5423028"/>
          </a:xfrm>
          <a:custGeom>
            <a:rect b="b" l="l" r="r" t="t"/>
            <a:pathLst>
              <a:path extrusionOk="0" h="5886598" w="11802702">
                <a:moveTo>
                  <a:pt x="0" y="0"/>
                </a:moveTo>
                <a:lnTo>
                  <a:pt x="11802702" y="0"/>
                </a:lnTo>
                <a:lnTo>
                  <a:pt x="11802702" y="5886598"/>
                </a:lnTo>
                <a:lnTo>
                  <a:pt x="0" y="5886598"/>
                </a:lnTo>
                <a:lnTo>
                  <a:pt x="0" y="0"/>
                </a:lnTo>
                <a:close/>
              </a:path>
            </a:pathLst>
          </a:custGeom>
          <a:blipFill rotWithShape="1">
            <a:blip r:embed="rId2">
              <a:alphaModFix amt="31999"/>
            </a:blip>
            <a:stretch>
              <a:fillRect b="0" l="0" r="0" t="0"/>
            </a:stretch>
          </a:blipFill>
          <a:ln>
            <a:noFill/>
          </a:ln>
        </p:spPr>
      </p:sp>
      <p:sp>
        <p:nvSpPr>
          <p:cNvPr id="17" name="Google Shape;17;p47"/>
          <p:cNvSpPr txBox="1"/>
          <p:nvPr>
            <p:ph type="ctrTitle"/>
          </p:nvPr>
        </p:nvSpPr>
        <p:spPr>
          <a:xfrm>
            <a:off x="404037" y="2723868"/>
            <a:ext cx="5996763" cy="19576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E75B5"/>
              </a:buClr>
              <a:buSzPts val="6000"/>
              <a:buFont typeface="Calibri"/>
              <a:buNone/>
              <a:defRPr b="1" sz="6000">
                <a:solidFill>
                  <a:srgbClr val="2E75B5"/>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7"/>
          <p:cNvSpPr txBox="1"/>
          <p:nvPr>
            <p:ph idx="1" type="subTitle"/>
          </p:nvPr>
        </p:nvSpPr>
        <p:spPr>
          <a:xfrm>
            <a:off x="404037" y="5071743"/>
            <a:ext cx="5996763" cy="135756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7030A0"/>
              </a:buClr>
              <a:buSzPts val="2400"/>
              <a:buNone/>
              <a:defRPr sz="2400">
                <a:solidFill>
                  <a:srgbClr val="7030A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47"/>
          <p:cNvSpPr/>
          <p:nvPr/>
        </p:nvSpPr>
        <p:spPr>
          <a:xfrm>
            <a:off x="4607442" y="29499"/>
            <a:ext cx="7570382" cy="6996223"/>
          </a:xfrm>
          <a:custGeom>
            <a:rect b="b" l="l" r="r" t="t"/>
            <a:pathLst>
              <a:path extrusionOk="0" h="6996223" w="7570382">
                <a:moveTo>
                  <a:pt x="3700130" y="0"/>
                </a:moveTo>
                <a:lnTo>
                  <a:pt x="0" y="6889898"/>
                </a:lnTo>
                <a:lnTo>
                  <a:pt x="7570382" y="6996223"/>
                </a:lnTo>
                <a:cubicBezTo>
                  <a:pt x="7563293" y="4664149"/>
                  <a:pt x="7556205" y="2353339"/>
                  <a:pt x="7549116" y="21265"/>
                </a:cubicBezTo>
                <a:lnTo>
                  <a:pt x="3700130" y="0"/>
                </a:lnTo>
                <a:close/>
              </a:path>
            </a:pathLst>
          </a:custGeom>
          <a:solidFill>
            <a:schemeClr val="accent1">
              <a:alpha val="4235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 name="Google Shape;20;p47"/>
          <p:cNvSpPr/>
          <p:nvPr/>
        </p:nvSpPr>
        <p:spPr>
          <a:xfrm>
            <a:off x="7461657" y="-395468"/>
            <a:ext cx="5041085" cy="5373859"/>
          </a:xfrm>
          <a:custGeom>
            <a:rect b="b" l="l" r="r" t="t"/>
            <a:pathLst>
              <a:path extrusionOk="0" h="5373859" w="5041085">
                <a:moveTo>
                  <a:pt x="0" y="0"/>
                </a:moveTo>
                <a:lnTo>
                  <a:pt x="5041085" y="0"/>
                </a:lnTo>
                <a:lnTo>
                  <a:pt x="5041085" y="5373860"/>
                </a:lnTo>
                <a:lnTo>
                  <a:pt x="0" y="5373860"/>
                </a:lnTo>
                <a:lnTo>
                  <a:pt x="0" y="0"/>
                </a:lnTo>
                <a:close/>
              </a:path>
            </a:pathLst>
          </a:custGeom>
          <a:blipFill rotWithShape="1">
            <a:blip r:embed="rId3">
              <a:alphaModFix amt="31000"/>
            </a:blip>
            <a:stretch>
              <a:fillRect b="0" l="0" r="0" t="0"/>
            </a:stretch>
          </a:blipFill>
          <a:ln>
            <a:noFill/>
          </a:ln>
        </p:spPr>
      </p:sp>
      <p:sp>
        <p:nvSpPr>
          <p:cNvPr id="21" name="Google Shape;21;p47"/>
          <p:cNvSpPr/>
          <p:nvPr/>
        </p:nvSpPr>
        <p:spPr>
          <a:xfrm>
            <a:off x="6096000" y="3339842"/>
            <a:ext cx="5598042" cy="4986342"/>
          </a:xfrm>
          <a:custGeom>
            <a:rect b="b" l="l" r="r" t="t"/>
            <a:pathLst>
              <a:path extrusionOk="0" h="6477011" w="6592378">
                <a:moveTo>
                  <a:pt x="0" y="0"/>
                </a:moveTo>
                <a:lnTo>
                  <a:pt x="6592378" y="0"/>
                </a:lnTo>
                <a:lnTo>
                  <a:pt x="6592378" y="6477011"/>
                </a:lnTo>
                <a:lnTo>
                  <a:pt x="0" y="6477011"/>
                </a:lnTo>
                <a:lnTo>
                  <a:pt x="0" y="0"/>
                </a:lnTo>
                <a:close/>
              </a:path>
            </a:pathLst>
          </a:custGeom>
          <a:blipFill rotWithShape="1">
            <a:blip r:embed="rId4">
              <a:alphaModFix amt="17000"/>
            </a:blip>
            <a:stretch>
              <a:fillRect b="0" l="0" r="0" t="0"/>
            </a:stretch>
          </a:blipFill>
          <a:ln>
            <a:noFill/>
          </a:ln>
        </p:spPr>
      </p:sp>
      <p:sp>
        <p:nvSpPr>
          <p:cNvPr id="22" name="Google Shape;22;p47"/>
          <p:cNvSpPr/>
          <p:nvPr/>
        </p:nvSpPr>
        <p:spPr>
          <a:xfrm>
            <a:off x="157608" y="65658"/>
            <a:ext cx="1021286" cy="1030324"/>
          </a:xfrm>
          <a:custGeom>
            <a:rect b="b" l="l" r="r" t="t"/>
            <a:pathLst>
              <a:path extrusionOk="0" h="1030324" w="1021286">
                <a:moveTo>
                  <a:pt x="0" y="0"/>
                </a:moveTo>
                <a:lnTo>
                  <a:pt x="1021287" y="0"/>
                </a:lnTo>
                <a:lnTo>
                  <a:pt x="1021287" y="1030325"/>
                </a:lnTo>
                <a:lnTo>
                  <a:pt x="0" y="1030325"/>
                </a:lnTo>
                <a:lnTo>
                  <a:pt x="0" y="0"/>
                </a:lnTo>
                <a:close/>
              </a:path>
            </a:pathLst>
          </a:custGeom>
          <a:blipFill rotWithShape="1">
            <a:blip r:embed="rId5">
              <a:alphaModFix/>
            </a:blip>
            <a:stretch>
              <a:fillRect b="0" l="0" r="0" t="0"/>
            </a:stretch>
          </a:blipFill>
          <a:ln>
            <a:noFill/>
          </a:ln>
        </p:spPr>
      </p:sp>
      <p:sp>
        <p:nvSpPr>
          <p:cNvPr id="23" name="Google Shape;23;p47"/>
          <p:cNvSpPr txBox="1"/>
          <p:nvPr/>
        </p:nvSpPr>
        <p:spPr>
          <a:xfrm>
            <a:off x="1251100" y="257433"/>
            <a:ext cx="7287526" cy="680892"/>
          </a:xfrm>
          <a:prstGeom prst="rect">
            <a:avLst/>
          </a:prstGeom>
          <a:noFill/>
          <a:ln>
            <a:noFill/>
          </a:ln>
        </p:spPr>
        <p:txBody>
          <a:bodyPr anchorCtr="0" anchor="t" bIns="0" lIns="0" spcFirstLastPara="1" rIns="0" wrap="square" tIns="0">
            <a:spAutoFit/>
          </a:bodyPr>
          <a:lstStyle/>
          <a:p>
            <a:pPr indent="0" lvl="0" marL="0" marR="0" rtl="0" algn="l">
              <a:lnSpc>
                <a:spcPct val="156666"/>
              </a:lnSpc>
              <a:spcBef>
                <a:spcPts val="0"/>
              </a:spcBef>
              <a:spcAft>
                <a:spcPts val="0"/>
              </a:spcAft>
              <a:buClr>
                <a:srgbClr val="000000"/>
              </a:buClr>
              <a:buSzPts val="1800"/>
              <a:buFont typeface="Arial"/>
              <a:buNone/>
            </a:pPr>
            <a:r>
              <a:rPr b="0" i="0" lang="en-US" sz="1800" u="none" cap="none" strike="noStrike">
                <a:solidFill>
                  <a:srgbClr val="2E75B5"/>
                </a:solidFill>
                <a:latin typeface="Arial"/>
                <a:ea typeface="Arial"/>
                <a:cs typeface="Arial"/>
                <a:sym typeface="Arial"/>
              </a:rPr>
              <a:t>Kementerian Pendidikan Dasar dan Menengah</a:t>
            </a:r>
            <a:endParaRPr b="0" i="0" sz="1800" u="none" cap="none" strike="noStrike">
              <a:solidFill>
                <a:srgbClr val="2E75B5"/>
              </a:solidFill>
              <a:latin typeface="Arial"/>
              <a:ea typeface="Arial"/>
              <a:cs typeface="Arial"/>
              <a:sym typeface="Arial"/>
            </a:endParaRPr>
          </a:p>
          <a:p>
            <a:pPr indent="0" lvl="0" marL="0" marR="0" rtl="0" algn="l">
              <a:lnSpc>
                <a:spcPct val="156666"/>
              </a:lnSpc>
              <a:spcBef>
                <a:spcPts val="0"/>
              </a:spcBef>
              <a:spcAft>
                <a:spcPts val="0"/>
              </a:spcAft>
              <a:buClr>
                <a:srgbClr val="000000"/>
              </a:buClr>
              <a:buSzPts val="1800"/>
              <a:buFont typeface="Arial"/>
              <a:buNone/>
            </a:pPr>
            <a:r>
              <a:rPr b="0" i="0" lang="en-US" sz="1800" u="none" cap="none" strike="noStrike">
                <a:solidFill>
                  <a:srgbClr val="2E75B5"/>
                </a:solidFill>
                <a:latin typeface="Arial"/>
                <a:ea typeface="Arial"/>
                <a:cs typeface="Arial"/>
                <a:sym typeface="Arial"/>
              </a:rPr>
              <a:t>Republik Indonesia</a:t>
            </a:r>
            <a:endParaRPr b="0" i="0" sz="1400" u="none" cap="none" strike="noStrike">
              <a:solidFill>
                <a:srgbClr val="000000"/>
              </a:solidFill>
              <a:latin typeface="Arial"/>
              <a:ea typeface="Arial"/>
              <a:cs typeface="Arial"/>
              <a:sym typeface="Arial"/>
            </a:endParaRPr>
          </a:p>
        </p:txBody>
      </p:sp>
      <p:sp>
        <p:nvSpPr>
          <p:cNvPr id="24" name="Google Shape;24;p47"/>
          <p:cNvSpPr/>
          <p:nvPr/>
        </p:nvSpPr>
        <p:spPr>
          <a:xfrm>
            <a:off x="9912176" y="5513256"/>
            <a:ext cx="2036751" cy="1253166"/>
          </a:xfrm>
          <a:custGeom>
            <a:rect b="b" l="l" r="r" t="t"/>
            <a:pathLst>
              <a:path extrusionOk="0" h="1253166" w="2036751">
                <a:moveTo>
                  <a:pt x="0" y="0"/>
                </a:moveTo>
                <a:lnTo>
                  <a:pt x="2036750" y="0"/>
                </a:lnTo>
                <a:lnTo>
                  <a:pt x="2036750" y="1253167"/>
                </a:lnTo>
                <a:lnTo>
                  <a:pt x="0" y="1253167"/>
                </a:lnTo>
                <a:lnTo>
                  <a:pt x="0" y="0"/>
                </a:lnTo>
                <a:close/>
              </a:path>
            </a:pathLst>
          </a:custGeom>
          <a:blipFill rotWithShape="1">
            <a:blip r:embed="rId6">
              <a:alphaModFix/>
            </a:blip>
            <a:stretch>
              <a:fillRect b="-67108" l="0" r="0" t="-36035"/>
            </a:stretch>
          </a:blipFill>
          <a:ln>
            <a:noFill/>
          </a:ln>
        </p:spPr>
      </p:sp>
      <p:sp>
        <p:nvSpPr>
          <p:cNvPr id="25" name="Google Shape;25;p47"/>
          <p:cNvSpPr/>
          <p:nvPr/>
        </p:nvSpPr>
        <p:spPr>
          <a:xfrm>
            <a:off x="7586400" y="5611560"/>
            <a:ext cx="2229434" cy="1085305"/>
          </a:xfrm>
          <a:custGeom>
            <a:rect b="b" l="l" r="r" t="t"/>
            <a:pathLst>
              <a:path extrusionOk="0" h="798727" w="1820628">
                <a:moveTo>
                  <a:pt x="0" y="0"/>
                </a:moveTo>
                <a:lnTo>
                  <a:pt x="1820629" y="0"/>
                </a:lnTo>
                <a:lnTo>
                  <a:pt x="1820629" y="798727"/>
                </a:lnTo>
                <a:lnTo>
                  <a:pt x="0" y="798727"/>
                </a:lnTo>
                <a:lnTo>
                  <a:pt x="0" y="0"/>
                </a:lnTo>
                <a:close/>
              </a:path>
            </a:pathLst>
          </a:custGeom>
          <a:blipFill rotWithShape="1">
            <a:blip r:embed="rId7">
              <a:alphaModFix/>
            </a:blip>
            <a:stretch>
              <a:fillRect b="-156155" l="-407451" r="-113512" t="-1512505"/>
            </a:stretch>
          </a:blip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48"/>
          <p:cNvSpPr/>
          <p:nvPr/>
        </p:nvSpPr>
        <p:spPr>
          <a:xfrm>
            <a:off x="0" y="0"/>
            <a:ext cx="12192000" cy="6858000"/>
          </a:xfrm>
          <a:custGeom>
            <a:rect b="b" l="l" r="r" t="t"/>
            <a:pathLst>
              <a:path extrusionOk="0" h="8639020" w="17321343">
                <a:moveTo>
                  <a:pt x="0" y="0"/>
                </a:moveTo>
                <a:lnTo>
                  <a:pt x="17321344" y="0"/>
                </a:lnTo>
                <a:lnTo>
                  <a:pt x="17321344" y="8639020"/>
                </a:lnTo>
                <a:lnTo>
                  <a:pt x="0" y="8639020"/>
                </a:lnTo>
                <a:lnTo>
                  <a:pt x="0" y="0"/>
                </a:lnTo>
                <a:close/>
              </a:path>
            </a:pathLst>
          </a:custGeom>
          <a:blipFill rotWithShape="1">
            <a:blip r:embed="rId2">
              <a:alphaModFix amt="31999"/>
            </a:blip>
            <a:stretch>
              <a:fillRect b="-13671" l="-6029" r="-6027" t="-927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 name="Google Shape;28;p4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E75B5"/>
              </a:buClr>
              <a:buSzPts val="6000"/>
              <a:buFont typeface="Calibri"/>
              <a:buNone/>
              <a:defRPr b="1" sz="6000">
                <a:solidFill>
                  <a:srgbClr val="2E75B5"/>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2E75B5"/>
              </a:buClr>
              <a:buSzPts val="2400"/>
              <a:buNone/>
              <a:defRPr b="1" sz="2400">
                <a:solidFill>
                  <a:srgbClr val="2E75B5"/>
                </a:solidFill>
                <a:latin typeface="Calibri"/>
                <a:ea typeface="Calibri"/>
                <a:cs typeface="Calibri"/>
                <a:sym typeface="Calibri"/>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cxnSp>
        <p:nvCxnSpPr>
          <p:cNvPr id="30" name="Google Shape;30;p48"/>
          <p:cNvCxnSpPr/>
          <p:nvPr/>
        </p:nvCxnSpPr>
        <p:spPr>
          <a:xfrm>
            <a:off x="838200" y="4582742"/>
            <a:ext cx="7497726" cy="0"/>
          </a:xfrm>
          <a:prstGeom prst="straightConnector1">
            <a:avLst/>
          </a:prstGeom>
          <a:noFill/>
          <a:ln cap="flat" cmpd="sng" w="57150">
            <a:solidFill>
              <a:schemeClr val="accent1"/>
            </a:solidFill>
            <a:prstDash val="solid"/>
            <a:miter lim="800000"/>
            <a:headEnd len="sm" w="sm" type="none"/>
            <a:tailEnd len="sm" w="sm" type="none"/>
          </a:ln>
        </p:spPr>
      </p:cxnSp>
      <p:cxnSp>
        <p:nvCxnSpPr>
          <p:cNvPr id="31" name="Google Shape;31;p48"/>
          <p:cNvCxnSpPr/>
          <p:nvPr/>
        </p:nvCxnSpPr>
        <p:spPr>
          <a:xfrm>
            <a:off x="6719777" y="4582742"/>
            <a:ext cx="4634023" cy="0"/>
          </a:xfrm>
          <a:prstGeom prst="straightConnector1">
            <a:avLst/>
          </a:prstGeom>
          <a:noFill/>
          <a:ln cap="flat" cmpd="sng" w="57150">
            <a:solidFill>
              <a:schemeClr val="accent2"/>
            </a:solidFill>
            <a:prstDash val="solid"/>
            <a:miter lim="800000"/>
            <a:headEnd len="sm" w="sm" type="none"/>
            <a:tailEnd len="sm" w="sm" type="none"/>
          </a:ln>
        </p:spPr>
      </p:cxnSp>
      <p:sp>
        <p:nvSpPr>
          <p:cNvPr id="32" name="Google Shape;32;p48"/>
          <p:cNvSpPr/>
          <p:nvPr/>
        </p:nvSpPr>
        <p:spPr>
          <a:xfrm>
            <a:off x="157608" y="65658"/>
            <a:ext cx="1021286" cy="1030324"/>
          </a:xfrm>
          <a:custGeom>
            <a:rect b="b" l="l" r="r" t="t"/>
            <a:pathLst>
              <a:path extrusionOk="0" h="1030324" w="1021286">
                <a:moveTo>
                  <a:pt x="0" y="0"/>
                </a:moveTo>
                <a:lnTo>
                  <a:pt x="1021287" y="0"/>
                </a:lnTo>
                <a:lnTo>
                  <a:pt x="1021287" y="1030325"/>
                </a:lnTo>
                <a:lnTo>
                  <a:pt x="0" y="1030325"/>
                </a:lnTo>
                <a:lnTo>
                  <a:pt x="0" y="0"/>
                </a:lnTo>
                <a:close/>
              </a:path>
            </a:pathLst>
          </a:custGeom>
          <a:blipFill rotWithShape="1">
            <a:blip r:embed="rId3">
              <a:alphaModFix/>
            </a:blip>
            <a:stretch>
              <a:fillRect b="0" l="0" r="0" t="0"/>
            </a:stretch>
          </a:blipFill>
          <a:ln>
            <a:noFill/>
          </a:ln>
        </p:spPr>
      </p:sp>
      <p:sp>
        <p:nvSpPr>
          <p:cNvPr id="33" name="Google Shape;33;p48"/>
          <p:cNvSpPr txBox="1"/>
          <p:nvPr/>
        </p:nvSpPr>
        <p:spPr>
          <a:xfrm>
            <a:off x="1251100" y="257433"/>
            <a:ext cx="7287526" cy="680892"/>
          </a:xfrm>
          <a:prstGeom prst="rect">
            <a:avLst/>
          </a:prstGeom>
          <a:noFill/>
          <a:ln>
            <a:noFill/>
          </a:ln>
        </p:spPr>
        <p:txBody>
          <a:bodyPr anchorCtr="0" anchor="t" bIns="0" lIns="0" spcFirstLastPara="1" rIns="0" wrap="square" tIns="0">
            <a:spAutoFit/>
          </a:bodyPr>
          <a:lstStyle/>
          <a:p>
            <a:pPr indent="0" lvl="0" marL="0" marR="0" rtl="0" algn="l">
              <a:lnSpc>
                <a:spcPct val="156666"/>
              </a:lnSpc>
              <a:spcBef>
                <a:spcPts val="0"/>
              </a:spcBef>
              <a:spcAft>
                <a:spcPts val="0"/>
              </a:spcAft>
              <a:buClr>
                <a:srgbClr val="000000"/>
              </a:buClr>
              <a:buSzPts val="1800"/>
              <a:buFont typeface="Arial"/>
              <a:buNone/>
            </a:pPr>
            <a:r>
              <a:rPr b="0" i="0" lang="en-US" sz="1800" u="none" cap="none" strike="noStrike">
                <a:solidFill>
                  <a:srgbClr val="2E75B5"/>
                </a:solidFill>
                <a:latin typeface="Arial"/>
                <a:ea typeface="Arial"/>
                <a:cs typeface="Arial"/>
                <a:sym typeface="Arial"/>
              </a:rPr>
              <a:t>Kementerian Pendidikan Dasar dan Menengah</a:t>
            </a:r>
            <a:endParaRPr b="0" i="0" sz="1800" u="none" cap="none" strike="noStrike">
              <a:solidFill>
                <a:srgbClr val="2E75B5"/>
              </a:solidFill>
              <a:latin typeface="Arial"/>
              <a:ea typeface="Arial"/>
              <a:cs typeface="Arial"/>
              <a:sym typeface="Arial"/>
            </a:endParaRPr>
          </a:p>
          <a:p>
            <a:pPr indent="0" lvl="0" marL="0" marR="0" rtl="0" algn="l">
              <a:lnSpc>
                <a:spcPct val="156666"/>
              </a:lnSpc>
              <a:spcBef>
                <a:spcPts val="0"/>
              </a:spcBef>
              <a:spcAft>
                <a:spcPts val="0"/>
              </a:spcAft>
              <a:buClr>
                <a:srgbClr val="000000"/>
              </a:buClr>
              <a:buSzPts val="1800"/>
              <a:buFont typeface="Arial"/>
              <a:buNone/>
            </a:pPr>
            <a:r>
              <a:rPr b="0" i="0" lang="en-US" sz="1800" u="none" cap="none" strike="noStrike">
                <a:solidFill>
                  <a:srgbClr val="2E75B5"/>
                </a:solidFill>
                <a:latin typeface="Arial"/>
                <a:ea typeface="Arial"/>
                <a:cs typeface="Arial"/>
                <a:sym typeface="Arial"/>
              </a:rPr>
              <a:t>Republik Indonesia</a:t>
            </a:r>
            <a:endParaRPr b="0" i="0" sz="1400" u="none" cap="none" strike="noStrike">
              <a:solidFill>
                <a:srgbClr val="000000"/>
              </a:solidFill>
              <a:latin typeface="Arial"/>
              <a:ea typeface="Arial"/>
              <a:cs typeface="Arial"/>
              <a:sym typeface="Arial"/>
            </a:endParaRPr>
          </a:p>
        </p:txBody>
      </p:sp>
      <p:sp>
        <p:nvSpPr>
          <p:cNvPr id="34" name="Google Shape;34;p48"/>
          <p:cNvSpPr/>
          <p:nvPr/>
        </p:nvSpPr>
        <p:spPr>
          <a:xfrm>
            <a:off x="10222728" y="-58471"/>
            <a:ext cx="1681726" cy="1077325"/>
          </a:xfrm>
          <a:custGeom>
            <a:rect b="b" l="l" r="r" t="t"/>
            <a:pathLst>
              <a:path extrusionOk="0" h="1253166" w="2036751">
                <a:moveTo>
                  <a:pt x="0" y="0"/>
                </a:moveTo>
                <a:lnTo>
                  <a:pt x="2036750" y="0"/>
                </a:lnTo>
                <a:lnTo>
                  <a:pt x="2036750" y="1253167"/>
                </a:lnTo>
                <a:lnTo>
                  <a:pt x="0" y="1253167"/>
                </a:lnTo>
                <a:lnTo>
                  <a:pt x="0" y="0"/>
                </a:lnTo>
                <a:close/>
              </a:path>
            </a:pathLst>
          </a:custGeom>
          <a:blipFill rotWithShape="1">
            <a:blip r:embed="rId4">
              <a:alphaModFix/>
            </a:blip>
            <a:stretch>
              <a:fillRect b="-67108" l="0" r="0" t="-36035"/>
            </a:stretch>
          </a:blipFill>
          <a:ln>
            <a:noFill/>
          </a:ln>
        </p:spPr>
      </p:sp>
      <p:sp>
        <p:nvSpPr>
          <p:cNvPr id="35" name="Google Shape;35;p48"/>
          <p:cNvSpPr/>
          <p:nvPr/>
        </p:nvSpPr>
        <p:spPr>
          <a:xfrm>
            <a:off x="8554354" y="128679"/>
            <a:ext cx="1727680" cy="823745"/>
          </a:xfrm>
          <a:custGeom>
            <a:rect b="b" l="l" r="r" t="t"/>
            <a:pathLst>
              <a:path extrusionOk="0" h="798727" w="1820628">
                <a:moveTo>
                  <a:pt x="0" y="0"/>
                </a:moveTo>
                <a:lnTo>
                  <a:pt x="1820629" y="0"/>
                </a:lnTo>
                <a:lnTo>
                  <a:pt x="1820629" y="798727"/>
                </a:lnTo>
                <a:lnTo>
                  <a:pt x="0" y="798727"/>
                </a:lnTo>
                <a:lnTo>
                  <a:pt x="0" y="0"/>
                </a:lnTo>
                <a:close/>
              </a:path>
            </a:pathLst>
          </a:custGeom>
          <a:blipFill rotWithShape="1">
            <a:blip r:embed="rId5">
              <a:alphaModFix/>
            </a:blip>
            <a:stretch>
              <a:fillRect b="-156155" l="-407451" r="-113512" t="-1512505"/>
            </a:stretch>
          </a:blip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75B5"/>
              </a:buClr>
              <a:buSzPts val="4400"/>
              <a:buFont typeface="Calibri"/>
              <a:buNone/>
              <a:defRPr b="1">
                <a:solidFill>
                  <a:srgbClr val="2E75B5"/>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9"/>
          <p:cNvSpPr/>
          <p:nvPr/>
        </p:nvSpPr>
        <p:spPr>
          <a:xfrm>
            <a:off x="0" y="1690688"/>
            <a:ext cx="12191999" cy="5167312"/>
          </a:xfrm>
          <a:custGeom>
            <a:rect b="b" l="l" r="r" t="t"/>
            <a:pathLst>
              <a:path extrusionOk="0" h="8639020" w="17321343">
                <a:moveTo>
                  <a:pt x="0" y="0"/>
                </a:moveTo>
                <a:lnTo>
                  <a:pt x="17321344" y="0"/>
                </a:lnTo>
                <a:lnTo>
                  <a:pt x="17321344" y="8639020"/>
                </a:lnTo>
                <a:lnTo>
                  <a:pt x="0" y="8639020"/>
                </a:lnTo>
                <a:lnTo>
                  <a:pt x="0" y="0"/>
                </a:lnTo>
                <a:close/>
              </a:path>
            </a:pathLst>
          </a:custGeom>
          <a:blipFill rotWithShape="1">
            <a:blip r:embed="rId2">
              <a:alphaModFix amt="31999"/>
            </a:blip>
            <a:stretch>
              <a:fillRect b="0" l="0" r="0" t="0"/>
            </a:stretch>
          </a:blipFill>
          <a:ln>
            <a:noFill/>
          </a:ln>
        </p:spPr>
      </p:sp>
      <p:cxnSp>
        <p:nvCxnSpPr>
          <p:cNvPr id="39" name="Google Shape;39;p49"/>
          <p:cNvCxnSpPr/>
          <p:nvPr/>
        </p:nvCxnSpPr>
        <p:spPr>
          <a:xfrm>
            <a:off x="838200" y="1690688"/>
            <a:ext cx="7497726" cy="0"/>
          </a:xfrm>
          <a:prstGeom prst="straightConnector1">
            <a:avLst/>
          </a:prstGeom>
          <a:noFill/>
          <a:ln cap="flat" cmpd="sng" w="57150">
            <a:solidFill>
              <a:schemeClr val="accent1"/>
            </a:solidFill>
            <a:prstDash val="solid"/>
            <a:miter lim="800000"/>
            <a:headEnd len="sm" w="sm" type="none"/>
            <a:tailEnd len="sm" w="sm" type="none"/>
          </a:ln>
        </p:spPr>
      </p:cxnSp>
      <p:cxnSp>
        <p:nvCxnSpPr>
          <p:cNvPr id="40" name="Google Shape;40;p49"/>
          <p:cNvCxnSpPr/>
          <p:nvPr/>
        </p:nvCxnSpPr>
        <p:spPr>
          <a:xfrm>
            <a:off x="6719777" y="1690688"/>
            <a:ext cx="4634023" cy="0"/>
          </a:xfrm>
          <a:prstGeom prst="straightConnector1">
            <a:avLst/>
          </a:prstGeom>
          <a:noFill/>
          <a:ln cap="flat" cmpd="sng" w="57150">
            <a:solidFill>
              <a:schemeClr val="accent2"/>
            </a:solidFill>
            <a:prstDash val="solid"/>
            <a:miter lim="800000"/>
            <a:headEnd len="sm" w="sm" type="none"/>
            <a:tailEnd len="sm" w="sm" type="none"/>
          </a:ln>
        </p:spPr>
      </p:cxnSp>
      <p:sp>
        <p:nvSpPr>
          <p:cNvPr id="41" name="Google Shape;41;p49"/>
          <p:cNvSpPr/>
          <p:nvPr/>
        </p:nvSpPr>
        <p:spPr>
          <a:xfrm>
            <a:off x="105273" y="6268035"/>
            <a:ext cx="494516" cy="498893"/>
          </a:xfrm>
          <a:custGeom>
            <a:rect b="b" l="l" r="r" t="t"/>
            <a:pathLst>
              <a:path extrusionOk="0" h="665190" w="659355">
                <a:moveTo>
                  <a:pt x="0" y="0"/>
                </a:moveTo>
                <a:lnTo>
                  <a:pt x="659355" y="0"/>
                </a:lnTo>
                <a:lnTo>
                  <a:pt x="659355" y="665190"/>
                </a:lnTo>
                <a:lnTo>
                  <a:pt x="0" y="665190"/>
                </a:lnTo>
                <a:lnTo>
                  <a:pt x="0" y="0"/>
                </a:lnTo>
                <a:close/>
              </a:path>
            </a:pathLst>
          </a:custGeom>
          <a:blipFill rotWithShape="1">
            <a:blip r:embed="rId3">
              <a:alphaModFix/>
            </a:blip>
            <a:stretch>
              <a:fillRect b="0" l="0" r="0" t="0"/>
            </a:stretch>
          </a:blipFill>
          <a:ln>
            <a:noFill/>
          </a:ln>
        </p:spPr>
      </p:sp>
      <p:sp>
        <p:nvSpPr>
          <p:cNvPr id="42" name="Google Shape;42;p49"/>
          <p:cNvSpPr txBox="1"/>
          <p:nvPr/>
        </p:nvSpPr>
        <p:spPr>
          <a:xfrm>
            <a:off x="629853" y="6388734"/>
            <a:ext cx="6303024" cy="29494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0" i="0" lang="en-US" sz="1700" u="none" cap="none" strike="noStrike">
                <a:solidFill>
                  <a:srgbClr val="2E75B5"/>
                </a:solidFill>
                <a:latin typeface="Poppins"/>
                <a:ea typeface="Poppins"/>
                <a:cs typeface="Poppins"/>
                <a:sym typeface="Poppins"/>
              </a:rPr>
              <a:t>Kementerian Pendidikan Dasar dan Menengah</a:t>
            </a:r>
            <a:endParaRPr b="0" i="0" sz="1700" u="none" cap="none" strike="noStrike">
              <a:solidFill>
                <a:srgbClr val="2E75B5"/>
              </a:solidFill>
              <a:latin typeface="Poppins"/>
              <a:ea typeface="Poppins"/>
              <a:cs typeface="Poppins"/>
              <a:sym typeface="Poppi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50"/>
          <p:cNvSpPr/>
          <p:nvPr/>
        </p:nvSpPr>
        <p:spPr>
          <a:xfrm>
            <a:off x="0" y="0"/>
            <a:ext cx="12192000" cy="6858000"/>
          </a:xfrm>
          <a:custGeom>
            <a:rect b="b" l="l" r="r" t="t"/>
            <a:pathLst>
              <a:path extrusionOk="0" h="8639020" w="17321343">
                <a:moveTo>
                  <a:pt x="0" y="0"/>
                </a:moveTo>
                <a:lnTo>
                  <a:pt x="17321344" y="0"/>
                </a:lnTo>
                <a:lnTo>
                  <a:pt x="17321344" y="8639020"/>
                </a:lnTo>
                <a:lnTo>
                  <a:pt x="0" y="8639020"/>
                </a:lnTo>
                <a:lnTo>
                  <a:pt x="0" y="0"/>
                </a:lnTo>
                <a:close/>
              </a:path>
            </a:pathLst>
          </a:custGeom>
          <a:blipFill rotWithShape="1">
            <a:blip r:embed="rId2">
              <a:alphaModFix amt="31999"/>
            </a:blip>
            <a:stretch>
              <a:fillRect b="-13671" l="-6029" r="-6027" t="-927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50"/>
          <p:cNvSpPr/>
          <p:nvPr/>
        </p:nvSpPr>
        <p:spPr>
          <a:xfrm>
            <a:off x="105273" y="6268035"/>
            <a:ext cx="494516" cy="498893"/>
          </a:xfrm>
          <a:custGeom>
            <a:rect b="b" l="l" r="r" t="t"/>
            <a:pathLst>
              <a:path extrusionOk="0" h="665190" w="659355">
                <a:moveTo>
                  <a:pt x="0" y="0"/>
                </a:moveTo>
                <a:lnTo>
                  <a:pt x="659355" y="0"/>
                </a:lnTo>
                <a:lnTo>
                  <a:pt x="659355" y="665190"/>
                </a:lnTo>
                <a:lnTo>
                  <a:pt x="0" y="665190"/>
                </a:lnTo>
                <a:lnTo>
                  <a:pt x="0" y="0"/>
                </a:lnTo>
                <a:close/>
              </a:path>
            </a:pathLst>
          </a:custGeom>
          <a:blipFill rotWithShape="1">
            <a:blip r:embed="rId3">
              <a:alphaModFix/>
            </a:blip>
            <a:stretch>
              <a:fillRect b="0" l="0" r="0" t="0"/>
            </a:stretch>
          </a:blipFill>
          <a:ln>
            <a:noFill/>
          </a:ln>
        </p:spPr>
      </p:sp>
      <p:sp>
        <p:nvSpPr>
          <p:cNvPr id="46" name="Google Shape;46;p50"/>
          <p:cNvSpPr txBox="1"/>
          <p:nvPr/>
        </p:nvSpPr>
        <p:spPr>
          <a:xfrm>
            <a:off x="629853" y="6388734"/>
            <a:ext cx="6303024" cy="29494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0" i="0" lang="en-US" sz="1700" u="none" cap="none" strike="noStrike">
                <a:solidFill>
                  <a:srgbClr val="2E75B5"/>
                </a:solidFill>
                <a:latin typeface="Poppins"/>
                <a:ea typeface="Poppins"/>
                <a:cs typeface="Poppins"/>
                <a:sym typeface="Poppins"/>
              </a:rPr>
              <a:t>Kementerian Pendidikan Dasar dan Menengah</a:t>
            </a:r>
            <a:endParaRPr b="0" i="0" sz="1700" u="none" cap="none" strike="noStrike">
              <a:solidFill>
                <a:srgbClr val="2E75B5"/>
              </a:solidFill>
              <a:latin typeface="Poppins"/>
              <a:ea typeface="Poppins"/>
              <a:cs typeface="Poppins"/>
              <a:sym typeface="Poppi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 name="Shape 47"/>
        <p:cNvGrpSpPr/>
        <p:nvPr/>
      </p:nvGrpSpPr>
      <p:grpSpPr>
        <a:xfrm>
          <a:off x="0" y="0"/>
          <a:ext cx="0" cy="0"/>
          <a:chOff x="0" y="0"/>
          <a:chExt cx="0" cy="0"/>
        </a:xfrm>
      </p:grpSpPr>
      <p:sp>
        <p:nvSpPr>
          <p:cNvPr id="48" name="Google Shape;48;p51"/>
          <p:cNvSpPr/>
          <p:nvPr/>
        </p:nvSpPr>
        <p:spPr>
          <a:xfrm>
            <a:off x="0" y="1690688"/>
            <a:ext cx="12191999" cy="5167312"/>
          </a:xfrm>
          <a:custGeom>
            <a:rect b="b" l="l" r="r" t="t"/>
            <a:pathLst>
              <a:path extrusionOk="0" h="8639020" w="17321343">
                <a:moveTo>
                  <a:pt x="0" y="0"/>
                </a:moveTo>
                <a:lnTo>
                  <a:pt x="17321344" y="0"/>
                </a:lnTo>
                <a:lnTo>
                  <a:pt x="17321344" y="8639020"/>
                </a:lnTo>
                <a:lnTo>
                  <a:pt x="0" y="8639020"/>
                </a:lnTo>
                <a:lnTo>
                  <a:pt x="0" y="0"/>
                </a:lnTo>
                <a:close/>
              </a:path>
            </a:pathLst>
          </a:custGeom>
          <a:blipFill rotWithShape="1">
            <a:blip r:embed="rId2">
              <a:alphaModFix amt="31999"/>
            </a:blip>
            <a:stretch>
              <a:fillRect b="0" l="0" r="0" t="0"/>
            </a:stretch>
          </a:blipFill>
          <a:ln>
            <a:noFill/>
          </a:ln>
        </p:spPr>
      </p:sp>
      <p:sp>
        <p:nvSpPr>
          <p:cNvPr id="49" name="Google Shape;49;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75B5"/>
              </a:buClr>
              <a:buSzPts val="4400"/>
              <a:buFont typeface="Calibri"/>
              <a:buNone/>
              <a:defRPr b="1">
                <a:solidFill>
                  <a:srgbClr val="2E75B5"/>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E4E79"/>
              </a:buClr>
              <a:buSzPts val="2800"/>
              <a:buChar char="•"/>
              <a:defRPr>
                <a:solidFill>
                  <a:srgbClr val="1E4E79"/>
                </a:solidFill>
                <a:latin typeface="Calibri"/>
                <a:ea typeface="Calibri"/>
                <a:cs typeface="Calibri"/>
                <a:sym typeface="Calibri"/>
              </a:defRPr>
            </a:lvl1pPr>
            <a:lvl2pPr indent="-381000" lvl="1" marL="914400" algn="l">
              <a:lnSpc>
                <a:spcPct val="90000"/>
              </a:lnSpc>
              <a:spcBef>
                <a:spcPts val="500"/>
              </a:spcBef>
              <a:spcAft>
                <a:spcPts val="0"/>
              </a:spcAft>
              <a:buClr>
                <a:srgbClr val="1E4E79"/>
              </a:buClr>
              <a:buSzPts val="2400"/>
              <a:buChar char="•"/>
              <a:defRPr>
                <a:solidFill>
                  <a:srgbClr val="1E4E79"/>
                </a:solidFill>
                <a:latin typeface="Calibri"/>
                <a:ea typeface="Calibri"/>
                <a:cs typeface="Calibri"/>
                <a:sym typeface="Calibri"/>
              </a:defRPr>
            </a:lvl2pPr>
            <a:lvl3pPr indent="-355600" lvl="2" marL="1371600" algn="l">
              <a:lnSpc>
                <a:spcPct val="90000"/>
              </a:lnSpc>
              <a:spcBef>
                <a:spcPts val="500"/>
              </a:spcBef>
              <a:spcAft>
                <a:spcPts val="0"/>
              </a:spcAft>
              <a:buClr>
                <a:srgbClr val="1E4E79"/>
              </a:buClr>
              <a:buSzPts val="2000"/>
              <a:buChar char="•"/>
              <a:defRPr>
                <a:solidFill>
                  <a:srgbClr val="1E4E79"/>
                </a:solidFill>
                <a:latin typeface="Calibri"/>
                <a:ea typeface="Calibri"/>
                <a:cs typeface="Calibri"/>
                <a:sym typeface="Calibri"/>
              </a:defRPr>
            </a:lvl3pPr>
            <a:lvl4pPr indent="-342900" lvl="3" marL="1828800" algn="l">
              <a:lnSpc>
                <a:spcPct val="90000"/>
              </a:lnSpc>
              <a:spcBef>
                <a:spcPts val="500"/>
              </a:spcBef>
              <a:spcAft>
                <a:spcPts val="0"/>
              </a:spcAft>
              <a:buClr>
                <a:srgbClr val="1E4E79"/>
              </a:buClr>
              <a:buSzPts val="1800"/>
              <a:buChar char="•"/>
              <a:defRPr>
                <a:solidFill>
                  <a:srgbClr val="1E4E79"/>
                </a:solidFill>
                <a:latin typeface="Calibri"/>
                <a:ea typeface="Calibri"/>
                <a:cs typeface="Calibri"/>
                <a:sym typeface="Calibri"/>
              </a:defRPr>
            </a:lvl4pPr>
            <a:lvl5pPr indent="-342900" lvl="4" marL="2286000" algn="l">
              <a:lnSpc>
                <a:spcPct val="90000"/>
              </a:lnSpc>
              <a:spcBef>
                <a:spcPts val="500"/>
              </a:spcBef>
              <a:spcAft>
                <a:spcPts val="0"/>
              </a:spcAft>
              <a:buClr>
                <a:srgbClr val="1E4E79"/>
              </a:buClr>
              <a:buSzPts val="1800"/>
              <a:buChar char="•"/>
              <a:defRPr>
                <a:solidFill>
                  <a:srgbClr val="1E4E79"/>
                </a:solidFill>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1" name="Google Shape;51;p51"/>
          <p:cNvCxnSpPr/>
          <p:nvPr/>
        </p:nvCxnSpPr>
        <p:spPr>
          <a:xfrm>
            <a:off x="838200" y="1690688"/>
            <a:ext cx="7497726" cy="0"/>
          </a:xfrm>
          <a:prstGeom prst="straightConnector1">
            <a:avLst/>
          </a:prstGeom>
          <a:noFill/>
          <a:ln cap="flat" cmpd="sng" w="57150">
            <a:solidFill>
              <a:schemeClr val="accent1"/>
            </a:solidFill>
            <a:prstDash val="solid"/>
            <a:miter lim="800000"/>
            <a:headEnd len="sm" w="sm" type="none"/>
            <a:tailEnd len="sm" w="sm" type="none"/>
          </a:ln>
        </p:spPr>
      </p:cxnSp>
      <p:cxnSp>
        <p:nvCxnSpPr>
          <p:cNvPr id="52" name="Google Shape;52;p51"/>
          <p:cNvCxnSpPr/>
          <p:nvPr/>
        </p:nvCxnSpPr>
        <p:spPr>
          <a:xfrm>
            <a:off x="6719777" y="1690688"/>
            <a:ext cx="4634023" cy="0"/>
          </a:xfrm>
          <a:prstGeom prst="straightConnector1">
            <a:avLst/>
          </a:prstGeom>
          <a:noFill/>
          <a:ln cap="flat" cmpd="sng" w="57150">
            <a:solidFill>
              <a:schemeClr val="accent2"/>
            </a:solidFill>
            <a:prstDash val="solid"/>
            <a:miter lim="800000"/>
            <a:headEnd len="sm" w="sm" type="none"/>
            <a:tailEnd len="sm" w="sm" type="none"/>
          </a:ln>
        </p:spPr>
      </p:cxnSp>
      <p:sp>
        <p:nvSpPr>
          <p:cNvPr id="53" name="Google Shape;53;p51"/>
          <p:cNvSpPr/>
          <p:nvPr/>
        </p:nvSpPr>
        <p:spPr>
          <a:xfrm>
            <a:off x="105273" y="6268035"/>
            <a:ext cx="494516" cy="498893"/>
          </a:xfrm>
          <a:custGeom>
            <a:rect b="b" l="l" r="r" t="t"/>
            <a:pathLst>
              <a:path extrusionOk="0" h="665190" w="659355">
                <a:moveTo>
                  <a:pt x="0" y="0"/>
                </a:moveTo>
                <a:lnTo>
                  <a:pt x="659355" y="0"/>
                </a:lnTo>
                <a:lnTo>
                  <a:pt x="659355" y="665190"/>
                </a:lnTo>
                <a:lnTo>
                  <a:pt x="0" y="665190"/>
                </a:lnTo>
                <a:lnTo>
                  <a:pt x="0" y="0"/>
                </a:lnTo>
                <a:close/>
              </a:path>
            </a:pathLst>
          </a:custGeom>
          <a:blipFill rotWithShape="1">
            <a:blip r:embed="rId3">
              <a:alphaModFix/>
            </a:blip>
            <a:stretch>
              <a:fillRect b="0" l="0" r="0" t="0"/>
            </a:stretch>
          </a:blipFill>
          <a:ln>
            <a:noFill/>
          </a:ln>
        </p:spPr>
      </p:sp>
      <p:sp>
        <p:nvSpPr>
          <p:cNvPr id="54" name="Google Shape;54;p51"/>
          <p:cNvSpPr txBox="1"/>
          <p:nvPr/>
        </p:nvSpPr>
        <p:spPr>
          <a:xfrm>
            <a:off x="629853" y="6388734"/>
            <a:ext cx="6303024" cy="29494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700"/>
              <a:buFont typeface="Arial"/>
              <a:buNone/>
            </a:pPr>
            <a:r>
              <a:rPr b="0" i="0" lang="en-US" sz="1700" u="none" cap="none" strike="noStrike">
                <a:solidFill>
                  <a:srgbClr val="2E75B5"/>
                </a:solidFill>
                <a:latin typeface="Poppins"/>
                <a:ea typeface="Poppins"/>
                <a:cs typeface="Poppins"/>
                <a:sym typeface="Poppins"/>
              </a:rPr>
              <a:t>Kementerian Pendidikan Dasar dan Menengah</a:t>
            </a:r>
            <a:endParaRPr b="0" i="0" sz="1700" u="none" cap="none" strike="noStrike">
              <a:solidFill>
                <a:srgbClr val="2E75B5"/>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DEAF6">
            <a:alpha val="45490"/>
          </a:srgbClr>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4.jp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19.png"/><Relationship Id="rId6" Type="http://schemas.openxmlformats.org/officeDocument/2006/relationships/hyperlink" Target="https://blockly.games/" TargetMode="External"/><Relationship Id="rId7" Type="http://schemas.openxmlformats.org/officeDocument/2006/relationships/image" Target="../media/image39.png"/><Relationship Id="rId8"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studio.code.org/s/oceans" TargetMode="Externa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9.png"/><Relationship Id="rId4" Type="http://schemas.openxmlformats.org/officeDocument/2006/relationships/image" Target="../media/image38.png"/><Relationship Id="rId5"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404037" y="2723868"/>
            <a:ext cx="5996763" cy="1957608"/>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E75B5"/>
              </a:buClr>
              <a:buSzPts val="4400"/>
              <a:buFont typeface="Calibri"/>
              <a:buNone/>
            </a:pPr>
            <a:r>
              <a:rPr lang="en-US" sz="4400"/>
              <a:t>KODING DAN KECERDASAN ARTIFISIAL</a:t>
            </a:r>
            <a:endParaRPr sz="4400"/>
          </a:p>
        </p:txBody>
      </p:sp>
      <p:sp>
        <p:nvSpPr>
          <p:cNvPr id="60" name="Google Shape;60;p1"/>
          <p:cNvSpPr txBox="1"/>
          <p:nvPr>
            <p:ph idx="1" type="subTitle"/>
          </p:nvPr>
        </p:nvSpPr>
        <p:spPr>
          <a:xfrm>
            <a:off x="404037" y="5071743"/>
            <a:ext cx="5996763" cy="135756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030A0"/>
              </a:buClr>
              <a:buSzPts val="2400"/>
              <a:buNone/>
            </a:pPr>
            <a:r>
              <a:rPr lang="en-US"/>
              <a:t>Pendidikan Dasar dan Menengah</a:t>
            </a:r>
            <a:endParaRPr/>
          </a:p>
        </p:txBody>
      </p:sp>
      <p:sp>
        <p:nvSpPr>
          <p:cNvPr id="61" name="Google Shape;61;p1"/>
          <p:cNvSpPr txBox="1"/>
          <p:nvPr/>
        </p:nvSpPr>
        <p:spPr>
          <a:xfrm>
            <a:off x="415365" y="1486249"/>
            <a:ext cx="5996763" cy="1238768"/>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C00000"/>
              </a:buClr>
              <a:buSzPts val="4400"/>
              <a:buFont typeface="Calibri"/>
              <a:buNone/>
            </a:pPr>
            <a:r>
              <a:rPr b="1" i="0" lang="en-US" sz="4400" u="none" cap="none" strike="noStrike">
                <a:solidFill>
                  <a:srgbClr val="C00000"/>
                </a:solidFill>
                <a:latin typeface="Calibri"/>
                <a:ea typeface="Calibri"/>
                <a:cs typeface="Calibri"/>
                <a:sym typeface="Calibri"/>
              </a:rPr>
              <a:t>Modul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Memahami </a:t>
            </a:r>
            <a:br>
              <a:rPr lang="en-US"/>
            </a:br>
            <a:r>
              <a:rPr lang="en-US"/>
              <a:t>Koding dan Kecerdasan Artifisial</a:t>
            </a:r>
            <a:endParaRPr/>
          </a:p>
        </p:txBody>
      </p:sp>
      <p:sp>
        <p:nvSpPr>
          <p:cNvPr id="67" name="Google Shape;67;p2"/>
          <p:cNvSpPr txBox="1"/>
          <p:nvPr>
            <p:ph idx="1" type="body"/>
          </p:nvPr>
        </p:nvSpPr>
        <p:spPr>
          <a:xfrm>
            <a:off x="831850" y="4665663"/>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rPr lang="en-US"/>
              <a:t>Pada Jenjang Pendidikan Dasar dan Menengah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Urgensi Pendidikan</a:t>
            </a:r>
            <a:endParaRPr/>
          </a:p>
        </p:txBody>
      </p:sp>
      <p:sp>
        <p:nvSpPr>
          <p:cNvPr id="73" name="Google Shape;73;p3"/>
          <p:cNvSpPr txBox="1"/>
          <p:nvPr/>
        </p:nvSpPr>
        <p:spPr>
          <a:xfrm>
            <a:off x="493140" y="2229449"/>
            <a:ext cx="4251385"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Calibri"/>
                <a:ea typeface="Calibri"/>
                <a:cs typeface="Calibri"/>
                <a:sym typeface="Calibri"/>
              </a:rPr>
              <a:t>Peningkatan Kualitas Sumber Daya Manusia</a:t>
            </a:r>
            <a:endParaRPr b="1" i="0" sz="2000" u="none" cap="none" strike="noStrike">
              <a:solidFill>
                <a:srgbClr val="C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E75B5"/>
                </a:solidFill>
                <a:latin typeface="Calibri"/>
                <a:ea typeface="Calibri"/>
                <a:cs typeface="Calibri"/>
                <a:sym typeface="Calibri"/>
              </a:rPr>
              <a:t>Pendidikan yang baik menghasilkan individu yang terampil dan kompeten. </a:t>
            </a:r>
            <a:endParaRPr b="0" i="0" sz="1400" u="none" cap="none" strike="noStrike">
              <a:solidFill>
                <a:srgbClr val="000000"/>
              </a:solidFill>
              <a:latin typeface="Arial"/>
              <a:ea typeface="Arial"/>
              <a:cs typeface="Arial"/>
              <a:sym typeface="Arial"/>
            </a:endParaRPr>
          </a:p>
        </p:txBody>
      </p:sp>
      <p:sp>
        <p:nvSpPr>
          <p:cNvPr id="74" name="Google Shape;74;p3"/>
          <p:cNvSpPr txBox="1"/>
          <p:nvPr/>
        </p:nvSpPr>
        <p:spPr>
          <a:xfrm>
            <a:off x="493140" y="3552888"/>
            <a:ext cx="4251385"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Calibri"/>
                <a:ea typeface="Calibri"/>
                <a:cs typeface="Calibri"/>
                <a:sym typeface="Calibri"/>
              </a:rPr>
              <a:t>Pertumbuhan Ekonomi</a:t>
            </a:r>
            <a:endParaRPr b="1" i="0" sz="2000" u="none" cap="none" strike="noStrike">
              <a:solidFill>
                <a:srgbClr val="C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E75B5"/>
                </a:solidFill>
                <a:latin typeface="Calibri"/>
                <a:ea typeface="Calibri"/>
                <a:cs typeface="Calibri"/>
                <a:sym typeface="Calibri"/>
              </a:rPr>
              <a:t>Investasi dalam pendidikan berkontribusi pada pertumbuhan ekonomi jangka panjang</a:t>
            </a:r>
            <a:endParaRPr b="0" i="0" sz="2000" u="none" cap="none" strike="noStrike">
              <a:solidFill>
                <a:srgbClr val="2E75B5"/>
              </a:solidFill>
              <a:latin typeface="Calibri"/>
              <a:ea typeface="Calibri"/>
              <a:cs typeface="Calibri"/>
              <a:sym typeface="Calibri"/>
            </a:endParaRPr>
          </a:p>
        </p:txBody>
      </p:sp>
      <p:sp>
        <p:nvSpPr>
          <p:cNvPr id="75" name="Google Shape;75;p3"/>
          <p:cNvSpPr txBox="1"/>
          <p:nvPr/>
        </p:nvSpPr>
        <p:spPr>
          <a:xfrm>
            <a:off x="493140" y="4876327"/>
            <a:ext cx="4251385"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Calibri"/>
                <a:ea typeface="Calibri"/>
                <a:cs typeface="Calibri"/>
                <a:sym typeface="Calibri"/>
              </a:rPr>
              <a:t>Pengentasan Kemiskinan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2E75B5"/>
                </a:solidFill>
                <a:latin typeface="Calibri"/>
                <a:ea typeface="Calibri"/>
                <a:cs typeface="Calibri"/>
                <a:sym typeface="Calibri"/>
              </a:rPr>
              <a:t>Pendidikan memberikan akses kepada individu mendapatkan pekerjaan yang lebih baik</a:t>
            </a:r>
            <a:endParaRPr b="0" i="0" sz="2000" u="none" cap="none" strike="noStrike">
              <a:solidFill>
                <a:srgbClr val="2E75B5"/>
              </a:solidFill>
              <a:latin typeface="Calibri"/>
              <a:ea typeface="Calibri"/>
              <a:cs typeface="Calibri"/>
              <a:sym typeface="Calibri"/>
            </a:endParaRPr>
          </a:p>
        </p:txBody>
      </p:sp>
      <p:sp>
        <p:nvSpPr>
          <p:cNvPr id="76" name="Google Shape;76;p3"/>
          <p:cNvSpPr txBox="1"/>
          <p:nvPr/>
        </p:nvSpPr>
        <p:spPr>
          <a:xfrm>
            <a:off x="7919049" y="2229449"/>
            <a:ext cx="3737193" cy="132343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Calibri"/>
                <a:ea typeface="Calibri"/>
                <a:cs typeface="Calibri"/>
                <a:sym typeface="Calibri"/>
              </a:rPr>
              <a:t>Inovasi dan Penelitian</a:t>
            </a:r>
            <a:endParaRPr b="1" i="0" sz="2000" u="none" cap="none" strike="noStrike">
              <a:solidFill>
                <a:srgbClr val="C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2E75B5"/>
                </a:solidFill>
                <a:latin typeface="Calibri"/>
                <a:ea typeface="Calibri"/>
                <a:cs typeface="Calibri"/>
                <a:sym typeface="Calibri"/>
              </a:rPr>
              <a:t>Mendorong teknologi baru dan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2E75B5"/>
                </a:solidFill>
                <a:latin typeface="Calibri"/>
                <a:ea typeface="Calibri"/>
                <a:cs typeface="Calibri"/>
                <a:sym typeface="Calibri"/>
              </a:rPr>
              <a:t>Meningkatkan kemampuan memecahkan masalah kompleks</a:t>
            </a:r>
            <a:endParaRPr b="0" i="0" sz="2000" u="none" cap="none" strike="noStrike">
              <a:solidFill>
                <a:srgbClr val="2E75B5"/>
              </a:solidFill>
              <a:latin typeface="Calibri"/>
              <a:ea typeface="Calibri"/>
              <a:cs typeface="Calibri"/>
              <a:sym typeface="Calibri"/>
            </a:endParaRPr>
          </a:p>
        </p:txBody>
      </p:sp>
      <p:sp>
        <p:nvSpPr>
          <p:cNvPr id="77" name="Google Shape;77;p3"/>
          <p:cNvSpPr txBox="1"/>
          <p:nvPr/>
        </p:nvSpPr>
        <p:spPr>
          <a:xfrm>
            <a:off x="7919049" y="3505004"/>
            <a:ext cx="3713803" cy="163121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Calibri"/>
                <a:ea typeface="Calibri"/>
                <a:cs typeface="Calibri"/>
                <a:sym typeface="Calibri"/>
              </a:rPr>
              <a:t>Keberlanjutan Lingkungan</a:t>
            </a:r>
            <a:endParaRPr b="1" i="0" sz="2000" u="none" cap="none" strike="noStrike">
              <a:solidFill>
                <a:srgbClr val="C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2E75B5"/>
                </a:solidFill>
                <a:latin typeface="Calibri"/>
                <a:ea typeface="Calibri"/>
                <a:cs typeface="Calibri"/>
                <a:sym typeface="Calibri"/>
              </a:rPr>
              <a:t>Membantu memahami isu keberlanjutan,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2E75B5"/>
                </a:solidFill>
                <a:latin typeface="Calibri"/>
                <a:ea typeface="Calibri"/>
                <a:cs typeface="Calibri"/>
                <a:sym typeface="Calibri"/>
              </a:rPr>
              <a:t>Mendorong perilaku bertanggung jawab terhadap lingkungan</a:t>
            </a:r>
            <a:endParaRPr b="0" i="0" sz="2000" u="none" cap="none" strike="noStrike">
              <a:solidFill>
                <a:srgbClr val="2E75B5"/>
              </a:solidFill>
              <a:latin typeface="Calibri"/>
              <a:ea typeface="Calibri"/>
              <a:cs typeface="Calibri"/>
              <a:sym typeface="Calibri"/>
            </a:endParaRPr>
          </a:p>
        </p:txBody>
      </p:sp>
      <p:sp>
        <p:nvSpPr>
          <p:cNvPr id="78" name="Google Shape;78;p3"/>
          <p:cNvSpPr txBox="1"/>
          <p:nvPr/>
        </p:nvSpPr>
        <p:spPr>
          <a:xfrm>
            <a:off x="7919049" y="5043887"/>
            <a:ext cx="3737193" cy="132343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Calibri"/>
                <a:ea typeface="Calibri"/>
                <a:cs typeface="Calibri"/>
                <a:sym typeface="Calibri"/>
              </a:rPr>
              <a:t>Adaptif terhadap Perubahan</a:t>
            </a:r>
            <a:endParaRPr b="1" i="0" sz="2000" u="none" cap="none" strike="noStrike">
              <a:solidFill>
                <a:srgbClr val="C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2E75B5"/>
                </a:solidFill>
                <a:latin typeface="Calibri"/>
                <a:ea typeface="Calibri"/>
                <a:cs typeface="Calibri"/>
                <a:sym typeface="Calibri"/>
              </a:rPr>
              <a:t>Membantu beradaptasi pada perubahan teknologi &amp; pasar kerja</a:t>
            </a:r>
            <a:endParaRPr b="0" i="0" sz="2000" u="none" cap="none" strike="noStrike">
              <a:solidFill>
                <a:srgbClr val="2E75B5"/>
              </a:solidFill>
              <a:latin typeface="Calibri"/>
              <a:ea typeface="Calibri"/>
              <a:cs typeface="Calibri"/>
              <a:sym typeface="Calibri"/>
            </a:endParaRPr>
          </a:p>
        </p:txBody>
      </p:sp>
      <p:sp>
        <p:nvSpPr>
          <p:cNvPr id="79" name="Google Shape;79;p3"/>
          <p:cNvSpPr txBox="1"/>
          <p:nvPr/>
        </p:nvSpPr>
        <p:spPr>
          <a:xfrm>
            <a:off x="4744525" y="2229449"/>
            <a:ext cx="3174524" cy="2308324"/>
          </a:xfrm>
          <a:prstGeom prst="rect">
            <a:avLst/>
          </a:prstGeom>
          <a:solidFill>
            <a:srgbClr val="95B3D7">
              <a:alpha val="20392"/>
            </a:srgbClr>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2E75B5"/>
                </a:solidFill>
                <a:latin typeface="Calibri"/>
                <a:ea typeface="Calibri"/>
                <a:cs typeface="Calibri"/>
                <a:sym typeface="Calibri"/>
              </a:rPr>
              <a:t>Pendidikan bukan hanya penting untuk individu, tetapi juga untuk masyarakat dan negara secara keseluruhan, dengan meningkatkan kualitas pendidikan, dapat menciptakan masa depan lebih baik dan berkelanjutan</a:t>
            </a:r>
            <a:endParaRPr b="0" i="0" sz="1800" u="none" cap="none" strike="noStrike">
              <a:solidFill>
                <a:srgbClr val="2E75B5"/>
              </a:solidFill>
              <a:latin typeface="Calibri"/>
              <a:ea typeface="Calibri"/>
              <a:cs typeface="Calibri"/>
              <a:sym typeface="Calibri"/>
            </a:endParaRPr>
          </a:p>
        </p:txBody>
      </p:sp>
      <p:pic>
        <p:nvPicPr>
          <p:cNvPr id="80" name="Google Shape;80;p3"/>
          <p:cNvPicPr preferRelativeResize="0"/>
          <p:nvPr/>
        </p:nvPicPr>
        <p:blipFill rotWithShape="1">
          <a:blip r:embed="rId3">
            <a:alphaModFix/>
          </a:blip>
          <a:srcRect b="14128" l="0" r="0" t="0"/>
          <a:stretch/>
        </p:blipFill>
        <p:spPr>
          <a:xfrm>
            <a:off x="4749358" y="4582222"/>
            <a:ext cx="3169691" cy="18295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p:nvPr/>
        </p:nvSpPr>
        <p:spPr>
          <a:xfrm>
            <a:off x="265043" y="855405"/>
            <a:ext cx="11701669" cy="4816526"/>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7" l="0" r="0" t="-9219"/>
            </a:stretch>
          </a:blipFill>
          <a:ln>
            <a:noFill/>
          </a:ln>
        </p:spPr>
      </p:sp>
      <p:pic>
        <p:nvPicPr>
          <p:cNvPr id="86" name="Google Shape;86;p4"/>
          <p:cNvPicPr preferRelativeResize="0"/>
          <p:nvPr/>
        </p:nvPicPr>
        <p:blipFill rotWithShape="1">
          <a:blip r:embed="rId4">
            <a:alphaModFix/>
          </a:blip>
          <a:srcRect b="0" l="0" r="0" t="0"/>
          <a:stretch/>
        </p:blipFill>
        <p:spPr>
          <a:xfrm>
            <a:off x="463826" y="855404"/>
            <a:ext cx="11337178" cy="48165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Elemen Pembelajaran</a:t>
            </a:r>
            <a:endParaRPr/>
          </a:p>
        </p:txBody>
      </p:sp>
      <p:sp>
        <p:nvSpPr>
          <p:cNvPr id="92" name="Google Shape;92;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i="1" lang="en-US"/>
              <a:t>Coding Learning Progression</a:t>
            </a:r>
            <a:r>
              <a:rPr lang="en-US"/>
              <a:t> </a:t>
            </a:r>
            <a:br>
              <a:rPr lang="en-US"/>
            </a:br>
            <a:r>
              <a:rPr lang="en-US"/>
              <a:t>Mapel Informatika</a:t>
            </a:r>
            <a:endParaRPr/>
          </a:p>
        </p:txBody>
      </p:sp>
      <p:pic>
        <p:nvPicPr>
          <p:cNvPr id="98" name="Google Shape;98;p6"/>
          <p:cNvPicPr preferRelativeResize="0"/>
          <p:nvPr/>
        </p:nvPicPr>
        <p:blipFill rotWithShape="1">
          <a:blip r:embed="rId3">
            <a:alphaModFix/>
          </a:blip>
          <a:srcRect b="1654" l="1" r="1569" t="-1"/>
          <a:stretch/>
        </p:blipFill>
        <p:spPr>
          <a:xfrm>
            <a:off x="533401" y="2122043"/>
            <a:ext cx="3757386" cy="3722167"/>
          </a:xfrm>
          <a:prstGeom prst="rect">
            <a:avLst/>
          </a:prstGeom>
          <a:noFill/>
          <a:ln>
            <a:noFill/>
          </a:ln>
        </p:spPr>
      </p:pic>
      <p:sp>
        <p:nvSpPr>
          <p:cNvPr id="99" name="Google Shape;99;p6"/>
          <p:cNvSpPr txBox="1"/>
          <p:nvPr/>
        </p:nvSpPr>
        <p:spPr>
          <a:xfrm>
            <a:off x="4444792" y="2122043"/>
            <a:ext cx="7031592" cy="41549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E4E79"/>
                </a:solidFill>
                <a:latin typeface="Calibri"/>
                <a:ea typeface="Calibri"/>
                <a:cs typeface="Calibri"/>
                <a:sym typeface="Calibri"/>
              </a:rPr>
              <a:t>Dasar-dasar Coding dan AI, untuk fase D dan E telah diajarkan secara terstruktur dan sistematis pada mata pelajaran</a:t>
            </a:r>
            <a:r>
              <a:rPr b="1" i="0" lang="en-US" sz="2200" u="none" cap="none" strike="noStrike">
                <a:solidFill>
                  <a:srgbClr val="1E4E79"/>
                </a:solidFill>
                <a:latin typeface="Calibri"/>
                <a:ea typeface="Calibri"/>
                <a:cs typeface="Calibri"/>
                <a:sym typeface="Calibri"/>
              </a:rPr>
              <a:t> Informatika</a:t>
            </a:r>
            <a:endParaRPr b="0" i="0" sz="2200" u="none" cap="none" strike="noStrike">
              <a:solidFill>
                <a:srgbClr val="1E4E79"/>
              </a:solidFill>
              <a:latin typeface="Calibri"/>
              <a:ea typeface="Calibri"/>
              <a:cs typeface="Calibri"/>
              <a:sym typeface="Calibri"/>
            </a:endParaRPr>
          </a:p>
          <a:p>
            <a:pPr indent="-342900" lvl="0" marL="342900" marR="0" rtl="0" algn="l">
              <a:lnSpc>
                <a:spcPct val="100000"/>
              </a:lnSpc>
              <a:spcBef>
                <a:spcPts val="0"/>
              </a:spcBef>
              <a:spcAft>
                <a:spcPts val="0"/>
              </a:spcAft>
              <a:buClr>
                <a:srgbClr val="C00000"/>
              </a:buClr>
              <a:buSzPts val="2200"/>
              <a:buFont typeface="Arial"/>
              <a:buChar char="•"/>
            </a:pPr>
            <a:r>
              <a:rPr b="1" i="0" lang="en-US" sz="2200" u="none" cap="none" strike="noStrike">
                <a:solidFill>
                  <a:srgbClr val="C00000"/>
                </a:solidFill>
                <a:latin typeface="Calibri"/>
                <a:ea typeface="Calibri"/>
                <a:cs typeface="Calibri"/>
                <a:sym typeface="Calibri"/>
              </a:rPr>
              <a:t>Berpikir Komputasional </a:t>
            </a:r>
            <a:r>
              <a:rPr b="0" i="0" lang="en-US" sz="2200" u="none" cap="none" strike="noStrike">
                <a:solidFill>
                  <a:srgbClr val="1E4E79"/>
                </a:solidFill>
                <a:latin typeface="Calibri"/>
                <a:ea typeface="Calibri"/>
                <a:cs typeface="Calibri"/>
                <a:sym typeface="Calibri"/>
              </a:rPr>
              <a:t>yang banyak mengajarkan logika, abstraksi, dekomposisi, representasi data, reasoning, dan algoritmik thinking yang menjadi dasar AI dan coding</a:t>
            </a:r>
            <a:endParaRPr b="1" i="0" sz="2200" u="none" cap="none" strike="noStrike">
              <a:solidFill>
                <a:srgbClr val="1E4E79"/>
              </a:solidFill>
              <a:latin typeface="Calibri"/>
              <a:ea typeface="Calibri"/>
              <a:cs typeface="Calibri"/>
              <a:sym typeface="Calibri"/>
            </a:endParaRPr>
          </a:p>
          <a:p>
            <a:pPr indent="-342900" lvl="0" marL="342900" marR="0" rtl="0" algn="l">
              <a:lnSpc>
                <a:spcPct val="100000"/>
              </a:lnSpc>
              <a:spcBef>
                <a:spcPts val="0"/>
              </a:spcBef>
              <a:spcAft>
                <a:spcPts val="0"/>
              </a:spcAft>
              <a:buClr>
                <a:srgbClr val="C00000"/>
              </a:buClr>
              <a:buSzPts val="2200"/>
              <a:buFont typeface="Arial"/>
              <a:buChar char="•"/>
            </a:pPr>
            <a:r>
              <a:rPr b="1" i="0" lang="en-US" sz="2200" u="none" cap="none" strike="noStrike">
                <a:solidFill>
                  <a:srgbClr val="C00000"/>
                </a:solidFill>
                <a:latin typeface="Calibri"/>
                <a:ea typeface="Calibri"/>
                <a:cs typeface="Calibri"/>
                <a:sym typeface="Calibri"/>
              </a:rPr>
              <a:t>Coding</a:t>
            </a:r>
            <a:r>
              <a:rPr b="1" i="0" lang="en-US" sz="2200" u="none" cap="none" strike="noStrike">
                <a:solidFill>
                  <a:srgbClr val="1E4E79"/>
                </a:solidFill>
                <a:latin typeface="Calibri"/>
                <a:ea typeface="Calibri"/>
                <a:cs typeface="Calibri"/>
                <a:sym typeface="Calibri"/>
              </a:rPr>
              <a:t> </a:t>
            </a:r>
            <a:r>
              <a:rPr b="0" i="0" lang="en-US" sz="2200" u="none" cap="none" strike="noStrike">
                <a:solidFill>
                  <a:srgbClr val="1E4E79"/>
                </a:solidFill>
                <a:latin typeface="Calibri"/>
                <a:ea typeface="Calibri"/>
                <a:cs typeface="Calibri"/>
                <a:sym typeface="Calibri"/>
              </a:rPr>
              <a:t>telah diajarkan baik dengan mode </a:t>
            </a:r>
            <a:r>
              <a:rPr b="1" i="1" lang="en-US" sz="2200" u="none" cap="none" strike="noStrike">
                <a:solidFill>
                  <a:srgbClr val="1E4E79"/>
                </a:solidFill>
                <a:latin typeface="Calibri"/>
                <a:ea typeface="Calibri"/>
                <a:cs typeface="Calibri"/>
                <a:sym typeface="Calibri"/>
              </a:rPr>
              <a:t>plugged</a:t>
            </a:r>
            <a:r>
              <a:rPr b="0" i="0" lang="en-US" sz="2200" u="none" cap="none" strike="noStrike">
                <a:solidFill>
                  <a:srgbClr val="1E4E79"/>
                </a:solidFill>
                <a:latin typeface="Calibri"/>
                <a:ea typeface="Calibri"/>
                <a:cs typeface="Calibri"/>
                <a:sym typeface="Calibri"/>
              </a:rPr>
              <a:t> maupun </a:t>
            </a:r>
            <a:r>
              <a:rPr b="1" i="1" lang="en-US" sz="2200" u="none" cap="none" strike="noStrike">
                <a:solidFill>
                  <a:srgbClr val="1E4E79"/>
                </a:solidFill>
                <a:latin typeface="Calibri"/>
                <a:ea typeface="Calibri"/>
                <a:cs typeface="Calibri"/>
                <a:sym typeface="Calibri"/>
              </a:rPr>
              <a:t>unplugged</a:t>
            </a:r>
            <a:r>
              <a:rPr b="0" i="0" lang="en-US" sz="2200" u="none" cap="none" strike="noStrike">
                <a:solidFill>
                  <a:srgbClr val="1E4E79"/>
                </a:solidFill>
                <a:latin typeface="Calibri"/>
                <a:ea typeface="Calibri"/>
                <a:cs typeface="Calibri"/>
                <a:sym typeface="Calibri"/>
              </a:rPr>
              <a:t>. Dibelajarkan menggunakan bahasa block programming Scratch dan Blockly pada fase D, dan bahasa pemrograman tekstual (Python, C, Pascal) pada fase E dan 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i="1" lang="en-US"/>
              <a:t>Coding Learning Progression</a:t>
            </a:r>
            <a:r>
              <a:rPr lang="en-US"/>
              <a:t> </a:t>
            </a:r>
            <a:br>
              <a:rPr lang="en-US"/>
            </a:br>
            <a:r>
              <a:rPr lang="en-US"/>
              <a:t>Mapel Informatika</a:t>
            </a:r>
            <a:endParaRPr/>
          </a:p>
        </p:txBody>
      </p:sp>
      <p:pic>
        <p:nvPicPr>
          <p:cNvPr id="105" name="Google Shape;105;p7"/>
          <p:cNvPicPr preferRelativeResize="0"/>
          <p:nvPr/>
        </p:nvPicPr>
        <p:blipFill rotWithShape="1">
          <a:blip r:embed="rId3">
            <a:alphaModFix/>
          </a:blip>
          <a:srcRect b="1654" l="1" r="1569" t="-1"/>
          <a:stretch/>
        </p:blipFill>
        <p:spPr>
          <a:xfrm>
            <a:off x="533401" y="2122043"/>
            <a:ext cx="3757386" cy="3722167"/>
          </a:xfrm>
          <a:prstGeom prst="rect">
            <a:avLst/>
          </a:prstGeom>
          <a:noFill/>
          <a:ln>
            <a:noFill/>
          </a:ln>
        </p:spPr>
      </p:pic>
      <p:sp>
        <p:nvSpPr>
          <p:cNvPr id="106" name="Google Shape;106;p7"/>
          <p:cNvSpPr txBox="1"/>
          <p:nvPr/>
        </p:nvSpPr>
        <p:spPr>
          <a:xfrm>
            <a:off x="4444792" y="2122043"/>
            <a:ext cx="7031592" cy="44935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C00000"/>
                </a:solidFill>
                <a:latin typeface="Calibri"/>
                <a:ea typeface="Calibri"/>
                <a:cs typeface="Calibri"/>
                <a:sym typeface="Calibri"/>
              </a:rPr>
              <a:t>Fase D</a:t>
            </a:r>
            <a:r>
              <a:rPr b="0" i="0" lang="en-US" sz="2200" u="none" cap="none" strike="noStrike">
                <a:solidFill>
                  <a:srgbClr val="1E4E79"/>
                </a:solidFill>
                <a:latin typeface="Calibri"/>
                <a:ea typeface="Calibri"/>
                <a:cs typeface="Calibri"/>
                <a:sym typeface="Calibri"/>
              </a:rPr>
              <a:t>, Memperkenalkan Konsep Coding (tipe data, variabel, percabangan, perulangan, fungsi dan prosedur.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E4E79"/>
                </a:solidFill>
                <a:latin typeface="Calibri"/>
                <a:ea typeface="Calibri"/>
                <a:cs typeface="Calibri"/>
                <a:sym typeface="Calibri"/>
              </a:rPr>
              <a:t>Block Programming: Blockly dan Scratch</a:t>
            </a:r>
            <a:br>
              <a:rPr b="0" i="0" lang="en-US" sz="2200" u="none" cap="none" strike="noStrike">
                <a:solidFill>
                  <a:srgbClr val="1E4E79"/>
                </a:solidFill>
                <a:latin typeface="Calibri"/>
                <a:ea typeface="Calibri"/>
                <a:cs typeface="Calibri"/>
                <a:sym typeface="Calibri"/>
              </a:rPr>
            </a:br>
            <a:r>
              <a:rPr b="1" i="0" lang="en-US" sz="2200" u="none" cap="none" strike="noStrike">
                <a:solidFill>
                  <a:srgbClr val="C00000"/>
                </a:solidFill>
                <a:latin typeface="Calibri"/>
                <a:ea typeface="Calibri"/>
                <a:cs typeface="Calibri"/>
                <a:sym typeface="Calibri"/>
              </a:rPr>
              <a:t>Fase E</a:t>
            </a:r>
            <a:r>
              <a:rPr b="0" i="0" lang="en-US" sz="2200" u="none" cap="none" strike="noStrike">
                <a:solidFill>
                  <a:srgbClr val="1E4E79"/>
                </a:solidFill>
                <a:latin typeface="Calibri"/>
                <a:ea typeface="Calibri"/>
                <a:cs typeface="Calibri"/>
                <a:sym typeface="Calibri"/>
              </a:rPr>
              <a:t>, Migrasi dari block programming ke textual programming dengan mengenalkan pseudocode sebelum coding riil. Menggunakan bahasa Algo menggunakan konsep dasar pemrograman (tipe data, variabel, percabangan, perulangan, fungsi dan prosedur).</a:t>
            </a:r>
            <a:br>
              <a:rPr b="0" i="0" lang="en-US" sz="2200" u="none" cap="none" strike="noStrike">
                <a:solidFill>
                  <a:srgbClr val="1E4E79"/>
                </a:solidFill>
                <a:latin typeface="Calibri"/>
                <a:ea typeface="Calibri"/>
                <a:cs typeface="Calibri"/>
                <a:sym typeface="Calibri"/>
              </a:rPr>
            </a:b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E4E79"/>
                </a:solidFill>
                <a:latin typeface="Calibri"/>
                <a:ea typeface="Calibri"/>
                <a:cs typeface="Calibri"/>
                <a:sym typeface="Calibri"/>
              </a:rPr>
              <a:t>Pemrograman tekstual: C, Pascal dan Python, dll.</a:t>
            </a:r>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C00000"/>
                </a:solidFill>
                <a:latin typeface="Calibri"/>
                <a:ea typeface="Calibri"/>
                <a:cs typeface="Calibri"/>
                <a:sym typeface="Calibri"/>
              </a:rPr>
              <a:t>Kenapa pseudocode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E4E79"/>
                </a:solidFill>
                <a:latin typeface="Calibri"/>
                <a:ea typeface="Calibri"/>
                <a:cs typeface="Calibri"/>
                <a:sym typeface="Calibri"/>
              </a:rPr>
              <a:t>Agar dapat lebih mudah untuk dipahami oleh peserta didik, dibandingkan dengan langsung menggunakan bahasa pemrograman yang umum dipakai.</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Elemen Pembelajaran </a:t>
            </a:r>
            <a:br>
              <a:rPr lang="en-US"/>
            </a:br>
            <a:r>
              <a:rPr lang="en-US"/>
              <a:t>Koding dan Kecerdasan Artifisial</a:t>
            </a:r>
            <a:endParaRPr/>
          </a:p>
        </p:txBody>
      </p:sp>
      <p:sp>
        <p:nvSpPr>
          <p:cNvPr id="112" name="Google Shape;112;p8"/>
          <p:cNvSpPr/>
          <p:nvPr/>
        </p:nvSpPr>
        <p:spPr>
          <a:xfrm>
            <a:off x="838200" y="2421441"/>
            <a:ext cx="10034588" cy="353943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1E4E79"/>
              </a:buClr>
              <a:buSzPts val="3200"/>
              <a:buFont typeface="Arial"/>
              <a:buChar char="•"/>
            </a:pPr>
            <a:r>
              <a:rPr b="0" i="0" lang="en-US" sz="3200" u="none" cap="none" strike="noStrike">
                <a:solidFill>
                  <a:srgbClr val="1E4E79"/>
                </a:solidFill>
                <a:latin typeface="Helvetica Neue"/>
                <a:ea typeface="Helvetica Neue"/>
                <a:cs typeface="Helvetica Neue"/>
                <a:sym typeface="Helvetica Neue"/>
              </a:rPr>
              <a:t>berpikir komputasional;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3200"/>
              <a:buFont typeface="Arial"/>
              <a:buChar char="•"/>
            </a:pPr>
            <a:r>
              <a:rPr b="0" i="0" lang="en-US" sz="3200" u="none" cap="none" strike="noStrike">
                <a:solidFill>
                  <a:srgbClr val="1E4E79"/>
                </a:solidFill>
                <a:latin typeface="Helvetica Neue"/>
                <a:ea typeface="Helvetica Neue"/>
                <a:cs typeface="Helvetica Neue"/>
                <a:sym typeface="Helvetica Neue"/>
              </a:rPr>
              <a:t>literasi digital;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3200"/>
              <a:buFont typeface="Arial"/>
              <a:buChar char="•"/>
            </a:pPr>
            <a:r>
              <a:rPr b="0" i="0" lang="en-US" sz="3200" u="none" cap="none" strike="noStrike">
                <a:solidFill>
                  <a:srgbClr val="1E4E79"/>
                </a:solidFill>
                <a:latin typeface="Helvetica Neue"/>
                <a:ea typeface="Helvetica Neue"/>
                <a:cs typeface="Helvetica Neue"/>
                <a:sym typeface="Helvetica Neue"/>
              </a:rPr>
              <a:t>algoritma pemrograman;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3200"/>
              <a:buFont typeface="Arial"/>
              <a:buChar char="•"/>
            </a:pPr>
            <a:r>
              <a:rPr b="0" i="0" lang="en-US" sz="3200" u="none" cap="none" strike="noStrike">
                <a:solidFill>
                  <a:srgbClr val="1E4E79"/>
                </a:solidFill>
                <a:latin typeface="Helvetica Neue"/>
                <a:ea typeface="Helvetica Neue"/>
                <a:cs typeface="Helvetica Neue"/>
                <a:sym typeface="Helvetica Neue"/>
              </a:rPr>
              <a:t>analisis data;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3200"/>
              <a:buFont typeface="Arial"/>
              <a:buChar char="•"/>
            </a:pPr>
            <a:r>
              <a:rPr b="0" i="0" lang="en-US" sz="3200" u="none" cap="none" strike="noStrike">
                <a:solidFill>
                  <a:srgbClr val="1E4E79"/>
                </a:solidFill>
                <a:latin typeface="Helvetica Neue"/>
                <a:ea typeface="Helvetica Neue"/>
                <a:cs typeface="Helvetica Neue"/>
                <a:sym typeface="Helvetica Neue"/>
              </a:rPr>
              <a:t>literasi dan etika kecerdasan artifisial; dan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3200"/>
              <a:buFont typeface="Arial"/>
              <a:buChar char="•"/>
            </a:pPr>
            <a:r>
              <a:rPr b="0" i="0" lang="en-US" sz="3200" u="none" cap="none" strike="noStrike">
                <a:solidFill>
                  <a:srgbClr val="1E4E79"/>
                </a:solidFill>
                <a:latin typeface="Helvetica Neue"/>
                <a:ea typeface="Helvetica Neue"/>
                <a:cs typeface="Helvetica Neue"/>
                <a:sym typeface="Helvetica Neue"/>
              </a:rPr>
              <a:t>pemanfaatan dan pengembangan kecerdasan artifisial.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E75B5"/>
              </a:buClr>
              <a:buSzPct val="100000"/>
              <a:buFont typeface="Calibri"/>
              <a:buNone/>
            </a:pPr>
            <a:r>
              <a:rPr lang="en-US"/>
              <a:t>Pembelajaran </a:t>
            </a:r>
            <a:br>
              <a:rPr lang="en-US"/>
            </a:br>
            <a:r>
              <a:rPr lang="en-US"/>
              <a:t>Informatika - Koding dan Kecerdasan Artifisial</a:t>
            </a:r>
            <a:endParaRPr/>
          </a:p>
        </p:txBody>
      </p:sp>
      <p:pic>
        <p:nvPicPr>
          <p:cNvPr id="118" name="Google Shape;118;p9"/>
          <p:cNvPicPr preferRelativeResize="0"/>
          <p:nvPr/>
        </p:nvPicPr>
        <p:blipFill rotWithShape="1">
          <a:blip r:embed="rId3">
            <a:alphaModFix/>
          </a:blip>
          <a:srcRect b="0" l="0" r="0" t="6537"/>
          <a:stretch/>
        </p:blipFill>
        <p:spPr>
          <a:xfrm>
            <a:off x="838200" y="1789043"/>
            <a:ext cx="8388626" cy="47470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AI Curriculum for K-12</a:t>
            </a:r>
            <a:endParaRPr/>
          </a:p>
        </p:txBody>
      </p:sp>
      <p:sp>
        <p:nvSpPr>
          <p:cNvPr id="124" name="Google Shape;124;p1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E75B5"/>
              </a:buClr>
              <a:buSzPct val="100000"/>
              <a:buFont typeface="Calibri"/>
              <a:buNone/>
            </a:pPr>
            <a:r>
              <a:rPr lang="en-US"/>
              <a:t>AI curriculum for K-12, which one is better: </a:t>
            </a:r>
            <a:br>
              <a:rPr lang="en-US"/>
            </a:br>
            <a:r>
              <a:rPr lang="en-US">
                <a:solidFill>
                  <a:srgbClr val="C55A11"/>
                </a:solidFill>
              </a:rPr>
              <a:t>AI as another course or as part of CS curriculum?</a:t>
            </a:r>
            <a:endParaRPr>
              <a:solidFill>
                <a:srgbClr val="C55A11"/>
              </a:solidFill>
            </a:endParaRPr>
          </a:p>
        </p:txBody>
      </p:sp>
      <p:sp>
        <p:nvSpPr>
          <p:cNvPr id="131" name="Google Shape;131;p11"/>
          <p:cNvSpPr txBox="1"/>
          <p:nvPr>
            <p:ph idx="1" type="body"/>
          </p:nvPr>
        </p:nvSpPr>
        <p:spPr>
          <a:xfrm>
            <a:off x="838200" y="2372139"/>
            <a:ext cx="10515600" cy="380482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1E4E79"/>
              </a:buClr>
              <a:buSzPts val="3200"/>
              <a:buChar char="•"/>
            </a:pPr>
            <a:r>
              <a:rPr i="1" lang="en-US" sz="3200"/>
              <a:t>Teaching AI in K-12 education can be approached in different ways, with arguments for both separate courses and integration into the </a:t>
            </a:r>
            <a:r>
              <a:rPr b="1" i="1" lang="en-US" sz="3200"/>
              <a:t>Computer Science curriculum</a:t>
            </a:r>
            <a:r>
              <a:rPr i="1" lang="en-US" sz="3200"/>
              <a:t>. </a:t>
            </a:r>
            <a:endParaRPr/>
          </a:p>
          <a:p>
            <a:pPr indent="-228600" lvl="0" marL="228600" rtl="0" algn="l">
              <a:lnSpc>
                <a:spcPct val="90000"/>
              </a:lnSpc>
              <a:spcBef>
                <a:spcPts val="1000"/>
              </a:spcBef>
              <a:spcAft>
                <a:spcPts val="0"/>
              </a:spcAft>
              <a:buClr>
                <a:srgbClr val="1E4E79"/>
              </a:buClr>
              <a:buSzPts val="3200"/>
              <a:buChar char="•"/>
            </a:pPr>
            <a:r>
              <a:rPr i="1" lang="en-US" sz="3200"/>
              <a:t>Separate AI courses can provide focused learning, while integration can enhance understanding of AI within broader computing concepts, promoting interdisciplinary skills.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E75B5"/>
              </a:buClr>
              <a:buSzPct val="100000"/>
              <a:buFont typeface="Calibri"/>
              <a:buNone/>
            </a:pPr>
            <a:r>
              <a:rPr lang="en-US"/>
              <a:t>AI curriculum for K-12, which one is better: </a:t>
            </a:r>
            <a:br>
              <a:rPr lang="en-US"/>
            </a:br>
            <a:r>
              <a:rPr lang="en-US">
                <a:solidFill>
                  <a:srgbClr val="C55A11"/>
                </a:solidFill>
              </a:rPr>
              <a:t>AI as another course or as part of CS curriculum?</a:t>
            </a:r>
            <a:endParaRPr/>
          </a:p>
        </p:txBody>
      </p:sp>
      <p:sp>
        <p:nvSpPr>
          <p:cNvPr id="138" name="Google Shape;138;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C55A11"/>
              </a:buClr>
              <a:buSzPct val="100000"/>
              <a:buNone/>
            </a:pPr>
            <a:r>
              <a:rPr b="1" lang="en-US">
                <a:solidFill>
                  <a:srgbClr val="C55A11"/>
                </a:solidFill>
              </a:rPr>
              <a:t>Separate AI Course</a:t>
            </a:r>
            <a:endParaRPr/>
          </a:p>
          <a:p>
            <a:pPr indent="0" lvl="0" marL="0" rtl="0" algn="l">
              <a:lnSpc>
                <a:spcPct val="90000"/>
              </a:lnSpc>
              <a:spcBef>
                <a:spcPts val="1000"/>
              </a:spcBef>
              <a:spcAft>
                <a:spcPts val="0"/>
              </a:spcAft>
              <a:buClr>
                <a:srgbClr val="1E4E79"/>
              </a:buClr>
              <a:buSzPct val="100000"/>
              <a:buNone/>
            </a:pPr>
            <a:r>
              <a:rPr b="1" lang="en-US"/>
              <a:t>Focused Learning: </a:t>
            </a:r>
            <a:endParaRPr/>
          </a:p>
          <a:p>
            <a:pPr indent="-228600" lvl="0" marL="228600" rtl="0" algn="l">
              <a:lnSpc>
                <a:spcPct val="90000"/>
              </a:lnSpc>
              <a:spcBef>
                <a:spcPts val="1000"/>
              </a:spcBef>
              <a:spcAft>
                <a:spcPts val="0"/>
              </a:spcAft>
              <a:buClr>
                <a:srgbClr val="1E4E79"/>
              </a:buClr>
              <a:buSzPct val="100000"/>
              <a:buChar char="•"/>
            </a:pPr>
            <a:r>
              <a:rPr lang="en-US"/>
              <a:t>A dedicated AI course allows for in-depth exploration of AI concepts, techniques, and applications.</a:t>
            </a:r>
            <a:endParaRPr/>
          </a:p>
          <a:p>
            <a:pPr indent="0" lvl="0" marL="0" rtl="0" algn="l">
              <a:lnSpc>
                <a:spcPct val="90000"/>
              </a:lnSpc>
              <a:spcBef>
                <a:spcPts val="1000"/>
              </a:spcBef>
              <a:spcAft>
                <a:spcPts val="0"/>
              </a:spcAft>
              <a:buClr>
                <a:srgbClr val="1E4E79"/>
              </a:buClr>
              <a:buSzPct val="100000"/>
              <a:buNone/>
            </a:pPr>
            <a:r>
              <a:rPr b="1" lang="en-US"/>
              <a:t>Specialization: </a:t>
            </a:r>
            <a:endParaRPr/>
          </a:p>
          <a:p>
            <a:pPr indent="-228600" lvl="0" marL="228600" rtl="0" algn="l">
              <a:lnSpc>
                <a:spcPct val="90000"/>
              </a:lnSpc>
              <a:spcBef>
                <a:spcPts val="1000"/>
              </a:spcBef>
              <a:spcAft>
                <a:spcPts val="0"/>
              </a:spcAft>
              <a:buClr>
                <a:srgbClr val="1E4E79"/>
              </a:buClr>
              <a:buSzPct val="100000"/>
              <a:buChar char="•"/>
            </a:pPr>
            <a:r>
              <a:rPr lang="en-US"/>
              <a:t>Students can develop specific skills and knowledge related to AI, preparing them for future studies or careers in this field.</a:t>
            </a:r>
            <a:endParaRPr/>
          </a:p>
          <a:p>
            <a:pPr indent="0" lvl="0" marL="0" rtl="0" algn="l">
              <a:lnSpc>
                <a:spcPct val="90000"/>
              </a:lnSpc>
              <a:spcBef>
                <a:spcPts val="1000"/>
              </a:spcBef>
              <a:spcAft>
                <a:spcPts val="0"/>
              </a:spcAft>
              <a:buClr>
                <a:srgbClr val="1E4E79"/>
              </a:buClr>
              <a:buSzPct val="100000"/>
              <a:buNone/>
            </a:pPr>
            <a:r>
              <a:rPr b="1" lang="en-US"/>
              <a:t>Curriculum Flexibility: </a:t>
            </a:r>
            <a:endParaRPr/>
          </a:p>
          <a:p>
            <a:pPr indent="-228600" lvl="0" marL="228600" rtl="0" algn="l">
              <a:lnSpc>
                <a:spcPct val="90000"/>
              </a:lnSpc>
              <a:spcBef>
                <a:spcPts val="1000"/>
              </a:spcBef>
              <a:spcAft>
                <a:spcPts val="0"/>
              </a:spcAft>
              <a:buClr>
                <a:srgbClr val="1E4E79"/>
              </a:buClr>
              <a:buSzPct val="100000"/>
              <a:buChar char="•"/>
            </a:pPr>
            <a:r>
              <a:rPr lang="en-US"/>
              <a:t>A standalone course can be tailored to include the latest advancements in AI, ensuring that students are learning current and relevant material.</a:t>
            </a:r>
            <a:endParaRPr/>
          </a:p>
          <a:p>
            <a:pPr indent="-64135" lvl="0" marL="228600" rtl="0" algn="l">
              <a:lnSpc>
                <a:spcPct val="90000"/>
              </a:lnSpc>
              <a:spcBef>
                <a:spcPts val="1000"/>
              </a:spcBef>
              <a:spcAft>
                <a:spcPts val="0"/>
              </a:spcAft>
              <a:buClr>
                <a:srgbClr val="1E4E79"/>
              </a:buClr>
              <a:buSzPct val="100000"/>
              <a:buNone/>
            </a:pPr>
            <a:r>
              <a:t/>
            </a:r>
            <a:endParaRPr/>
          </a:p>
          <a:p>
            <a:pPr indent="-64135" lvl="0" marL="228600" rtl="0" algn="l">
              <a:lnSpc>
                <a:spcPct val="90000"/>
              </a:lnSpc>
              <a:spcBef>
                <a:spcPts val="1000"/>
              </a:spcBef>
              <a:spcAft>
                <a:spcPts val="0"/>
              </a:spcAft>
              <a:buClr>
                <a:srgbClr val="1E4E79"/>
              </a:buClr>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E75B5"/>
              </a:buClr>
              <a:buSzPct val="100000"/>
              <a:buFont typeface="Calibri"/>
              <a:buNone/>
            </a:pPr>
            <a:r>
              <a:rPr lang="en-US"/>
              <a:t>AI curriculum for K-12, which one is better: </a:t>
            </a:r>
            <a:br>
              <a:rPr lang="en-US"/>
            </a:br>
            <a:r>
              <a:rPr lang="en-US">
                <a:solidFill>
                  <a:srgbClr val="C55A11"/>
                </a:solidFill>
              </a:rPr>
              <a:t>AI as another course or as part of CS curriculum?</a:t>
            </a:r>
            <a:endParaRPr/>
          </a:p>
        </p:txBody>
      </p:sp>
      <p:sp>
        <p:nvSpPr>
          <p:cNvPr id="145" name="Google Shape;145;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C55A11"/>
              </a:buClr>
              <a:buSzPct val="100000"/>
              <a:buNone/>
            </a:pPr>
            <a:r>
              <a:rPr b="1" lang="en-US">
                <a:solidFill>
                  <a:srgbClr val="C55A11"/>
                </a:solidFill>
              </a:rPr>
              <a:t>Integration into Computer Science Curriculum</a:t>
            </a:r>
            <a:endParaRPr/>
          </a:p>
          <a:p>
            <a:pPr indent="0" lvl="0" marL="0" rtl="0" algn="l">
              <a:lnSpc>
                <a:spcPct val="90000"/>
              </a:lnSpc>
              <a:spcBef>
                <a:spcPts val="1000"/>
              </a:spcBef>
              <a:spcAft>
                <a:spcPts val="0"/>
              </a:spcAft>
              <a:buClr>
                <a:srgbClr val="1E4E79"/>
              </a:buClr>
              <a:buSzPct val="100000"/>
              <a:buNone/>
            </a:pPr>
            <a:r>
              <a:rPr b="1" lang="en-US"/>
              <a:t>Contextual Understanding: </a:t>
            </a:r>
            <a:endParaRPr/>
          </a:p>
          <a:p>
            <a:pPr indent="-228600" lvl="0" marL="228600" rtl="0" algn="l">
              <a:lnSpc>
                <a:spcPct val="90000"/>
              </a:lnSpc>
              <a:spcBef>
                <a:spcPts val="1000"/>
              </a:spcBef>
              <a:spcAft>
                <a:spcPts val="0"/>
              </a:spcAft>
              <a:buClr>
                <a:srgbClr val="1E4E79"/>
              </a:buClr>
              <a:buSzPct val="100000"/>
              <a:buChar char="•"/>
            </a:pPr>
            <a:r>
              <a:rPr lang="en-US"/>
              <a:t>Integrating AI into the CS curriculum helps students see AI as part of a larger technological landscape, enhancing their overall understanding of computing.</a:t>
            </a:r>
            <a:endParaRPr b="1">
              <a:solidFill>
                <a:srgbClr val="C55A11"/>
              </a:solidFill>
            </a:endParaRPr>
          </a:p>
          <a:p>
            <a:pPr indent="0" lvl="0" marL="0" rtl="0" algn="l">
              <a:lnSpc>
                <a:spcPct val="90000"/>
              </a:lnSpc>
              <a:spcBef>
                <a:spcPts val="1000"/>
              </a:spcBef>
              <a:spcAft>
                <a:spcPts val="0"/>
              </a:spcAft>
              <a:buClr>
                <a:srgbClr val="1E4E79"/>
              </a:buClr>
              <a:buSzPct val="100000"/>
              <a:buNone/>
            </a:pPr>
            <a:r>
              <a:rPr b="1" lang="en-US"/>
              <a:t>Interdisciplinary Skills: </a:t>
            </a:r>
            <a:endParaRPr/>
          </a:p>
          <a:p>
            <a:pPr indent="-228600" lvl="0" marL="228600" rtl="0" algn="l">
              <a:lnSpc>
                <a:spcPct val="90000"/>
              </a:lnSpc>
              <a:spcBef>
                <a:spcPts val="1000"/>
              </a:spcBef>
              <a:spcAft>
                <a:spcPts val="0"/>
              </a:spcAft>
              <a:buClr>
                <a:srgbClr val="1E4E79"/>
              </a:buClr>
              <a:buSzPct val="100000"/>
              <a:buChar char="•"/>
            </a:pPr>
            <a:r>
              <a:rPr lang="en-US"/>
              <a:t>This approach encourages students to apply AI concepts across various subjects, fostering critical thinking and problem-solving skills.</a:t>
            </a:r>
            <a:endParaRPr b="1">
              <a:solidFill>
                <a:srgbClr val="C55A11"/>
              </a:solidFill>
            </a:endParaRPr>
          </a:p>
          <a:p>
            <a:pPr indent="0" lvl="0" marL="0" rtl="0" algn="l">
              <a:lnSpc>
                <a:spcPct val="90000"/>
              </a:lnSpc>
              <a:spcBef>
                <a:spcPts val="1000"/>
              </a:spcBef>
              <a:spcAft>
                <a:spcPts val="0"/>
              </a:spcAft>
              <a:buClr>
                <a:srgbClr val="1E4E79"/>
              </a:buClr>
              <a:buSzPct val="100000"/>
              <a:buNone/>
            </a:pPr>
            <a:r>
              <a:rPr b="1" lang="en-US"/>
              <a:t>Resource Efficiency: </a:t>
            </a:r>
            <a:endParaRPr/>
          </a:p>
          <a:p>
            <a:pPr indent="-228600" lvl="0" marL="228600" rtl="0" algn="l">
              <a:lnSpc>
                <a:spcPct val="90000"/>
              </a:lnSpc>
              <a:spcBef>
                <a:spcPts val="1000"/>
              </a:spcBef>
              <a:spcAft>
                <a:spcPts val="0"/>
              </a:spcAft>
              <a:buClr>
                <a:srgbClr val="1E4E79"/>
              </a:buClr>
              <a:buSzPct val="100000"/>
              <a:buChar char="•"/>
            </a:pPr>
            <a:r>
              <a:rPr lang="en-US"/>
              <a:t>Utilizing existing CS classes to teach AI can be more efficient in terms of resources, as it leverages current teaching staff and materials.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Koding</a:t>
            </a:r>
            <a:endParaRPr/>
          </a:p>
        </p:txBody>
      </p:sp>
      <p:sp>
        <p:nvSpPr>
          <p:cNvPr id="151" name="Google Shape;151;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Terminologi Koding</a:t>
            </a:r>
            <a:endParaRPr/>
          </a:p>
        </p:txBody>
      </p:sp>
      <p:sp>
        <p:nvSpPr>
          <p:cNvPr id="157" name="Google Shape;157;p15"/>
          <p:cNvSpPr txBox="1"/>
          <p:nvPr>
            <p:ph idx="1" type="body"/>
          </p:nvPr>
        </p:nvSpPr>
        <p:spPr>
          <a:xfrm>
            <a:off x="838200" y="2173357"/>
            <a:ext cx="5297557" cy="4003606"/>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1E4E79"/>
              </a:buClr>
              <a:buSzPct val="100000"/>
              <a:buNone/>
            </a:pPr>
            <a:r>
              <a:rPr lang="en-US" sz="1800"/>
              <a:t>Koding dapat dipahami sebagai praktik pemrograman perangkat komputasi  dengan melibatkan kemampuan berpikir komputasional dan algoritma secara internet-based, plugged, dan unplugged </a:t>
            </a:r>
            <a:endParaRPr/>
          </a:p>
          <a:p>
            <a:pPr indent="0" lvl="0" marL="0" rtl="0" algn="l">
              <a:lnSpc>
                <a:spcPct val="90000"/>
              </a:lnSpc>
              <a:spcBef>
                <a:spcPts val="1000"/>
              </a:spcBef>
              <a:spcAft>
                <a:spcPts val="0"/>
              </a:spcAft>
              <a:buClr>
                <a:srgbClr val="C55A11"/>
              </a:buClr>
              <a:buSzPct val="100000"/>
              <a:buNone/>
            </a:pPr>
            <a:r>
              <a:rPr lang="en-US" sz="1300">
                <a:solidFill>
                  <a:srgbClr val="C55A11"/>
                </a:solidFill>
              </a:rPr>
              <a:t>Naskah Akademik Pembelajaran Koding dan Kecerdasan Artifisial Pada Pendidikan Dasar dan Menengah , 2025</a:t>
            </a:r>
            <a:endParaRPr sz="1800">
              <a:solidFill>
                <a:srgbClr val="C55A11"/>
              </a:solidFill>
            </a:endParaRPr>
          </a:p>
          <a:p>
            <a:pPr indent="0" lvl="0" marL="0" rtl="0" algn="l">
              <a:lnSpc>
                <a:spcPct val="90000"/>
              </a:lnSpc>
              <a:spcBef>
                <a:spcPts val="1000"/>
              </a:spcBef>
              <a:spcAft>
                <a:spcPts val="0"/>
              </a:spcAft>
              <a:buClr>
                <a:srgbClr val="1E4E79"/>
              </a:buClr>
              <a:buSzPct val="100000"/>
              <a:buNone/>
            </a:pPr>
            <a:r>
              <a:rPr lang="en-US" sz="1800"/>
              <a:t>Computer programming, or coding, is a crucial skill every child should be learning. We use computers to solve problems, play games, help us work more effectively, perform repetitive tasks, store and recall information, create something new, and connect with our friends and the world.</a:t>
            </a:r>
            <a:endParaRPr/>
          </a:p>
          <a:p>
            <a:pPr indent="0" lvl="0" marL="0" rtl="0" algn="l">
              <a:lnSpc>
                <a:spcPct val="90000"/>
              </a:lnSpc>
              <a:spcBef>
                <a:spcPts val="1000"/>
              </a:spcBef>
              <a:spcAft>
                <a:spcPts val="0"/>
              </a:spcAft>
              <a:buClr>
                <a:srgbClr val="1E4E79"/>
              </a:buClr>
              <a:buSzPct val="100000"/>
              <a:buNone/>
            </a:pPr>
            <a:r>
              <a:rPr lang="en-US" sz="1800"/>
              <a:t>Everyone can learn to code; it’s just like solving a puzzle or a riddle. You apply logic, try a solution, experiment a little more, and then solve the problem.</a:t>
            </a:r>
            <a:endParaRPr/>
          </a:p>
          <a:p>
            <a:pPr indent="0" lvl="0" marL="0" rtl="0" algn="l">
              <a:lnSpc>
                <a:spcPct val="90000"/>
              </a:lnSpc>
              <a:spcBef>
                <a:spcPts val="1000"/>
              </a:spcBef>
              <a:spcAft>
                <a:spcPts val="0"/>
              </a:spcAft>
              <a:buClr>
                <a:srgbClr val="C55A11"/>
              </a:buClr>
              <a:buSzPct val="100000"/>
              <a:buNone/>
            </a:pPr>
            <a:r>
              <a:rPr lang="en-US" sz="1300">
                <a:solidFill>
                  <a:srgbClr val="C55A11"/>
                </a:solidFill>
              </a:rPr>
              <a:t>Bryson Payne, TeAch Your Kids To code, 2015</a:t>
            </a:r>
            <a:endParaRPr/>
          </a:p>
        </p:txBody>
      </p:sp>
      <p:sp>
        <p:nvSpPr>
          <p:cNvPr id="158" name="Google Shape;158;p15"/>
          <p:cNvSpPr txBox="1"/>
          <p:nvPr/>
        </p:nvSpPr>
        <p:spPr>
          <a:xfrm>
            <a:off x="6828183" y="2513167"/>
            <a:ext cx="4754217" cy="16619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C55A11"/>
                </a:solidFill>
                <a:latin typeface="Calibri"/>
                <a:ea typeface="Calibri"/>
                <a:cs typeface="Calibri"/>
                <a:sym typeface="Calibri"/>
              </a:rPr>
              <a:t>Coding is fun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E4E79"/>
                </a:solidFill>
                <a:latin typeface="Calibri"/>
                <a:ea typeface="Calibri"/>
                <a:cs typeface="Calibri"/>
                <a:sym typeface="Calibri"/>
              </a:rPr>
              <a:t>Technology is becoming a part of everyday life. Every company, charitable organization, and cause can benefit from technology. There are apps to help you buy, give, join, play, volunteer, connect, share—just about anything you can imagine. </a:t>
            </a:r>
            <a:endParaRPr b="0" i="0" sz="1400" u="none" cap="none" strike="noStrike">
              <a:solidFill>
                <a:srgbClr val="000000"/>
              </a:solidFill>
              <a:latin typeface="Arial"/>
              <a:ea typeface="Arial"/>
              <a:cs typeface="Arial"/>
              <a:sym typeface="Arial"/>
            </a:endParaRPr>
          </a:p>
        </p:txBody>
      </p:sp>
      <p:sp>
        <p:nvSpPr>
          <p:cNvPr id="159" name="Google Shape;159;p15"/>
          <p:cNvSpPr txBox="1"/>
          <p:nvPr/>
        </p:nvSpPr>
        <p:spPr>
          <a:xfrm>
            <a:off x="6828183" y="4318019"/>
            <a:ext cx="4754216" cy="1400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C55A11"/>
                </a:solidFill>
                <a:latin typeface="Calibri"/>
                <a:ea typeface="Calibri"/>
                <a:cs typeface="Calibri"/>
                <a:sym typeface="Calibri"/>
              </a:rPr>
              <a:t>Coding is a valuable job skill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E4E79"/>
                </a:solidFill>
                <a:latin typeface="Calibri"/>
                <a:ea typeface="Calibri"/>
                <a:cs typeface="Calibri"/>
                <a:sym typeface="Calibri"/>
              </a:rPr>
              <a:t>Coding is the skill of the 21st century. Jobs today require more problem-solving ability than ever before, and more and more careers involve technology as an integral requirement.</a:t>
            </a:r>
            <a:endParaRPr b="0" i="0" sz="1400" u="none" cap="none" strike="noStrike">
              <a:solidFill>
                <a:srgbClr val="000000"/>
              </a:solidFill>
              <a:latin typeface="Arial"/>
              <a:ea typeface="Arial"/>
              <a:cs typeface="Arial"/>
              <a:sym typeface="Arial"/>
            </a:endParaRPr>
          </a:p>
        </p:txBody>
      </p:sp>
      <p:sp>
        <p:nvSpPr>
          <p:cNvPr id="160" name="Google Shape;160;p15"/>
          <p:cNvSpPr/>
          <p:nvPr/>
        </p:nvSpPr>
        <p:spPr>
          <a:xfrm>
            <a:off x="6066183" y="2513167"/>
            <a:ext cx="762000" cy="3205235"/>
          </a:xfrm>
          <a:prstGeom prst="leftBrace">
            <a:avLst>
              <a:gd fmla="val 118859" name="adj1"/>
              <a:gd fmla="val 64057" name="adj2"/>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Terminologi Koding</a:t>
            </a:r>
            <a:endParaRPr/>
          </a:p>
        </p:txBody>
      </p:sp>
      <p:sp>
        <p:nvSpPr>
          <p:cNvPr id="166" name="Google Shape;166;p16"/>
          <p:cNvSpPr txBox="1"/>
          <p:nvPr>
            <p:ph idx="1" type="body"/>
          </p:nvPr>
        </p:nvSpPr>
        <p:spPr>
          <a:xfrm>
            <a:off x="838200" y="2173357"/>
            <a:ext cx="5297557" cy="400360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E4E79"/>
              </a:buClr>
              <a:buSzPts val="2000"/>
              <a:buNone/>
            </a:pPr>
            <a:r>
              <a:t/>
            </a:r>
            <a:endParaRPr sz="2000"/>
          </a:p>
          <a:p>
            <a:pPr indent="0" lvl="0" marL="0" rtl="0" algn="l">
              <a:lnSpc>
                <a:spcPct val="90000"/>
              </a:lnSpc>
              <a:spcBef>
                <a:spcPts val="1000"/>
              </a:spcBef>
              <a:spcAft>
                <a:spcPts val="0"/>
              </a:spcAft>
              <a:buClr>
                <a:srgbClr val="1E4E79"/>
              </a:buClr>
              <a:buSzPts val="2000"/>
              <a:buNone/>
            </a:pPr>
            <a:r>
              <a:rPr lang="en-US" sz="2000"/>
              <a:t>Istilah coding berkaitan dengan instruksi-instruksi yang dipahami dan dijalankan oleh komputer. </a:t>
            </a:r>
            <a:endParaRPr/>
          </a:p>
          <a:p>
            <a:pPr indent="0" lvl="0" marL="0" rtl="0" algn="l">
              <a:lnSpc>
                <a:spcPct val="90000"/>
              </a:lnSpc>
              <a:spcBef>
                <a:spcPts val="1000"/>
              </a:spcBef>
              <a:spcAft>
                <a:spcPts val="0"/>
              </a:spcAft>
              <a:buClr>
                <a:srgbClr val="1E4E79"/>
              </a:buClr>
              <a:buSzPts val="2000"/>
              <a:buNone/>
            </a:pPr>
            <a:r>
              <a:rPr lang="en-US" sz="2000"/>
              <a:t>Pengertian coding secara sederhana adalah cara manusia berkomunikasi dengan komputer dengan cara menciptakan perangkat lunak atau aplikasi yang berguna dalam penyelesaian masalah.</a:t>
            </a:r>
            <a:endParaRPr/>
          </a:p>
          <a:p>
            <a:pPr indent="0" lvl="0" marL="0" rtl="0" algn="l">
              <a:lnSpc>
                <a:spcPct val="90000"/>
              </a:lnSpc>
              <a:spcBef>
                <a:spcPts val="1000"/>
              </a:spcBef>
              <a:spcAft>
                <a:spcPts val="0"/>
              </a:spcAft>
              <a:buClr>
                <a:srgbClr val="1E4E79"/>
              </a:buClr>
              <a:buSzPts val="2000"/>
              <a:buNone/>
            </a:pPr>
            <a:r>
              <a:t/>
            </a:r>
            <a:endParaRPr sz="2000"/>
          </a:p>
          <a:p>
            <a:pPr indent="0" lvl="0" marL="0" rtl="0" algn="l">
              <a:lnSpc>
                <a:spcPct val="90000"/>
              </a:lnSpc>
              <a:spcBef>
                <a:spcPts val="1000"/>
              </a:spcBef>
              <a:spcAft>
                <a:spcPts val="0"/>
              </a:spcAft>
              <a:buClr>
                <a:srgbClr val="C55A11"/>
              </a:buClr>
              <a:buSzPts val="1400"/>
              <a:buNone/>
            </a:pPr>
            <a:r>
              <a:rPr lang="en-US" sz="1400">
                <a:solidFill>
                  <a:srgbClr val="C55A11"/>
                </a:solidFill>
              </a:rPr>
              <a:t>Muh. Hasbi, dkk, Penerapan Pembelajaran Coding Di Satuan PAUD, Kementerian Pendidikan dan Kebudayaan, 2020</a:t>
            </a:r>
            <a:endParaRPr/>
          </a:p>
        </p:txBody>
      </p:sp>
      <p:sp>
        <p:nvSpPr>
          <p:cNvPr id="167" name="Google Shape;167;p16"/>
          <p:cNvSpPr txBox="1"/>
          <p:nvPr/>
        </p:nvSpPr>
        <p:spPr>
          <a:xfrm>
            <a:off x="6828183" y="2513167"/>
            <a:ext cx="4754217" cy="36009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1E4E79"/>
                </a:solidFill>
                <a:latin typeface="Calibri"/>
                <a:ea typeface="Calibri"/>
                <a:cs typeface="Calibri"/>
                <a:sym typeface="Calibri"/>
              </a:rPr>
              <a:t>Pembelajaran coding berarti kegiatan yang dapat memberikan stimulasi sejak usia dini terhadap </a:t>
            </a:r>
            <a:r>
              <a:rPr b="1" i="0" lang="en-US" sz="1900" u="none" cap="none" strike="noStrike">
                <a:solidFill>
                  <a:srgbClr val="C55A11"/>
                </a:solidFill>
                <a:latin typeface="Calibri"/>
                <a:ea typeface="Calibri"/>
                <a:cs typeface="Calibri"/>
                <a:sym typeface="Calibri"/>
              </a:rPr>
              <a:t>cara anak berpikir,</a:t>
            </a:r>
            <a:r>
              <a:rPr b="0" i="0" lang="en-US" sz="1900" u="none" cap="none" strike="noStrike">
                <a:solidFill>
                  <a:srgbClr val="1E4E79"/>
                </a:solidFill>
                <a:latin typeface="Calibri"/>
                <a:ea typeface="Calibri"/>
                <a:cs typeface="Calibri"/>
                <a:sym typeface="Calibri"/>
              </a:rPr>
              <a:t> anak berpikir kreatif, sikap bekerjasama dan berkomunikasi anak.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1E4E7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1E4E79"/>
                </a:solidFill>
                <a:latin typeface="Calibri"/>
                <a:ea typeface="Calibri"/>
                <a:cs typeface="Calibri"/>
                <a:sym typeface="Calibri"/>
              </a:rPr>
              <a:t>Kegiatannya tidak hanya dimaknai sebagai penerapan komputer </a:t>
            </a:r>
            <a:r>
              <a:rPr b="1" i="0" lang="en-US" sz="1900" u="none" cap="none" strike="noStrike">
                <a:solidFill>
                  <a:srgbClr val="1E4E79"/>
                </a:solidFill>
                <a:latin typeface="Calibri"/>
                <a:ea typeface="Calibri"/>
                <a:cs typeface="Calibri"/>
                <a:sym typeface="Calibri"/>
              </a:rPr>
              <a:t>plugged coding</a:t>
            </a:r>
            <a:r>
              <a:rPr b="0" i="0" lang="en-US" sz="1900" u="none" cap="none" strike="noStrike">
                <a:solidFill>
                  <a:srgbClr val="1E4E79"/>
                </a:solidFill>
                <a:latin typeface="Calibri"/>
                <a:ea typeface="Calibri"/>
                <a:cs typeface="Calibri"/>
                <a:sym typeface="Calibri"/>
              </a:rPr>
              <a:t>, tetapi juga meliputi keseluruhan kegiatan pembelajaran coding tanpa menggunakan perangkat komputer yang dikenal dengan istilah </a:t>
            </a:r>
            <a:r>
              <a:rPr b="1" i="0" lang="en-US" sz="1900" u="none" cap="none" strike="noStrike">
                <a:solidFill>
                  <a:srgbClr val="1E4E79"/>
                </a:solidFill>
                <a:latin typeface="Calibri"/>
                <a:ea typeface="Calibri"/>
                <a:cs typeface="Calibri"/>
                <a:sym typeface="Calibri"/>
              </a:rPr>
              <a:t>unplugged coding.</a:t>
            </a:r>
            <a:endParaRPr b="0" i="0" sz="1400" u="none" cap="none" strike="noStrike">
              <a:solidFill>
                <a:srgbClr val="000000"/>
              </a:solidFill>
              <a:latin typeface="Arial"/>
              <a:ea typeface="Arial"/>
              <a:cs typeface="Arial"/>
              <a:sym typeface="Arial"/>
            </a:endParaRPr>
          </a:p>
        </p:txBody>
      </p:sp>
      <p:sp>
        <p:nvSpPr>
          <p:cNvPr id="168" name="Google Shape;168;p16"/>
          <p:cNvSpPr/>
          <p:nvPr/>
        </p:nvSpPr>
        <p:spPr>
          <a:xfrm>
            <a:off x="6066183" y="2513167"/>
            <a:ext cx="762000" cy="3205235"/>
          </a:xfrm>
          <a:prstGeom prst="leftBrace">
            <a:avLst>
              <a:gd fmla="val 118859" name="adj1"/>
              <a:gd fmla="val 35083" name="adj2"/>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p:nvPr/>
        </p:nvSpPr>
        <p:spPr>
          <a:xfrm>
            <a:off x="4961831" y="1967913"/>
            <a:ext cx="869126" cy="954107"/>
          </a:xfrm>
          <a:prstGeom prst="rightArrow">
            <a:avLst>
              <a:gd fmla="val 50000" name="adj1"/>
              <a:gd fmla="val 50000" name="adj2"/>
            </a:avLst>
          </a:prstGeom>
          <a:solidFill>
            <a:srgbClr val="2F54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5" name="Google Shape;17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Terminologi Koding</a:t>
            </a:r>
            <a:endParaRPr/>
          </a:p>
        </p:txBody>
      </p:sp>
      <p:sp>
        <p:nvSpPr>
          <p:cNvPr id="176" name="Google Shape;176;p17"/>
          <p:cNvSpPr txBox="1"/>
          <p:nvPr/>
        </p:nvSpPr>
        <p:spPr>
          <a:xfrm>
            <a:off x="838200" y="1967913"/>
            <a:ext cx="4396409" cy="3816429"/>
          </a:xfrm>
          <a:prstGeom prst="rect">
            <a:avLst/>
          </a:prstGeom>
          <a:solidFill>
            <a:srgbClr val="2F5496"/>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 A computer is merely a machine that can process a set of simple instructions very quickly.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The set of instructions it processes is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known as a </a:t>
            </a:r>
            <a:r>
              <a:rPr b="1" i="0" lang="en-US" sz="2000" u="none" cap="none" strike="noStrike">
                <a:solidFill>
                  <a:schemeClr val="lt1"/>
                </a:solidFill>
                <a:latin typeface="Calibri"/>
                <a:ea typeface="Calibri"/>
                <a:cs typeface="Calibri"/>
                <a:sym typeface="Calibri"/>
              </a:rPr>
              <a:t>“program”</a:t>
            </a:r>
            <a:r>
              <a:rPr b="0" i="0" lang="en-US" sz="2000" u="none" cap="none" strike="noStrike">
                <a:solidFill>
                  <a:schemeClr val="lt1"/>
                </a:solidFill>
                <a:latin typeface="Calibri"/>
                <a:ea typeface="Calibri"/>
                <a:cs typeface="Calibri"/>
                <a:sym typeface="Calibri"/>
              </a:rPr>
              <a:t>, and the instructions are known as </a:t>
            </a:r>
            <a:r>
              <a:rPr b="1" i="0" lang="en-US" sz="2000" u="none" cap="none" strike="noStrike">
                <a:solidFill>
                  <a:schemeClr val="lt1"/>
                </a:solidFill>
                <a:latin typeface="Calibri"/>
                <a:ea typeface="Calibri"/>
                <a:cs typeface="Calibri"/>
                <a:sym typeface="Calibri"/>
              </a:rPr>
              <a:t>“code”</a:t>
            </a:r>
            <a:r>
              <a:rPr b="0" i="0" lang="en-US" sz="2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People who write computer programs are known as </a:t>
            </a:r>
            <a:r>
              <a:rPr b="1" i="0" lang="en-US" sz="2000" u="none" cap="none" strike="noStrike">
                <a:solidFill>
                  <a:schemeClr val="lt1"/>
                </a:solidFill>
                <a:latin typeface="Calibri"/>
                <a:ea typeface="Calibri"/>
                <a:cs typeface="Calibri"/>
                <a:sym typeface="Calibri"/>
              </a:rPr>
              <a:t>“programmers”</a:t>
            </a:r>
            <a:r>
              <a:rPr b="0" i="0" lang="en-US" sz="2000" u="none" cap="none" strike="noStrike">
                <a:solidFill>
                  <a:schemeClr val="lt1"/>
                </a:solidFill>
                <a:latin typeface="Calibri"/>
                <a:ea typeface="Calibri"/>
                <a:cs typeface="Calibri"/>
                <a:sym typeface="Calibri"/>
              </a:rPr>
              <a:t> or </a:t>
            </a:r>
            <a:r>
              <a:rPr b="1" i="0" lang="en-US" sz="2000" u="none" cap="none" strike="noStrike">
                <a:solidFill>
                  <a:schemeClr val="lt1"/>
                </a:solidFill>
                <a:latin typeface="Calibri"/>
                <a:ea typeface="Calibri"/>
                <a:cs typeface="Calibri"/>
                <a:sym typeface="Calibri"/>
              </a:rPr>
              <a:t>“coders”</a:t>
            </a:r>
            <a:r>
              <a:rPr b="0" i="0" lang="en-US" sz="2000" u="none" cap="none" strike="noStrike">
                <a:solidFill>
                  <a:schemeClr val="lt1"/>
                </a:solidFill>
                <a:latin typeface="Calibri"/>
                <a:ea typeface="Calibri"/>
                <a:cs typeface="Calibri"/>
                <a:sym typeface="Calibri"/>
              </a:rPr>
              <a:t>. Their programs have enabled computers to become useful in almost every area of modern life:</a:t>
            </a:r>
            <a:endParaRPr b="0" i="0" sz="1400" u="none" cap="none" strike="noStrike">
              <a:solidFill>
                <a:srgbClr val="000000"/>
              </a:solidFill>
              <a:latin typeface="Arial"/>
              <a:ea typeface="Arial"/>
              <a:cs typeface="Arial"/>
              <a:sym typeface="Arial"/>
            </a:endParaRPr>
          </a:p>
        </p:txBody>
      </p:sp>
      <p:sp>
        <p:nvSpPr>
          <p:cNvPr id="177" name="Google Shape;177;p17"/>
          <p:cNvSpPr txBox="1"/>
          <p:nvPr/>
        </p:nvSpPr>
        <p:spPr>
          <a:xfrm>
            <a:off x="838200" y="5817076"/>
            <a:ext cx="521804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C55A11"/>
                </a:solidFill>
                <a:latin typeface="Calibri"/>
                <a:ea typeface="Calibri"/>
                <a:cs typeface="Calibri"/>
                <a:sym typeface="Calibri"/>
              </a:rPr>
              <a:t>Mike McGrath, Coding for Beginners in easy steps, 2nd edition, 2022</a:t>
            </a:r>
            <a:endParaRPr b="0" i="0" sz="1400" u="none" cap="none" strike="noStrike">
              <a:solidFill>
                <a:srgbClr val="000000"/>
              </a:solidFill>
              <a:latin typeface="Arial"/>
              <a:ea typeface="Arial"/>
              <a:cs typeface="Arial"/>
              <a:sym typeface="Arial"/>
            </a:endParaRPr>
          </a:p>
        </p:txBody>
      </p:sp>
      <p:sp>
        <p:nvSpPr>
          <p:cNvPr id="178" name="Google Shape;178;p17"/>
          <p:cNvSpPr txBox="1"/>
          <p:nvPr/>
        </p:nvSpPr>
        <p:spPr>
          <a:xfrm>
            <a:off x="5830957" y="1967913"/>
            <a:ext cx="5751443"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Modern high-level programs are automatically translated into the machine  code that the computer can understand by </a:t>
            </a:r>
            <a:r>
              <a:rPr b="1" i="0" lang="en-US" sz="1600" u="none" cap="none" strike="noStrike">
                <a:solidFill>
                  <a:srgbClr val="1E4E79"/>
                </a:solidFill>
                <a:latin typeface="Calibri"/>
                <a:ea typeface="Calibri"/>
                <a:cs typeface="Calibri"/>
                <a:sym typeface="Calibri"/>
              </a:rPr>
              <a:t>a “compiler” or by an “interpreter”</a:t>
            </a:r>
            <a:r>
              <a:rPr b="0" i="0" lang="en-US" sz="1600" u="none" cap="none" strike="noStrike">
                <a:solidFill>
                  <a:srgbClr val="1E4E79"/>
                </a:solidFill>
                <a:latin typeface="Calibri"/>
                <a:ea typeface="Calibri"/>
                <a:cs typeface="Calibri"/>
                <a:sym typeface="Calibri"/>
              </a:rPr>
              <a:t>. In order to become a coder you must typically learn at least one of these high-level programming languages: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C – A powerful compiled language that is closely mapped to machine code and used to develop operating systems.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C++ – An enhanced compiled language developing on C to provide classes for Object Oriented Programming (OOP).</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C# – A modern compiled language designed by Microsoft for the .NET framework and Common Language Infrastructure.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Java – A portable compiled language that is designed to run on any platform regardless of the hardware architecture.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Python – A dynamic interpreted language that allows both functional and Object Oriented Programming (OOP)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Terminologi Koding</a:t>
            </a:r>
            <a:endParaRPr/>
          </a:p>
        </p:txBody>
      </p:sp>
      <p:cxnSp>
        <p:nvCxnSpPr>
          <p:cNvPr id="184" name="Google Shape;184;p18"/>
          <p:cNvCxnSpPr>
            <a:endCxn id="185" idx="1"/>
          </p:cNvCxnSpPr>
          <p:nvPr/>
        </p:nvCxnSpPr>
        <p:spPr>
          <a:xfrm>
            <a:off x="8151507" y="5971488"/>
            <a:ext cx="1006800" cy="0"/>
          </a:xfrm>
          <a:prstGeom prst="straightConnector1">
            <a:avLst/>
          </a:prstGeom>
          <a:noFill/>
          <a:ln cap="flat" cmpd="sng" w="38100">
            <a:solidFill>
              <a:schemeClr val="accent1"/>
            </a:solidFill>
            <a:prstDash val="solid"/>
            <a:miter lim="800000"/>
            <a:headEnd len="sm" w="sm" type="none"/>
            <a:tailEnd len="med" w="med" type="stealth"/>
          </a:ln>
        </p:spPr>
      </p:cxnSp>
      <p:sp>
        <p:nvSpPr>
          <p:cNvPr id="186" name="Google Shape;186;p18"/>
          <p:cNvSpPr txBox="1"/>
          <p:nvPr/>
        </p:nvSpPr>
        <p:spPr>
          <a:xfrm>
            <a:off x="782627" y="3136751"/>
            <a:ext cx="180023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1E4E79"/>
                </a:solidFill>
                <a:latin typeface="Calibri"/>
                <a:ea typeface="Calibri"/>
                <a:cs typeface="Calibri"/>
                <a:sym typeface="Calibri"/>
              </a:rPr>
              <a:t>What are the </a:t>
            </a:r>
            <a:r>
              <a:rPr b="1" i="0" lang="en-US" sz="2000" u="none" cap="none" strike="noStrike">
                <a:solidFill>
                  <a:srgbClr val="1E4E79"/>
                </a:solidFill>
                <a:latin typeface="Calibri"/>
                <a:ea typeface="Calibri"/>
                <a:cs typeface="Calibri"/>
                <a:sym typeface="Calibri"/>
              </a:rPr>
              <a:t>challenges</a:t>
            </a:r>
            <a:r>
              <a:rPr b="0" i="0" lang="en-US" sz="2000" u="none" cap="none" strike="noStrike">
                <a:solidFill>
                  <a:srgbClr val="1E4E79"/>
                </a:solidFill>
                <a:latin typeface="Calibri"/>
                <a:ea typeface="Calibri"/>
                <a:cs typeface="Calibri"/>
                <a:sym typeface="Calibri"/>
              </a:rPr>
              <a:t> and </a:t>
            </a:r>
            <a:r>
              <a:rPr b="1" i="0" lang="en-US" sz="2000" u="none" cap="none" strike="noStrike">
                <a:solidFill>
                  <a:srgbClr val="1E4E79"/>
                </a:solidFill>
                <a:latin typeface="Calibri"/>
                <a:ea typeface="Calibri"/>
                <a:cs typeface="Calibri"/>
                <a:sym typeface="Calibri"/>
              </a:rPr>
              <a:t>opportunities</a:t>
            </a:r>
            <a:r>
              <a:rPr b="0" i="0" lang="en-US" sz="2000" u="none" cap="none" strike="noStrike">
                <a:solidFill>
                  <a:srgbClr val="1E4E79"/>
                </a:solidFill>
                <a:latin typeface="Calibri"/>
                <a:ea typeface="Calibri"/>
                <a:cs typeface="Calibri"/>
                <a:sym typeface="Calibri"/>
              </a:rPr>
              <a:t> facing computer science education ?</a:t>
            </a:r>
            <a:endParaRPr b="0" i="0" sz="1400" u="none" cap="none" strike="noStrike">
              <a:solidFill>
                <a:srgbClr val="000000"/>
              </a:solidFill>
              <a:latin typeface="Arial"/>
              <a:ea typeface="Arial"/>
              <a:cs typeface="Arial"/>
              <a:sym typeface="Arial"/>
            </a:endParaRPr>
          </a:p>
        </p:txBody>
      </p:sp>
      <p:sp>
        <p:nvSpPr>
          <p:cNvPr id="187" name="Google Shape;187;p18"/>
          <p:cNvSpPr txBox="1"/>
          <p:nvPr/>
        </p:nvSpPr>
        <p:spPr>
          <a:xfrm>
            <a:off x="3245731" y="2317402"/>
            <a:ext cx="4970617" cy="1631216"/>
          </a:xfrm>
          <a:prstGeom prst="rect">
            <a:avLst/>
          </a:prstGeom>
          <a:noFill/>
          <a:ln>
            <a:noFill/>
          </a:ln>
        </p:spPr>
        <p:txBody>
          <a:bodyPr anchorCtr="0" anchor="t" bIns="45700" lIns="91425" spcFirstLastPara="1" rIns="91425" wrap="square" tIns="45700">
            <a:spAutoFit/>
          </a:bodyPr>
          <a:lstStyle/>
          <a:p>
            <a:pPr indent="-273050" lvl="0" marL="273050" marR="0" rtl="0" algn="l">
              <a:lnSpc>
                <a:spcPct val="100000"/>
              </a:lnSpc>
              <a:spcBef>
                <a:spcPts val="0"/>
              </a:spcBef>
              <a:spcAft>
                <a:spcPts val="0"/>
              </a:spcAft>
              <a:buClr>
                <a:srgbClr val="1E4E79"/>
              </a:buClr>
              <a:buSzPts val="2000"/>
              <a:buFont typeface="Arial"/>
              <a:buChar char="•"/>
            </a:pPr>
            <a:r>
              <a:rPr b="0" i="0" lang="en-US" sz="2000" u="none" cap="none" strike="noStrike">
                <a:solidFill>
                  <a:srgbClr val="1E4E79"/>
                </a:solidFill>
                <a:latin typeface="Calibri"/>
                <a:ea typeface="Calibri"/>
                <a:cs typeface="Calibri"/>
                <a:sym typeface="Calibri"/>
              </a:rPr>
              <a:t>CS disiplin ilmu yang menyentuh semua lapisan dan populasi masyarakat</a:t>
            </a:r>
            <a:endParaRPr b="0" i="0" sz="2000" u="none" cap="none" strike="noStrike">
              <a:solidFill>
                <a:srgbClr val="1E4E79"/>
              </a:solidFill>
              <a:latin typeface="Calibri"/>
              <a:ea typeface="Calibri"/>
              <a:cs typeface="Calibri"/>
              <a:sym typeface="Calibri"/>
            </a:endParaRPr>
          </a:p>
          <a:p>
            <a:pPr indent="-273050" lvl="0" marL="273050" marR="0" rtl="0" algn="l">
              <a:lnSpc>
                <a:spcPct val="100000"/>
              </a:lnSpc>
              <a:spcBef>
                <a:spcPts val="0"/>
              </a:spcBef>
              <a:spcAft>
                <a:spcPts val="0"/>
              </a:spcAft>
              <a:buClr>
                <a:srgbClr val="1E4E79"/>
              </a:buClr>
              <a:buSzPts val="2000"/>
              <a:buFont typeface="Arial"/>
              <a:buChar char="•"/>
            </a:pPr>
            <a:r>
              <a:rPr b="0" i="0" lang="en-US" sz="2000" u="none" cap="none" strike="noStrike">
                <a:solidFill>
                  <a:srgbClr val="1E4E79"/>
                </a:solidFill>
                <a:latin typeface="Calibri"/>
                <a:ea typeface="Calibri"/>
                <a:cs typeface="Calibri"/>
                <a:sym typeface="Calibri"/>
              </a:rPr>
              <a:t>Disposisi professional/soft skills (kegigihan, kemandirian, adaptif, kerjasama, dst)</a:t>
            </a:r>
            <a:endParaRPr b="0" i="0" sz="1400" u="none" cap="none" strike="noStrike">
              <a:solidFill>
                <a:srgbClr val="000000"/>
              </a:solidFill>
              <a:latin typeface="Arial"/>
              <a:ea typeface="Arial"/>
              <a:cs typeface="Arial"/>
              <a:sym typeface="Arial"/>
            </a:endParaRPr>
          </a:p>
          <a:p>
            <a:pPr indent="-273050" lvl="0" marL="273050" marR="0" rtl="0" algn="l">
              <a:lnSpc>
                <a:spcPct val="100000"/>
              </a:lnSpc>
              <a:spcBef>
                <a:spcPts val="0"/>
              </a:spcBef>
              <a:spcAft>
                <a:spcPts val="0"/>
              </a:spcAft>
              <a:buClr>
                <a:srgbClr val="1E4E79"/>
              </a:buClr>
              <a:buSzPts val="2000"/>
              <a:buFont typeface="Arial"/>
              <a:buChar char="•"/>
            </a:pPr>
            <a:r>
              <a:rPr b="0" i="0" lang="en-US" sz="2000" u="none" cap="none" strike="noStrike">
                <a:solidFill>
                  <a:srgbClr val="1E4E79"/>
                </a:solidFill>
                <a:latin typeface="Calibri"/>
                <a:ea typeface="Calibri"/>
                <a:cs typeface="Calibri"/>
                <a:sym typeface="Calibri"/>
              </a:rPr>
              <a:t>Pengembangan konten kurikulum</a:t>
            </a:r>
            <a:endParaRPr b="0" i="0" sz="2000" u="none" cap="none" strike="noStrike">
              <a:solidFill>
                <a:srgbClr val="1E4E79"/>
              </a:solidFill>
              <a:latin typeface="Calibri"/>
              <a:ea typeface="Calibri"/>
              <a:cs typeface="Calibri"/>
              <a:sym typeface="Calibri"/>
            </a:endParaRPr>
          </a:p>
        </p:txBody>
      </p:sp>
      <p:sp>
        <p:nvSpPr>
          <p:cNvPr id="188" name="Google Shape;188;p18"/>
          <p:cNvSpPr txBox="1"/>
          <p:nvPr/>
        </p:nvSpPr>
        <p:spPr>
          <a:xfrm>
            <a:off x="3538024" y="3894546"/>
            <a:ext cx="4678324" cy="2446824"/>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1E4E79"/>
              </a:buClr>
              <a:buSzPts val="1700"/>
              <a:buFont typeface="Noto Sans Symbols"/>
              <a:buChar char="✔"/>
            </a:pPr>
            <a:r>
              <a:rPr b="0" i="0" lang="en-US" sz="1700" u="none" cap="none" strike="noStrike">
                <a:solidFill>
                  <a:srgbClr val="1E4E79"/>
                </a:solidFill>
                <a:latin typeface="Calibri"/>
                <a:ea typeface="Calibri"/>
                <a:cs typeface="Calibri"/>
                <a:sym typeface="Calibri"/>
              </a:rPr>
              <a:t>Sebagai Ilmu CS berkembang pesat (</a:t>
            </a:r>
            <a:r>
              <a:rPr b="1" i="0" lang="en-US" sz="1700" u="none" cap="none" strike="noStrike">
                <a:solidFill>
                  <a:srgbClr val="1E4E79"/>
                </a:solidFill>
                <a:latin typeface="Calibri"/>
                <a:ea typeface="Calibri"/>
                <a:cs typeface="Calibri"/>
                <a:sym typeface="Calibri"/>
              </a:rPr>
              <a:t>berkah</a:t>
            </a:r>
            <a:r>
              <a:rPr b="0" i="0" lang="en-US" sz="1700" u="none" cap="none" strike="noStrike">
                <a:solidFill>
                  <a:srgbClr val="1E4E79"/>
                </a:solidFill>
                <a:latin typeface="Calibri"/>
                <a:ea typeface="Calibri"/>
                <a:cs typeface="Calibri"/>
                <a:sym typeface="Calibri"/>
              </a:rPr>
              <a:t>) sekaligus tantangan yang menyertainya (</a:t>
            </a:r>
            <a:r>
              <a:rPr b="1" i="0" lang="en-US" sz="1700" u="none" cap="none" strike="noStrike">
                <a:solidFill>
                  <a:srgbClr val="1E4E79"/>
                </a:solidFill>
                <a:latin typeface="Calibri"/>
                <a:ea typeface="Calibri"/>
                <a:cs typeface="Calibri"/>
                <a:sym typeface="Calibri"/>
              </a:rPr>
              <a:t>challenges</a:t>
            </a:r>
            <a:r>
              <a:rPr b="0" i="0" lang="en-US" sz="1700" u="none" cap="none" strike="noStrike">
                <a:solidFill>
                  <a:srgbClr val="1E4E7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1E4E79"/>
              </a:buClr>
              <a:buSzPts val="1700"/>
              <a:buFont typeface="Noto Sans Symbols"/>
              <a:buChar char="✔"/>
            </a:pPr>
            <a:r>
              <a:rPr b="0" i="0" lang="en-US" sz="1700" u="none" cap="none" strike="noStrike">
                <a:solidFill>
                  <a:srgbClr val="1E4E79"/>
                </a:solidFill>
                <a:latin typeface="Calibri"/>
                <a:ea typeface="Calibri"/>
                <a:cs typeface="Calibri"/>
                <a:sym typeface="Calibri"/>
              </a:rPr>
              <a:t>Emerging technologies and area pengetahuan (quantum computing, machine learning, </a:t>
            </a:r>
            <a:r>
              <a:rPr b="1" i="0" lang="en-US" sz="1700" u="none" cap="none" strike="noStrike">
                <a:solidFill>
                  <a:srgbClr val="1E4E79"/>
                </a:solidFill>
                <a:latin typeface="Calibri"/>
                <a:ea typeface="Calibri"/>
                <a:cs typeface="Calibri"/>
                <a:sym typeface="Calibri"/>
              </a:rPr>
              <a:t>Generative AI</a:t>
            </a:r>
            <a:r>
              <a:rPr b="0" i="0" lang="en-US" sz="1700" u="none" cap="none" strike="noStrike">
                <a:solidFill>
                  <a:srgbClr val="1E4E79"/>
                </a:solidFill>
                <a:latin typeface="Calibri"/>
                <a:ea typeface="Calibri"/>
                <a:cs typeface="Calibri"/>
                <a:sym typeface="Calibri"/>
              </a:rPr>
              <a:t>, </a:t>
            </a:r>
            <a:r>
              <a:rPr b="1" i="0" lang="en-US" sz="1700" u="none" cap="none" strike="noStrike">
                <a:solidFill>
                  <a:srgbClr val="1E4E79"/>
                </a:solidFill>
                <a:latin typeface="Calibri"/>
                <a:ea typeface="Calibri"/>
                <a:cs typeface="Calibri"/>
                <a:sym typeface="Calibri"/>
              </a:rPr>
              <a:t>Fondasi Matematika, issues of society and ethics </a:t>
            </a:r>
            <a:r>
              <a:rPr b="0" i="0" lang="en-US" sz="1700" u="none" cap="none" strike="noStrike">
                <a:solidFill>
                  <a:srgbClr val="1E4E79"/>
                </a:solidFill>
                <a:latin typeface="Calibri"/>
                <a:ea typeface="Calibri"/>
                <a:cs typeface="Calibri"/>
                <a:sym typeface="Calibri"/>
              </a:rPr>
              <a:t>profession, </a:t>
            </a:r>
            <a:r>
              <a:rPr b="1" i="0" lang="en-US" sz="1700" u="none" cap="none" strike="noStrike">
                <a:solidFill>
                  <a:srgbClr val="1E4E79"/>
                </a:solidFill>
                <a:latin typeface="Calibri"/>
                <a:ea typeface="Calibri"/>
                <a:cs typeface="Calibri"/>
                <a:sym typeface="Calibri"/>
              </a:rPr>
              <a:t>computational thinking </a:t>
            </a:r>
            <a:r>
              <a:rPr b="0" i="0" lang="en-US" sz="1700" u="none" cap="none" strike="noStrike">
                <a:solidFill>
                  <a:srgbClr val="1E4E79"/>
                </a:solidFill>
                <a:latin typeface="Calibri"/>
                <a:ea typeface="Calibri"/>
                <a:cs typeface="Calibri"/>
                <a:sym typeface="Calibri"/>
              </a:rPr>
              <a:t>(disamping reading, writing and arithmetic)</a:t>
            </a:r>
            <a:endParaRPr b="0" i="0" sz="1400" u="none" cap="none" strike="noStrike">
              <a:solidFill>
                <a:srgbClr val="000000"/>
              </a:solidFill>
              <a:latin typeface="Arial"/>
              <a:ea typeface="Arial"/>
              <a:cs typeface="Arial"/>
              <a:sym typeface="Arial"/>
            </a:endParaRPr>
          </a:p>
        </p:txBody>
      </p:sp>
      <p:sp>
        <p:nvSpPr>
          <p:cNvPr id="189" name="Google Shape;189;p18"/>
          <p:cNvSpPr txBox="1"/>
          <p:nvPr/>
        </p:nvSpPr>
        <p:spPr>
          <a:xfrm>
            <a:off x="9158307" y="2436670"/>
            <a:ext cx="2195493"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1E4E79"/>
                </a:solidFill>
                <a:latin typeface="Calibri"/>
                <a:ea typeface="Calibri"/>
                <a:cs typeface="Calibri"/>
                <a:sym typeface="Calibri"/>
              </a:rPr>
              <a:t>It will impact </a:t>
            </a:r>
            <a:r>
              <a:rPr b="1" i="1" lang="en-US" sz="1800" u="none" cap="none" strike="noStrike">
                <a:solidFill>
                  <a:srgbClr val="1E4E79"/>
                </a:solidFill>
                <a:latin typeface="Calibri"/>
                <a:ea typeface="Calibri"/>
                <a:cs typeface="Calibri"/>
                <a:sym typeface="Calibri"/>
              </a:rPr>
              <a:t>course content, pedagogy</a:t>
            </a:r>
            <a:r>
              <a:rPr b="0" i="1" lang="en-US" sz="1800" u="none" cap="none" strike="noStrike">
                <a:solidFill>
                  <a:srgbClr val="1E4E79"/>
                </a:solidFill>
                <a:latin typeface="Calibri"/>
                <a:ea typeface="Calibri"/>
                <a:cs typeface="Calibri"/>
                <a:sym typeface="Calibri"/>
              </a:rPr>
              <a:t>, and </a:t>
            </a:r>
            <a:r>
              <a:rPr b="1" i="1" lang="en-US" sz="1800" u="none" cap="none" strike="noStrike">
                <a:solidFill>
                  <a:srgbClr val="1E4E79"/>
                </a:solidFill>
                <a:latin typeface="Calibri"/>
                <a:ea typeface="Calibri"/>
                <a:cs typeface="Calibri"/>
                <a:sym typeface="Calibri"/>
              </a:rPr>
              <a:t>assessment techniques</a:t>
            </a:r>
            <a:endParaRPr b="0" i="0" sz="1400" u="none" cap="none" strike="noStrike">
              <a:solidFill>
                <a:srgbClr val="000000"/>
              </a:solidFill>
              <a:latin typeface="Arial"/>
              <a:ea typeface="Arial"/>
              <a:cs typeface="Arial"/>
              <a:sym typeface="Arial"/>
            </a:endParaRPr>
          </a:p>
        </p:txBody>
      </p:sp>
      <p:sp>
        <p:nvSpPr>
          <p:cNvPr id="190" name="Google Shape;190;p18"/>
          <p:cNvSpPr txBox="1"/>
          <p:nvPr/>
        </p:nvSpPr>
        <p:spPr>
          <a:xfrm>
            <a:off x="9158307" y="4144445"/>
            <a:ext cx="2755397"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1E4E79"/>
                </a:solidFill>
                <a:latin typeface="Calibri"/>
                <a:ea typeface="Calibri"/>
                <a:cs typeface="Calibri"/>
                <a:sym typeface="Calibri"/>
              </a:rPr>
              <a:t>CT🡪 Pratik Lintas Bidang</a:t>
            </a:r>
            <a:endParaRPr b="0" i="1" sz="1800" u="none" cap="none" strike="noStrike">
              <a:solidFill>
                <a:srgbClr val="1E4E7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1E4E79"/>
                </a:solidFill>
                <a:latin typeface="Calibri"/>
                <a:ea typeface="Calibri"/>
                <a:cs typeface="Calibri"/>
                <a:sym typeface="Calibri"/>
              </a:rPr>
              <a:t>opportunity for computer science programs to offer courses for non majors, both as a service and a recruiting tool</a:t>
            </a:r>
            <a:endParaRPr b="0" i="0" sz="1400" u="none" cap="none" strike="noStrike">
              <a:solidFill>
                <a:srgbClr val="000000"/>
              </a:solidFill>
              <a:latin typeface="Arial"/>
              <a:ea typeface="Arial"/>
              <a:cs typeface="Arial"/>
              <a:sym typeface="Arial"/>
            </a:endParaRPr>
          </a:p>
        </p:txBody>
      </p:sp>
      <p:sp>
        <p:nvSpPr>
          <p:cNvPr id="191" name="Google Shape;191;p18"/>
          <p:cNvSpPr/>
          <p:nvPr/>
        </p:nvSpPr>
        <p:spPr>
          <a:xfrm>
            <a:off x="2456695" y="2317402"/>
            <a:ext cx="762000" cy="3885468"/>
          </a:xfrm>
          <a:prstGeom prst="leftBrace">
            <a:avLst>
              <a:gd fmla="val 118859" name="adj1"/>
              <a:gd fmla="val 48986" name="adj2"/>
            </a:avLst>
          </a:prstGeom>
          <a:noFill/>
          <a:ln cap="flat" cmpd="sng" w="9525">
            <a:solidFill>
              <a:srgbClr val="9CC2E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1E4E79"/>
              </a:solidFill>
              <a:latin typeface="Calibri"/>
              <a:ea typeface="Calibri"/>
              <a:cs typeface="Calibri"/>
              <a:sym typeface="Calibri"/>
            </a:endParaRPr>
          </a:p>
        </p:txBody>
      </p:sp>
      <p:cxnSp>
        <p:nvCxnSpPr>
          <p:cNvPr id="192" name="Google Shape;192;p18"/>
          <p:cNvCxnSpPr>
            <a:endCxn id="189" idx="1"/>
          </p:cNvCxnSpPr>
          <p:nvPr/>
        </p:nvCxnSpPr>
        <p:spPr>
          <a:xfrm>
            <a:off x="8216307" y="3036835"/>
            <a:ext cx="942000" cy="0"/>
          </a:xfrm>
          <a:prstGeom prst="straightConnector1">
            <a:avLst/>
          </a:prstGeom>
          <a:noFill/>
          <a:ln cap="flat" cmpd="sng" w="38100">
            <a:solidFill>
              <a:schemeClr val="accent1"/>
            </a:solidFill>
            <a:prstDash val="solid"/>
            <a:miter lim="800000"/>
            <a:headEnd len="sm" w="sm" type="none"/>
            <a:tailEnd len="med" w="med" type="stealth"/>
          </a:ln>
        </p:spPr>
      </p:cxnSp>
      <p:sp>
        <p:nvSpPr>
          <p:cNvPr id="185" name="Google Shape;185;p18"/>
          <p:cNvSpPr txBox="1"/>
          <p:nvPr/>
        </p:nvSpPr>
        <p:spPr>
          <a:xfrm>
            <a:off x="9158307" y="5786822"/>
            <a:ext cx="241084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1E4E79"/>
                </a:solidFill>
                <a:latin typeface="Calibri"/>
                <a:ea typeface="Calibri"/>
                <a:cs typeface="Calibri"/>
                <a:sym typeface="Calibri"/>
              </a:rPr>
              <a:t>Fondasi Koding &amp; KA  ?</a:t>
            </a:r>
            <a:endParaRPr b="0" i="1" sz="1600" u="none" cap="none" strike="noStrike">
              <a:solidFill>
                <a:srgbClr val="1E4E79"/>
              </a:solidFill>
              <a:latin typeface="Calibri"/>
              <a:ea typeface="Calibri"/>
              <a:cs typeface="Calibri"/>
              <a:sym typeface="Calibri"/>
            </a:endParaRPr>
          </a:p>
        </p:txBody>
      </p:sp>
      <p:cxnSp>
        <p:nvCxnSpPr>
          <p:cNvPr id="193" name="Google Shape;193;p18"/>
          <p:cNvCxnSpPr>
            <a:endCxn id="190" idx="1"/>
          </p:cNvCxnSpPr>
          <p:nvPr/>
        </p:nvCxnSpPr>
        <p:spPr>
          <a:xfrm>
            <a:off x="8124207" y="4944664"/>
            <a:ext cx="1034100" cy="0"/>
          </a:xfrm>
          <a:prstGeom prst="straightConnector1">
            <a:avLst/>
          </a:prstGeom>
          <a:noFill/>
          <a:ln cap="flat" cmpd="sng" w="38100">
            <a:solidFill>
              <a:schemeClr val="accent1"/>
            </a:solidFill>
            <a:prstDash val="solid"/>
            <a:miter lim="800000"/>
            <a:headEnd len="sm" w="sm" type="none"/>
            <a:tailEnd len="med" w="med" type="stealth"/>
          </a:ln>
        </p:spPr>
      </p:cxnSp>
      <p:sp>
        <p:nvSpPr>
          <p:cNvPr id="194" name="Google Shape;194;p18"/>
          <p:cNvSpPr txBox="1"/>
          <p:nvPr/>
        </p:nvSpPr>
        <p:spPr>
          <a:xfrm>
            <a:off x="9158307" y="1703940"/>
            <a:ext cx="2495851"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CS Curricula 2023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55A11"/>
                </a:solidFill>
                <a:latin typeface="Calibri"/>
                <a:ea typeface="Calibri"/>
                <a:cs typeface="Calibri"/>
                <a:sym typeface="Calibri"/>
              </a:rPr>
              <a:t>ACM-IEEE</a:t>
            </a:r>
            <a:endParaRPr b="1" i="0" sz="2400" u="none" cap="none" strike="noStrike">
              <a:solidFill>
                <a:srgbClr val="C55A1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Terminologi Koding</a:t>
            </a:r>
            <a:endParaRPr/>
          </a:p>
        </p:txBody>
      </p:sp>
      <p:sp>
        <p:nvSpPr>
          <p:cNvPr id="201" name="Google Shape;201;p19"/>
          <p:cNvSpPr txBox="1"/>
          <p:nvPr/>
        </p:nvSpPr>
        <p:spPr>
          <a:xfrm>
            <a:off x="4646632" y="2539196"/>
            <a:ext cx="6843003" cy="3477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E4E79"/>
                </a:solidFill>
                <a:latin typeface="Calibri"/>
                <a:ea typeface="Calibri"/>
                <a:cs typeface="Calibri"/>
                <a:sym typeface="Calibri"/>
              </a:rPr>
              <a:t>The term </a:t>
            </a:r>
            <a:r>
              <a:rPr b="1" i="0" lang="en-US" sz="2200" u="none" cap="none" strike="noStrike">
                <a:solidFill>
                  <a:srgbClr val="1E4E79"/>
                </a:solidFill>
                <a:latin typeface="Calibri"/>
                <a:ea typeface="Calibri"/>
                <a:cs typeface="Calibri"/>
                <a:sym typeface="Calibri"/>
              </a:rPr>
              <a:t>software construction </a:t>
            </a:r>
            <a:r>
              <a:rPr b="0" i="0" lang="en-US" sz="2200" u="none" cap="none" strike="noStrike">
                <a:solidFill>
                  <a:srgbClr val="1E4E79"/>
                </a:solidFill>
                <a:latin typeface="Calibri"/>
                <a:ea typeface="Calibri"/>
                <a:cs typeface="Calibri"/>
                <a:sym typeface="Calibri"/>
              </a:rPr>
              <a:t>refers to the detailed creation of working software through combination of </a:t>
            </a:r>
            <a:r>
              <a:rPr b="1" i="0" lang="en-US" sz="2200" u="none" cap="none" strike="noStrike">
                <a:solidFill>
                  <a:srgbClr val="1E4E79"/>
                </a:solidFill>
                <a:latin typeface="Calibri"/>
                <a:ea typeface="Calibri"/>
                <a:cs typeface="Calibri"/>
                <a:sym typeface="Calibri"/>
              </a:rPr>
              <a:t>coding</a:t>
            </a:r>
            <a:r>
              <a:rPr b="0" i="0" lang="en-US" sz="2200" u="none" cap="none" strike="noStrike">
                <a:solidFill>
                  <a:srgbClr val="1E4E79"/>
                </a:solidFill>
                <a:latin typeface="Calibri"/>
                <a:ea typeface="Calibri"/>
                <a:cs typeface="Calibri"/>
                <a:sym typeface="Calibri"/>
              </a:rPr>
              <a:t>, verification, unit testing, integration testing, and debugging.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1E4E7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1E4E79"/>
                </a:solidFill>
                <a:latin typeface="Calibri"/>
                <a:ea typeface="Calibri"/>
                <a:cs typeface="Calibri"/>
                <a:sym typeface="Calibri"/>
              </a:rPr>
              <a:t>Since software construction requires knowledge of </a:t>
            </a:r>
            <a:r>
              <a:rPr b="1" i="0" lang="en-US" sz="2200" u="none" cap="none" strike="noStrike">
                <a:solidFill>
                  <a:srgbClr val="1E4E79"/>
                </a:solidFill>
                <a:latin typeface="Calibri"/>
                <a:ea typeface="Calibri"/>
                <a:cs typeface="Calibri"/>
                <a:sym typeface="Calibri"/>
              </a:rPr>
              <a:t>algorithms and of coding practices</a:t>
            </a:r>
            <a:r>
              <a:rPr b="0" i="0" lang="en-US" sz="2200" u="none" cap="none" strike="noStrike">
                <a:solidFill>
                  <a:srgbClr val="1E4E79"/>
                </a:solidFill>
                <a:latin typeface="Calibri"/>
                <a:ea typeface="Calibri"/>
                <a:cs typeface="Calibri"/>
                <a:sym typeface="Calibri"/>
              </a:rPr>
              <a:t>, it is closely related to the Computing Foundations KA, which is concerned with the computer science foundations that support the design and construction of software products.</a:t>
            </a:r>
            <a:endParaRPr b="0" i="0" sz="1400" u="none" cap="none" strike="noStrike">
              <a:solidFill>
                <a:srgbClr val="000000"/>
              </a:solidFill>
              <a:latin typeface="Arial"/>
              <a:ea typeface="Arial"/>
              <a:cs typeface="Arial"/>
              <a:sym typeface="Arial"/>
            </a:endParaRPr>
          </a:p>
        </p:txBody>
      </p:sp>
      <p:sp>
        <p:nvSpPr>
          <p:cNvPr id="202" name="Google Shape;202;p19"/>
          <p:cNvSpPr txBox="1"/>
          <p:nvPr/>
        </p:nvSpPr>
        <p:spPr>
          <a:xfrm>
            <a:off x="4646632" y="1920365"/>
            <a:ext cx="629966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Body of Knowledge Software Engineering</a:t>
            </a:r>
            <a:endParaRPr b="0" i="0" sz="1400" u="none" cap="none" strike="noStrike">
              <a:solidFill>
                <a:srgbClr val="000000"/>
              </a:solidFill>
              <a:latin typeface="Arial"/>
              <a:ea typeface="Arial"/>
              <a:cs typeface="Arial"/>
              <a:sym typeface="Arial"/>
            </a:endParaRPr>
          </a:p>
        </p:txBody>
      </p:sp>
      <p:pic>
        <p:nvPicPr>
          <p:cNvPr id="203" name="Google Shape;203;p19"/>
          <p:cNvPicPr preferRelativeResize="0"/>
          <p:nvPr/>
        </p:nvPicPr>
        <p:blipFill rotWithShape="1">
          <a:blip r:embed="rId3">
            <a:alphaModFix/>
          </a:blip>
          <a:srcRect b="0" l="0" r="0" t="0"/>
          <a:stretch/>
        </p:blipFill>
        <p:spPr>
          <a:xfrm>
            <a:off x="800696" y="1828800"/>
            <a:ext cx="3494027" cy="4240696"/>
          </a:xfrm>
          <a:prstGeom prst="rect">
            <a:avLst/>
          </a:prstGeom>
          <a:noFill/>
          <a:ln>
            <a:noFill/>
          </a:ln>
        </p:spPr>
      </p:pic>
      <p:cxnSp>
        <p:nvCxnSpPr>
          <p:cNvPr id="204" name="Google Shape;204;p19"/>
          <p:cNvCxnSpPr/>
          <p:nvPr/>
        </p:nvCxnSpPr>
        <p:spPr>
          <a:xfrm>
            <a:off x="2865783" y="2787926"/>
            <a:ext cx="1780849" cy="0"/>
          </a:xfrm>
          <a:prstGeom prst="straightConnector1">
            <a:avLst/>
          </a:prstGeom>
          <a:noFill/>
          <a:ln cap="flat" cmpd="sng" w="57150">
            <a:solidFill>
              <a:srgbClr val="C00000"/>
            </a:solidFill>
            <a:prstDash val="solid"/>
            <a:round/>
            <a:headEnd len="sm" w="sm" type="none"/>
            <a:tailEnd len="med" w="med" type="stealth"/>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Terminologi Koding</a:t>
            </a:r>
            <a:endParaRPr/>
          </a:p>
        </p:txBody>
      </p:sp>
      <p:sp>
        <p:nvSpPr>
          <p:cNvPr id="211" name="Google Shape;211;p20"/>
          <p:cNvSpPr txBox="1"/>
          <p:nvPr/>
        </p:nvSpPr>
        <p:spPr>
          <a:xfrm>
            <a:off x="4646632" y="2296305"/>
            <a:ext cx="7069118" cy="42780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2E75B5"/>
                </a:solidFill>
                <a:latin typeface="Calibri"/>
                <a:ea typeface="Calibri"/>
                <a:cs typeface="Calibri"/>
                <a:sym typeface="Calibri"/>
              </a:rPr>
              <a:t>The following considerations apply to the software construction coding activity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1E4E79"/>
              </a:buClr>
              <a:buSzPts val="1700"/>
              <a:buFont typeface="Arial"/>
              <a:buChar char="•"/>
            </a:pPr>
            <a:r>
              <a:rPr b="0" i="0" lang="en-US" sz="1700" u="none" cap="none" strike="noStrike">
                <a:solidFill>
                  <a:srgbClr val="1E4E79"/>
                </a:solidFill>
                <a:latin typeface="Calibri"/>
                <a:ea typeface="Calibri"/>
                <a:cs typeface="Calibri"/>
                <a:sym typeface="Calibri"/>
              </a:rPr>
              <a:t>Techniques for creating understandable source code, including naming conventions and source code layout;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1E4E79"/>
              </a:buClr>
              <a:buSzPts val="1700"/>
              <a:buFont typeface="Arial"/>
              <a:buChar char="•"/>
            </a:pPr>
            <a:r>
              <a:rPr b="0" i="0" lang="en-US" sz="1700" u="none" cap="none" strike="noStrike">
                <a:solidFill>
                  <a:srgbClr val="1E4E79"/>
                </a:solidFill>
                <a:latin typeface="Calibri"/>
                <a:ea typeface="Calibri"/>
                <a:cs typeface="Calibri"/>
                <a:sym typeface="Calibri"/>
              </a:rPr>
              <a:t>Use of classes, enumerated types, variables, named constants, and other similar entities;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1E4E79"/>
              </a:buClr>
              <a:buSzPts val="1700"/>
              <a:buFont typeface="Arial"/>
              <a:buChar char="•"/>
            </a:pPr>
            <a:r>
              <a:rPr b="0" i="0" lang="en-US" sz="1700" u="none" cap="none" strike="noStrike">
                <a:solidFill>
                  <a:srgbClr val="1E4E79"/>
                </a:solidFill>
                <a:latin typeface="Calibri"/>
                <a:ea typeface="Calibri"/>
                <a:cs typeface="Calibri"/>
                <a:sym typeface="Calibri"/>
              </a:rPr>
              <a:t>Use of control structures;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1E4E79"/>
              </a:buClr>
              <a:buSzPts val="1700"/>
              <a:buFont typeface="Arial"/>
              <a:buChar char="•"/>
            </a:pPr>
            <a:r>
              <a:rPr b="0" i="0" lang="en-US" sz="1700" u="none" cap="none" strike="noStrike">
                <a:solidFill>
                  <a:srgbClr val="1E4E79"/>
                </a:solidFill>
                <a:latin typeface="Calibri"/>
                <a:ea typeface="Calibri"/>
                <a:cs typeface="Calibri"/>
                <a:sym typeface="Calibri"/>
              </a:rPr>
              <a:t>Handling of error conditions—both anticipated and exceptional (input of bad data, for example);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1E4E79"/>
              </a:buClr>
              <a:buSzPts val="1700"/>
              <a:buFont typeface="Arial"/>
              <a:buChar char="•"/>
            </a:pPr>
            <a:r>
              <a:rPr b="0" i="0" lang="en-US" sz="1700" u="none" cap="none" strike="noStrike">
                <a:solidFill>
                  <a:srgbClr val="1E4E79"/>
                </a:solidFill>
                <a:latin typeface="Calibri"/>
                <a:ea typeface="Calibri"/>
                <a:cs typeface="Calibri"/>
                <a:sym typeface="Calibri"/>
              </a:rPr>
              <a:t>Prevention of code-level security breaches (buffer overflows or array index bounds, for example);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1E4E79"/>
              </a:buClr>
              <a:buSzPts val="1700"/>
              <a:buFont typeface="Arial"/>
              <a:buChar char="•"/>
            </a:pPr>
            <a:r>
              <a:rPr b="0" i="0" lang="en-US" sz="1700" u="none" cap="none" strike="noStrike">
                <a:solidFill>
                  <a:srgbClr val="1E4E79"/>
                </a:solidFill>
                <a:latin typeface="Calibri"/>
                <a:ea typeface="Calibri"/>
                <a:cs typeface="Calibri"/>
                <a:sym typeface="Calibri"/>
              </a:rPr>
              <a:t>Resource usage via use of exclusion mechanisms and discipline in accessing serially reusable resources (including threads and database locks);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1E4E79"/>
              </a:buClr>
              <a:buSzPts val="1700"/>
              <a:buFont typeface="Arial"/>
              <a:buChar char="•"/>
            </a:pPr>
            <a:r>
              <a:rPr b="0" i="0" lang="en-US" sz="1700" u="none" cap="none" strike="noStrike">
                <a:solidFill>
                  <a:srgbClr val="1E4E79"/>
                </a:solidFill>
                <a:latin typeface="Calibri"/>
                <a:ea typeface="Calibri"/>
                <a:cs typeface="Calibri"/>
                <a:sym typeface="Calibri"/>
              </a:rPr>
              <a:t>Source code organization (into statements, routines, classes, packages, or other structures);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1E4E79"/>
              </a:buClr>
              <a:buSzPts val="1700"/>
              <a:buFont typeface="Arial"/>
              <a:buChar char="•"/>
            </a:pPr>
            <a:r>
              <a:rPr b="0" i="0" lang="en-US" sz="1700" u="none" cap="none" strike="noStrike">
                <a:solidFill>
                  <a:srgbClr val="1E4E79"/>
                </a:solidFill>
                <a:latin typeface="Calibri"/>
                <a:ea typeface="Calibri"/>
                <a:cs typeface="Calibri"/>
                <a:sym typeface="Calibri"/>
              </a:rPr>
              <a:t>Code documentation; </a:t>
            </a:r>
            <a:endParaRPr b="0" i="0" sz="1400" u="none" cap="none" strike="noStrike">
              <a:solidFill>
                <a:srgbClr val="000000"/>
              </a:solidFill>
              <a:latin typeface="Arial"/>
              <a:ea typeface="Arial"/>
              <a:cs typeface="Arial"/>
              <a:sym typeface="Arial"/>
            </a:endParaRPr>
          </a:p>
        </p:txBody>
      </p:sp>
      <p:pic>
        <p:nvPicPr>
          <p:cNvPr id="212" name="Google Shape;212;p20"/>
          <p:cNvPicPr preferRelativeResize="0"/>
          <p:nvPr/>
        </p:nvPicPr>
        <p:blipFill rotWithShape="1">
          <a:blip r:embed="rId3">
            <a:alphaModFix/>
          </a:blip>
          <a:srcRect b="0" l="0" r="0" t="0"/>
          <a:stretch/>
        </p:blipFill>
        <p:spPr>
          <a:xfrm>
            <a:off x="800696" y="1828800"/>
            <a:ext cx="3494027" cy="4240696"/>
          </a:xfrm>
          <a:prstGeom prst="rect">
            <a:avLst/>
          </a:prstGeom>
          <a:noFill/>
          <a:ln>
            <a:noFill/>
          </a:ln>
        </p:spPr>
      </p:pic>
      <p:cxnSp>
        <p:nvCxnSpPr>
          <p:cNvPr id="213" name="Google Shape;213;p20"/>
          <p:cNvCxnSpPr/>
          <p:nvPr/>
        </p:nvCxnSpPr>
        <p:spPr>
          <a:xfrm>
            <a:off x="2865783" y="2787926"/>
            <a:ext cx="1780849" cy="0"/>
          </a:xfrm>
          <a:prstGeom prst="straightConnector1">
            <a:avLst/>
          </a:prstGeom>
          <a:noFill/>
          <a:ln cap="flat" cmpd="sng" w="57150">
            <a:solidFill>
              <a:srgbClr val="C00000"/>
            </a:solidFill>
            <a:prstDash val="solid"/>
            <a:round/>
            <a:headEnd len="sm" w="sm" type="none"/>
            <a:tailEnd len="med" w="med" type="stealth"/>
          </a:ln>
        </p:spPr>
      </p:cxnSp>
      <p:sp>
        <p:nvSpPr>
          <p:cNvPr id="214" name="Google Shape;214;p20"/>
          <p:cNvSpPr txBox="1"/>
          <p:nvPr/>
        </p:nvSpPr>
        <p:spPr>
          <a:xfrm>
            <a:off x="4646632" y="1920365"/>
            <a:ext cx="629966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Body of Knowledge Software Engineering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Konsep Dasar Logika</a:t>
            </a:r>
            <a:endParaRPr/>
          </a:p>
        </p:txBody>
      </p:sp>
      <p:sp>
        <p:nvSpPr>
          <p:cNvPr id="220" name="Google Shape;220;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Konsep Dasar Logika</a:t>
            </a:r>
            <a:endParaRPr/>
          </a:p>
        </p:txBody>
      </p:sp>
      <p:sp>
        <p:nvSpPr>
          <p:cNvPr id="226" name="Google Shape;226;p22"/>
          <p:cNvSpPr txBox="1"/>
          <p:nvPr/>
        </p:nvSpPr>
        <p:spPr>
          <a:xfrm>
            <a:off x="838200" y="1860446"/>
            <a:ext cx="497950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Bridging the gap from here to there</a:t>
            </a:r>
            <a:endParaRPr b="0" i="0" sz="2400" u="none" cap="none" strike="noStrike">
              <a:solidFill>
                <a:srgbClr val="C55A11"/>
              </a:solidFill>
              <a:latin typeface="Calibri"/>
              <a:ea typeface="Calibri"/>
              <a:cs typeface="Calibri"/>
              <a:sym typeface="Calibri"/>
            </a:endParaRPr>
          </a:p>
        </p:txBody>
      </p:sp>
      <p:sp>
        <p:nvSpPr>
          <p:cNvPr id="227" name="Google Shape;227;p22"/>
          <p:cNvSpPr txBox="1"/>
          <p:nvPr/>
        </p:nvSpPr>
        <p:spPr>
          <a:xfrm>
            <a:off x="838200" y="2280152"/>
            <a:ext cx="5271052" cy="1754326"/>
          </a:xfrm>
          <a:prstGeom prst="rect">
            <a:avLst/>
          </a:prstGeom>
          <a:noFill/>
          <a:ln>
            <a:noFill/>
          </a:ln>
        </p:spPr>
        <p:txBody>
          <a:bodyPr anchorCtr="0" anchor="t" bIns="45700" lIns="91425" spcFirstLastPara="1" rIns="91425" wrap="square" tIns="45700">
            <a:spAutoFit/>
          </a:bodyPr>
          <a:lstStyle/>
          <a:p>
            <a:pPr indent="-211138" lvl="0" marL="223838" marR="0" rtl="0" algn="l">
              <a:lnSpc>
                <a:spcPct val="100000"/>
              </a:lnSpc>
              <a:spcBef>
                <a:spcPts val="0"/>
              </a:spcBef>
              <a:spcAft>
                <a:spcPts val="0"/>
              </a:spcAft>
              <a:buClr>
                <a:srgbClr val="2E75B5"/>
              </a:buClr>
              <a:buSzPts val="1800"/>
              <a:buFont typeface="Arial"/>
              <a:buChar char="•"/>
            </a:pPr>
            <a:r>
              <a:rPr b="0" i="0" lang="en-US" sz="1800" u="none" cap="none" strike="noStrike">
                <a:solidFill>
                  <a:srgbClr val="2E75B5"/>
                </a:solidFill>
                <a:latin typeface="Calibri"/>
                <a:ea typeface="Calibri"/>
                <a:cs typeface="Calibri"/>
                <a:sym typeface="Calibri"/>
              </a:rPr>
              <a:t>Mengapa matahari terbit pagi hari?</a:t>
            </a:r>
            <a:endParaRPr b="0" i="0" sz="1400" u="none" cap="none" strike="noStrike">
              <a:solidFill>
                <a:srgbClr val="000000"/>
              </a:solidFill>
              <a:latin typeface="Arial"/>
              <a:ea typeface="Arial"/>
              <a:cs typeface="Arial"/>
              <a:sym typeface="Arial"/>
            </a:endParaRPr>
          </a:p>
          <a:p>
            <a:pPr indent="-211138" lvl="0" marL="223838" marR="0" rtl="0" algn="l">
              <a:lnSpc>
                <a:spcPct val="100000"/>
              </a:lnSpc>
              <a:spcBef>
                <a:spcPts val="0"/>
              </a:spcBef>
              <a:spcAft>
                <a:spcPts val="0"/>
              </a:spcAft>
              <a:buClr>
                <a:srgbClr val="2E75B5"/>
              </a:buClr>
              <a:buSzPts val="1800"/>
              <a:buFont typeface="Arial"/>
              <a:buChar char="•"/>
            </a:pPr>
            <a:r>
              <a:rPr b="0" i="0" lang="en-US" sz="1800" u="none" cap="none" strike="noStrike">
                <a:solidFill>
                  <a:srgbClr val="2E75B5"/>
                </a:solidFill>
                <a:latin typeface="Calibri"/>
                <a:ea typeface="Calibri"/>
                <a:cs typeface="Calibri"/>
                <a:sym typeface="Calibri"/>
              </a:rPr>
              <a:t>Mengapa malam ada Bulan?</a:t>
            </a:r>
            <a:endParaRPr b="0" i="0" sz="1400" u="none" cap="none" strike="noStrike">
              <a:solidFill>
                <a:srgbClr val="000000"/>
              </a:solidFill>
              <a:latin typeface="Arial"/>
              <a:ea typeface="Arial"/>
              <a:cs typeface="Arial"/>
              <a:sym typeface="Arial"/>
            </a:endParaRPr>
          </a:p>
          <a:p>
            <a:pPr indent="-211138" lvl="0" marL="223838" marR="0" rtl="0" algn="l">
              <a:lnSpc>
                <a:spcPct val="100000"/>
              </a:lnSpc>
              <a:spcBef>
                <a:spcPts val="0"/>
              </a:spcBef>
              <a:spcAft>
                <a:spcPts val="0"/>
              </a:spcAft>
              <a:buClr>
                <a:srgbClr val="2E75B5"/>
              </a:buClr>
              <a:buSzPts val="1800"/>
              <a:buFont typeface="Arial"/>
              <a:buChar char="•"/>
            </a:pPr>
            <a:r>
              <a:rPr b="0" i="0" lang="en-US" sz="1800" u="none" cap="none" strike="noStrike">
                <a:solidFill>
                  <a:srgbClr val="2E75B5"/>
                </a:solidFill>
                <a:latin typeface="Calibri"/>
                <a:ea typeface="Calibri"/>
                <a:cs typeface="Calibri"/>
                <a:sym typeface="Calibri"/>
              </a:rPr>
              <a:t>Mengapa harus sekolah?</a:t>
            </a:r>
            <a:endParaRPr b="0" i="0" sz="1400" u="none" cap="none" strike="noStrike">
              <a:solidFill>
                <a:srgbClr val="000000"/>
              </a:solidFill>
              <a:latin typeface="Arial"/>
              <a:ea typeface="Arial"/>
              <a:cs typeface="Arial"/>
              <a:sym typeface="Arial"/>
            </a:endParaRPr>
          </a:p>
          <a:p>
            <a:pPr indent="-211138" lvl="0" marL="223838" marR="0" rtl="0" algn="l">
              <a:lnSpc>
                <a:spcPct val="100000"/>
              </a:lnSpc>
              <a:spcBef>
                <a:spcPts val="0"/>
              </a:spcBef>
              <a:spcAft>
                <a:spcPts val="0"/>
              </a:spcAft>
              <a:buClr>
                <a:srgbClr val="2E75B5"/>
              </a:buClr>
              <a:buSzPts val="1800"/>
              <a:buFont typeface="Arial"/>
              <a:buChar char="•"/>
            </a:pPr>
            <a:r>
              <a:rPr b="0" i="0" lang="en-US" sz="1800" u="none" cap="none" strike="noStrike">
                <a:solidFill>
                  <a:srgbClr val="2E75B5"/>
                </a:solidFill>
                <a:latin typeface="Calibri"/>
                <a:ea typeface="Calibri"/>
                <a:cs typeface="Calibri"/>
                <a:sym typeface="Calibri"/>
              </a:rPr>
              <a:t>Mengapa mobil menyala saat memutar kunci?</a:t>
            </a:r>
            <a:endParaRPr b="0" i="0" sz="1400" u="none" cap="none" strike="noStrike">
              <a:solidFill>
                <a:srgbClr val="000000"/>
              </a:solidFill>
              <a:latin typeface="Arial"/>
              <a:ea typeface="Arial"/>
              <a:cs typeface="Arial"/>
              <a:sym typeface="Arial"/>
            </a:endParaRPr>
          </a:p>
          <a:p>
            <a:pPr indent="-211138" lvl="0" marL="223838" marR="0" rtl="0" algn="l">
              <a:lnSpc>
                <a:spcPct val="100000"/>
              </a:lnSpc>
              <a:spcBef>
                <a:spcPts val="0"/>
              </a:spcBef>
              <a:spcAft>
                <a:spcPts val="0"/>
              </a:spcAft>
              <a:buClr>
                <a:srgbClr val="2E75B5"/>
              </a:buClr>
              <a:buSzPts val="1800"/>
              <a:buFont typeface="Arial"/>
              <a:buChar char="•"/>
            </a:pPr>
            <a:r>
              <a:rPr b="0" i="0" lang="en-US" sz="1800" u="none" cap="none" strike="noStrike">
                <a:solidFill>
                  <a:srgbClr val="2E75B5"/>
                </a:solidFill>
                <a:latin typeface="Calibri"/>
                <a:ea typeface="Calibri"/>
                <a:cs typeface="Calibri"/>
                <a:sym typeface="Calibri"/>
              </a:rPr>
              <a:t>Mengapa orang melanggar hukum, padahal tahu bakal dipenjara?</a:t>
            </a:r>
            <a:endParaRPr b="0" i="0" sz="1400" u="none" cap="none" strike="noStrike">
              <a:solidFill>
                <a:srgbClr val="000000"/>
              </a:solidFill>
              <a:latin typeface="Arial"/>
              <a:ea typeface="Arial"/>
              <a:cs typeface="Arial"/>
              <a:sym typeface="Arial"/>
            </a:endParaRPr>
          </a:p>
        </p:txBody>
      </p:sp>
      <p:sp>
        <p:nvSpPr>
          <p:cNvPr id="228" name="Google Shape;228;p22"/>
          <p:cNvSpPr txBox="1"/>
          <p:nvPr/>
        </p:nvSpPr>
        <p:spPr>
          <a:xfrm>
            <a:off x="838199" y="4034478"/>
            <a:ext cx="5496339" cy="2708434"/>
          </a:xfrm>
          <a:prstGeom prst="rect">
            <a:avLst/>
          </a:prstGeom>
          <a:solidFill>
            <a:srgbClr val="2E75B5"/>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Sejak usia dini meskipun mereka tidak memahami sesuatu, tapi mereka akan menduga jawabannya pasti ada di suatu tempat, yang ada dalam benak mereka kurang lebih: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 </a:t>
            </a:r>
            <a:r>
              <a:rPr b="1" i="0" lang="en-US" sz="1700" u="none" cap="none" strike="noStrike">
                <a:solidFill>
                  <a:schemeClr val="lt1"/>
                </a:solidFill>
                <a:latin typeface="Calibri"/>
                <a:ea typeface="Calibri"/>
                <a:cs typeface="Calibri"/>
                <a:sym typeface="Calibri"/>
              </a:rPr>
              <a:t>"Jika saya di sini dan jawabannya ada di sana, apa yang harus saya lakukan untuk sampai di sana?"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Beralih dari sini ke sana — </a:t>
            </a:r>
            <a:r>
              <a:rPr b="1" i="0" lang="en-US" sz="1700" u="none" cap="none" strike="noStrike">
                <a:solidFill>
                  <a:schemeClr val="lt1"/>
                </a:solidFill>
                <a:latin typeface="Calibri"/>
                <a:ea typeface="Calibri"/>
                <a:cs typeface="Calibri"/>
                <a:sym typeface="Calibri"/>
              </a:rPr>
              <a:t>dari ketidaktahuan menuju pemahaman </a:t>
            </a:r>
            <a:r>
              <a:rPr b="0" i="0" lang="en-US" sz="1700" u="none" cap="none" strike="noStrike">
                <a:solidFill>
                  <a:schemeClr val="lt1"/>
                </a:solidFill>
                <a:latin typeface="Calibri"/>
                <a:ea typeface="Calibri"/>
                <a:cs typeface="Calibri"/>
                <a:sym typeface="Calibri"/>
              </a:rPr>
              <a:t>— adalah salah satu </a:t>
            </a:r>
            <a:r>
              <a:rPr b="1" i="0" lang="en-US" sz="1700" u="none" cap="none" strike="noStrike">
                <a:solidFill>
                  <a:schemeClr val="lt1"/>
                </a:solidFill>
                <a:latin typeface="Calibri"/>
                <a:ea typeface="Calibri"/>
                <a:cs typeface="Calibri"/>
                <a:sym typeface="Calibri"/>
              </a:rPr>
              <a:t>alasan utama logika muncul</a:t>
            </a:r>
            <a:r>
              <a:rPr b="0" i="0" lang="en-US" sz="1700" u="none" cap="none" strike="noStrike">
                <a:solidFill>
                  <a:schemeClr val="lt1"/>
                </a:solidFill>
                <a:latin typeface="Calibri"/>
                <a:ea typeface="Calibri"/>
                <a:cs typeface="Calibri"/>
                <a:sym typeface="Calibri"/>
              </a:rPr>
              <a:t>. Logika tumbuh dari kebutuhan bawaan manusia untuk memahami dunia dan, sejauh mungkin, memperoleh kendali atas dunia yang dimaksud.</a:t>
            </a:r>
            <a:endParaRPr b="0" i="0" sz="1400" u="none" cap="none" strike="noStrike">
              <a:solidFill>
                <a:srgbClr val="000000"/>
              </a:solidFill>
              <a:latin typeface="Arial"/>
              <a:ea typeface="Arial"/>
              <a:cs typeface="Arial"/>
              <a:sym typeface="Arial"/>
            </a:endParaRPr>
          </a:p>
        </p:txBody>
      </p:sp>
      <p:sp>
        <p:nvSpPr>
          <p:cNvPr id="229" name="Google Shape;229;p22"/>
          <p:cNvSpPr txBox="1"/>
          <p:nvPr/>
        </p:nvSpPr>
        <p:spPr>
          <a:xfrm>
            <a:off x="6467058" y="1860446"/>
            <a:ext cx="478403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Understanding cause and effect</a:t>
            </a:r>
            <a:endParaRPr b="0" i="0" sz="2400" u="none" cap="none" strike="noStrike">
              <a:solidFill>
                <a:srgbClr val="C55A11"/>
              </a:solidFill>
              <a:latin typeface="Calibri"/>
              <a:ea typeface="Calibri"/>
              <a:cs typeface="Calibri"/>
              <a:sym typeface="Calibri"/>
            </a:endParaRPr>
          </a:p>
        </p:txBody>
      </p:sp>
      <p:sp>
        <p:nvSpPr>
          <p:cNvPr id="230" name="Google Shape;230;p22"/>
          <p:cNvSpPr txBox="1"/>
          <p:nvPr/>
        </p:nvSpPr>
        <p:spPr>
          <a:xfrm>
            <a:off x="6467058" y="2322111"/>
            <a:ext cx="5189002" cy="12311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E75B5"/>
                </a:solidFill>
                <a:latin typeface="Calibri"/>
                <a:ea typeface="Calibri"/>
                <a:cs typeface="Calibri"/>
                <a:sym typeface="Calibri"/>
              </a:rPr>
              <a:t>Salah satu cara untuk memahami adalah dengan memperhatikan hubungan antara sebab dan akibat. Bagaimana satu peristiwa menyebabkan peristiwa lainnya, ini dapat ditempatkan dalam </a:t>
            </a:r>
            <a:r>
              <a:rPr b="1" i="1" lang="en-US" sz="2000" u="none" cap="none" strike="noStrike">
                <a:solidFill>
                  <a:srgbClr val="2E75B5"/>
                </a:solidFill>
                <a:latin typeface="Calibri"/>
                <a:ea typeface="Calibri"/>
                <a:cs typeface="Calibri"/>
                <a:sym typeface="Calibri"/>
              </a:rPr>
              <a:t>if-statement</a:t>
            </a:r>
            <a:r>
              <a:rPr b="1" i="1" lang="en-US" sz="1800" u="none" cap="none" strike="noStrike">
                <a:solidFill>
                  <a:srgbClr val="2E75B5"/>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31" name="Google Shape;231;p22"/>
          <p:cNvSpPr txBox="1"/>
          <p:nvPr/>
        </p:nvSpPr>
        <p:spPr>
          <a:xfrm>
            <a:off x="6467058" y="3657124"/>
            <a:ext cx="5327375" cy="2923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2E75B5"/>
                </a:solidFill>
                <a:latin typeface="Calibri"/>
                <a:ea typeface="Calibri"/>
                <a:cs typeface="Calibri"/>
                <a:sym typeface="Calibri"/>
              </a:rPr>
              <a:t>Jika </a:t>
            </a:r>
            <a:r>
              <a:rPr b="0" i="0" lang="en-US" sz="1800" u="none" cap="none" strike="noStrike">
                <a:solidFill>
                  <a:srgbClr val="2E75B5"/>
                </a:solidFill>
                <a:latin typeface="Calibri"/>
                <a:ea typeface="Calibri"/>
                <a:cs typeface="Calibri"/>
                <a:sym typeface="Calibri"/>
              </a:rPr>
              <a:t>saya mengerjakan PR sekarang</a:t>
            </a:r>
            <a:r>
              <a:rPr b="1" i="0" lang="en-US" sz="1800" u="none" cap="none" strike="noStrike">
                <a:solidFill>
                  <a:srgbClr val="2E75B5"/>
                </a:solidFill>
                <a:latin typeface="Calibri"/>
                <a:ea typeface="Calibri"/>
                <a:cs typeface="Calibri"/>
                <a:sym typeface="Calibri"/>
              </a:rPr>
              <a:t>, </a:t>
            </a:r>
            <a:r>
              <a:rPr b="1" i="1" lang="en-US" sz="1800" u="none" cap="none" strike="noStrike">
                <a:solidFill>
                  <a:srgbClr val="2E75B5"/>
                </a:solidFill>
                <a:latin typeface="Calibri"/>
                <a:ea typeface="Calibri"/>
                <a:cs typeface="Calibri"/>
                <a:sym typeface="Calibri"/>
              </a:rPr>
              <a:t>maka </a:t>
            </a:r>
            <a:r>
              <a:rPr b="0" i="0" lang="en-US" sz="1800" u="none" cap="none" strike="noStrike">
                <a:solidFill>
                  <a:srgbClr val="2E75B5"/>
                </a:solidFill>
                <a:latin typeface="Calibri"/>
                <a:ea typeface="Calibri"/>
                <a:cs typeface="Calibri"/>
                <a:sym typeface="Calibri"/>
              </a:rPr>
              <a:t>saya akan punya waktu untuk bermain</a:t>
            </a:r>
            <a:endParaRPr b="0" i="0" sz="18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2E75B5"/>
                </a:solidFill>
                <a:latin typeface="Calibri"/>
                <a:ea typeface="Calibri"/>
                <a:cs typeface="Calibri"/>
                <a:sym typeface="Calibri"/>
              </a:rPr>
              <a:t>Jika </a:t>
            </a:r>
            <a:r>
              <a:rPr b="0" i="0" lang="en-US" sz="1800" u="none" cap="none" strike="noStrike">
                <a:solidFill>
                  <a:srgbClr val="2E75B5"/>
                </a:solidFill>
                <a:latin typeface="Calibri"/>
                <a:ea typeface="Calibri"/>
                <a:cs typeface="Calibri"/>
                <a:sym typeface="Calibri"/>
              </a:rPr>
              <a:t>ingin tubuh tetap sehat </a:t>
            </a:r>
            <a:r>
              <a:rPr b="1" i="1" lang="en-US" sz="1800" u="none" cap="none" strike="noStrike">
                <a:solidFill>
                  <a:srgbClr val="2E75B5"/>
                </a:solidFill>
                <a:latin typeface="Calibri"/>
                <a:ea typeface="Calibri"/>
                <a:cs typeface="Calibri"/>
                <a:sym typeface="Calibri"/>
              </a:rPr>
              <a:t>maka</a:t>
            </a:r>
            <a:r>
              <a:rPr b="0" i="0" lang="en-US" sz="1800" u="none" cap="none" strike="noStrike">
                <a:solidFill>
                  <a:srgbClr val="2E75B5"/>
                </a:solidFill>
                <a:latin typeface="Calibri"/>
                <a:ea typeface="Calibri"/>
                <a:cs typeface="Calibri"/>
                <a:sym typeface="Calibri"/>
              </a:rPr>
              <a:t> harus memperhatikan apa yang dimakan</a:t>
            </a:r>
            <a:endParaRPr b="0" i="0" sz="18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2E75B5"/>
                </a:solidFill>
                <a:latin typeface="Calibri"/>
                <a:ea typeface="Calibri"/>
                <a:cs typeface="Calibri"/>
                <a:sym typeface="Calibri"/>
              </a:rPr>
              <a:t>Jika</a:t>
            </a:r>
            <a:r>
              <a:rPr b="0" i="0" lang="en-US" sz="1800" u="none" cap="none" strike="noStrike">
                <a:solidFill>
                  <a:srgbClr val="2E75B5"/>
                </a:solidFill>
                <a:latin typeface="Calibri"/>
                <a:ea typeface="Calibri"/>
                <a:cs typeface="Calibri"/>
                <a:sym typeface="Calibri"/>
              </a:rPr>
              <a:t> saya ingin lulus ujian </a:t>
            </a:r>
            <a:r>
              <a:rPr b="1" i="1" lang="en-US" sz="1800" u="none" cap="none" strike="noStrike">
                <a:solidFill>
                  <a:srgbClr val="2E75B5"/>
                </a:solidFill>
                <a:latin typeface="Calibri"/>
                <a:ea typeface="Calibri"/>
                <a:cs typeface="Calibri"/>
                <a:sym typeface="Calibri"/>
              </a:rPr>
              <a:t>maka </a:t>
            </a:r>
            <a:r>
              <a:rPr b="0" i="0" lang="en-US" sz="1800" u="none" cap="none" strike="noStrike">
                <a:solidFill>
                  <a:srgbClr val="2E75B5"/>
                </a:solidFill>
                <a:latin typeface="Calibri"/>
                <a:ea typeface="Calibri"/>
                <a:cs typeface="Calibri"/>
                <a:sym typeface="Calibri"/>
              </a:rPr>
              <a:t>saya harus rajin belajar.</a:t>
            </a:r>
            <a:endParaRPr b="0" i="0" sz="18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55A11"/>
                </a:solidFill>
                <a:latin typeface="Calibri"/>
                <a:ea typeface="Calibri"/>
                <a:cs typeface="Calibri"/>
                <a:sym typeface="Calibri"/>
              </a:rPr>
              <a:t>Understanding how if-statements work is an important aspect of logic</a:t>
            </a:r>
            <a:endParaRPr b="0" i="0" sz="1400" u="none" cap="none" strike="noStrike">
              <a:solidFill>
                <a:srgbClr val="000000"/>
              </a:solidFill>
              <a:latin typeface="Arial"/>
              <a:ea typeface="Arial"/>
              <a:cs typeface="Arial"/>
              <a:sym typeface="Arial"/>
            </a:endParaRPr>
          </a:p>
        </p:txBody>
      </p:sp>
      <p:cxnSp>
        <p:nvCxnSpPr>
          <p:cNvPr id="232" name="Google Shape;232;p22"/>
          <p:cNvCxnSpPr>
            <a:stCxn id="226" idx="3"/>
            <a:endCxn id="229" idx="1"/>
          </p:cNvCxnSpPr>
          <p:nvPr/>
        </p:nvCxnSpPr>
        <p:spPr>
          <a:xfrm>
            <a:off x="5817704" y="2091279"/>
            <a:ext cx="649500" cy="0"/>
          </a:xfrm>
          <a:prstGeom prst="straightConnector1">
            <a:avLst/>
          </a:prstGeom>
          <a:noFill/>
          <a:ln cap="flat" cmpd="sng" w="57150">
            <a:solidFill>
              <a:srgbClr val="1E4E79"/>
            </a:solidFill>
            <a:prstDash val="solid"/>
            <a:round/>
            <a:headEnd len="sm" w="sm" type="none"/>
            <a:tailEnd len="med" w="med" type="stealth"/>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Pembelajaran Koding</a:t>
            </a:r>
            <a:endParaRPr/>
          </a:p>
        </p:txBody>
      </p:sp>
      <p:sp>
        <p:nvSpPr>
          <p:cNvPr id="238" name="Google Shape;238;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Pembelajaran Koding</a:t>
            </a:r>
            <a:endParaRPr/>
          </a:p>
        </p:txBody>
      </p:sp>
      <p:sp>
        <p:nvSpPr>
          <p:cNvPr id="244" name="Google Shape;244;p24"/>
          <p:cNvSpPr txBox="1"/>
          <p:nvPr/>
        </p:nvSpPr>
        <p:spPr>
          <a:xfrm>
            <a:off x="778438" y="2579808"/>
            <a:ext cx="379356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1E4E79"/>
                </a:solidFill>
                <a:latin typeface="Calibri"/>
                <a:ea typeface="Calibri"/>
                <a:cs typeface="Calibri"/>
                <a:sym typeface="Calibri"/>
              </a:rPr>
              <a:t>Bagaimana membelajarkan koding pada dikdasmen?</a:t>
            </a:r>
            <a:endParaRPr b="0" i="0" sz="1400" u="none" cap="none" strike="noStrike">
              <a:solidFill>
                <a:srgbClr val="000000"/>
              </a:solidFill>
              <a:latin typeface="Arial"/>
              <a:ea typeface="Arial"/>
              <a:cs typeface="Arial"/>
              <a:sym typeface="Arial"/>
            </a:endParaRPr>
          </a:p>
        </p:txBody>
      </p:sp>
      <p:pic>
        <p:nvPicPr>
          <p:cNvPr id="245" name="Google Shape;245;p24"/>
          <p:cNvPicPr preferRelativeResize="0"/>
          <p:nvPr/>
        </p:nvPicPr>
        <p:blipFill rotWithShape="1">
          <a:blip r:embed="rId3">
            <a:alphaModFix/>
          </a:blip>
          <a:srcRect b="0" l="0" r="0" t="0"/>
          <a:stretch/>
        </p:blipFill>
        <p:spPr>
          <a:xfrm>
            <a:off x="5035825" y="1808519"/>
            <a:ext cx="6281530" cy="4844168"/>
          </a:xfrm>
          <a:prstGeom prst="rect">
            <a:avLst/>
          </a:prstGeom>
          <a:noFill/>
          <a:ln>
            <a:noFill/>
          </a:ln>
        </p:spPr>
      </p:pic>
      <p:sp>
        <p:nvSpPr>
          <p:cNvPr id="246" name="Google Shape;246;p24"/>
          <p:cNvSpPr txBox="1"/>
          <p:nvPr/>
        </p:nvSpPr>
        <p:spPr>
          <a:xfrm>
            <a:off x="778438" y="4813494"/>
            <a:ext cx="379356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1E4E79"/>
                </a:solidFill>
                <a:latin typeface="Calibri"/>
                <a:ea typeface="Calibri"/>
                <a:cs typeface="Calibri"/>
                <a:sym typeface="Calibri"/>
              </a:rPr>
              <a:t>Tahapan Kemampuan yang Dikuasai Peserta Didik</a:t>
            </a:r>
            <a:endParaRPr b="0" i="0" sz="2400" u="none" cap="none" strike="noStrike">
              <a:solidFill>
                <a:srgbClr val="1E4E79"/>
              </a:solidFill>
              <a:latin typeface="Calibri"/>
              <a:ea typeface="Calibri"/>
              <a:cs typeface="Calibri"/>
              <a:sym typeface="Calibri"/>
            </a:endParaRPr>
          </a:p>
        </p:txBody>
      </p:sp>
      <p:cxnSp>
        <p:nvCxnSpPr>
          <p:cNvPr id="247" name="Google Shape;247;p24"/>
          <p:cNvCxnSpPr/>
          <p:nvPr/>
        </p:nvCxnSpPr>
        <p:spPr>
          <a:xfrm>
            <a:off x="1616765" y="3436233"/>
            <a:ext cx="0" cy="1377261"/>
          </a:xfrm>
          <a:prstGeom prst="straightConnector1">
            <a:avLst/>
          </a:prstGeom>
          <a:noFill/>
          <a:ln cap="flat" cmpd="sng" w="57150">
            <a:solidFill>
              <a:srgbClr val="1E4E79"/>
            </a:solidFill>
            <a:prstDash val="solid"/>
            <a:round/>
            <a:headEnd len="sm" w="sm" type="none"/>
            <a:tailEnd len="med" w="med" type="stealth"/>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Pembelajaran Koding</a:t>
            </a:r>
            <a:endParaRPr/>
          </a:p>
        </p:txBody>
      </p:sp>
      <p:sp>
        <p:nvSpPr>
          <p:cNvPr id="253" name="Google Shape;253;p25"/>
          <p:cNvSpPr txBox="1"/>
          <p:nvPr/>
        </p:nvSpPr>
        <p:spPr>
          <a:xfrm>
            <a:off x="703206" y="1739026"/>
            <a:ext cx="59626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1E4E79"/>
                </a:solidFill>
                <a:latin typeface="Calibri"/>
                <a:ea typeface="Calibri"/>
                <a:cs typeface="Calibri"/>
                <a:sym typeface="Calibri"/>
              </a:rPr>
              <a:t>Bagaimana membelajarkan koding pada dikdasmen?</a:t>
            </a:r>
            <a:endParaRPr b="0" i="0" sz="1400" u="none" cap="none" strike="noStrike">
              <a:solidFill>
                <a:srgbClr val="000000"/>
              </a:solidFill>
              <a:latin typeface="Arial"/>
              <a:ea typeface="Arial"/>
              <a:cs typeface="Arial"/>
              <a:sym typeface="Arial"/>
            </a:endParaRPr>
          </a:p>
        </p:txBody>
      </p:sp>
      <p:pic>
        <p:nvPicPr>
          <p:cNvPr id="254" name="Google Shape;254;p25"/>
          <p:cNvPicPr preferRelativeResize="0"/>
          <p:nvPr/>
        </p:nvPicPr>
        <p:blipFill rotWithShape="1">
          <a:blip r:embed="rId3">
            <a:alphaModFix/>
          </a:blip>
          <a:srcRect b="13526" l="0" r="0" t="37202"/>
          <a:stretch/>
        </p:blipFill>
        <p:spPr>
          <a:xfrm>
            <a:off x="795970" y="2411931"/>
            <a:ext cx="5413329" cy="1778162"/>
          </a:xfrm>
          <a:prstGeom prst="rect">
            <a:avLst/>
          </a:prstGeom>
          <a:noFill/>
          <a:ln>
            <a:noFill/>
          </a:ln>
        </p:spPr>
      </p:pic>
      <p:sp>
        <p:nvSpPr>
          <p:cNvPr id="255" name="Google Shape;255;p25"/>
          <p:cNvSpPr txBox="1"/>
          <p:nvPr/>
        </p:nvSpPr>
        <p:spPr>
          <a:xfrm>
            <a:off x="703206" y="2053373"/>
            <a:ext cx="465067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Memaksimakan Potensi Anak dengan Koding</a:t>
            </a:r>
            <a:endParaRPr b="0" i="0" sz="1600" u="none" cap="none" strike="noStrike">
              <a:solidFill>
                <a:srgbClr val="1E4E79"/>
              </a:solidFill>
              <a:latin typeface="Calibri"/>
              <a:ea typeface="Calibri"/>
              <a:cs typeface="Calibri"/>
              <a:sym typeface="Calibri"/>
            </a:endParaRPr>
          </a:p>
        </p:txBody>
      </p:sp>
      <p:pic>
        <p:nvPicPr>
          <p:cNvPr id="256" name="Google Shape;256;p25"/>
          <p:cNvPicPr preferRelativeResize="0"/>
          <p:nvPr/>
        </p:nvPicPr>
        <p:blipFill rotWithShape="1">
          <a:blip r:embed="rId4">
            <a:alphaModFix/>
          </a:blip>
          <a:srcRect b="0" l="0" r="0" t="0"/>
          <a:stretch/>
        </p:blipFill>
        <p:spPr>
          <a:xfrm>
            <a:off x="9886370" y="2383665"/>
            <a:ext cx="1854092" cy="3162631"/>
          </a:xfrm>
          <a:prstGeom prst="rect">
            <a:avLst/>
          </a:prstGeom>
          <a:noFill/>
          <a:ln>
            <a:noFill/>
          </a:ln>
        </p:spPr>
      </p:pic>
      <p:pic>
        <p:nvPicPr>
          <p:cNvPr descr="A screenshot of a computer  AI-generated content may be incorrect." id="257" name="Google Shape;257;p25"/>
          <p:cNvPicPr preferRelativeResize="0"/>
          <p:nvPr/>
        </p:nvPicPr>
        <p:blipFill rotWithShape="1">
          <a:blip r:embed="rId5">
            <a:alphaModFix/>
          </a:blip>
          <a:srcRect b="0" l="0" r="0" t="0"/>
          <a:stretch/>
        </p:blipFill>
        <p:spPr>
          <a:xfrm>
            <a:off x="795970" y="4276654"/>
            <a:ext cx="5413329" cy="2402193"/>
          </a:xfrm>
          <a:prstGeom prst="rect">
            <a:avLst/>
          </a:prstGeom>
          <a:noFill/>
          <a:ln>
            <a:noFill/>
          </a:ln>
        </p:spPr>
      </p:pic>
      <p:sp>
        <p:nvSpPr>
          <p:cNvPr id="258" name="Google Shape;258;p25"/>
          <p:cNvSpPr txBox="1"/>
          <p:nvPr/>
        </p:nvSpPr>
        <p:spPr>
          <a:xfrm>
            <a:off x="729710" y="6639091"/>
            <a:ext cx="3813313"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1E4E79"/>
                </a:solidFill>
                <a:latin typeface="Calibri"/>
                <a:ea typeface="Calibri"/>
                <a:cs typeface="Calibri"/>
                <a:sym typeface="Calibri"/>
              </a:rPr>
              <a:t>Melatih BK dengan Bermain di situs https://blockly.games/ </a:t>
            </a:r>
            <a:endParaRPr b="0" i="0" sz="1400" u="none" cap="none" strike="noStrike">
              <a:solidFill>
                <a:srgbClr val="000000"/>
              </a:solidFill>
              <a:latin typeface="Arial"/>
              <a:ea typeface="Arial"/>
              <a:cs typeface="Arial"/>
              <a:sym typeface="Arial"/>
            </a:endParaRPr>
          </a:p>
        </p:txBody>
      </p:sp>
      <p:sp>
        <p:nvSpPr>
          <p:cNvPr id="259" name="Google Shape;259;p25"/>
          <p:cNvSpPr txBox="1"/>
          <p:nvPr/>
        </p:nvSpPr>
        <p:spPr>
          <a:xfrm>
            <a:off x="6410227" y="2383665"/>
            <a:ext cx="3197601" cy="3231654"/>
          </a:xfrm>
          <a:prstGeom prst="rect">
            <a:avLst/>
          </a:prstGeom>
          <a:solidFill>
            <a:srgbClr val="B3C6E7"/>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1E4E79"/>
                </a:solidFill>
                <a:latin typeface="Calibri"/>
                <a:ea typeface="Calibri"/>
                <a:cs typeface="Calibri"/>
                <a:sym typeface="Calibri"/>
              </a:rPr>
              <a:t>Pada fase C dan Awal D</a:t>
            </a:r>
            <a:r>
              <a:rPr b="1" i="0" lang="en-US" sz="1700" u="none" cap="none" strike="noStrike">
                <a:solidFill>
                  <a:srgbClr val="1E4E79"/>
                </a:solidFill>
                <a:latin typeface="Calibri"/>
                <a:ea typeface="Calibri"/>
                <a:cs typeface="Calibri"/>
                <a:sym typeface="Calibri"/>
              </a:rPr>
              <a:t>, koding yang dimaksud sejatinya bukan pada text programming</a:t>
            </a:r>
            <a:r>
              <a:rPr b="0" i="0" lang="en-US" sz="1700" u="none" cap="none" strike="noStrike">
                <a:solidFill>
                  <a:srgbClr val="1E4E79"/>
                </a:solidFill>
                <a:latin typeface="Calibri"/>
                <a:ea typeface="Calibri"/>
                <a:cs typeface="Calibri"/>
                <a:sym typeface="Calibri"/>
              </a:rPr>
              <a:t>, tapi melatih kemampuan bepikir logis dan sistematis dalam balutan Computational Thingking umumnya, jikapun menggunakan lingkungan pemorgraman akan masuk pada kelompok </a:t>
            </a:r>
            <a:r>
              <a:rPr b="1" i="0" lang="en-US" sz="1700" u="none" cap="none" strike="noStrike">
                <a:solidFill>
                  <a:srgbClr val="1E4E79"/>
                </a:solidFill>
                <a:latin typeface="Calibri"/>
                <a:ea typeface="Calibri"/>
                <a:cs typeface="Calibri"/>
                <a:sym typeface="Calibri"/>
              </a:rPr>
              <a:t>blok programming (Blocky, Scrath)</a:t>
            </a:r>
            <a:r>
              <a:rPr b="0" i="0" lang="en-US" sz="1700" u="none" cap="none" strike="noStrike">
                <a:solidFill>
                  <a:srgbClr val="1E4E79"/>
                </a:solidFill>
                <a:latin typeface="Calibri"/>
                <a:ea typeface="Calibri"/>
                <a:cs typeface="Calibri"/>
                <a:sym typeface="Calibri"/>
              </a:rPr>
              <a:t>, seperti yang dicontohkan pada </a:t>
            </a:r>
            <a:r>
              <a:rPr b="0" i="0" lang="en-US" sz="1700" u="sng" cap="none" strike="noStrike">
                <a:solidFill>
                  <a:srgbClr val="1E4E79"/>
                </a:solidFill>
                <a:latin typeface="Calibri"/>
                <a:ea typeface="Calibri"/>
                <a:cs typeface="Calibri"/>
                <a:sym typeface="Calibri"/>
                <a:hlinkClick r:id="rId6">
                  <a:extLst>
                    <a:ext uri="{A12FA001-AC4F-418D-AE19-62706E023703}">
                      <ahyp:hlinkClr val="tx"/>
                    </a:ext>
                  </a:extLst>
                </a:hlinkClick>
              </a:rPr>
              <a:t>https://blockly.games/</a:t>
            </a:r>
            <a:r>
              <a:rPr b="0" i="0" lang="en-US" sz="1700" u="none" cap="none" strike="noStrike">
                <a:solidFill>
                  <a:srgbClr val="1E4E79"/>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260" name="Google Shape;260;p25"/>
          <p:cNvPicPr preferRelativeResize="0"/>
          <p:nvPr/>
        </p:nvPicPr>
        <p:blipFill rotWithShape="1">
          <a:blip r:embed="rId7">
            <a:alphaModFix/>
          </a:blip>
          <a:srcRect b="0" l="0" r="0" t="0"/>
          <a:stretch/>
        </p:blipFill>
        <p:spPr>
          <a:xfrm>
            <a:off x="10254356" y="4276654"/>
            <a:ext cx="1831628" cy="2505194"/>
          </a:xfrm>
          <a:prstGeom prst="rect">
            <a:avLst/>
          </a:prstGeom>
          <a:noFill/>
          <a:ln>
            <a:noFill/>
          </a:ln>
        </p:spPr>
      </p:pic>
      <p:pic>
        <p:nvPicPr>
          <p:cNvPr id="261" name="Google Shape;261;p25"/>
          <p:cNvPicPr preferRelativeResize="0"/>
          <p:nvPr/>
        </p:nvPicPr>
        <p:blipFill rotWithShape="1">
          <a:blip r:embed="rId8">
            <a:alphaModFix/>
          </a:blip>
          <a:srcRect b="0" l="0" r="0" t="0"/>
          <a:stretch/>
        </p:blipFill>
        <p:spPr>
          <a:xfrm>
            <a:off x="9687236" y="4991135"/>
            <a:ext cx="1346271" cy="1790713"/>
          </a:xfrm>
          <a:prstGeom prst="rect">
            <a:avLst/>
          </a:prstGeom>
          <a:noFill/>
          <a:ln>
            <a:noFill/>
          </a:ln>
        </p:spPr>
      </p:pic>
      <p:sp>
        <p:nvSpPr>
          <p:cNvPr id="262" name="Google Shape;262;p25"/>
          <p:cNvSpPr txBox="1"/>
          <p:nvPr/>
        </p:nvSpPr>
        <p:spPr>
          <a:xfrm>
            <a:off x="6410227" y="6094072"/>
            <a:ext cx="3197601" cy="584775"/>
          </a:xfrm>
          <a:prstGeom prst="rect">
            <a:avLst/>
          </a:prstGeom>
          <a:solidFill>
            <a:srgbClr val="B3C6E7"/>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Pada fase E dan F</a:t>
            </a:r>
            <a:r>
              <a:rPr b="1" i="0" lang="en-US" sz="1600" u="none" cap="none" strike="noStrike">
                <a:solidFill>
                  <a:srgbClr val="1E4E79"/>
                </a:solidFill>
                <a:latin typeface="Calibri"/>
                <a:ea typeface="Calibri"/>
                <a:cs typeface="Calibri"/>
                <a:sym typeface="Calibri"/>
              </a:rPr>
              <a:t>, Pseudocode to text programming</a:t>
            </a:r>
            <a:r>
              <a:rPr b="0" i="0" lang="en-US" sz="1600" u="none" cap="none" strike="noStrike">
                <a:solidFill>
                  <a:srgbClr val="1E4E79"/>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Kecerdasan Artifisial</a:t>
            </a:r>
            <a:endParaRPr/>
          </a:p>
        </p:txBody>
      </p:sp>
      <p:sp>
        <p:nvSpPr>
          <p:cNvPr id="268" name="Google Shape;268;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Terminologi Kecerdasan Artifisial</a:t>
            </a:r>
            <a:endParaRPr/>
          </a:p>
        </p:txBody>
      </p:sp>
      <p:sp>
        <p:nvSpPr>
          <p:cNvPr id="274" name="Google Shape;274;p27"/>
          <p:cNvSpPr txBox="1"/>
          <p:nvPr/>
        </p:nvSpPr>
        <p:spPr>
          <a:xfrm>
            <a:off x="7991061" y="1690688"/>
            <a:ext cx="3362739"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C55A11"/>
                </a:solidFill>
                <a:latin typeface="Calibri"/>
                <a:ea typeface="Calibri"/>
                <a:cs typeface="Calibri"/>
                <a:sym typeface="Calibri"/>
              </a:rPr>
              <a:t>CS Curricula 2023  ACM-IEEE</a:t>
            </a:r>
            <a:endParaRPr b="0" i="0" sz="1400" u="none" cap="none" strike="noStrike">
              <a:solidFill>
                <a:srgbClr val="000000"/>
              </a:solidFill>
              <a:latin typeface="Arial"/>
              <a:ea typeface="Arial"/>
              <a:cs typeface="Arial"/>
              <a:sym typeface="Arial"/>
            </a:endParaRPr>
          </a:p>
        </p:txBody>
      </p:sp>
      <p:sp>
        <p:nvSpPr>
          <p:cNvPr id="275" name="Google Shape;275;p27"/>
          <p:cNvSpPr txBox="1"/>
          <p:nvPr/>
        </p:nvSpPr>
        <p:spPr>
          <a:xfrm>
            <a:off x="3127513" y="1690688"/>
            <a:ext cx="257423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55A11"/>
                </a:solidFill>
                <a:latin typeface="Calibri"/>
                <a:ea typeface="Calibri"/>
                <a:cs typeface="Calibri"/>
                <a:sym typeface="Calibri"/>
              </a:rPr>
              <a:t>Body of Knowledge</a:t>
            </a:r>
            <a:endParaRPr b="0" i="0" sz="1400" u="none" cap="none" strike="noStrike">
              <a:solidFill>
                <a:srgbClr val="000000"/>
              </a:solidFill>
              <a:latin typeface="Arial"/>
              <a:ea typeface="Arial"/>
              <a:cs typeface="Arial"/>
              <a:sym typeface="Arial"/>
            </a:endParaRPr>
          </a:p>
        </p:txBody>
      </p:sp>
      <p:sp>
        <p:nvSpPr>
          <p:cNvPr id="276" name="Google Shape;276;p27"/>
          <p:cNvSpPr txBox="1"/>
          <p:nvPr/>
        </p:nvSpPr>
        <p:spPr>
          <a:xfrm>
            <a:off x="3127513" y="2057984"/>
            <a:ext cx="6957391" cy="181588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1E4E79"/>
              </a:buClr>
              <a:buSzPts val="1600"/>
              <a:buFont typeface="Arial"/>
              <a:buChar char="•"/>
            </a:pPr>
            <a:r>
              <a:rPr b="0" i="1" lang="en-US" sz="1600" u="none" cap="none" strike="noStrike">
                <a:solidFill>
                  <a:srgbClr val="1E4E79"/>
                </a:solidFill>
                <a:latin typeface="Calibri"/>
                <a:ea typeface="Calibri"/>
                <a:cs typeface="Calibri"/>
                <a:sym typeface="Calibri"/>
              </a:rPr>
              <a:t>“Intelligent Systems” to “Artificial Intelligence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E4E79"/>
              </a:buClr>
              <a:buSzPts val="1600"/>
              <a:buFont typeface="Arial"/>
              <a:buChar char="•"/>
            </a:pPr>
            <a:r>
              <a:rPr b="0" i="1" lang="en-US" sz="1600" u="none" cap="none" strike="noStrike">
                <a:solidFill>
                  <a:srgbClr val="1E4E79"/>
                </a:solidFill>
                <a:latin typeface="Calibri"/>
                <a:ea typeface="Calibri"/>
                <a:cs typeface="Calibri"/>
                <a:sym typeface="Calibri"/>
              </a:rPr>
              <a:t>Penekanan pada aplikasi praktis AI pada berbagai bidang (medicine, sustainability, social media)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E4E79"/>
              </a:buClr>
              <a:buSzPts val="1600"/>
              <a:buFont typeface="Arial"/>
              <a:buChar char="•"/>
            </a:pPr>
            <a:r>
              <a:rPr b="0" i="1" lang="en-US" sz="1600" u="none" cap="none" strike="noStrike">
                <a:solidFill>
                  <a:srgbClr val="1E4E79"/>
                </a:solidFill>
                <a:latin typeface="Calibri"/>
                <a:ea typeface="Calibri"/>
                <a:cs typeface="Calibri"/>
                <a:sym typeface="Calibri"/>
              </a:rPr>
              <a:t>Model generatif (ChatGPT, DALL-E, Midjourney) mencakup cara kerjany, kegunaannya, dan kekurangan</a:t>
            </a:r>
            <a:endParaRPr b="0" i="1" sz="1600" u="none" cap="none" strike="noStrike">
              <a:solidFill>
                <a:srgbClr val="1E4E79"/>
              </a:solidFill>
              <a:latin typeface="Calibri"/>
              <a:ea typeface="Calibri"/>
              <a:cs typeface="Calibri"/>
              <a:sym typeface="Calibri"/>
            </a:endParaRPr>
          </a:p>
          <a:p>
            <a:pPr indent="-342900" lvl="0" marL="342900" marR="0" rtl="0" algn="l">
              <a:lnSpc>
                <a:spcPct val="100000"/>
              </a:lnSpc>
              <a:spcBef>
                <a:spcPts val="0"/>
              </a:spcBef>
              <a:spcAft>
                <a:spcPts val="0"/>
              </a:spcAft>
              <a:buClr>
                <a:srgbClr val="1E4E79"/>
              </a:buClr>
              <a:buSzPts val="1600"/>
              <a:buFont typeface="Arial"/>
              <a:buChar char="•"/>
            </a:pPr>
            <a:r>
              <a:rPr b="0" i="1" lang="en-US" sz="1600" u="none" cap="none" strike="noStrike">
                <a:solidFill>
                  <a:srgbClr val="1E4E79"/>
                </a:solidFill>
                <a:latin typeface="Calibri"/>
                <a:ea typeface="Calibri"/>
                <a:cs typeface="Calibri"/>
                <a:sym typeface="Calibri"/>
              </a:rPr>
              <a:t>Dampak dan implikasi sosial yang lebih luas dari metode dan aplikasi AI, termasuk isu-isu dalam etika AI</a:t>
            </a:r>
            <a:endParaRPr b="0" i="0" sz="1400" u="none" cap="none" strike="noStrike">
              <a:solidFill>
                <a:srgbClr val="000000"/>
              </a:solidFill>
              <a:latin typeface="Arial"/>
              <a:ea typeface="Arial"/>
              <a:cs typeface="Arial"/>
              <a:sym typeface="Arial"/>
            </a:endParaRPr>
          </a:p>
        </p:txBody>
      </p:sp>
      <p:sp>
        <p:nvSpPr>
          <p:cNvPr id="277" name="Google Shape;277;p27"/>
          <p:cNvSpPr txBox="1"/>
          <p:nvPr/>
        </p:nvSpPr>
        <p:spPr>
          <a:xfrm>
            <a:off x="5022573" y="6090990"/>
            <a:ext cx="6331227"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C55A11"/>
                </a:solidFill>
                <a:latin typeface="Calibri"/>
                <a:ea typeface="Calibri"/>
                <a:cs typeface="Calibri"/>
                <a:sym typeface="Calibri"/>
              </a:rPr>
              <a:t>Terdapat  12 Knowledge Unit:</a:t>
            </a:r>
            <a:br>
              <a:rPr b="0" i="0" lang="en-US" sz="1400" u="none" cap="none" strike="noStrike">
                <a:solidFill>
                  <a:srgbClr val="C55A11"/>
                </a:solidFill>
                <a:latin typeface="Calibri"/>
                <a:ea typeface="Calibri"/>
                <a:cs typeface="Calibri"/>
                <a:sym typeface="Calibri"/>
              </a:rPr>
            </a:br>
            <a:r>
              <a:rPr b="0" i="0" lang="en-US" sz="1400" u="none" cap="none" strike="noStrike">
                <a:solidFill>
                  <a:srgbClr val="C55A11"/>
                </a:solidFill>
                <a:latin typeface="Calibri"/>
                <a:ea typeface="Calibri"/>
                <a:cs typeface="Calibri"/>
                <a:sym typeface="Calibri"/>
              </a:rPr>
              <a:t>Konsep Dasar, Machine Learning, NLP, Robotics, Computer Vission, Application n Social Impact, dst</a:t>
            </a:r>
            <a:endParaRPr b="0" i="1" sz="1400" u="none" cap="none" strike="noStrike">
              <a:solidFill>
                <a:srgbClr val="C55A11"/>
              </a:solidFill>
              <a:latin typeface="Calibri"/>
              <a:ea typeface="Calibri"/>
              <a:cs typeface="Calibri"/>
              <a:sym typeface="Calibri"/>
            </a:endParaRPr>
          </a:p>
        </p:txBody>
      </p:sp>
      <p:graphicFrame>
        <p:nvGraphicFramePr>
          <p:cNvPr id="278" name="Google Shape;278;p27"/>
          <p:cNvGraphicFramePr/>
          <p:nvPr/>
        </p:nvGraphicFramePr>
        <p:xfrm>
          <a:off x="849550" y="3804990"/>
          <a:ext cx="3000000" cy="3000000"/>
        </p:xfrm>
        <a:graphic>
          <a:graphicData uri="http://schemas.openxmlformats.org/drawingml/2006/table">
            <a:tbl>
              <a:tblPr bandRow="1" firstRow="1">
                <a:noFill/>
                <a:tableStyleId>{6E380FBD-D633-47D7-B973-0376D4886842}</a:tableStyleId>
              </a:tblPr>
              <a:tblGrid>
                <a:gridCol w="5087425"/>
                <a:gridCol w="5416825"/>
              </a:tblGrid>
              <a:tr h="370850">
                <a:tc>
                  <a:txBody>
                    <a:bodyPr/>
                    <a:lstStyle/>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a:t>
                      </a:r>
                      <a:r>
                        <a:rPr b="1" lang="en-US" sz="1600" u="none" cap="none" strike="noStrike">
                          <a:solidFill>
                            <a:schemeClr val="dk1"/>
                          </a:solidFill>
                        </a:rPr>
                        <a:t>Artificial Intelligence (AI)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Algorithmic Foundations (AL)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Architecture and Organization (AR)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Data Management (DM)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Foundations of Programming Languages (FPL)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Networking and Communication (NC)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Operating Systems (OS)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Parallel and Distributed Computing (PDC)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Software Development Fundamentals (SDF) </a:t>
                      </a:r>
                      <a:endParaRPr sz="1400" u="none" cap="none" strike="noStrike"/>
                    </a:p>
                  </a:txBody>
                  <a:tcPr marT="45725" marB="45725" marR="91450" marL="91450">
                    <a:solidFill>
                      <a:srgbClr val="D8D8D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Software Engineering (SE)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Graphics and Interactive Techniques (GIT)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Security (SEC)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Society, Ethics, and the Profession (SEP)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Human-Computer Interaction (HCI)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Mathematical and Statistical Foundations (MSF)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Systems Fundamentals (SF) </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0" lang="en-US" sz="1600" u="none" cap="none" strike="noStrike">
                          <a:solidFill>
                            <a:schemeClr val="dk1"/>
                          </a:solidFill>
                        </a:rPr>
                        <a:t>● Specialized Platform Development (SPD)</a:t>
                      </a:r>
                      <a:endParaRPr sz="1400" u="none" cap="none" strike="noStrike"/>
                    </a:p>
                  </a:txBody>
                  <a:tcPr marT="45725" marB="45725" marR="91450" marL="91450">
                    <a:solidFill>
                      <a:srgbClr val="D8D8D8"/>
                    </a:solidFill>
                  </a:tcPr>
                </a:tc>
              </a:tr>
            </a:tbl>
          </a:graphicData>
        </a:graphic>
      </p:graphicFrame>
      <p:sp>
        <p:nvSpPr>
          <p:cNvPr id="279" name="Google Shape;279;p27"/>
          <p:cNvSpPr txBox="1"/>
          <p:nvPr/>
        </p:nvSpPr>
        <p:spPr>
          <a:xfrm>
            <a:off x="838200" y="3345460"/>
            <a:ext cx="22893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55A11"/>
                </a:solidFill>
                <a:latin typeface="Calibri"/>
                <a:ea typeface="Calibri"/>
                <a:cs typeface="Calibri"/>
                <a:sym typeface="Calibri"/>
              </a:rPr>
              <a:t>17 Knowledge Area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Terminologi Kecerdasan Artifisial</a:t>
            </a:r>
            <a:endParaRPr/>
          </a:p>
        </p:txBody>
      </p:sp>
      <p:sp>
        <p:nvSpPr>
          <p:cNvPr id="285" name="Google Shape;285;p28"/>
          <p:cNvSpPr txBox="1"/>
          <p:nvPr/>
        </p:nvSpPr>
        <p:spPr>
          <a:xfrm>
            <a:off x="838200" y="1690688"/>
            <a:ext cx="10515600"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Terminologi "AI" dalam konteks mata pelajaran Koding dan AI di pendidikan dasar dan menengah merujuk pada pengenalan dan pemahaman dasar tentang kecerdasan buatan. Ini mencakup beberapa konsep yang berbeda dibandingkan dengan istilah AI yang lebih kompleks yang dipelajari di perguruan tinggi, serta perkembangan terbaru dalam ruang Generative AI (Gen AI)</a:t>
            </a:r>
            <a:endParaRPr b="0" i="0" sz="1400" u="none" cap="none" strike="noStrike">
              <a:solidFill>
                <a:srgbClr val="000000"/>
              </a:solidFill>
              <a:latin typeface="Arial"/>
              <a:ea typeface="Arial"/>
              <a:cs typeface="Arial"/>
              <a:sym typeface="Arial"/>
            </a:endParaRPr>
          </a:p>
        </p:txBody>
      </p:sp>
      <p:sp>
        <p:nvSpPr>
          <p:cNvPr id="286" name="Google Shape;286;p28"/>
          <p:cNvSpPr txBox="1"/>
          <p:nvPr/>
        </p:nvSpPr>
        <p:spPr>
          <a:xfrm>
            <a:off x="671513" y="2455600"/>
            <a:ext cx="3783284" cy="43396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030A0"/>
                </a:solidFill>
                <a:latin typeface="Calibri"/>
                <a:ea typeface="Calibri"/>
                <a:cs typeface="Calibri"/>
                <a:sym typeface="Calibri"/>
              </a:rPr>
              <a:t>AI dalam Konteks Pendidikan Dasar dan Menengah</a:t>
            </a:r>
            <a:endParaRPr b="0" i="0" sz="1600" u="none" cap="none" strike="noStrike">
              <a:solidFill>
                <a:srgbClr val="7030A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C55A11"/>
                </a:solidFill>
                <a:latin typeface="Calibri"/>
                <a:ea typeface="Calibri"/>
                <a:cs typeface="Calibri"/>
                <a:sym typeface="Calibri"/>
              </a:rPr>
              <a:t>Pengenalan Konsep</a:t>
            </a:r>
            <a:r>
              <a:rPr b="0" i="0" lang="en-US" sz="1600" u="none" cap="none" strike="noStrike">
                <a:solidFill>
                  <a:srgbClr val="C55A1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Di tingkat ini, AI umumnya diperkenalkan sebagai teknologi yang memungkinkan komputer untuk melakukan tugas yang biasanya memerlukan kecerdasan manusia. Ini termasuk pengenalan pola, pemecahan masalah, dan pengambilan keputusan.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C55A11"/>
                </a:solidFill>
                <a:latin typeface="Calibri"/>
                <a:ea typeface="Calibri"/>
                <a:cs typeface="Calibri"/>
                <a:sym typeface="Calibri"/>
              </a:rPr>
              <a:t>Aplikasi Sederhana</a:t>
            </a:r>
            <a:endParaRPr b="1" i="0" sz="1600" u="none" cap="none" strike="noStrike">
              <a:solidFill>
                <a:srgbClr val="C55A1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Siswa dapat belajar tentang aplikasi AI yang sudah ada dalam kehidupan sehari-hari, seperti asisten virtual (misalnya, Siri atau Google Assistant), rekomendasi produk, dan teknologi pengenalan wajah, tanpa harus masuk ke detail teknis yang kompleks.</a:t>
            </a:r>
            <a:endParaRPr b="0" i="0" sz="1400" u="none" cap="none" strike="noStrike">
              <a:solidFill>
                <a:srgbClr val="000000"/>
              </a:solidFill>
              <a:latin typeface="Arial"/>
              <a:ea typeface="Arial"/>
              <a:cs typeface="Arial"/>
              <a:sym typeface="Arial"/>
            </a:endParaRPr>
          </a:p>
        </p:txBody>
      </p:sp>
      <p:sp>
        <p:nvSpPr>
          <p:cNvPr id="287" name="Google Shape;287;p28"/>
          <p:cNvSpPr txBox="1"/>
          <p:nvPr/>
        </p:nvSpPr>
        <p:spPr>
          <a:xfrm>
            <a:off x="7737202" y="2455600"/>
            <a:ext cx="3783284" cy="406265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n-US" sz="1800" u="none" cap="none" strike="noStrike">
                <a:solidFill>
                  <a:srgbClr val="7030A0"/>
                </a:solidFill>
                <a:latin typeface="Calibri"/>
                <a:ea typeface="Calibri"/>
                <a:cs typeface="Calibri"/>
                <a:sym typeface="Calibri"/>
              </a:rPr>
              <a:t>AI di Perguruan Tinggi</a:t>
            </a:r>
            <a:endParaRPr b="0" i="0" sz="1600" u="none" cap="none" strike="noStrike">
              <a:solidFill>
                <a:srgbClr val="7030A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600"/>
              <a:buFont typeface="Arial"/>
              <a:buNone/>
            </a:pPr>
            <a:r>
              <a:rPr b="1" i="0" lang="en-US" sz="1600" u="none" cap="none" strike="noStrike">
                <a:solidFill>
                  <a:srgbClr val="C55A11"/>
                </a:solidFill>
                <a:latin typeface="Calibri"/>
                <a:ea typeface="Calibri"/>
                <a:cs typeface="Calibri"/>
                <a:sym typeface="Calibri"/>
              </a:rPr>
              <a:t>Pendalaman Teoretis dan Praktis</a:t>
            </a:r>
            <a:r>
              <a:rPr b="0" i="0" lang="en-US" sz="1600" u="none" cap="none" strike="noStrike">
                <a:solidFill>
                  <a:srgbClr val="C55A1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Di perguruan tinggi, studi AI mencakup teori yang lebih mendalam, teknik machine learning, deep learning, dan algoritma kompleks yang digunakan dalam pengembangan aplikasi AI. Mahasiswa belajar tentang model matematika, statistik, dan pemrograman yang mendasari teknologi AI.</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1" i="0" lang="en-US" sz="1600" u="none" cap="none" strike="noStrike">
                <a:solidFill>
                  <a:srgbClr val="C55A11"/>
                </a:solidFill>
                <a:latin typeface="Calibri"/>
                <a:ea typeface="Calibri"/>
                <a:cs typeface="Calibri"/>
                <a:sym typeface="Calibri"/>
              </a:rPr>
              <a:t>Penelitian dan Inovasi</a:t>
            </a:r>
            <a:r>
              <a:rPr b="0" i="0" lang="en-US" sz="1600" u="none" cap="none" strike="noStrike">
                <a:solidFill>
                  <a:srgbClr val="1E4E79"/>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Fokus juga beralih ke penelitian dan inovasi dalam AI, termasuk pengembangan algoritma baru, etika dalam AI, serta dampak sosial dan ekonomi dari penerapan teknologi AI.</a:t>
            </a:r>
            <a:endParaRPr b="0" i="0" sz="1400" u="none" cap="none" strike="noStrike">
              <a:solidFill>
                <a:srgbClr val="000000"/>
              </a:solidFill>
              <a:latin typeface="Arial"/>
              <a:ea typeface="Arial"/>
              <a:cs typeface="Arial"/>
              <a:sym typeface="Arial"/>
            </a:endParaRPr>
          </a:p>
        </p:txBody>
      </p:sp>
      <p:pic>
        <p:nvPicPr>
          <p:cNvPr id="288" name="Google Shape;288;p28"/>
          <p:cNvPicPr preferRelativeResize="0"/>
          <p:nvPr/>
        </p:nvPicPr>
        <p:blipFill rotWithShape="1">
          <a:blip r:embed="rId3">
            <a:alphaModFix/>
          </a:blip>
          <a:srcRect b="0" l="0" r="0" t="18180"/>
          <a:stretch/>
        </p:blipFill>
        <p:spPr>
          <a:xfrm>
            <a:off x="4218612" y="2767906"/>
            <a:ext cx="3754775" cy="375034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Terminologi Kecerdasan Artifisial</a:t>
            </a:r>
            <a:endParaRPr/>
          </a:p>
        </p:txBody>
      </p:sp>
      <p:sp>
        <p:nvSpPr>
          <p:cNvPr id="294" name="Google Shape;294;p29"/>
          <p:cNvSpPr txBox="1"/>
          <p:nvPr/>
        </p:nvSpPr>
        <p:spPr>
          <a:xfrm>
            <a:off x="838200" y="1690688"/>
            <a:ext cx="10515600"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Terminologi "AI" dalam konteks mata pelajaran Koding dan AI di pendidikan dasar dan menengah merujuk pada pengenalan dan pemahaman dasar tentang kecerdasan buatan. Ini mencakup beberapa konsep yang berbeda dibandingkan dengan istilah AI yang lebih kompleks yang dipelajari di perguruan tinggi, serta perkembangan terbaru dalam ruang Generative AI (Gen AI)</a:t>
            </a:r>
            <a:endParaRPr b="0" i="0" sz="1400" u="none" cap="none" strike="noStrike">
              <a:solidFill>
                <a:srgbClr val="000000"/>
              </a:solidFill>
              <a:latin typeface="Arial"/>
              <a:ea typeface="Arial"/>
              <a:cs typeface="Arial"/>
              <a:sym typeface="Arial"/>
            </a:endParaRPr>
          </a:p>
        </p:txBody>
      </p:sp>
      <p:sp>
        <p:nvSpPr>
          <p:cNvPr id="295" name="Google Shape;295;p29"/>
          <p:cNvSpPr txBox="1"/>
          <p:nvPr/>
        </p:nvSpPr>
        <p:spPr>
          <a:xfrm>
            <a:off x="700088" y="2588120"/>
            <a:ext cx="3754709" cy="40164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C55A11"/>
                </a:solidFill>
                <a:latin typeface="Calibri"/>
                <a:ea typeface="Calibri"/>
                <a:cs typeface="Calibri"/>
                <a:sym typeface="Calibri"/>
              </a:rPr>
              <a:t>Generative AI (Gen 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E4E79"/>
                </a:solidFill>
                <a:latin typeface="Calibri"/>
                <a:ea typeface="Calibri"/>
                <a:cs typeface="Calibri"/>
                <a:sym typeface="Calibri"/>
              </a:rPr>
              <a:t>Definisi:  </a:t>
            </a:r>
            <a:r>
              <a:rPr b="0" i="0" lang="en-US" sz="1500" u="none" cap="none" strike="noStrike">
                <a:solidFill>
                  <a:srgbClr val="1E4E79"/>
                </a:solidFill>
                <a:latin typeface="Calibri"/>
                <a:ea typeface="Calibri"/>
                <a:cs typeface="Calibri"/>
                <a:sym typeface="Calibri"/>
              </a:rPr>
              <a:t>Generative AI merujuk pada subbidang AI yang menciptakan konten baru, seperti teks, gambar, musik, atau video, berdasarkan pola yang telah dipelajari dari data. Contoh terkenal termasuk model seperti GPT (untuk membuat teks) dan DALL-E (untuk menghasilkan gambar).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C55A11"/>
                </a:solidFill>
                <a:latin typeface="Calibri"/>
                <a:ea typeface="Calibri"/>
                <a:cs typeface="Calibri"/>
                <a:sym typeface="Calibri"/>
              </a:rPr>
              <a:t>Aplikasi di Pendidikan: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E4E79"/>
                </a:solidFill>
                <a:latin typeface="Calibri"/>
                <a:ea typeface="Calibri"/>
                <a:cs typeface="Calibri"/>
                <a:sym typeface="Calibri"/>
              </a:rPr>
              <a:t>Sementara Generative AI potensi revolusioner dari AI, di tingkat pendidikan dasar dan menengah, fokus masih lebih pada pemahaman dasar dan aplikasi praktis yang mudah dicerna oleh siswa. Mungkin akan ada pengenalan pada konsep Generative AI, tetapi dengan cara yang lebih sederhana dan aplikatif</a:t>
            </a:r>
            <a:endParaRPr b="0" i="0" sz="1500" u="none" cap="none" strike="noStrike">
              <a:solidFill>
                <a:srgbClr val="1E4E79"/>
              </a:solidFill>
              <a:latin typeface="Calibri"/>
              <a:ea typeface="Calibri"/>
              <a:cs typeface="Calibri"/>
              <a:sym typeface="Calibri"/>
            </a:endParaRPr>
          </a:p>
        </p:txBody>
      </p:sp>
      <p:sp>
        <p:nvSpPr>
          <p:cNvPr id="296" name="Google Shape;296;p29"/>
          <p:cNvSpPr txBox="1"/>
          <p:nvPr/>
        </p:nvSpPr>
        <p:spPr>
          <a:xfrm>
            <a:off x="7737201" y="2588120"/>
            <a:ext cx="3754709" cy="33239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500"/>
              <a:buFont typeface="Arial"/>
              <a:buNone/>
            </a:pPr>
            <a:r>
              <a:rPr b="0" i="0" lang="en-US" sz="1500" u="none" cap="none" strike="noStrike">
                <a:solidFill>
                  <a:srgbClr val="1E4E79"/>
                </a:solidFill>
                <a:latin typeface="Calibri"/>
                <a:ea typeface="Calibri"/>
                <a:cs typeface="Calibri"/>
                <a:sym typeface="Calibri"/>
              </a:rPr>
              <a:t>Secara umum, istilah AI pada mata pelajaran Koding dan Kecerdasan Artifisial  di pendidikan dasar dan menengah mencakup pengenalan dan aplikasi dasar yang berbeda dari AI yang dipelajari di perguruan tinggi atau ruang Gen AI yang lebih spesifik dan kompleks.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500"/>
              <a:buFont typeface="Arial"/>
              <a:buNone/>
            </a:pPr>
            <a:r>
              <a:t/>
            </a:r>
            <a:endParaRPr b="0" i="0" sz="1500" u="none" cap="none" strike="noStrike">
              <a:solidFill>
                <a:srgbClr val="1E4E79"/>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500"/>
              <a:buFont typeface="Arial"/>
              <a:buNone/>
            </a:pPr>
            <a:r>
              <a:rPr b="0" i="0" lang="en-US" sz="1500" u="none" cap="none" strike="noStrike">
                <a:solidFill>
                  <a:srgbClr val="1E4E79"/>
                </a:solidFill>
                <a:latin typeface="Calibri"/>
                <a:ea typeface="Calibri"/>
                <a:cs typeface="Calibri"/>
                <a:sym typeface="Calibri"/>
              </a:rPr>
              <a:t>Tujuannya adalah untuk memberikan fondasi awal kepada siswa agar mereka dapat memahami dan tertarik pada teknologi ini, sebelum melanjutkan ke studi yang lebih dalam di tingkat yang lebih tinggi atau pekerjaan yang membutuhkan</a:t>
            </a:r>
            <a:endParaRPr b="0" i="0" sz="1500" u="none" cap="none" strike="noStrike">
              <a:solidFill>
                <a:srgbClr val="1E4E79"/>
              </a:solidFill>
              <a:latin typeface="Calibri"/>
              <a:ea typeface="Calibri"/>
              <a:cs typeface="Calibri"/>
              <a:sym typeface="Calibri"/>
            </a:endParaRPr>
          </a:p>
        </p:txBody>
      </p:sp>
      <p:pic>
        <p:nvPicPr>
          <p:cNvPr id="297" name="Google Shape;297;p29"/>
          <p:cNvPicPr preferRelativeResize="0"/>
          <p:nvPr/>
        </p:nvPicPr>
        <p:blipFill rotWithShape="1">
          <a:blip r:embed="rId3">
            <a:alphaModFix/>
          </a:blip>
          <a:srcRect b="0" l="0" r="0" t="18180"/>
          <a:stretch/>
        </p:blipFill>
        <p:spPr>
          <a:xfrm>
            <a:off x="4218612" y="2767906"/>
            <a:ext cx="3754775" cy="375034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Peta Kompetensi</a:t>
            </a:r>
            <a:endParaRPr/>
          </a:p>
        </p:txBody>
      </p:sp>
      <p:sp>
        <p:nvSpPr>
          <p:cNvPr id="303" name="Google Shape;303;p30"/>
          <p:cNvSpPr txBox="1"/>
          <p:nvPr/>
        </p:nvSpPr>
        <p:spPr>
          <a:xfrm flipH="1">
            <a:off x="864703" y="1252884"/>
            <a:ext cx="9326217" cy="297619"/>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Sumber: (Hyunkyung Chee, et.all, A Competency Framework for AI Literacy, 2024; Unesco AI Framework, etc.)</a:t>
            </a:r>
            <a:endParaRPr b="0" i="0" sz="1400" u="none" cap="none" strike="noStrike">
              <a:solidFill>
                <a:srgbClr val="000000"/>
              </a:solidFill>
              <a:latin typeface="Arial"/>
              <a:ea typeface="Arial"/>
              <a:cs typeface="Arial"/>
              <a:sym typeface="Arial"/>
            </a:endParaRPr>
          </a:p>
        </p:txBody>
      </p:sp>
      <p:pic>
        <p:nvPicPr>
          <p:cNvPr id="304" name="Google Shape;304;p30"/>
          <p:cNvPicPr preferRelativeResize="0"/>
          <p:nvPr/>
        </p:nvPicPr>
        <p:blipFill rotWithShape="1">
          <a:blip r:embed="rId3">
            <a:alphaModFix/>
          </a:blip>
          <a:srcRect b="0" l="0" r="0" t="0"/>
          <a:stretch/>
        </p:blipFill>
        <p:spPr>
          <a:xfrm>
            <a:off x="3207702" y="4267329"/>
            <a:ext cx="5776596" cy="2397477"/>
          </a:xfrm>
          <a:prstGeom prst="rect">
            <a:avLst/>
          </a:prstGeom>
          <a:noFill/>
          <a:ln>
            <a:noFill/>
          </a:ln>
        </p:spPr>
      </p:pic>
      <p:pic>
        <p:nvPicPr>
          <p:cNvPr id="305" name="Google Shape;305;p30"/>
          <p:cNvPicPr preferRelativeResize="0"/>
          <p:nvPr/>
        </p:nvPicPr>
        <p:blipFill rotWithShape="1">
          <a:blip r:embed="rId4">
            <a:alphaModFix/>
          </a:blip>
          <a:srcRect b="0" l="0" r="0" t="0"/>
          <a:stretch/>
        </p:blipFill>
        <p:spPr>
          <a:xfrm>
            <a:off x="864702" y="1805198"/>
            <a:ext cx="10520495" cy="240912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Materi Koding dan KA</a:t>
            </a:r>
            <a:endParaRPr/>
          </a:p>
        </p:txBody>
      </p:sp>
      <p:sp>
        <p:nvSpPr>
          <p:cNvPr id="311" name="Google Shape;311;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Fase C</a:t>
            </a:r>
            <a:br>
              <a:rPr lang="en-US"/>
            </a:br>
            <a:r>
              <a:rPr lang="en-US" sz="3200">
                <a:solidFill>
                  <a:srgbClr val="C55A11"/>
                </a:solidFill>
              </a:rPr>
              <a:t>Jenjang SD Kelas 5 dan 6</a:t>
            </a:r>
            <a:endParaRPr sz="3200">
              <a:solidFill>
                <a:srgbClr val="C55A11"/>
              </a:solidFill>
            </a:endParaRPr>
          </a:p>
        </p:txBody>
      </p:sp>
      <p:graphicFrame>
        <p:nvGraphicFramePr>
          <p:cNvPr id="317" name="Google Shape;317;p32"/>
          <p:cNvGraphicFramePr/>
          <p:nvPr/>
        </p:nvGraphicFramePr>
        <p:xfrm>
          <a:off x="838200" y="1690688"/>
          <a:ext cx="3000000" cy="3000000"/>
        </p:xfrm>
        <a:graphic>
          <a:graphicData uri="http://schemas.openxmlformats.org/drawingml/2006/table">
            <a:tbl>
              <a:tblPr bandRow="1" firstRow="1">
                <a:noFill/>
                <a:tableStyleId>{C48A6876-7C54-4576-B4CA-4D1448779AB6}</a:tableStyleId>
              </a:tblPr>
              <a:tblGrid>
                <a:gridCol w="2103775"/>
                <a:gridCol w="3078400"/>
                <a:gridCol w="5333425"/>
              </a:tblGrid>
              <a:tr h="231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Materi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Kompetensi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Rasional</a:t>
                      </a:r>
                      <a:endParaRPr sz="1400" u="none" cap="none" strike="noStrike"/>
                    </a:p>
                  </a:txBody>
                  <a:tcPr marT="68575" marB="68575" marR="137150" marL="137150"/>
                </a:tc>
              </a:tr>
              <a:tr h="654525">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Konsep Dasar Kecerdasan Artifisial</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Mampu memahami istilah, definisi, konsep, sejarah, jenis, penerapan, prinsip, dasar etika dan limitasi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Merupakan materi dasar yang dibutuhkan peserta didik agar mampu mengembangkan keterampilan berpikir kritis, analitis, serta mempersiapkan peserta didik untuk tantangan dan peluang di masa depan pada bidang Kecerdasan Artifisial</a:t>
                      </a:r>
                      <a:endParaRPr sz="1400" u="none" cap="none" strike="noStrike"/>
                    </a:p>
                  </a:txBody>
                  <a:tcPr marT="68575" marB="68575" marR="137150" marL="137150"/>
                </a:tc>
              </a:tr>
              <a:tr h="795475">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Berpikir Komputasional sebagai Dasar Koding</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Mampu memahami konsep berpikir komputasional (</a:t>
                      </a:r>
                      <a:r>
                        <a:rPr b="0" lang="en-US" sz="1400" u="none" cap="none" strike="noStrike">
                          <a:solidFill>
                            <a:schemeClr val="dk1"/>
                          </a:solidFill>
                        </a:rPr>
                        <a:t>definisi, orientasi, prinsip dan urgensi</a:t>
                      </a:r>
                      <a:r>
                        <a:rPr lang="en-US" sz="1400" u="none" cap="none" strike="noStrike"/>
                        <a:t>), memahami Berpikir Komputasional sebagai Dasar Koding dan contoh penerapan</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Merupakan materi dasar yang dibutuhkan peserta didik agar mampu mengembangkan keterampilan berpikir sistematis dan logis yang diperlukan pada pemecahan masalah berbantuan pemrograman.</a:t>
                      </a:r>
                      <a:endParaRPr sz="1400" u="none" cap="none" strike="noStrike"/>
                    </a:p>
                  </a:txBody>
                  <a:tcPr marT="68575" marB="68575" marR="137150" marL="137150"/>
                </a:tc>
              </a:tr>
              <a:tr h="654525">
                <a:tc>
                  <a:txBody>
                    <a:bodyPr/>
                    <a:lstStyle/>
                    <a:p>
                      <a:pPr indent="0" lvl="0" marL="0" marR="0" rtl="0" algn="l">
                        <a:lnSpc>
                          <a:spcPct val="100000"/>
                        </a:lnSpc>
                        <a:spcBef>
                          <a:spcPts val="0"/>
                        </a:spcBef>
                        <a:spcAft>
                          <a:spcPts val="0"/>
                        </a:spcAft>
                        <a:buClr>
                          <a:schemeClr val="dk1"/>
                        </a:buClr>
                        <a:buSzPts val="1400"/>
                        <a:buFont typeface="Calibri"/>
                        <a:buNone/>
                      </a:pPr>
                      <a:r>
                        <a:rPr b="0" lang="en-US" sz="1400" u="none" cap="none" strike="noStrike">
                          <a:solidFill>
                            <a:schemeClr val="dk1"/>
                          </a:solidFill>
                        </a:rPr>
                        <a:t>Konsep Dasar Algoritma dan Logika</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rPr>
                        <a:t>Mampu memahami konsep dasar algoritma dan logika sederhana (definisi dasar, jenis, logika dasar dan representasi algoritma dasar)</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Merupakan materi dasar yang dibutuhkan peserta didik agar mampu mengembangkan keterampilan berpikir sistematis dan logis yang diperlukan pada pemecahan masalah berbantuan pemrograman.</a:t>
                      </a:r>
                      <a:endParaRPr sz="1400" u="none" cap="none" strike="noStrike"/>
                    </a:p>
                  </a:txBody>
                  <a:tcPr marT="68575" marB="68575" marR="137150" marL="137150"/>
                </a:tc>
              </a:tr>
              <a:tr h="654525">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Pemanfaatan Kecerdasan Artifisial Sederhana / Tingkat Dasar</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rPr>
                        <a:t>Mampu memahami pemanfaatan  Kecerdasan Artifisial Bidang umum dan pemebelajaran</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Merupakan materi dasar yang dibutuhkan peserta didik agar mampu mengembangkan penggunaan Kecerdasan Artifisial pada berbagaikebutuhan sehari-hari</a:t>
                      </a:r>
                      <a:endParaRPr sz="1400" u="none" cap="none" strike="noStrike"/>
                    </a:p>
                  </a:txBody>
                  <a:tcPr marT="68575" marB="68575" marR="137150" marL="137150"/>
                </a:tc>
              </a:tr>
              <a:tr h="513550">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Konsep dasar teknologi digital</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mampu memahami konsep dasar, manfaat, dan dampak teknologi digital</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Merupakan materi dasar yang dibutuhkan peserta didik agar mampu mengembangkan penggunaan teknologi digital pada lingkungan keseharian</a:t>
                      </a:r>
                      <a:endParaRPr sz="1400" u="none" cap="none" strike="noStrike"/>
                    </a:p>
                  </a:txBody>
                  <a:tcPr marT="68575" marB="68575" marR="137150" marL="137150"/>
                </a:tc>
              </a:tr>
            </a:tbl>
          </a:graphicData>
        </a:graphic>
      </p:graphicFrame>
      <p:sp>
        <p:nvSpPr>
          <p:cNvPr id="318" name="Google Shape;318;p32"/>
          <p:cNvSpPr/>
          <p:nvPr/>
        </p:nvSpPr>
        <p:spPr>
          <a:xfrm>
            <a:off x="5999922" y="94602"/>
            <a:ext cx="6096000" cy="541046"/>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800"/>
              <a:buFont typeface="Arial"/>
              <a:buNone/>
            </a:pPr>
            <a:r>
              <a:rPr b="0" i="0" lang="en-US" sz="1800" u="none" cap="none" strike="noStrike">
                <a:solidFill>
                  <a:srgbClr val="1E4E79"/>
                </a:solidFill>
                <a:latin typeface="Calibri"/>
                <a:ea typeface="Calibri"/>
                <a:cs typeface="Calibri"/>
                <a:sym typeface="Calibri"/>
              </a:rPr>
              <a:t>Sumber: (Hyunkyung Chee, et.all, A Competency Framework for AI Literacy, 2024; Unesco AI Framework, etc.)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Fase D</a:t>
            </a:r>
            <a:br>
              <a:rPr lang="en-US"/>
            </a:br>
            <a:r>
              <a:rPr lang="en-US" sz="3200">
                <a:solidFill>
                  <a:srgbClr val="C55A11"/>
                </a:solidFill>
              </a:rPr>
              <a:t>Jenjang SMP Kelas 7, 8, dan 9</a:t>
            </a:r>
            <a:endParaRPr sz="3200">
              <a:solidFill>
                <a:srgbClr val="C55A11"/>
              </a:solidFill>
            </a:endParaRPr>
          </a:p>
        </p:txBody>
      </p:sp>
      <p:graphicFrame>
        <p:nvGraphicFramePr>
          <p:cNvPr id="324" name="Google Shape;324;p33"/>
          <p:cNvGraphicFramePr/>
          <p:nvPr/>
        </p:nvGraphicFramePr>
        <p:xfrm>
          <a:off x="838200" y="1690689"/>
          <a:ext cx="3000000" cy="3000000"/>
        </p:xfrm>
        <a:graphic>
          <a:graphicData uri="http://schemas.openxmlformats.org/drawingml/2006/table">
            <a:tbl>
              <a:tblPr bandRow="1" firstRow="1">
                <a:noFill/>
                <a:tableStyleId>{C48A6876-7C54-4576-B4CA-4D1448779AB6}</a:tableStyleId>
              </a:tblPr>
              <a:tblGrid>
                <a:gridCol w="2103775"/>
                <a:gridCol w="5659100"/>
                <a:gridCol w="2752725"/>
              </a:tblGrid>
              <a:tr h="2038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Materi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Kompetensi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Rasional</a:t>
                      </a:r>
                      <a:endParaRPr sz="1400" u="none" cap="none" strike="noStrike"/>
                    </a:p>
                  </a:txBody>
                  <a:tcPr marT="68575" marB="68575" marR="137150" marL="137150"/>
                </a:tc>
              </a:tr>
              <a:tr h="380525">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Literasi Digital</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Peserta didik mampu memproduksi dan mendiseminasi konten digital berupa audio, video, slide, dan infografis.</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8575" marB="68575" marR="137150" marL="137150"/>
                </a:tc>
              </a:tr>
              <a:tr h="462500">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Berpikir Komputasional</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Peserta didik mampu menerapkan pengelolaan data, pemecahan masalah sederhana dalam kehidupan masyarakat secara sistematis, dan menuliskan instruksi. </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8575" marB="68575" marR="137150" marL="137150"/>
                </a:tc>
              </a:tr>
              <a:tr h="1568325">
                <a:tc>
                  <a:txBody>
                    <a:bodyPr/>
                    <a:lstStyle/>
                    <a:p>
                      <a:pPr indent="0" lvl="0" marL="0" marR="0" rtl="0" algn="l">
                        <a:lnSpc>
                          <a:spcPct val="100000"/>
                        </a:lnSpc>
                        <a:spcBef>
                          <a:spcPts val="0"/>
                        </a:spcBef>
                        <a:spcAft>
                          <a:spcPts val="0"/>
                        </a:spcAft>
                        <a:buClr>
                          <a:schemeClr val="dk1"/>
                        </a:buClr>
                        <a:buSzPts val="1400"/>
                        <a:buFont typeface="Calibri"/>
                        <a:buNone/>
                      </a:pPr>
                      <a:r>
                        <a:rPr b="0" lang="en-US" sz="1400" u="none" cap="none" strike="noStrike">
                          <a:solidFill>
                            <a:schemeClr val="dk1"/>
                          </a:solidFill>
                        </a:rPr>
                        <a:t>Literasi dan Etika Kecerdasan Artifisial </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rPr>
                        <a:t>Peserta didik mampu memahami perbedaan cara manusia dan KA menggabungkan informasi dari beberapa perangkat penginderaan atau sensor, memahami bagaimana komputer memaknai informasi dari perangkat penginderaan atau sensor, memahami kualitas data, serta manfaat dan dampak KA pada kehidupan masyarakat. Peserta didik mampu memahami etika penggunaan KA dalam kehidupan sehari-hari seperti menjaga data pribadi dalam menggunakan KA, KA adalah sebagai alat bantu sehingga manusia tidak boleh tergantung dan percaya sepenuhnya pada KA karena KA masih sangat mungkin menghasilkan output yang salah, bias, atau melakukan halusinasi, serta menganalisis konten deep fake dalam bentuk gambar, audio, atau video. </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8575" marB="68575" marR="137150" marL="137150"/>
                </a:tc>
              </a:tr>
              <a:tr h="451900">
                <a:tc>
                  <a:txBody>
                    <a:bodyPr/>
                    <a:lstStyle/>
                    <a:p>
                      <a:pPr indent="0" lvl="0" marL="0" marR="0" rtl="0" algn="l">
                        <a:lnSpc>
                          <a:spcPct val="100000"/>
                        </a:lnSpc>
                        <a:spcBef>
                          <a:spcPts val="0"/>
                        </a:spcBef>
                        <a:spcAft>
                          <a:spcPts val="0"/>
                        </a:spcAft>
                        <a:buClr>
                          <a:schemeClr val="dk1"/>
                        </a:buClr>
                        <a:buSzPts val="1400"/>
                        <a:buFont typeface="Calibri"/>
                        <a:buNone/>
                      </a:pPr>
                      <a:r>
                        <a:rPr lang="en-US" sz="1400" u="none" cap="none" strike="noStrike"/>
                        <a:t>Pemanfaatan dan Pengembangan Kecerdasan Artifisial</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rPr>
                        <a:t>Peserta didik mampu menggunakan perangkat KA sederhana dengan kritis dan mampu menuliskan input bermakna ke dalam sistem KA. </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68575" marB="68575" marR="137150" marL="137150"/>
                </a:tc>
              </a:tr>
            </a:tbl>
          </a:graphicData>
        </a:graphic>
      </p:graphicFrame>
      <p:sp>
        <p:nvSpPr>
          <p:cNvPr id="325" name="Google Shape;325;p33"/>
          <p:cNvSpPr/>
          <p:nvPr/>
        </p:nvSpPr>
        <p:spPr>
          <a:xfrm>
            <a:off x="5999922" y="94602"/>
            <a:ext cx="6096000" cy="541046"/>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800"/>
              <a:buFont typeface="Arial"/>
              <a:buNone/>
            </a:pPr>
            <a:r>
              <a:rPr b="0" i="0" lang="en-US" sz="1800" u="none" cap="none" strike="noStrike">
                <a:solidFill>
                  <a:srgbClr val="1E4E79"/>
                </a:solidFill>
                <a:latin typeface="Calibri"/>
                <a:ea typeface="Calibri"/>
                <a:cs typeface="Calibri"/>
                <a:sym typeface="Calibri"/>
              </a:rPr>
              <a:t>Sumber: (Hyunkyung Chee, et.all, A Competency Framework for AI Literacy, 2024; Unesco AI Framework, etc.)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Fase E</a:t>
            </a:r>
            <a:br>
              <a:rPr lang="en-US"/>
            </a:br>
            <a:r>
              <a:rPr lang="en-US" sz="3200">
                <a:solidFill>
                  <a:srgbClr val="C55A11"/>
                </a:solidFill>
              </a:rPr>
              <a:t>Jenjang SMA/K Kelas 10</a:t>
            </a:r>
            <a:endParaRPr sz="3200">
              <a:solidFill>
                <a:srgbClr val="C55A11"/>
              </a:solidFill>
            </a:endParaRPr>
          </a:p>
        </p:txBody>
      </p:sp>
      <p:graphicFrame>
        <p:nvGraphicFramePr>
          <p:cNvPr id="331" name="Google Shape;331;p34"/>
          <p:cNvGraphicFramePr/>
          <p:nvPr/>
        </p:nvGraphicFramePr>
        <p:xfrm>
          <a:off x="838200" y="1690688"/>
          <a:ext cx="3000000" cy="3000000"/>
        </p:xfrm>
        <a:graphic>
          <a:graphicData uri="http://schemas.openxmlformats.org/drawingml/2006/table">
            <a:tbl>
              <a:tblPr bandRow="1" firstRow="1">
                <a:noFill/>
                <a:tableStyleId>{C48A6876-7C54-4576-B4CA-4D1448779AB6}</a:tableStyleId>
              </a:tblPr>
              <a:tblGrid>
                <a:gridCol w="2103775"/>
                <a:gridCol w="4081675"/>
                <a:gridCol w="4330150"/>
              </a:tblGrid>
              <a:tr h="2237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Materi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Kompetensi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Rasional</a:t>
                      </a:r>
                      <a:endParaRPr sz="1400" u="none" cap="none" strike="noStrike"/>
                    </a:p>
                  </a:txBody>
                  <a:tcPr marT="68575" marB="68575" marR="137150" marL="137150"/>
                </a:tc>
              </a:tr>
              <a:tr h="768575">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t>Pemecahan masalah menggunakan perangkat/tools Kecerdasan Artifisial</a:t>
                      </a:r>
                      <a:endParaRPr sz="12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Mampu mengumpulkan, memproses data melalui  perangkat/tools Kecerdasan Artifisial dan mampu merancang solusi berbantuan  perangkat/tools Kecerdasan Artifisial, termasuk teknik prompting dan menginterpretasikan hasilnya</a:t>
                      </a:r>
                      <a:endParaRPr sz="12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Merupakan materi dasar yang dibutuhkan peserta didik agar mampu mengaplikasi keterampilan penyelesaian masalah yang diperlukan pada dasar pemecahan masalah berbantuan Kecerdasan Artifisial</a:t>
                      </a:r>
                      <a:endParaRPr sz="1400" u="none" cap="none" strike="noStrike"/>
                    </a:p>
                  </a:txBody>
                  <a:tcPr marT="68575" marB="68575" marR="137150" marL="137150"/>
                </a:tc>
              </a:tr>
              <a:tr h="768575">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t>Kreasi konten lebih kompleks mengunakan perangkat/tools Kecerdasan Artifisial</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Mampu mengaplikasikan berpikir kreatif dan merancang proyek kreatif menggunakan  menggunakan perangkat/tools Kecerdasan  Artifisial sederhana (misalnya, gambar, teks,  permainan atau animasi interaktif)</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t>Merupakan materi dasar yang dibutuhkan peserta didik agar mampu menghasilkan berbagai konten kreatif berbantuan teknologi Kecerdasan Artifisial.</a:t>
                      </a:r>
                      <a:endParaRPr sz="1400" u="none" cap="none" strike="noStrike"/>
                    </a:p>
                  </a:txBody>
                  <a:tcPr marT="68575" marB="68575" marR="137150" marL="137150"/>
                </a:tc>
              </a:tr>
              <a:tr h="904775">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t>Kolaborasi melalui perangkat/tools Kecerdasan Artifisial </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Mampu menentukan perangkat/tools  Kecerdasan Artifisial  yang sesuai untuk berkolaborasi (human- to- tool (AI) collaboration). Materi Dasar: Desain Kreatif, Penelitian dan Analisis Data, Penyuntingan Tulisan (grammarly), Pemrograman (github), Diagnosa Medis dst.</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Merupakan materi dasar yang dibutuhkan peserta didik agar mampu mengembangkan pemanfaatan berbagai perangkat/tools Kecerdasan Artifisial untuk berkolaborasi, sehingga dapat mendukung aktifitas kedepan</a:t>
                      </a:r>
                      <a:endParaRPr sz="1200" u="none" cap="none" strike="noStrike"/>
                    </a:p>
                  </a:txBody>
                  <a:tcPr marT="68575" marB="68575" marR="137150" marL="137150"/>
                </a:tc>
              </a:tr>
              <a:tr h="904775">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t>Mengenali unsur pembentuk Prompt untuk KA generatif</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Pemahaman yang tentang konsep dasar bagaimana KA generatif bekerja dan bagaimana prompt digunakan untuk menghasilkan output yang diinginkan, menganalisis dan mengevaluasi hasil yang dihasilkan oleh KA generatif berdasarkan prompt yang diberikan</a:t>
                      </a:r>
                      <a:endParaRPr sz="1200" u="none" cap="none" strike="noStrike"/>
                    </a:p>
                  </a:txBody>
                  <a:tcPr marT="68575" marB="68575" marR="137150" marL="1371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t>Menyusun Prompt merupakan salah satu dasar dalam pemanfaatan dan pengembangan KA. Prompt yang jelas, spesifik, dan terarah dapat dicapai dengan memahami bagaimana memberikan instruksi yang tepat kepada KA generatif untuk mendapatkan hasil yang diinginkan. </a:t>
                      </a:r>
                      <a:endParaRPr sz="1400" u="none" cap="none" strike="noStrike"/>
                    </a:p>
                  </a:txBody>
                  <a:tcPr marT="68575" marB="68575" marR="137150" marL="137150"/>
                </a:tc>
              </a:tr>
              <a:tr h="768575">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t>Pemecahan masalah menggunakan perangkat/tools Kecerdasan Artifisial</a:t>
                      </a:r>
                      <a:endParaRPr sz="12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Mampu mengumpulkan, memproses data melalui  perangkat/tools Kecerdasan Artifisial dan mampu merancang solusi berbantuan  perangkat/tools Kecerdasan Artifisial, termasuk teknik prompting dan menginterpretasikan hasilnya</a:t>
                      </a:r>
                      <a:endParaRPr sz="12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Merupakan materi dasar yang dibutuhkan peserta didik agar mampu mengaplikasi keterampilan penyelesaian masalah yang diperlukan pada dasar pemecahan masalah berbantuan Kecerdasan Artifisial</a:t>
                      </a:r>
                      <a:endParaRPr sz="1200" u="none" cap="none" strike="noStrike"/>
                    </a:p>
                  </a:txBody>
                  <a:tcPr marT="68575" marB="68575" marR="137150" marL="137150"/>
                </a:tc>
              </a:tr>
            </a:tbl>
          </a:graphicData>
        </a:graphic>
      </p:graphicFrame>
      <p:sp>
        <p:nvSpPr>
          <p:cNvPr id="332" name="Google Shape;332;p34"/>
          <p:cNvSpPr/>
          <p:nvPr/>
        </p:nvSpPr>
        <p:spPr>
          <a:xfrm>
            <a:off x="5999922" y="94602"/>
            <a:ext cx="6096000" cy="541046"/>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800"/>
              <a:buFont typeface="Arial"/>
              <a:buNone/>
            </a:pPr>
            <a:r>
              <a:rPr b="0" i="0" lang="en-US" sz="1800" u="none" cap="none" strike="noStrike">
                <a:solidFill>
                  <a:srgbClr val="1E4E79"/>
                </a:solidFill>
                <a:latin typeface="Calibri"/>
                <a:ea typeface="Calibri"/>
                <a:cs typeface="Calibri"/>
                <a:sym typeface="Calibri"/>
              </a:rPr>
              <a:t>Sumber: (Hyunkyung Chee, et.all, A Competency Framework for AI Literacy, 2024; Unesco AI Framework, etc.)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Fase F</a:t>
            </a:r>
            <a:br>
              <a:rPr lang="en-US"/>
            </a:br>
            <a:r>
              <a:rPr lang="en-US" sz="3200">
                <a:solidFill>
                  <a:srgbClr val="C55A11"/>
                </a:solidFill>
              </a:rPr>
              <a:t>Jenjang SMA/K Kelas 11 dan 12</a:t>
            </a:r>
            <a:endParaRPr sz="3200">
              <a:solidFill>
                <a:srgbClr val="C55A11"/>
              </a:solidFill>
            </a:endParaRPr>
          </a:p>
        </p:txBody>
      </p:sp>
      <p:graphicFrame>
        <p:nvGraphicFramePr>
          <p:cNvPr id="338" name="Google Shape;338;p35"/>
          <p:cNvGraphicFramePr/>
          <p:nvPr/>
        </p:nvGraphicFramePr>
        <p:xfrm>
          <a:off x="838200" y="1690688"/>
          <a:ext cx="3000000" cy="3000000"/>
        </p:xfrm>
        <a:graphic>
          <a:graphicData uri="http://schemas.openxmlformats.org/drawingml/2006/table">
            <a:tbl>
              <a:tblPr bandRow="1" firstRow="1">
                <a:noFill/>
                <a:tableStyleId>{C48A6876-7C54-4576-B4CA-4D1448779AB6}</a:tableStyleId>
              </a:tblPr>
              <a:tblGrid>
                <a:gridCol w="2103775"/>
                <a:gridCol w="3444525"/>
                <a:gridCol w="4967275"/>
              </a:tblGrid>
              <a:tr h="2687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Materi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Kompetensi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Rasional</a:t>
                      </a:r>
                      <a:endParaRPr sz="1400" u="none" cap="none" strike="noStrike"/>
                    </a:p>
                  </a:txBody>
                  <a:tcPr marT="68575" marB="68575" marR="137150" marL="137150"/>
                </a:tc>
              </a:tr>
              <a:tr h="7476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Pengoperasian dan pengaplikasian perangkat AI Kecerdasan Artifisial Pada bidang tertentu/khusus</a:t>
                      </a:r>
                      <a:endParaRPr sz="11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Mampu memahami dan mengaplikasikan perangkat/tools Kecerdasan Artifisial   pada area pemanfaatan secara umum dan  pada area pemenfaatan Khusus (misalnya pada bidang Pariwisata, Medis, Pertanian, Pemasaran dst)</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Merupakan materi dasar yang dibutuhkan peserta didik agar mampu mengaplikasi keterampilan penyelesaian masalah yang diperlukan untuk menyelesaikan masalah atau kreasi konten pada bidang umum dan  pada area pemenfaatan Khusus (disesuaikan dengan kebutuhan atau pada jenjang SMK disesuiakan dengan konteks jurusan/peminatan) dengan bantuan Kecerdasan Artifisial.</a:t>
                      </a:r>
                      <a:endParaRPr sz="1400" u="none" cap="none" strike="noStrike"/>
                    </a:p>
                  </a:txBody>
                  <a:tcPr marT="68575" marB="68575" marR="137150" marL="137150"/>
                </a:tc>
              </a:tr>
              <a:tr h="7476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Pemograman Dasar Kecerdasan Artifisial</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Mampu mengembangkan konten  Kecerdasan Artifisial  yang relevan dan bermanfaat menggunakan  perangkat/tools pemrograman (misalnya Snap!, Python, termasuk pemanfaatan library  populer lainnya)</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Merupakan materi dasar yang dibutuhkan peserta didik agar mampu mengembangkan keterampilan penyelesaian masalah dengan bantuan pemograman Kecerdasan Artifisial (face recog, speech synthesis).</a:t>
                      </a:r>
                      <a:endParaRPr sz="1400" u="none" cap="none" strike="noStrike"/>
                    </a:p>
                  </a:txBody>
                  <a:tcPr marT="68575" marB="68575" marR="137150" marL="137150"/>
                </a:tc>
              </a:tr>
              <a:tr h="7476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Verifikasi hasil dan akurasi perangkat/tools Kecerdasan Artifisial</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Mampu mengindentifikasi potensi kesalahan hasil dari  pemanfaatan perangkat/tools Kecerdasan Artifisial, memverifikasi keakuratan hasil, dan Mampu merancang keputusan yang rasional berdasarkan data yang tervalidasi</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Merupakan materi dasar yang dibutuhkan peserta didik agar mampu mengembangkan keterampilan penyelesaian masalah yang akurat dan mendukung pengambilan keputusan berdasarkan data dan sumber data yang valid</a:t>
                      </a:r>
                      <a:endParaRPr sz="1400" u="none" cap="none" strike="noStrike"/>
                    </a:p>
                  </a:txBody>
                  <a:tcPr marT="68575" marB="68575" marR="137150" marL="137150"/>
                </a:tc>
              </a:tr>
              <a:tr h="6935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Pengenalan model bahasa besar (LLM) pada KA Generatif</a:t>
                      </a:r>
                      <a:endParaRPr sz="11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Memahami konsep dasar kecerdasan buatan, khususnya model bahasa besar LLM, termasuk arsitektur, cara kerja, dan aplikasi praktisnya</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Merupakan teknologi yang sedang berkembang pesat dan memiliki potensi untuk mengubah banyak aspek kehidupan. Peserta didik perlu memahami teknologi ini agar siap menghadapi masa depan yang semakin didominasi oleh Kecerdasan Artifisial (KA)</a:t>
                      </a:r>
                      <a:endParaRPr sz="1400" u="none" cap="none" strike="noStrike"/>
                    </a:p>
                  </a:txBody>
                  <a:tcPr marT="68575" marB="68575" marR="137150" marL="137150"/>
                </a:tc>
              </a:tr>
              <a:tr h="7476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Pengoperasian dan pengaplikasian perangkat AI Kecerdasan Artifisial Pada bidang tertentu/khusus</a:t>
                      </a:r>
                      <a:endParaRPr sz="11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Mampu memahami dan mengaplikasikan perangkat/tools Kecerdasan Artifisial   pada area pemanfaatan secara umum dan  pada area pemenfaatan Khusus (misalnya pada bidang Pariwisata, Medis, Pertanian, Pemasaran dst)</a:t>
                      </a:r>
                      <a:endParaRPr sz="1400" u="none" cap="none" strike="noStrike"/>
                    </a:p>
                  </a:txBody>
                  <a:tcPr marT="68575" marB="68575" marR="137150" marL="1371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Merupakan materi dasar yang dibutuhkan peserta didik agar mampu mengaplikasi keterampilan penyelesaian masalah yang diperlukan untuk menyelesaikan masalah atau kreasi konten pada bidang umum dan  pada area pemenfaatan Khusus (disesuaikan dengan kebutuhan atau pada jenjang SMK disesuiakan dengan konteks jurusan/peminatan) dengan bantuan Kecerdasan Artifisial.</a:t>
                      </a:r>
                      <a:endParaRPr sz="1400" u="none" cap="none" strike="noStrike"/>
                    </a:p>
                  </a:txBody>
                  <a:tcPr marT="68575" marB="68575" marR="137150" marL="137150"/>
                </a:tc>
              </a:tr>
            </a:tbl>
          </a:graphicData>
        </a:graphic>
      </p:graphicFrame>
      <p:sp>
        <p:nvSpPr>
          <p:cNvPr id="339" name="Google Shape;339;p35"/>
          <p:cNvSpPr/>
          <p:nvPr/>
        </p:nvSpPr>
        <p:spPr>
          <a:xfrm>
            <a:off x="5999922" y="94602"/>
            <a:ext cx="6096000" cy="541046"/>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Clr>
                <a:srgbClr val="000000"/>
              </a:buClr>
              <a:buSzPts val="1800"/>
              <a:buFont typeface="Arial"/>
              <a:buNone/>
            </a:pPr>
            <a:r>
              <a:rPr b="0" i="0" lang="en-US" sz="1800" u="none" cap="none" strike="noStrike">
                <a:solidFill>
                  <a:srgbClr val="1E4E79"/>
                </a:solidFill>
                <a:latin typeface="Calibri"/>
                <a:ea typeface="Calibri"/>
                <a:cs typeface="Calibri"/>
                <a:sym typeface="Calibri"/>
              </a:rPr>
              <a:t>Sumber: (Hyunkyung Chee, et.all, A Competency Framework for AI Literacy, 2024; Unesco AI Framework, etc.)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Pembelajaran Kecerdasan Artifisial</a:t>
            </a:r>
            <a:endParaRPr/>
          </a:p>
        </p:txBody>
      </p:sp>
      <p:sp>
        <p:nvSpPr>
          <p:cNvPr id="345" name="Google Shape;345;p36"/>
          <p:cNvSpPr txBox="1"/>
          <p:nvPr/>
        </p:nvSpPr>
        <p:spPr>
          <a:xfrm>
            <a:off x="778438" y="2579808"/>
            <a:ext cx="379356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1E4E79"/>
                </a:solidFill>
                <a:latin typeface="Calibri"/>
                <a:ea typeface="Calibri"/>
                <a:cs typeface="Calibri"/>
                <a:sym typeface="Calibri"/>
              </a:rPr>
              <a:t>Bagaimana membelajarkan AI/KA pada dikdasmen?</a:t>
            </a:r>
            <a:endParaRPr b="0" i="0" sz="1400" u="none" cap="none" strike="noStrike">
              <a:solidFill>
                <a:srgbClr val="000000"/>
              </a:solidFill>
              <a:latin typeface="Arial"/>
              <a:ea typeface="Arial"/>
              <a:cs typeface="Arial"/>
              <a:sym typeface="Arial"/>
            </a:endParaRPr>
          </a:p>
        </p:txBody>
      </p:sp>
      <p:pic>
        <p:nvPicPr>
          <p:cNvPr id="346" name="Google Shape;346;p36"/>
          <p:cNvPicPr preferRelativeResize="0"/>
          <p:nvPr/>
        </p:nvPicPr>
        <p:blipFill rotWithShape="1">
          <a:blip r:embed="rId3">
            <a:alphaModFix/>
          </a:blip>
          <a:srcRect b="0" l="0" r="0" t="0"/>
          <a:stretch/>
        </p:blipFill>
        <p:spPr>
          <a:xfrm>
            <a:off x="5035825" y="1808519"/>
            <a:ext cx="6281530" cy="4844168"/>
          </a:xfrm>
          <a:prstGeom prst="rect">
            <a:avLst/>
          </a:prstGeom>
          <a:noFill/>
          <a:ln>
            <a:noFill/>
          </a:ln>
        </p:spPr>
      </p:pic>
      <p:sp>
        <p:nvSpPr>
          <p:cNvPr id="347" name="Google Shape;347;p36"/>
          <p:cNvSpPr txBox="1"/>
          <p:nvPr/>
        </p:nvSpPr>
        <p:spPr>
          <a:xfrm>
            <a:off x="778438" y="4813494"/>
            <a:ext cx="379356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1E4E79"/>
                </a:solidFill>
                <a:latin typeface="Calibri"/>
                <a:ea typeface="Calibri"/>
                <a:cs typeface="Calibri"/>
                <a:sym typeface="Calibri"/>
              </a:rPr>
              <a:t>Tahapan Kemampuan yang Dikuasai Peserta Didik</a:t>
            </a:r>
            <a:endParaRPr b="0" i="0" sz="2400" u="none" cap="none" strike="noStrike">
              <a:solidFill>
                <a:srgbClr val="1E4E79"/>
              </a:solidFill>
              <a:latin typeface="Calibri"/>
              <a:ea typeface="Calibri"/>
              <a:cs typeface="Calibri"/>
              <a:sym typeface="Calibri"/>
            </a:endParaRPr>
          </a:p>
        </p:txBody>
      </p:sp>
      <p:cxnSp>
        <p:nvCxnSpPr>
          <p:cNvPr id="348" name="Google Shape;348;p36"/>
          <p:cNvCxnSpPr/>
          <p:nvPr/>
        </p:nvCxnSpPr>
        <p:spPr>
          <a:xfrm>
            <a:off x="1616765" y="3436233"/>
            <a:ext cx="0" cy="1377261"/>
          </a:xfrm>
          <a:prstGeom prst="straightConnector1">
            <a:avLst/>
          </a:prstGeom>
          <a:noFill/>
          <a:ln cap="flat" cmpd="sng" w="57150">
            <a:solidFill>
              <a:srgbClr val="FFC000"/>
            </a:solidFill>
            <a:prstDash val="solid"/>
            <a:round/>
            <a:headEnd len="sm" w="sm" type="none"/>
            <a:tailEnd len="med" w="med" type="stealth"/>
          </a:ln>
        </p:spPr>
      </p:cxnSp>
      <p:pic>
        <p:nvPicPr>
          <p:cNvPr id="349" name="Google Shape;349;p36"/>
          <p:cNvPicPr preferRelativeResize="0"/>
          <p:nvPr/>
        </p:nvPicPr>
        <p:blipFill rotWithShape="1">
          <a:blip r:embed="rId4">
            <a:alphaModFix/>
          </a:blip>
          <a:srcRect b="0" l="0" r="0" t="0"/>
          <a:stretch/>
        </p:blipFill>
        <p:spPr>
          <a:xfrm>
            <a:off x="5035826" y="2714363"/>
            <a:ext cx="6281530" cy="409855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Framework Pembelajaran KA</a:t>
            </a:r>
            <a:endParaRPr/>
          </a:p>
        </p:txBody>
      </p:sp>
      <p:sp>
        <p:nvSpPr>
          <p:cNvPr id="355" name="Google Shape;355;p37"/>
          <p:cNvSpPr txBox="1"/>
          <p:nvPr/>
        </p:nvSpPr>
        <p:spPr>
          <a:xfrm>
            <a:off x="838199" y="2008740"/>
            <a:ext cx="6957391" cy="41549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C55A11"/>
                </a:solidFill>
                <a:latin typeface="Calibri"/>
                <a:ea typeface="Calibri"/>
                <a:cs typeface="Calibri"/>
                <a:sym typeface="Calibri"/>
              </a:rPr>
              <a:t>Beberapa framework:</a:t>
            </a:r>
            <a:endParaRPr b="0" i="0" sz="1400" u="none" cap="none" strike="noStrike">
              <a:solidFill>
                <a:srgbClr val="000000"/>
              </a:solidFill>
              <a:latin typeface="Arial"/>
              <a:ea typeface="Arial"/>
              <a:cs typeface="Arial"/>
              <a:sym typeface="Arial"/>
            </a:endParaRPr>
          </a:p>
          <a:p>
            <a:pPr indent="-457188" lvl="0" marL="457188" marR="0" rtl="0" algn="l">
              <a:lnSpc>
                <a:spcPct val="100000"/>
              </a:lnSpc>
              <a:spcBef>
                <a:spcPts val="0"/>
              </a:spcBef>
              <a:spcAft>
                <a:spcPts val="0"/>
              </a:spcAft>
              <a:buClr>
                <a:srgbClr val="1E4E79"/>
              </a:buClr>
              <a:buSzPts val="1650"/>
              <a:buFont typeface="Calibri"/>
              <a:buAutoNum type="arabicPeriod"/>
            </a:pPr>
            <a:r>
              <a:rPr b="1" i="0" lang="en-US" sz="1650" u="none" cap="none" strike="noStrike">
                <a:solidFill>
                  <a:srgbClr val="1E4E79"/>
                </a:solidFill>
                <a:latin typeface="Calibri"/>
                <a:ea typeface="Calibri"/>
                <a:cs typeface="Calibri"/>
                <a:sym typeface="Calibri"/>
              </a:rPr>
              <a:t>AI4K12 Initiative</a:t>
            </a:r>
            <a:r>
              <a:rPr b="0" i="0" lang="en-US" sz="1650" u="none" cap="none" strike="noStrike">
                <a:solidFill>
                  <a:srgbClr val="1E4E79"/>
                </a:solidFill>
                <a:latin typeface="Calibri"/>
                <a:ea typeface="Calibri"/>
                <a:cs typeface="Calibri"/>
                <a:sym typeface="Calibri"/>
              </a:rPr>
              <a:t>: Inisiatif ini menawarkan kerangka kerja yang dikenal sebagai "Five Big Ideas in AI," yang dirancang untuk membantu pendidik memahami dan mengajarkan konsep AI kepada siswa K-12. Mereka juga menyediakan sumber daya seperti buku, materi kurikulum, dan perangkat lunak untuk mendukung pengajaran AI.</a:t>
            </a:r>
            <a:endParaRPr b="0" i="0" sz="1400" u="none" cap="none" strike="noStrike">
              <a:solidFill>
                <a:srgbClr val="000000"/>
              </a:solidFill>
              <a:latin typeface="Arial"/>
              <a:ea typeface="Arial"/>
              <a:cs typeface="Arial"/>
              <a:sym typeface="Arial"/>
            </a:endParaRPr>
          </a:p>
          <a:p>
            <a:pPr indent="-457188" lvl="0" marL="457188" marR="0" rtl="0" algn="l">
              <a:lnSpc>
                <a:spcPct val="100000"/>
              </a:lnSpc>
              <a:spcBef>
                <a:spcPts val="0"/>
              </a:spcBef>
              <a:spcAft>
                <a:spcPts val="0"/>
              </a:spcAft>
              <a:buClr>
                <a:srgbClr val="1E4E79"/>
              </a:buClr>
              <a:buSzPts val="1650"/>
              <a:buFont typeface="Calibri"/>
              <a:buAutoNum type="arabicPeriod"/>
            </a:pPr>
            <a:r>
              <a:rPr b="1" i="0" lang="en-US" sz="1650" u="none" cap="none" strike="noStrike">
                <a:solidFill>
                  <a:srgbClr val="1E4E79"/>
                </a:solidFill>
                <a:latin typeface="Calibri"/>
                <a:ea typeface="Calibri"/>
                <a:cs typeface="Calibri"/>
                <a:sym typeface="Calibri"/>
              </a:rPr>
              <a:t>UNESCO's Mapping of K-12 AI Curricula</a:t>
            </a:r>
            <a:r>
              <a:rPr b="0" i="0" lang="en-US" sz="1650" u="none" cap="none" strike="noStrike">
                <a:solidFill>
                  <a:srgbClr val="1E4E79"/>
                </a:solidFill>
                <a:latin typeface="Calibri"/>
                <a:ea typeface="Calibri"/>
                <a:cs typeface="Calibri"/>
                <a:sym typeface="Calibri"/>
              </a:rPr>
              <a:t>: UNESCO telah merilis laporan yang memetakan kurikulum AI yang disetujui pemerintah di berbagai negara. Laporan ini memberikan wawasan tentang bagaimana berbagai negara mengintegrasikan AI ke dalam pendidikan K-12 dan dapat menjadi referensi bagi pendidik yang ingin mengembangkan kurikulum AI. </a:t>
            </a:r>
            <a:endParaRPr b="0" i="0" sz="1400" u="none" cap="none" strike="noStrike">
              <a:solidFill>
                <a:srgbClr val="000000"/>
              </a:solidFill>
              <a:latin typeface="Arial"/>
              <a:ea typeface="Arial"/>
              <a:cs typeface="Arial"/>
              <a:sym typeface="Arial"/>
            </a:endParaRPr>
          </a:p>
          <a:p>
            <a:pPr indent="-457188" lvl="0" marL="457188" marR="0" rtl="0" algn="l">
              <a:lnSpc>
                <a:spcPct val="100000"/>
              </a:lnSpc>
              <a:spcBef>
                <a:spcPts val="0"/>
              </a:spcBef>
              <a:spcAft>
                <a:spcPts val="0"/>
              </a:spcAft>
              <a:buClr>
                <a:srgbClr val="1E4E79"/>
              </a:buClr>
              <a:buSzPts val="1650"/>
              <a:buFont typeface="Calibri"/>
              <a:buAutoNum type="arabicPeriod"/>
            </a:pPr>
            <a:r>
              <a:rPr b="1" i="0" lang="en-US" sz="1650" u="none" cap="none" strike="noStrike">
                <a:solidFill>
                  <a:srgbClr val="1E4E79"/>
                </a:solidFill>
                <a:latin typeface="Calibri"/>
                <a:ea typeface="Calibri"/>
                <a:cs typeface="Calibri"/>
                <a:sym typeface="Calibri"/>
              </a:rPr>
              <a:t>AI for the Future Project (AI4Future)</a:t>
            </a:r>
            <a:r>
              <a:rPr b="0" i="0" lang="en-US" sz="1650" u="none" cap="none" strike="noStrike">
                <a:solidFill>
                  <a:srgbClr val="1E4E79"/>
                </a:solidFill>
                <a:latin typeface="Calibri"/>
                <a:ea typeface="Calibri"/>
                <a:cs typeface="Calibri"/>
                <a:sym typeface="Calibri"/>
              </a:rPr>
              <a:t>: Proyek ini, yang diprakarsai oleh The Chinese University of Hong Kong, telah mengembangkan dan mengevaluasi kurikulum AI untuk pendidikan pra-universitas. Mereka berfokus pada pembuatan kurikulum yang dapat digunakan di sekolah menengah dan telah menerima umpan balik positif. </a:t>
            </a:r>
            <a:endParaRPr b="0" i="0" sz="1400" u="none" cap="none" strike="noStrike">
              <a:solidFill>
                <a:srgbClr val="000000"/>
              </a:solidFill>
              <a:latin typeface="Arial"/>
              <a:ea typeface="Arial"/>
              <a:cs typeface="Arial"/>
              <a:sym typeface="Arial"/>
            </a:endParaRPr>
          </a:p>
        </p:txBody>
      </p:sp>
      <p:pic>
        <p:nvPicPr>
          <p:cNvPr id="356" name="Google Shape;356;p37"/>
          <p:cNvPicPr preferRelativeResize="0"/>
          <p:nvPr/>
        </p:nvPicPr>
        <p:blipFill rotWithShape="1">
          <a:blip r:embed="rId3">
            <a:alphaModFix/>
          </a:blip>
          <a:srcRect b="0" l="0" r="0" t="0"/>
          <a:stretch/>
        </p:blipFill>
        <p:spPr>
          <a:xfrm>
            <a:off x="7795591" y="2491408"/>
            <a:ext cx="3558209" cy="3573862"/>
          </a:xfrm>
          <a:prstGeom prst="rect">
            <a:avLst/>
          </a:prstGeom>
          <a:noFill/>
          <a:ln>
            <a:noFill/>
          </a:ln>
        </p:spPr>
      </p:pic>
      <p:sp>
        <p:nvSpPr>
          <p:cNvPr id="357" name="Google Shape;357;p37"/>
          <p:cNvSpPr txBox="1"/>
          <p:nvPr/>
        </p:nvSpPr>
        <p:spPr>
          <a:xfrm>
            <a:off x="7795590" y="1941229"/>
            <a:ext cx="355821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E4E79"/>
                </a:solidFill>
                <a:latin typeface="Calibri"/>
                <a:ea typeface="Calibri"/>
                <a:cs typeface="Calibri"/>
                <a:sym typeface="Calibri"/>
              </a:rPr>
              <a:t>Salah satu referensi yang disponsori oleh CSTA (AI4K12), memberikan fokus AI pada K12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Pembelajaran Kecerdasan Artifisial</a:t>
            </a:r>
            <a:endParaRPr/>
          </a:p>
        </p:txBody>
      </p:sp>
      <p:sp>
        <p:nvSpPr>
          <p:cNvPr id="363" name="Google Shape;363;p38"/>
          <p:cNvSpPr txBox="1"/>
          <p:nvPr/>
        </p:nvSpPr>
        <p:spPr>
          <a:xfrm>
            <a:off x="838200" y="4823793"/>
            <a:ext cx="387808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1E4E79"/>
                </a:solidFill>
                <a:latin typeface="Calibri"/>
                <a:ea typeface="Calibri"/>
                <a:cs typeface="Calibri"/>
                <a:sym typeface="Calibri"/>
              </a:rPr>
              <a:t>Simulasi cara kerja KA dengan bermain di situs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rgbClr val="1E4E79"/>
                </a:solidFill>
                <a:latin typeface="Calibri"/>
                <a:ea typeface="Calibri"/>
                <a:cs typeface="Calibri"/>
                <a:sym typeface="Calibri"/>
                <a:hlinkClick r:id="rId3">
                  <a:extLst>
                    <a:ext uri="{A12FA001-AC4F-418D-AE19-62706E023703}">
                      <ahyp:hlinkClr val="tx"/>
                    </a:ext>
                  </a:extLst>
                </a:hlinkClick>
              </a:rPr>
              <a:t>https://studio.code.org/s/oceans</a:t>
            </a:r>
            <a:r>
              <a:rPr b="0" i="0" lang="en-US" sz="1400" u="none" cap="none" strike="noStrike">
                <a:solidFill>
                  <a:srgbClr val="1E4E79"/>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364" name="Google Shape;364;p38"/>
          <p:cNvPicPr preferRelativeResize="0"/>
          <p:nvPr/>
        </p:nvPicPr>
        <p:blipFill rotWithShape="1">
          <a:blip r:embed="rId4">
            <a:alphaModFix/>
          </a:blip>
          <a:srcRect b="0" l="0" r="0" t="0"/>
          <a:stretch/>
        </p:blipFill>
        <p:spPr>
          <a:xfrm>
            <a:off x="838200" y="2484123"/>
            <a:ext cx="3878084" cy="2339670"/>
          </a:xfrm>
          <a:prstGeom prst="rect">
            <a:avLst/>
          </a:prstGeom>
          <a:noFill/>
          <a:ln>
            <a:noFill/>
          </a:ln>
        </p:spPr>
      </p:pic>
      <p:sp>
        <p:nvSpPr>
          <p:cNvPr id="365" name="Google Shape;365;p38"/>
          <p:cNvSpPr txBox="1"/>
          <p:nvPr/>
        </p:nvSpPr>
        <p:spPr>
          <a:xfrm>
            <a:off x="4833523" y="1995130"/>
            <a:ext cx="6616355"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C55A11"/>
                </a:solidFill>
                <a:latin typeface="Calibri"/>
                <a:ea typeface="Calibri"/>
                <a:cs typeface="Calibri"/>
                <a:sym typeface="Calibri"/>
              </a:rPr>
              <a:t>Contoh Materi</a:t>
            </a:r>
            <a:endParaRPr b="1" i="0" sz="1600" u="none" cap="none" strike="noStrike">
              <a:solidFill>
                <a:srgbClr val="C55A11"/>
              </a:solidFill>
              <a:latin typeface="Calibri"/>
              <a:ea typeface="Calibri"/>
              <a:cs typeface="Calibri"/>
              <a:sym typeface="Calibri"/>
            </a:endParaRPr>
          </a:p>
          <a:p>
            <a:pPr indent="-342900" lvl="0" marL="3429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Kreasi konten mengunakan perangkat/tools Kecerdasan Artifisial (Manfaat Kreasi Konten dengan KA, Tahapan Kreasi Konten dengan KA, Teknik Prompt Untuk Produksi Konten Kreatif)</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Kolaborasi melalui perangkat/tools Kecerdasan Artifisial --Human to AI Collaboration– (Desain Kreatif, Penelitian dan Analisis Data, Penyuntingan Tulisan, Kolaborasi dalam Pemograman dan dalam bidang khusus lainnya)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Mengenali unsur pembentuk Prompt untuk KA generatif (Fondasi, Teknik, Implementasi , Karir dan Etika)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Pengoperasian dan pengaplikasian perangkat AI Kecerdasan Artifisial Pada bidang Umum dan  pada bidang tertentu/khusus.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Pemograman Dasar Kecerdasan Artifisial (Python, Snap!, serta pemanfaatan library  Kecerdasan Artifisial  populer lainnya)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IDE untuk Mengembangkan Aplikasi Kecerdasan Artifisial (Google Colaborator, Visual Studio Code, Spyder, dll)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E4E79"/>
              </a:buClr>
              <a:buSzPts val="1600"/>
              <a:buFont typeface="Arial"/>
              <a:buChar char="•"/>
            </a:pPr>
            <a:r>
              <a:rPr b="0" i="0" lang="en-US" sz="1600" u="none" cap="none" strike="noStrike">
                <a:solidFill>
                  <a:srgbClr val="1E4E79"/>
                </a:solidFill>
                <a:latin typeface="Calibri"/>
                <a:ea typeface="Calibri"/>
                <a:cs typeface="Calibri"/>
                <a:sym typeface="Calibri"/>
              </a:rPr>
              <a:t>Pengenalan model bahasa besar /LLM pada KA Generatif  (Konsep Dasar, Peran LLM dalam Kecerdasan Artifisial Generatif, Teknik Integrasi Pemrograman KA dengan Model LLM mialkan melalui API</a:t>
            </a:r>
            <a:endParaRPr b="0" i="0" sz="1600" u="none" cap="none" strike="noStrike">
              <a:solidFill>
                <a:srgbClr val="1E4E79"/>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Pembelajaran Kecerdasan Artifisial</a:t>
            </a:r>
            <a:endParaRPr/>
          </a:p>
        </p:txBody>
      </p:sp>
      <p:pic>
        <p:nvPicPr>
          <p:cNvPr id="371" name="Google Shape;371;p39"/>
          <p:cNvPicPr preferRelativeResize="0"/>
          <p:nvPr/>
        </p:nvPicPr>
        <p:blipFill rotWithShape="1">
          <a:blip r:embed="rId3">
            <a:alphaModFix/>
          </a:blip>
          <a:srcRect b="9423" l="20386" r="20090" t="18161"/>
          <a:stretch/>
        </p:blipFill>
        <p:spPr>
          <a:xfrm>
            <a:off x="838200" y="1848185"/>
            <a:ext cx="3294517" cy="2447576"/>
          </a:xfrm>
          <a:prstGeom prst="rect">
            <a:avLst/>
          </a:prstGeom>
          <a:noFill/>
          <a:ln>
            <a:noFill/>
          </a:ln>
        </p:spPr>
      </p:pic>
      <p:sp>
        <p:nvSpPr>
          <p:cNvPr id="372" name="Google Shape;372;p39"/>
          <p:cNvSpPr txBox="1"/>
          <p:nvPr/>
        </p:nvSpPr>
        <p:spPr>
          <a:xfrm>
            <a:off x="748056" y="4352583"/>
            <a:ext cx="3422239"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5A11"/>
                </a:solidFill>
                <a:latin typeface="Calibri"/>
                <a:ea typeface="Calibri"/>
                <a:cs typeface="Calibri"/>
                <a:sym typeface="Calibri"/>
              </a:rPr>
              <a:t>Maze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E4E79"/>
                </a:solidFill>
                <a:latin typeface="Calibri"/>
                <a:ea typeface="Calibri"/>
                <a:cs typeface="Calibri"/>
                <a:sym typeface="Calibri"/>
              </a:rPr>
              <a:t>Implementasi konsep </a:t>
            </a:r>
            <a:r>
              <a:rPr b="1" i="0" lang="en-US" sz="1200" u="none" cap="none" strike="noStrike">
                <a:solidFill>
                  <a:srgbClr val="1E4E79"/>
                </a:solidFill>
                <a:latin typeface="Calibri"/>
                <a:ea typeface="Calibri"/>
                <a:cs typeface="Calibri"/>
                <a:sym typeface="Calibri"/>
              </a:rPr>
              <a:t>speech Synthesis </a:t>
            </a:r>
            <a:r>
              <a:rPr b="0" i="0" lang="en-US" sz="1200" u="none" cap="none" strike="noStrike">
                <a:solidFill>
                  <a:srgbClr val="1E4E79"/>
                </a:solidFill>
                <a:latin typeface="Calibri"/>
                <a:ea typeface="Calibri"/>
                <a:cs typeface="Calibri"/>
                <a:sym typeface="Calibri"/>
              </a:rPr>
              <a:t>yang dimanfaatkan untuk mengatur pergerakan karakter/sprite dalam permainan labirin dengan menggunakan platform Snap! Berkeley.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1E4E7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1E4E79"/>
                </a:solidFill>
                <a:latin typeface="Calibri"/>
                <a:ea typeface="Calibri"/>
                <a:cs typeface="Calibri"/>
                <a:sym typeface="Calibri"/>
              </a:rPr>
              <a:t>Prosesnya meliputi input suara, memproses suara, mengatur agar karakter dapat bergerak sesuai dengan perintah suara dari awal sampai menuju rumah melalui labirin.</a:t>
            </a:r>
            <a:endParaRPr b="0" i="0" sz="1400" u="none" cap="none" strike="noStrike">
              <a:solidFill>
                <a:srgbClr val="000000"/>
              </a:solidFill>
              <a:latin typeface="Arial"/>
              <a:ea typeface="Arial"/>
              <a:cs typeface="Arial"/>
              <a:sym typeface="Arial"/>
            </a:endParaRPr>
          </a:p>
        </p:txBody>
      </p:sp>
      <p:pic>
        <p:nvPicPr>
          <p:cNvPr id="373" name="Google Shape;373;p39"/>
          <p:cNvPicPr preferRelativeResize="0"/>
          <p:nvPr/>
        </p:nvPicPr>
        <p:blipFill rotWithShape="1">
          <a:blip r:embed="rId4">
            <a:alphaModFix/>
          </a:blip>
          <a:srcRect b="0" l="0" r="0" t="0"/>
          <a:stretch/>
        </p:blipFill>
        <p:spPr>
          <a:xfrm>
            <a:off x="7940406" y="1860243"/>
            <a:ext cx="3380659" cy="2110507"/>
          </a:xfrm>
          <a:prstGeom prst="rect">
            <a:avLst/>
          </a:prstGeom>
          <a:noFill/>
          <a:ln>
            <a:noFill/>
          </a:ln>
        </p:spPr>
      </p:pic>
      <p:sp>
        <p:nvSpPr>
          <p:cNvPr id="374" name="Google Shape;374;p39"/>
          <p:cNvSpPr txBox="1"/>
          <p:nvPr/>
        </p:nvSpPr>
        <p:spPr>
          <a:xfrm>
            <a:off x="7940406" y="4352583"/>
            <a:ext cx="3380659" cy="14465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100"/>
              <a:buFont typeface="Arial"/>
              <a:buNone/>
            </a:pPr>
            <a:r>
              <a:rPr b="1" i="0" lang="en-US" sz="1100" u="none" cap="none" strike="noStrike">
                <a:solidFill>
                  <a:srgbClr val="C55A11"/>
                </a:solidFill>
                <a:latin typeface="Calibri"/>
                <a:ea typeface="Calibri"/>
                <a:cs typeface="Calibri"/>
                <a:sym typeface="Calibri"/>
              </a:rPr>
              <a:t>Berganti Wajah</a:t>
            </a:r>
            <a:endParaRPr b="1" i="0" sz="1100" u="none" cap="none" strike="noStrike">
              <a:solidFill>
                <a:srgbClr val="C55A1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1E4E79"/>
                </a:solidFill>
                <a:latin typeface="Calibri"/>
                <a:ea typeface="Calibri"/>
                <a:cs typeface="Calibri"/>
                <a:sym typeface="Calibri"/>
              </a:rPr>
              <a:t>Implementasi konsep </a:t>
            </a:r>
            <a:r>
              <a:rPr b="1" i="0" lang="en-US" sz="1100" u="none" cap="none" strike="noStrike">
                <a:solidFill>
                  <a:srgbClr val="1E4E79"/>
                </a:solidFill>
                <a:latin typeface="Calibri"/>
                <a:ea typeface="Calibri"/>
                <a:cs typeface="Calibri"/>
                <a:sym typeface="Calibri"/>
              </a:rPr>
              <a:t>speech recognition </a:t>
            </a:r>
            <a:r>
              <a:rPr b="0" i="0" lang="en-US" sz="1100" u="none" cap="none" strike="noStrike">
                <a:solidFill>
                  <a:srgbClr val="1E4E79"/>
                </a:solidFill>
                <a:latin typeface="Calibri"/>
                <a:ea typeface="Calibri"/>
                <a:cs typeface="Calibri"/>
                <a:sym typeface="Calibri"/>
              </a:rPr>
              <a:t>yang dimanfaatkan untuk menampilkan image.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t/>
            </a:r>
            <a:endParaRPr b="0" i="0" sz="1100" u="none" cap="none" strike="noStrike">
              <a:solidFill>
                <a:srgbClr val="1E4E79"/>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1E4E79"/>
                </a:solidFill>
                <a:latin typeface="Calibri"/>
                <a:ea typeface="Calibri"/>
                <a:cs typeface="Calibri"/>
                <a:sym typeface="Calibri"/>
              </a:rPr>
              <a:t>Prosesnya meliputi input suara, memproses suara, mengatur agar image siswa tiga orang dapat berganti sesuai dengan perintah suara baik individuak maupun kelompok.</a:t>
            </a:r>
            <a:endParaRPr b="0" i="0" sz="1400" u="none" cap="none" strike="noStrike">
              <a:solidFill>
                <a:srgbClr val="000000"/>
              </a:solidFill>
              <a:latin typeface="Arial"/>
              <a:ea typeface="Arial"/>
              <a:cs typeface="Arial"/>
              <a:sym typeface="Arial"/>
            </a:endParaRPr>
          </a:p>
        </p:txBody>
      </p:sp>
      <p:pic>
        <p:nvPicPr>
          <p:cNvPr id="375" name="Google Shape;375;p39"/>
          <p:cNvPicPr preferRelativeResize="0"/>
          <p:nvPr/>
        </p:nvPicPr>
        <p:blipFill rotWithShape="1">
          <a:blip r:embed="rId5">
            <a:alphaModFix/>
          </a:blip>
          <a:srcRect b="0" l="0" r="0" t="0"/>
          <a:stretch/>
        </p:blipFill>
        <p:spPr>
          <a:xfrm>
            <a:off x="4294460" y="1860244"/>
            <a:ext cx="3484204" cy="2435517"/>
          </a:xfrm>
          <a:prstGeom prst="rect">
            <a:avLst/>
          </a:prstGeom>
          <a:noFill/>
          <a:ln>
            <a:noFill/>
          </a:ln>
        </p:spPr>
      </p:pic>
      <p:sp>
        <p:nvSpPr>
          <p:cNvPr id="376" name="Google Shape;376;p39"/>
          <p:cNvSpPr txBox="1"/>
          <p:nvPr/>
        </p:nvSpPr>
        <p:spPr>
          <a:xfrm>
            <a:off x="4294459" y="4352583"/>
            <a:ext cx="3484205" cy="21236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C55A11"/>
                </a:solidFill>
                <a:latin typeface="Calibri"/>
                <a:ea typeface="Calibri"/>
                <a:cs typeface="Calibri"/>
                <a:sym typeface="Calibri"/>
              </a:rPr>
              <a:t>Klasifikasi sayuran</a:t>
            </a:r>
            <a:endParaRPr b="1" i="0" sz="1100" u="none" cap="none" strike="noStrike">
              <a:solidFill>
                <a:srgbClr val="C55A1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1E4E79"/>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1E4E79"/>
                </a:solidFill>
                <a:latin typeface="Calibri"/>
                <a:ea typeface="Calibri"/>
                <a:cs typeface="Calibri"/>
                <a:sym typeface="Calibri"/>
              </a:rPr>
              <a:t>sebuah model </a:t>
            </a:r>
            <a:r>
              <a:rPr b="1" i="0" lang="en-US" sz="1100" u="none" cap="none" strike="noStrike">
                <a:solidFill>
                  <a:srgbClr val="1E4E79"/>
                </a:solidFill>
                <a:latin typeface="Calibri"/>
                <a:ea typeface="Calibri"/>
                <a:cs typeface="Calibri"/>
                <a:sym typeface="Calibri"/>
              </a:rPr>
              <a:t>machine learning </a:t>
            </a:r>
            <a:r>
              <a:rPr b="0" i="0" lang="en-US" sz="1100" u="none" cap="none" strike="noStrike">
                <a:solidFill>
                  <a:srgbClr val="1E4E79"/>
                </a:solidFill>
                <a:latin typeface="Calibri"/>
                <a:ea typeface="Calibri"/>
                <a:cs typeface="Calibri"/>
                <a:sym typeface="Calibri"/>
              </a:rPr>
              <a:t>yang bisa membedakan tipe-tipe sayuran seperti singkong, kol, kangkung, dan bayam menggunakan platform Google Teachable Machine.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1E4E79"/>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1E4E79"/>
                </a:solidFill>
                <a:latin typeface="Calibri"/>
                <a:ea typeface="Calibri"/>
                <a:cs typeface="Calibri"/>
                <a:sym typeface="Calibri"/>
              </a:rPr>
              <a:t> Prosesnya meliputi pengumpulan data, kemudian masuk ke dalam proses </a:t>
            </a:r>
            <a:r>
              <a:rPr b="1" i="0" lang="en-US" sz="1100" u="none" cap="none" strike="noStrike">
                <a:solidFill>
                  <a:srgbClr val="1E4E79"/>
                </a:solidFill>
                <a:latin typeface="Calibri"/>
                <a:ea typeface="Calibri"/>
                <a:cs typeface="Calibri"/>
                <a:sym typeface="Calibri"/>
              </a:rPr>
              <a:t>pembersihan data, validasi data, proses training model</a:t>
            </a:r>
            <a:r>
              <a:rPr b="0" i="0" lang="en-US" sz="1100" u="none" cap="none" strike="noStrike">
                <a:solidFill>
                  <a:srgbClr val="1E4E79"/>
                </a:solidFill>
                <a:latin typeface="Calibri"/>
                <a:ea typeface="Calibri"/>
                <a:cs typeface="Calibri"/>
                <a:sym typeface="Calibri"/>
              </a:rPr>
              <a:t>, hingga mengevaluasi model machine learning. Akhir output dari project ini adalah model bisa membedakan macam-macam jenis sayuran</a:t>
            </a:r>
            <a:endParaRPr b="0" i="0" sz="1100" u="none" cap="none" strike="noStrike">
              <a:solidFill>
                <a:srgbClr val="1E4E79"/>
              </a:solidFill>
              <a:latin typeface="Calibri"/>
              <a:ea typeface="Calibri"/>
              <a:cs typeface="Calibri"/>
              <a:sym typeface="Calibri"/>
            </a:endParaRPr>
          </a:p>
        </p:txBody>
      </p:sp>
      <p:cxnSp>
        <p:nvCxnSpPr>
          <p:cNvPr id="377" name="Google Shape;377;p39"/>
          <p:cNvCxnSpPr/>
          <p:nvPr/>
        </p:nvCxnSpPr>
        <p:spPr>
          <a:xfrm>
            <a:off x="4189905" y="1860243"/>
            <a:ext cx="0" cy="4431332"/>
          </a:xfrm>
          <a:prstGeom prst="straightConnector1">
            <a:avLst/>
          </a:prstGeom>
          <a:noFill/>
          <a:ln cap="flat" cmpd="sng" w="9525">
            <a:solidFill>
              <a:schemeClr val="accent1"/>
            </a:solidFill>
            <a:prstDash val="solid"/>
            <a:miter lim="800000"/>
            <a:headEnd len="sm" w="sm" type="none"/>
            <a:tailEnd len="sm" w="sm" type="none"/>
          </a:ln>
        </p:spPr>
      </p:cxnSp>
      <p:cxnSp>
        <p:nvCxnSpPr>
          <p:cNvPr id="378" name="Google Shape;378;p39"/>
          <p:cNvCxnSpPr/>
          <p:nvPr/>
        </p:nvCxnSpPr>
        <p:spPr>
          <a:xfrm>
            <a:off x="7853820" y="1860243"/>
            <a:ext cx="0" cy="4431332"/>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Strategi Pembelajaran</a:t>
            </a:r>
            <a:endParaRPr/>
          </a:p>
        </p:txBody>
      </p:sp>
      <p:sp>
        <p:nvSpPr>
          <p:cNvPr id="384" name="Google Shape;384;p40"/>
          <p:cNvSpPr txBox="1"/>
          <p:nvPr/>
        </p:nvSpPr>
        <p:spPr>
          <a:xfrm>
            <a:off x="740082" y="1887409"/>
            <a:ext cx="6587643" cy="4416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55A11"/>
                </a:solidFill>
                <a:latin typeface="Calibri"/>
                <a:ea typeface="Calibri"/>
                <a:cs typeface="Calibri"/>
                <a:sym typeface="Calibri"/>
              </a:rPr>
              <a:t>Problem/Project Based Learning </a:t>
            </a:r>
            <a:r>
              <a:rPr b="0" i="0" lang="en-US" sz="1800" u="none" cap="none" strike="noStrike">
                <a:solidFill>
                  <a:srgbClr val="C55A11"/>
                </a:solidFill>
                <a:latin typeface="Calibri"/>
                <a:ea typeface="Calibri"/>
                <a:cs typeface="Calibri"/>
                <a:sym typeface="Calibri"/>
              </a:rPr>
              <a:t>dan </a:t>
            </a:r>
            <a:r>
              <a:rPr b="1" i="0" lang="en-US" sz="1800" u="none" cap="none" strike="noStrike">
                <a:solidFill>
                  <a:srgbClr val="C55A11"/>
                </a:solidFill>
                <a:latin typeface="Calibri"/>
                <a:ea typeface="Calibri"/>
                <a:cs typeface="Calibri"/>
                <a:sym typeface="Calibri"/>
              </a:rPr>
              <a:t>Case Method</a:t>
            </a:r>
            <a:r>
              <a:rPr b="0" i="0" lang="en-US" sz="1800" u="none" cap="none" strike="noStrike">
                <a:solidFill>
                  <a:srgbClr val="C55A11"/>
                </a:solidFill>
                <a:latin typeface="Calibri"/>
                <a:ea typeface="Calibri"/>
                <a:cs typeface="Calibri"/>
                <a:sym typeface="Calibri"/>
              </a:rPr>
              <a:t>,</a:t>
            </a:r>
            <a:r>
              <a:rPr b="0" i="0" lang="en-US" sz="1800" u="none" cap="none" strike="noStrike">
                <a:solidFill>
                  <a:srgbClr val="1E4E79"/>
                </a:solidFill>
                <a:latin typeface="Calibri"/>
                <a:ea typeface="Calibri"/>
                <a:cs typeface="Calibri"/>
                <a:sym typeface="Calibri"/>
              </a:rPr>
              <a:t> melibatkan peserta didik dalam aplikasi persoalan nyata pada bidang umum dan  pada area pemenfaatan Khusus (disesuaikan dengan kebutuhan atau pada jenjang SMK disesuiakan dengan konteks jurusan/peminatan) untuk diselesaikan dengan bantuan teknologi Kecerdasan Artifisial.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E4E79"/>
                </a:solidFill>
                <a:latin typeface="Calibri"/>
                <a:ea typeface="Calibri"/>
                <a:cs typeface="Calibri"/>
                <a:sym typeface="Calibri"/>
              </a:rPr>
              <a:t>Contoh: Menggunakan berbagai perangkat/tools Kecerdasan Artifisial yang sesuai dengan persoalan yang diberikan, Studi Kasus melibatkan peserta didik dalam persoalan nyata.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1E4E7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55A11"/>
                </a:solidFill>
                <a:latin typeface="Calibri"/>
                <a:ea typeface="Calibri"/>
                <a:cs typeface="Calibri"/>
                <a:sym typeface="Calibri"/>
              </a:rPr>
              <a:t>Variasi Metode Pembelajaran</a:t>
            </a:r>
            <a:endParaRPr b="1" i="0" sz="1800" u="none" cap="none" strike="noStrike">
              <a:solidFill>
                <a:srgbClr val="C55A1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E4E79"/>
                </a:solidFill>
                <a:latin typeface="Calibri"/>
                <a:ea typeface="Calibri"/>
                <a:cs typeface="Calibri"/>
                <a:sym typeface="Calibri"/>
              </a:rPr>
              <a:t>Menggunakan berbagai metode agar peserta didik tidak bosan termasuk menerapkan model gamifikasi, termasuk unplugged yang meduplikasi/meniru blok program.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E4E79"/>
                </a:solidFill>
                <a:latin typeface="Calibri"/>
                <a:ea typeface="Calibri"/>
                <a:cs typeface="Calibri"/>
                <a:sym typeface="Calibri"/>
              </a:rPr>
              <a:t>Contoh: Kombinasi ceramah, dan simulasi dalam mengajarkan perangkat/tools Kecerdasan Artifisial, Menciptakan Model Eksperimen Virtual.</a:t>
            </a:r>
            <a:endParaRPr b="0" i="0" sz="1400" u="none" cap="none" strike="noStrike">
              <a:solidFill>
                <a:srgbClr val="000000"/>
              </a:solidFill>
              <a:latin typeface="Arial"/>
              <a:ea typeface="Arial"/>
              <a:cs typeface="Arial"/>
              <a:sym typeface="Arial"/>
            </a:endParaRPr>
          </a:p>
        </p:txBody>
      </p:sp>
      <p:sp>
        <p:nvSpPr>
          <p:cNvPr id="385" name="Google Shape;385;p40"/>
          <p:cNvSpPr txBox="1"/>
          <p:nvPr/>
        </p:nvSpPr>
        <p:spPr>
          <a:xfrm>
            <a:off x="6803445" y="4248599"/>
            <a:ext cx="1261884"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Memahami</a:t>
            </a:r>
            <a:endParaRPr b="0" i="0" sz="1800" u="none" cap="none" strike="noStrike">
              <a:solidFill>
                <a:schemeClr val="dk1"/>
              </a:solidFill>
              <a:latin typeface="Calibri"/>
              <a:ea typeface="Calibri"/>
              <a:cs typeface="Calibri"/>
              <a:sym typeface="Calibri"/>
            </a:endParaRPr>
          </a:p>
        </p:txBody>
      </p:sp>
      <p:sp>
        <p:nvSpPr>
          <p:cNvPr id="386" name="Google Shape;386;p40"/>
          <p:cNvSpPr txBox="1"/>
          <p:nvPr/>
        </p:nvSpPr>
        <p:spPr>
          <a:xfrm>
            <a:off x="8463895" y="2626791"/>
            <a:ext cx="1748171"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Mengaplikasikan</a:t>
            </a:r>
            <a:endParaRPr b="0" i="0" sz="1800" u="none" cap="none" strike="noStrike">
              <a:solidFill>
                <a:schemeClr val="dk1"/>
              </a:solidFill>
              <a:latin typeface="Calibri"/>
              <a:ea typeface="Calibri"/>
              <a:cs typeface="Calibri"/>
              <a:sym typeface="Calibri"/>
            </a:endParaRPr>
          </a:p>
        </p:txBody>
      </p:sp>
      <p:sp>
        <p:nvSpPr>
          <p:cNvPr id="387" name="Google Shape;387;p40"/>
          <p:cNvSpPr txBox="1"/>
          <p:nvPr/>
        </p:nvSpPr>
        <p:spPr>
          <a:xfrm>
            <a:off x="10550827" y="4248599"/>
            <a:ext cx="1504001"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Merefleksikan</a:t>
            </a:r>
            <a:endParaRPr b="0" i="0" sz="1800" u="none" cap="none" strike="noStrike">
              <a:solidFill>
                <a:schemeClr val="dk1"/>
              </a:solidFill>
              <a:latin typeface="Calibri"/>
              <a:ea typeface="Calibri"/>
              <a:cs typeface="Calibri"/>
              <a:sym typeface="Calibri"/>
            </a:endParaRPr>
          </a:p>
        </p:txBody>
      </p:sp>
      <p:sp>
        <p:nvSpPr>
          <p:cNvPr id="388" name="Google Shape;388;p40"/>
          <p:cNvSpPr/>
          <p:nvPr/>
        </p:nvSpPr>
        <p:spPr>
          <a:xfrm>
            <a:off x="8452451" y="3589260"/>
            <a:ext cx="1771063" cy="1584381"/>
          </a:xfrm>
          <a:prstGeom prst="ellipse">
            <a:avLst/>
          </a:pr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40"/>
          <p:cNvSpPr txBox="1"/>
          <p:nvPr/>
        </p:nvSpPr>
        <p:spPr>
          <a:xfrm>
            <a:off x="8421750" y="4104451"/>
            <a:ext cx="1832463"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00"/>
                </a:solidFill>
                <a:latin typeface="Calibri"/>
                <a:ea typeface="Calibri"/>
                <a:cs typeface="Calibri"/>
                <a:sym typeface="Calibri"/>
              </a:rPr>
              <a:t>Pengalaman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00"/>
                </a:solidFill>
                <a:latin typeface="Calibri"/>
                <a:ea typeface="Calibri"/>
                <a:cs typeface="Calibri"/>
                <a:sym typeface="Calibri"/>
              </a:rPr>
              <a:t>Belajar </a:t>
            </a:r>
            <a:endParaRPr b="0" i="0" sz="1400" u="none" cap="none" strike="noStrike">
              <a:solidFill>
                <a:srgbClr val="000000"/>
              </a:solidFill>
              <a:latin typeface="Arial"/>
              <a:ea typeface="Arial"/>
              <a:cs typeface="Arial"/>
              <a:sym typeface="Arial"/>
            </a:endParaRPr>
          </a:p>
        </p:txBody>
      </p:sp>
      <p:cxnSp>
        <p:nvCxnSpPr>
          <p:cNvPr id="390" name="Google Shape;390;p40"/>
          <p:cNvCxnSpPr>
            <a:stCxn id="385" idx="3"/>
            <a:endCxn id="389" idx="1"/>
          </p:cNvCxnSpPr>
          <p:nvPr/>
        </p:nvCxnSpPr>
        <p:spPr>
          <a:xfrm flipH="1" rot="10800000">
            <a:off x="8065329" y="4427565"/>
            <a:ext cx="356400" cy="5700"/>
          </a:xfrm>
          <a:prstGeom prst="straightConnector1">
            <a:avLst/>
          </a:prstGeom>
          <a:noFill/>
          <a:ln cap="flat" cmpd="sng" w="28575">
            <a:solidFill>
              <a:srgbClr val="FFC000"/>
            </a:solidFill>
            <a:prstDash val="solid"/>
            <a:miter lim="800000"/>
            <a:headEnd len="med" w="med" type="triangle"/>
            <a:tailEnd len="med" w="med" type="triangle"/>
          </a:ln>
        </p:spPr>
      </p:cxnSp>
      <p:cxnSp>
        <p:nvCxnSpPr>
          <p:cNvPr id="391" name="Google Shape;391;p40"/>
          <p:cNvCxnSpPr>
            <a:stCxn id="388" idx="0"/>
            <a:endCxn id="386" idx="2"/>
          </p:cNvCxnSpPr>
          <p:nvPr/>
        </p:nvCxnSpPr>
        <p:spPr>
          <a:xfrm rot="10800000">
            <a:off x="9337983" y="2996160"/>
            <a:ext cx="0" cy="593100"/>
          </a:xfrm>
          <a:prstGeom prst="straightConnector1">
            <a:avLst/>
          </a:prstGeom>
          <a:noFill/>
          <a:ln cap="flat" cmpd="sng" w="19050">
            <a:solidFill>
              <a:srgbClr val="FFC000"/>
            </a:solidFill>
            <a:prstDash val="solid"/>
            <a:miter lim="800000"/>
            <a:headEnd len="med" w="med" type="triangle"/>
            <a:tailEnd len="med" w="med" type="triangle"/>
          </a:ln>
        </p:spPr>
      </p:cxnSp>
      <p:cxnSp>
        <p:nvCxnSpPr>
          <p:cNvPr id="392" name="Google Shape;392;p40"/>
          <p:cNvCxnSpPr>
            <a:stCxn id="389" idx="3"/>
            <a:endCxn id="387" idx="1"/>
          </p:cNvCxnSpPr>
          <p:nvPr/>
        </p:nvCxnSpPr>
        <p:spPr>
          <a:xfrm>
            <a:off x="10254213" y="4427617"/>
            <a:ext cx="296700" cy="5700"/>
          </a:xfrm>
          <a:prstGeom prst="straightConnector1">
            <a:avLst/>
          </a:prstGeom>
          <a:noFill/>
          <a:ln cap="flat" cmpd="sng" w="28575">
            <a:solidFill>
              <a:srgbClr val="FFC000"/>
            </a:solidFill>
            <a:prstDash val="solid"/>
            <a:miter lim="800000"/>
            <a:headEnd len="med" w="med" type="triangle"/>
            <a:tailEnd len="med" w="med" type="triangle"/>
          </a:ln>
        </p:spPr>
      </p:cxnSp>
      <p:cxnSp>
        <p:nvCxnSpPr>
          <p:cNvPr id="393" name="Google Shape;393;p40"/>
          <p:cNvCxnSpPr>
            <a:stCxn id="385" idx="0"/>
            <a:endCxn id="386" idx="1"/>
          </p:cNvCxnSpPr>
          <p:nvPr/>
        </p:nvCxnSpPr>
        <p:spPr>
          <a:xfrm rot="-5400000">
            <a:off x="7230687" y="3015299"/>
            <a:ext cx="1437000" cy="1029600"/>
          </a:xfrm>
          <a:prstGeom prst="bentConnector2">
            <a:avLst/>
          </a:prstGeom>
          <a:noFill/>
          <a:ln cap="flat" cmpd="sng" w="28575">
            <a:solidFill>
              <a:srgbClr val="FFC000"/>
            </a:solidFill>
            <a:prstDash val="dash"/>
            <a:miter lim="800000"/>
            <a:headEnd len="sm" w="sm" type="none"/>
            <a:tailEnd len="med" w="med" type="triangle"/>
          </a:ln>
        </p:spPr>
      </p:cxnSp>
      <p:cxnSp>
        <p:nvCxnSpPr>
          <p:cNvPr id="394" name="Google Shape;394;p40"/>
          <p:cNvCxnSpPr>
            <a:stCxn id="386" idx="3"/>
            <a:endCxn id="387" idx="0"/>
          </p:cNvCxnSpPr>
          <p:nvPr/>
        </p:nvCxnSpPr>
        <p:spPr>
          <a:xfrm>
            <a:off x="10212066" y="2811457"/>
            <a:ext cx="1090800" cy="1437000"/>
          </a:xfrm>
          <a:prstGeom prst="bentConnector2">
            <a:avLst/>
          </a:prstGeom>
          <a:noFill/>
          <a:ln cap="flat" cmpd="sng" w="28575">
            <a:solidFill>
              <a:srgbClr val="FFC000"/>
            </a:solidFill>
            <a:prstDash val="dash"/>
            <a:miter lim="800000"/>
            <a:headEnd len="sm" w="sm" type="none"/>
            <a:tailEnd len="med" w="med" type="triangle"/>
          </a:ln>
        </p:spPr>
      </p:cxnSp>
      <p:sp>
        <p:nvSpPr>
          <p:cNvPr id="395" name="Google Shape;395;p40"/>
          <p:cNvSpPr txBox="1"/>
          <p:nvPr/>
        </p:nvSpPr>
        <p:spPr>
          <a:xfrm>
            <a:off x="7883347" y="3890876"/>
            <a:ext cx="28886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396" name="Google Shape;396;p40"/>
          <p:cNvSpPr txBox="1"/>
          <p:nvPr/>
        </p:nvSpPr>
        <p:spPr>
          <a:xfrm>
            <a:off x="10951336" y="1780720"/>
            <a:ext cx="28886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397" name="Google Shape;397;p40"/>
          <p:cNvSpPr txBox="1"/>
          <p:nvPr/>
        </p:nvSpPr>
        <p:spPr>
          <a:xfrm>
            <a:off x="14628847" y="3723477"/>
            <a:ext cx="28886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Kompetensi Afektif</a:t>
            </a:r>
            <a:endParaRPr/>
          </a:p>
        </p:txBody>
      </p:sp>
      <p:sp>
        <p:nvSpPr>
          <p:cNvPr id="403" name="Google Shape;403;p4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lang="en-US"/>
              <a:t>Kompetensi Afektif</a:t>
            </a:r>
            <a:endParaRPr/>
          </a:p>
        </p:txBody>
      </p:sp>
      <p:sp>
        <p:nvSpPr>
          <p:cNvPr id="409" name="Google Shape;409;p42"/>
          <p:cNvSpPr txBox="1"/>
          <p:nvPr/>
        </p:nvSpPr>
        <p:spPr>
          <a:xfrm>
            <a:off x="838200" y="1948541"/>
            <a:ext cx="10660693"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55A11"/>
                </a:solidFill>
                <a:latin typeface="Calibri"/>
                <a:ea typeface="Calibri"/>
                <a:cs typeface="Calibri"/>
                <a:sym typeface="Calibri"/>
              </a:rPr>
              <a:t>1. Kepercayaan diri dan self-efficacy pemanfaatan Kecerdasan Artifisial.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Peserta didik memiliki kepercayaan diri dan self- efficacy untuk meningkatkan minat dan motivasi dalam pemanfataan teknologi  Kecerdasan Artifisial.</a:t>
            </a:r>
            <a:br>
              <a:rPr b="0" i="0" lang="en-US" sz="1000" u="none" cap="none" strike="noStrike">
                <a:solidFill>
                  <a:srgbClr val="1E4E79"/>
                </a:solidFill>
                <a:latin typeface="Calibri"/>
                <a:ea typeface="Calibri"/>
                <a:cs typeface="Calibri"/>
                <a:sym typeface="Calibri"/>
              </a:rPr>
            </a:br>
            <a:r>
              <a:rPr b="0" i="0" lang="en-US" sz="1600" u="none" cap="none" strike="noStrike">
                <a:solidFill>
                  <a:srgbClr val="1E4E79"/>
                </a:solidFill>
                <a:latin typeface="Calibri"/>
                <a:ea typeface="Calibri"/>
                <a:cs typeface="Calibri"/>
                <a:sym typeface="Calibri"/>
              </a:rPr>
              <a:t>Kepercayaan diri merupakan keyakinan umum peserta didik setelah melalui proses pembelajaran bahwa sebagai kemampuan belajar, beradaptasi, dan keberhasilan  menggunakan alat dan sistem berbasis Kecerdasan Artifisial.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Sementara self- efficacy merupakan keyakinan yang lebih spesifik bahwa peserta didik mampu memanfaatkan teknologi  Kecerdasan Artifisial untuk menyelesaikan tugas tertentu, seperti menulis dan atau menghasilkan konten, menganalisis data, atau membuat model dukungan data pada bidang tertentu sesuai minat dan konsentrasi pendidikannya, misalnya dalam bidang pariwisata, pertanian, medis dan seterusnya.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1E4E7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55A11"/>
                </a:solidFill>
                <a:latin typeface="Calibri"/>
                <a:ea typeface="Calibri"/>
                <a:cs typeface="Calibri"/>
                <a:sym typeface="Calibri"/>
              </a:rPr>
              <a:t>2. Pola pikir reflektif  pemanfaatan  Kecerdasan Artifisial</a:t>
            </a:r>
            <a:endParaRPr b="1" i="0" sz="2000" u="none" cap="none" strike="noStrike">
              <a:solidFill>
                <a:srgbClr val="C55A1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Sesuai dengan model pembelajaran mendalam atau bermakna, dimana pengalaman belajar diarahkan pada kemampuan reflektif.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E4E79"/>
                </a:solidFill>
                <a:latin typeface="Calibri"/>
                <a:ea typeface="Calibri"/>
                <a:cs typeface="Calibri"/>
                <a:sym typeface="Calibri"/>
              </a:rPr>
              <a:t>Peserta didik memiliki pola pikir reflektif dan mampu menilai pemahaman seseorang tentang  Kecerdasan Artifisial, mampu menentukan/menilai tingkat literasi  Kecerdasan Artifisial  seseorang, dan mengenali bidang/area yang memerlukan pembelajaran Kecerdasan Artifisial lebih lanjut, khususnya pada jenjang SMK yang membutuhkan pemahaman dan aplikasi secara kontekstual berdasakan konsentrasi minat dan konsentrasi pendidikannya.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Penutup</a:t>
            </a:r>
            <a:endParaRPr/>
          </a:p>
        </p:txBody>
      </p:sp>
      <p:sp>
        <p:nvSpPr>
          <p:cNvPr id="415" name="Google Shape;415;p4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4"/>
          <p:cNvSpPr txBox="1"/>
          <p:nvPr/>
        </p:nvSpPr>
        <p:spPr>
          <a:xfrm>
            <a:off x="375781" y="5375422"/>
            <a:ext cx="11498893" cy="969436"/>
          </a:xfrm>
          <a:prstGeom prst="rect">
            <a:avLst/>
          </a:prstGeom>
          <a:noFill/>
          <a:ln>
            <a:noFill/>
          </a:ln>
        </p:spPr>
        <p:txBody>
          <a:bodyPr anchorCtr="0" anchor="t" bIns="68550" lIns="137125" spcFirstLastPara="1" rIns="137125" wrap="square" tIns="6855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1E4E79"/>
                </a:solidFill>
                <a:latin typeface="Calibri"/>
                <a:ea typeface="Calibri"/>
                <a:cs typeface="Calibri"/>
                <a:sym typeface="Calibri"/>
              </a:rPr>
              <a:t>Kurikulum hanyalah sebuah resep. Seenak apapun, jika kokinya tidak mampu memasak, maka masakan tidak akan enak, bahkan melenceng. Koki yang handal dan kreatif akan mampu mengadaptasi bahan lokal untuk menghasilkan masakan yang enak dan tidak melenceng</a:t>
            </a:r>
            <a:endParaRPr b="0" i="0" sz="1600" u="none" cap="none" strike="noStrike">
              <a:solidFill>
                <a:srgbClr val="1E4E79"/>
              </a:solidFill>
              <a:latin typeface="Calibri"/>
              <a:ea typeface="Calibri"/>
              <a:cs typeface="Calibri"/>
              <a:sym typeface="Calibri"/>
            </a:endParaRPr>
          </a:p>
        </p:txBody>
      </p:sp>
      <p:sp>
        <p:nvSpPr>
          <p:cNvPr id="421" name="Google Shape;421;p44"/>
          <p:cNvSpPr txBox="1"/>
          <p:nvPr/>
        </p:nvSpPr>
        <p:spPr>
          <a:xfrm>
            <a:off x="375781" y="277804"/>
            <a:ext cx="11498893" cy="69922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55A11"/>
              </a:buClr>
              <a:buSzPts val="2800"/>
              <a:buFont typeface="Calibri"/>
              <a:buNone/>
            </a:pPr>
            <a:r>
              <a:rPr b="1" i="0" lang="en-US" sz="2800" u="none" cap="none" strike="noStrike">
                <a:solidFill>
                  <a:srgbClr val="C55A11"/>
                </a:solidFill>
                <a:latin typeface="Calibri"/>
                <a:ea typeface="Calibri"/>
                <a:cs typeface="Calibri"/>
                <a:sym typeface="Calibri"/>
              </a:rPr>
              <a:t>Peran Guru Pengampu Mapel Sangat Penting</a:t>
            </a:r>
            <a:endParaRPr b="1" i="0" sz="2800" u="none" cap="none" strike="noStrike">
              <a:solidFill>
                <a:srgbClr val="C55A11"/>
              </a:solidFill>
              <a:latin typeface="Calibri"/>
              <a:ea typeface="Calibri"/>
              <a:cs typeface="Calibri"/>
              <a:sym typeface="Calibri"/>
            </a:endParaRPr>
          </a:p>
        </p:txBody>
      </p:sp>
      <p:pic>
        <p:nvPicPr>
          <p:cNvPr id="422" name="Google Shape;422;p44"/>
          <p:cNvPicPr preferRelativeResize="0"/>
          <p:nvPr/>
        </p:nvPicPr>
        <p:blipFill rotWithShape="1">
          <a:blip r:embed="rId3">
            <a:alphaModFix/>
          </a:blip>
          <a:srcRect b="0" l="0" r="0" t="0"/>
          <a:stretch/>
        </p:blipFill>
        <p:spPr>
          <a:xfrm>
            <a:off x="1181918" y="977030"/>
            <a:ext cx="9892559" cy="4353236"/>
          </a:xfrm>
          <a:prstGeom prst="rect">
            <a:avLst/>
          </a:prstGeom>
          <a:noFill/>
          <a:ln>
            <a:noFill/>
          </a:ln>
        </p:spPr>
      </p:pic>
      <p:sp>
        <p:nvSpPr>
          <p:cNvPr id="423" name="Google Shape;423;p44"/>
          <p:cNvSpPr/>
          <p:nvPr/>
        </p:nvSpPr>
        <p:spPr>
          <a:xfrm>
            <a:off x="5640833" y="1051302"/>
            <a:ext cx="502716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Narrow"/>
                <a:ea typeface="Arial Narrow"/>
                <a:cs typeface="Arial Narrow"/>
                <a:sym typeface="Arial Narrow"/>
              </a:rPr>
              <a:t>THREE MAIN COMPONENTS IN LEARNING PROCESS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E75B5"/>
              </a:buClr>
              <a:buSzPts val="6000"/>
              <a:buFont typeface="Calibri"/>
              <a:buNone/>
            </a:pPr>
            <a:r>
              <a:rPr lang="en-US"/>
              <a:t>Terima Kasih</a:t>
            </a:r>
            <a:endParaRPr/>
          </a:p>
        </p:txBody>
      </p:sp>
      <p:sp>
        <p:nvSpPr>
          <p:cNvPr id="429" name="Google Shape;429;p4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E75B5"/>
              </a:buClr>
              <a:buSzPts val="2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2025-05-02T05:28:58Z</dcterms:created>
  <dc:creator>Yoki Ariyana</dc:creator>
</cp:coreProperties>
</file>