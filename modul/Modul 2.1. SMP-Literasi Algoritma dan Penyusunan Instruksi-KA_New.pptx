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335" r:id="rId3"/>
    <p:sldId id="309" r:id="rId4"/>
    <p:sldId id="311" r:id="rId5"/>
    <p:sldId id="319" r:id="rId6"/>
    <p:sldId id="320" r:id="rId7"/>
    <p:sldId id="263" r:id="rId8"/>
    <p:sldId id="301" r:id="rId9"/>
    <p:sldId id="302" r:id="rId10"/>
    <p:sldId id="303" r:id="rId11"/>
    <p:sldId id="304" r:id="rId12"/>
    <p:sldId id="336" r:id="rId13"/>
    <p:sldId id="355" r:id="rId14"/>
    <p:sldId id="305" r:id="rId15"/>
    <p:sldId id="306" r:id="rId16"/>
    <p:sldId id="307" r:id="rId17"/>
    <p:sldId id="337" r:id="rId18"/>
    <p:sldId id="308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9" r:id="rId27"/>
    <p:sldId id="345" r:id="rId28"/>
    <p:sldId id="346" r:id="rId29"/>
    <p:sldId id="350" r:id="rId30"/>
    <p:sldId id="347" r:id="rId31"/>
    <p:sldId id="348" r:id="rId32"/>
    <p:sldId id="351" r:id="rId33"/>
    <p:sldId id="354" r:id="rId34"/>
    <p:sldId id="352" r:id="rId35"/>
    <p:sldId id="353" r:id="rId36"/>
    <p:sldId id="356" r:id="rId37"/>
    <p:sldId id="357" r:id="rId38"/>
    <p:sldId id="358" r:id="rId39"/>
    <p:sldId id="362" r:id="rId40"/>
    <p:sldId id="359" r:id="rId41"/>
    <p:sldId id="363" r:id="rId42"/>
    <p:sldId id="364" r:id="rId43"/>
    <p:sldId id="298" r:id="rId44"/>
    <p:sldId id="300" r:id="rId45"/>
  </p:sldIdLst>
  <p:sldSz cx="12192000" cy="6858000"/>
  <p:notesSz cx="6858000" cy="9144000"/>
  <p:embeddedFontLs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Helvetica Neue" panose="020B0604020202020204" charset="0"/>
      <p:regular r:id="rId51"/>
      <p:bold r:id="rId52"/>
      <p:italic r:id="rId53"/>
      <p:boldItalic r:id="rId54"/>
    </p:embeddedFont>
    <p:embeddedFont>
      <p:font typeface="Poppins" panose="00000500000000000000" pitchFamily="2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i5CZaodIF5aehkOrMbr1qRQ8Wp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6879EF-8C8B-49F9-AA38-4FCC930E2A87}">
  <a:tblStyle styleId="{E26879EF-8C8B-49F9-AA38-4FCC930E2A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6290E6F-A9A9-4D9F-8730-2762479B258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4774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1143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3322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6687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0957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5951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050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801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7530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0397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4721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2797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6291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1121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6335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15267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2414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72722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05480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74175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3810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9619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67138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59297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25288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66293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/>
          <p:nvPr/>
        </p:nvSpPr>
        <p:spPr>
          <a:xfrm>
            <a:off x="0" y="1166259"/>
            <a:ext cx="10167060" cy="5423028"/>
          </a:xfrm>
          <a:custGeom>
            <a:avLst/>
            <a:gdLst/>
            <a:ahLst/>
            <a:cxnLst/>
            <a:rect l="l" t="t" r="r" b="b"/>
            <a:pathLst>
              <a:path w="11802702" h="5886598" extrusionOk="0">
                <a:moveTo>
                  <a:pt x="0" y="0"/>
                </a:moveTo>
                <a:lnTo>
                  <a:pt x="11802702" y="0"/>
                </a:lnTo>
                <a:lnTo>
                  <a:pt x="11802702" y="5886598"/>
                </a:lnTo>
                <a:lnTo>
                  <a:pt x="0" y="5886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1999"/>
            </a:blip>
            <a:stretch>
              <a:fillRect/>
            </a:stretch>
          </a:blipFill>
          <a:ln>
            <a:noFill/>
          </a:ln>
        </p:spPr>
      </p:sp>
      <p:sp>
        <p:nvSpPr>
          <p:cNvPr id="17" name="Google Shape;17;p47"/>
          <p:cNvSpPr txBox="1">
            <a:spLocks noGrp="1"/>
          </p:cNvSpPr>
          <p:nvPr>
            <p:ph type="ctrTitle"/>
          </p:nvPr>
        </p:nvSpPr>
        <p:spPr>
          <a:xfrm>
            <a:off x="404037" y="2723868"/>
            <a:ext cx="5996763" cy="195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6000"/>
              <a:buFont typeface="Calibri"/>
              <a:buNone/>
              <a:defRPr sz="60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7"/>
          <p:cNvSpPr txBox="1">
            <a:spLocks noGrp="1"/>
          </p:cNvSpPr>
          <p:nvPr>
            <p:ph type="subTitle" idx="1"/>
          </p:nvPr>
        </p:nvSpPr>
        <p:spPr>
          <a:xfrm>
            <a:off x="404037" y="5071743"/>
            <a:ext cx="5996763" cy="1357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  <a:defRPr sz="2400">
                <a:solidFill>
                  <a:srgbClr val="7030A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47"/>
          <p:cNvSpPr/>
          <p:nvPr/>
        </p:nvSpPr>
        <p:spPr>
          <a:xfrm>
            <a:off x="4607442" y="29499"/>
            <a:ext cx="7570382" cy="6996223"/>
          </a:xfrm>
          <a:custGeom>
            <a:avLst/>
            <a:gdLst/>
            <a:ahLst/>
            <a:cxnLst/>
            <a:rect l="l" t="t" r="r" b="b"/>
            <a:pathLst>
              <a:path w="7570382" h="6996223" extrusionOk="0">
                <a:moveTo>
                  <a:pt x="3700130" y="0"/>
                </a:moveTo>
                <a:lnTo>
                  <a:pt x="0" y="6889898"/>
                </a:lnTo>
                <a:lnTo>
                  <a:pt x="7570382" y="6996223"/>
                </a:lnTo>
                <a:cubicBezTo>
                  <a:pt x="7563293" y="4664149"/>
                  <a:pt x="7556205" y="2353339"/>
                  <a:pt x="7549116" y="21265"/>
                </a:cubicBezTo>
                <a:lnTo>
                  <a:pt x="3700130" y="0"/>
                </a:lnTo>
                <a:close/>
              </a:path>
            </a:pathLst>
          </a:custGeom>
          <a:solidFill>
            <a:schemeClr val="accent1">
              <a:alpha val="4274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7"/>
          <p:cNvSpPr/>
          <p:nvPr/>
        </p:nvSpPr>
        <p:spPr>
          <a:xfrm>
            <a:off x="7461657" y="-395468"/>
            <a:ext cx="5041085" cy="5373859"/>
          </a:xfrm>
          <a:custGeom>
            <a:avLst/>
            <a:gdLst/>
            <a:ahLst/>
            <a:cxnLst/>
            <a:rect l="l" t="t" r="r" b="b"/>
            <a:pathLst>
              <a:path w="5041085" h="5373859" extrusionOk="0">
                <a:moveTo>
                  <a:pt x="0" y="0"/>
                </a:moveTo>
                <a:lnTo>
                  <a:pt x="5041085" y="0"/>
                </a:lnTo>
                <a:lnTo>
                  <a:pt x="5041085" y="5373860"/>
                </a:lnTo>
                <a:lnTo>
                  <a:pt x="0" y="5373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1000"/>
            </a:blip>
            <a:stretch>
              <a:fillRect/>
            </a:stretch>
          </a:blipFill>
          <a:ln>
            <a:noFill/>
          </a:ln>
        </p:spPr>
      </p:sp>
      <p:sp>
        <p:nvSpPr>
          <p:cNvPr id="21" name="Google Shape;21;p47"/>
          <p:cNvSpPr/>
          <p:nvPr/>
        </p:nvSpPr>
        <p:spPr>
          <a:xfrm>
            <a:off x="6096000" y="3339842"/>
            <a:ext cx="5598042" cy="4986342"/>
          </a:xfrm>
          <a:custGeom>
            <a:avLst/>
            <a:gdLst/>
            <a:ahLst/>
            <a:cxnLst/>
            <a:rect l="l" t="t" r="r" b="b"/>
            <a:pathLst>
              <a:path w="6592378" h="6477011" extrusionOk="0">
                <a:moveTo>
                  <a:pt x="0" y="0"/>
                </a:moveTo>
                <a:lnTo>
                  <a:pt x="6592378" y="0"/>
                </a:lnTo>
                <a:lnTo>
                  <a:pt x="6592378" y="6477011"/>
                </a:lnTo>
                <a:lnTo>
                  <a:pt x="0" y="64770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22" name="Google Shape;22;p47"/>
          <p:cNvSpPr/>
          <p:nvPr/>
        </p:nvSpPr>
        <p:spPr>
          <a:xfrm>
            <a:off x="157608" y="65658"/>
            <a:ext cx="1021286" cy="1030324"/>
          </a:xfrm>
          <a:custGeom>
            <a:avLst/>
            <a:gdLst/>
            <a:ahLst/>
            <a:cxnLst/>
            <a:rect l="l" t="t" r="r" b="b"/>
            <a:pathLst>
              <a:path w="1021286" h="1030324" extrusionOk="0">
                <a:moveTo>
                  <a:pt x="0" y="0"/>
                </a:moveTo>
                <a:lnTo>
                  <a:pt x="1021287" y="0"/>
                </a:lnTo>
                <a:lnTo>
                  <a:pt x="1021287" y="1030325"/>
                </a:lnTo>
                <a:lnTo>
                  <a:pt x="0" y="1030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" name="Google Shape;23;p47"/>
          <p:cNvSpPr txBox="1"/>
          <p:nvPr/>
        </p:nvSpPr>
        <p:spPr>
          <a:xfrm>
            <a:off x="1251100" y="257433"/>
            <a:ext cx="7287526" cy="68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Kementerian Pendidikan Dasar dan Menengah</a:t>
            </a:r>
            <a:endParaRPr sz="1800" b="0" i="0" u="none" strike="noStrike" cap="none">
              <a:solidFill>
                <a:srgbClr val="2E75B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/>
          </a:p>
        </p:txBody>
      </p:sp>
      <p:sp>
        <p:nvSpPr>
          <p:cNvPr id="24" name="Google Shape;24;p47"/>
          <p:cNvSpPr/>
          <p:nvPr/>
        </p:nvSpPr>
        <p:spPr>
          <a:xfrm>
            <a:off x="9912176" y="5513256"/>
            <a:ext cx="2036751" cy="1253166"/>
          </a:xfrm>
          <a:custGeom>
            <a:avLst/>
            <a:gdLst/>
            <a:ahLst/>
            <a:cxnLst/>
            <a:rect l="l" t="t" r="r" b="b"/>
            <a:pathLst>
              <a:path w="2036751" h="1253166" extrusionOk="0">
                <a:moveTo>
                  <a:pt x="0" y="0"/>
                </a:moveTo>
                <a:lnTo>
                  <a:pt x="2036750" y="0"/>
                </a:lnTo>
                <a:lnTo>
                  <a:pt x="2036750" y="1253167"/>
                </a:lnTo>
                <a:lnTo>
                  <a:pt x="0" y="12531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36039" b="-67113"/>
            </a:stretch>
          </a:blipFill>
          <a:ln>
            <a:noFill/>
          </a:ln>
        </p:spPr>
      </p:sp>
      <p:sp>
        <p:nvSpPr>
          <p:cNvPr id="25" name="Google Shape;25;p47"/>
          <p:cNvSpPr/>
          <p:nvPr/>
        </p:nvSpPr>
        <p:spPr>
          <a:xfrm>
            <a:off x="7586400" y="5611560"/>
            <a:ext cx="2229434" cy="1085305"/>
          </a:xfrm>
          <a:custGeom>
            <a:avLst/>
            <a:gdLst/>
            <a:ahLst/>
            <a:cxnLst/>
            <a:rect l="l" t="t" r="r" b="b"/>
            <a:pathLst>
              <a:path w="1820628" h="798727" extrusionOk="0">
                <a:moveTo>
                  <a:pt x="0" y="0"/>
                </a:moveTo>
                <a:lnTo>
                  <a:pt x="1820629" y="0"/>
                </a:lnTo>
                <a:lnTo>
                  <a:pt x="1820629" y="798727"/>
                </a:lnTo>
                <a:lnTo>
                  <a:pt x="0" y="798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407476" t="-1512772" r="-113525" b="-15620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8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7321343" h="8639020" extrusionOk="0">
                <a:moveTo>
                  <a:pt x="0" y="0"/>
                </a:moveTo>
                <a:lnTo>
                  <a:pt x="17321344" y="0"/>
                </a:lnTo>
                <a:lnTo>
                  <a:pt x="17321344" y="8639020"/>
                </a:lnTo>
                <a:lnTo>
                  <a:pt x="0" y="863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1999"/>
            </a:blip>
            <a:stretch>
              <a:fillRect l="-6031" t="-9276" r="-6030" b="-136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6000"/>
              <a:buFont typeface="Calibri"/>
              <a:buNone/>
              <a:defRPr sz="60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  <a:defRPr sz="24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30" name="Google Shape;30;p48"/>
          <p:cNvCxnSpPr/>
          <p:nvPr/>
        </p:nvCxnSpPr>
        <p:spPr>
          <a:xfrm>
            <a:off x="838200" y="4582742"/>
            <a:ext cx="7497726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" name="Google Shape;31;p48"/>
          <p:cNvCxnSpPr/>
          <p:nvPr/>
        </p:nvCxnSpPr>
        <p:spPr>
          <a:xfrm>
            <a:off x="6719777" y="4582742"/>
            <a:ext cx="4634023" cy="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48"/>
          <p:cNvSpPr/>
          <p:nvPr/>
        </p:nvSpPr>
        <p:spPr>
          <a:xfrm>
            <a:off x="157608" y="65658"/>
            <a:ext cx="1021286" cy="1030324"/>
          </a:xfrm>
          <a:custGeom>
            <a:avLst/>
            <a:gdLst/>
            <a:ahLst/>
            <a:cxnLst/>
            <a:rect l="l" t="t" r="r" b="b"/>
            <a:pathLst>
              <a:path w="1021286" h="1030324" extrusionOk="0">
                <a:moveTo>
                  <a:pt x="0" y="0"/>
                </a:moveTo>
                <a:lnTo>
                  <a:pt x="1021287" y="0"/>
                </a:lnTo>
                <a:lnTo>
                  <a:pt x="1021287" y="1030325"/>
                </a:lnTo>
                <a:lnTo>
                  <a:pt x="0" y="1030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" name="Google Shape;33;p48"/>
          <p:cNvSpPr txBox="1"/>
          <p:nvPr/>
        </p:nvSpPr>
        <p:spPr>
          <a:xfrm>
            <a:off x="1251100" y="257433"/>
            <a:ext cx="7287526" cy="68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Kementerian Pendidikan Dasar dan Menengah</a:t>
            </a:r>
            <a:endParaRPr sz="1800" b="0">
              <a:solidFill>
                <a:srgbClr val="2E75B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/>
          </a:p>
        </p:txBody>
      </p:sp>
      <p:sp>
        <p:nvSpPr>
          <p:cNvPr id="34" name="Google Shape;34;p48"/>
          <p:cNvSpPr/>
          <p:nvPr/>
        </p:nvSpPr>
        <p:spPr>
          <a:xfrm>
            <a:off x="10222728" y="-58471"/>
            <a:ext cx="1681726" cy="1077325"/>
          </a:xfrm>
          <a:custGeom>
            <a:avLst/>
            <a:gdLst/>
            <a:ahLst/>
            <a:cxnLst/>
            <a:rect l="l" t="t" r="r" b="b"/>
            <a:pathLst>
              <a:path w="2036751" h="1253166" extrusionOk="0">
                <a:moveTo>
                  <a:pt x="0" y="0"/>
                </a:moveTo>
                <a:lnTo>
                  <a:pt x="2036750" y="0"/>
                </a:lnTo>
                <a:lnTo>
                  <a:pt x="2036750" y="1253167"/>
                </a:lnTo>
                <a:lnTo>
                  <a:pt x="0" y="12531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6039" b="-67113"/>
            </a:stretch>
          </a:blipFill>
          <a:ln>
            <a:noFill/>
          </a:ln>
        </p:spPr>
      </p:sp>
      <p:sp>
        <p:nvSpPr>
          <p:cNvPr id="35" name="Google Shape;35;p48"/>
          <p:cNvSpPr/>
          <p:nvPr/>
        </p:nvSpPr>
        <p:spPr>
          <a:xfrm>
            <a:off x="8554354" y="128679"/>
            <a:ext cx="1727680" cy="823745"/>
          </a:xfrm>
          <a:custGeom>
            <a:avLst/>
            <a:gdLst/>
            <a:ahLst/>
            <a:cxnLst/>
            <a:rect l="l" t="t" r="r" b="b"/>
            <a:pathLst>
              <a:path w="1820628" h="798727" extrusionOk="0">
                <a:moveTo>
                  <a:pt x="0" y="0"/>
                </a:moveTo>
                <a:lnTo>
                  <a:pt x="1820629" y="0"/>
                </a:lnTo>
                <a:lnTo>
                  <a:pt x="1820629" y="798727"/>
                </a:lnTo>
                <a:lnTo>
                  <a:pt x="0" y="798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407476" t="-1512772" r="-113525" b="-15620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  <a:defRPr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9"/>
          <p:cNvSpPr/>
          <p:nvPr/>
        </p:nvSpPr>
        <p:spPr>
          <a:xfrm>
            <a:off x="0" y="1690688"/>
            <a:ext cx="12191999" cy="5167312"/>
          </a:xfrm>
          <a:custGeom>
            <a:avLst/>
            <a:gdLst/>
            <a:ahLst/>
            <a:cxnLst/>
            <a:rect l="l" t="t" r="r" b="b"/>
            <a:pathLst>
              <a:path w="17321343" h="8639020" extrusionOk="0">
                <a:moveTo>
                  <a:pt x="0" y="0"/>
                </a:moveTo>
                <a:lnTo>
                  <a:pt x="17321344" y="0"/>
                </a:lnTo>
                <a:lnTo>
                  <a:pt x="17321344" y="8639020"/>
                </a:lnTo>
                <a:lnTo>
                  <a:pt x="0" y="863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1999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9" name="Google Shape;39;p49"/>
          <p:cNvCxnSpPr/>
          <p:nvPr/>
        </p:nvCxnSpPr>
        <p:spPr>
          <a:xfrm>
            <a:off x="838200" y="1690688"/>
            <a:ext cx="7497726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" name="Google Shape;40;p49"/>
          <p:cNvCxnSpPr/>
          <p:nvPr/>
        </p:nvCxnSpPr>
        <p:spPr>
          <a:xfrm>
            <a:off x="6719777" y="1690688"/>
            <a:ext cx="4634023" cy="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" name="Google Shape;41;p49"/>
          <p:cNvSpPr/>
          <p:nvPr/>
        </p:nvSpPr>
        <p:spPr>
          <a:xfrm>
            <a:off x="105273" y="6268035"/>
            <a:ext cx="494516" cy="498893"/>
          </a:xfrm>
          <a:custGeom>
            <a:avLst/>
            <a:gdLst/>
            <a:ahLst/>
            <a:cxnLst/>
            <a:rect l="l" t="t" r="r" b="b"/>
            <a:pathLst>
              <a:path w="659355" h="665190" extrusionOk="0">
                <a:moveTo>
                  <a:pt x="0" y="0"/>
                </a:moveTo>
                <a:lnTo>
                  <a:pt x="659355" y="0"/>
                </a:lnTo>
                <a:lnTo>
                  <a:pt x="659355" y="665190"/>
                </a:lnTo>
                <a:lnTo>
                  <a:pt x="0" y="6651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2" name="Google Shape;42;p49"/>
          <p:cNvSpPr txBox="1"/>
          <p:nvPr/>
        </p:nvSpPr>
        <p:spPr>
          <a:xfrm>
            <a:off x="629853" y="6388734"/>
            <a:ext cx="6303024" cy="29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E75B5"/>
                </a:solidFill>
                <a:latin typeface="Poppins"/>
                <a:ea typeface="Poppins"/>
                <a:cs typeface="Poppins"/>
                <a:sym typeface="Poppins"/>
              </a:rPr>
              <a:t>Kementerian Pendidikan Dasar dan Menengah</a:t>
            </a:r>
            <a:endParaRPr sz="1700">
              <a:solidFill>
                <a:srgbClr val="2E75B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>
            <a:alpha val="45882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/>
          </p:nvPr>
        </p:nvSpPr>
        <p:spPr>
          <a:xfrm>
            <a:off x="404037" y="2723868"/>
            <a:ext cx="5996763" cy="195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sz="4400" dirty="0" err="1"/>
              <a:t>Literasi</a:t>
            </a:r>
            <a:r>
              <a:rPr lang="en-US" sz="4400" dirty="0"/>
              <a:t> </a:t>
            </a:r>
            <a:r>
              <a:rPr lang="en-US" sz="4400" dirty="0" err="1"/>
              <a:t>Algoritma</a:t>
            </a:r>
            <a:r>
              <a:rPr lang="en-US" sz="4400" dirty="0"/>
              <a:t> dan </a:t>
            </a:r>
            <a:br>
              <a:rPr lang="en-US" sz="4400" dirty="0"/>
            </a:br>
            <a:r>
              <a:rPr lang="en-US" sz="4400" dirty="0" err="1"/>
              <a:t>Konten</a:t>
            </a:r>
            <a:r>
              <a:rPr lang="en-US" sz="4400" dirty="0"/>
              <a:t> Digital</a:t>
            </a:r>
          </a:p>
        </p:txBody>
      </p:sp>
      <p:sp>
        <p:nvSpPr>
          <p:cNvPr id="60" name="Google Shape;60;p1"/>
          <p:cNvSpPr txBox="1">
            <a:spLocks noGrp="1"/>
          </p:cNvSpPr>
          <p:nvPr>
            <p:ph type="subTitle" idx="1"/>
          </p:nvPr>
        </p:nvSpPr>
        <p:spPr>
          <a:xfrm>
            <a:off x="404037" y="5071743"/>
            <a:ext cx="5996763" cy="1357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r>
              <a:rPr lang="en-US"/>
              <a:t>Pendidikan Dasar dan Menengah</a:t>
            </a: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415365" y="1486249"/>
            <a:ext cx="5996763" cy="123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Modul </a:t>
            </a:r>
            <a:r>
              <a:rPr lang="en-US" sz="4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4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9E251-DCDB-4C8E-A465-414791C9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Pengelolaan Data Dalam Kehidupan Sehari-hari dan Penyusunan Instruksi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67817-3EC7-407F-A25C-6F0DBD451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 Modul 2.1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3434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4A3F-9E7E-4473-AEF5-52FBAAD6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Kesepakatan</a:t>
            </a:r>
            <a:r>
              <a:rPr lang="en-US" dirty="0"/>
              <a:t> </a:t>
            </a:r>
            <a:r>
              <a:rPr lang="en-US" dirty="0" err="1"/>
              <a:t>Belajar</a:t>
            </a:r>
            <a:endParaRPr lang="en-ID" dirty="0"/>
          </a:p>
        </p:txBody>
      </p:sp>
      <p:pic>
        <p:nvPicPr>
          <p:cNvPr id="4" name="Graphic 3" descr="Stopwatch with solid fill">
            <a:extLst>
              <a:ext uri="{FF2B5EF4-FFF2-40B4-BE49-F238E27FC236}">
                <a16:creationId xmlns:a16="http://schemas.microsoft.com/office/drawing/2014/main" id="{39CA5F6F-2118-49E3-84D6-39A399194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1080" y="2682239"/>
            <a:ext cx="914400" cy="914400"/>
          </a:xfrm>
          <a:prstGeom prst="rect">
            <a:avLst/>
          </a:prstGeom>
        </p:spPr>
      </p:pic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9D37064B-9113-456D-AF15-85E545C20A49}"/>
              </a:ext>
            </a:extLst>
          </p:cNvPr>
          <p:cNvSpPr txBox="1"/>
          <p:nvPr/>
        </p:nvSpPr>
        <p:spPr>
          <a:xfrm>
            <a:off x="2209800" y="2939405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Hadir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tepat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waktu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7" name="Graphic 6" descr="Smart Phone with solid fill">
            <a:extLst>
              <a:ext uri="{FF2B5EF4-FFF2-40B4-BE49-F238E27FC236}">
                <a16:creationId xmlns:a16="http://schemas.microsoft.com/office/drawing/2014/main" id="{7DF77D22-D74E-43BA-A00A-6EFE129F9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431" y="4209092"/>
            <a:ext cx="761049" cy="761049"/>
          </a:xfrm>
          <a:prstGeom prst="rect">
            <a:avLst/>
          </a:prstGeom>
        </p:spPr>
      </p:pic>
      <p:sp>
        <p:nvSpPr>
          <p:cNvPr id="8" name="&quot;Not Allowed&quot; Symbol 7">
            <a:extLst>
              <a:ext uri="{FF2B5EF4-FFF2-40B4-BE49-F238E27FC236}">
                <a16:creationId xmlns:a16="http://schemas.microsoft.com/office/drawing/2014/main" id="{9B7F6D2D-D5CC-4332-BE62-8949BA0A7111}"/>
              </a:ext>
            </a:extLst>
          </p:cNvPr>
          <p:cNvSpPr/>
          <p:nvPr/>
        </p:nvSpPr>
        <p:spPr>
          <a:xfrm>
            <a:off x="1021080" y="4130989"/>
            <a:ext cx="1051560" cy="914401"/>
          </a:xfrm>
          <a:prstGeom prst="noSmoking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9" name="Google Shape;99;p6">
            <a:extLst>
              <a:ext uri="{FF2B5EF4-FFF2-40B4-BE49-F238E27FC236}">
                <a16:creationId xmlns:a16="http://schemas.microsoft.com/office/drawing/2014/main" id="{30EFBD8D-BF89-4599-9C44-5922A0EF384E}"/>
              </a:ext>
            </a:extLst>
          </p:cNvPr>
          <p:cNvSpPr txBox="1"/>
          <p:nvPr/>
        </p:nvSpPr>
        <p:spPr>
          <a:xfrm>
            <a:off x="2209800" y="4388154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Ponsel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mode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hening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11" name="Graphic 10" descr="Meeting with solid fill">
            <a:extLst>
              <a:ext uri="{FF2B5EF4-FFF2-40B4-BE49-F238E27FC236}">
                <a16:creationId xmlns:a16="http://schemas.microsoft.com/office/drawing/2014/main" id="{25F884CF-5501-4729-977C-F5FB06723E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6858" y="2710806"/>
            <a:ext cx="914400" cy="914400"/>
          </a:xfrm>
          <a:prstGeom prst="rect">
            <a:avLst/>
          </a:prstGeom>
        </p:spPr>
      </p:pic>
      <p:sp>
        <p:nvSpPr>
          <p:cNvPr id="12" name="Google Shape;99;p6">
            <a:extLst>
              <a:ext uri="{FF2B5EF4-FFF2-40B4-BE49-F238E27FC236}">
                <a16:creationId xmlns:a16="http://schemas.microsoft.com/office/drawing/2014/main" id="{BDF068C3-7172-448C-9346-E3350B4B2160}"/>
              </a:ext>
            </a:extLst>
          </p:cNvPr>
          <p:cNvSpPr txBox="1"/>
          <p:nvPr/>
        </p:nvSpPr>
        <p:spPr>
          <a:xfrm>
            <a:off x="6505578" y="3028931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Saling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menghormati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14" name="Graphic 13" descr="Customer review with solid fill">
            <a:extLst>
              <a:ext uri="{FF2B5EF4-FFF2-40B4-BE49-F238E27FC236}">
                <a16:creationId xmlns:a16="http://schemas.microsoft.com/office/drawing/2014/main" id="{9E816402-26EB-4669-B017-7DCC820030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16858" y="4084308"/>
            <a:ext cx="914400" cy="914400"/>
          </a:xfrm>
          <a:prstGeom prst="rect">
            <a:avLst/>
          </a:prstGeom>
        </p:spPr>
      </p:pic>
      <p:sp>
        <p:nvSpPr>
          <p:cNvPr id="15" name="Google Shape;99;p6">
            <a:extLst>
              <a:ext uri="{FF2B5EF4-FFF2-40B4-BE49-F238E27FC236}">
                <a16:creationId xmlns:a16="http://schemas.microsoft.com/office/drawing/2014/main" id="{1E532CC9-014F-4CE0-968A-927971BED355}"/>
              </a:ext>
            </a:extLst>
          </p:cNvPr>
          <p:cNvSpPr txBox="1"/>
          <p:nvPr/>
        </p:nvSpPr>
        <p:spPr>
          <a:xfrm>
            <a:off x="6505578" y="4526266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Aktif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pembelajaran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17" name="Graphic 16" descr="Large paint brush with solid fill">
            <a:extLst>
              <a:ext uri="{FF2B5EF4-FFF2-40B4-BE49-F238E27FC236}">
                <a16:creationId xmlns:a16="http://schemas.microsoft.com/office/drawing/2014/main" id="{4F6DD62B-C685-4B0F-992D-2EC8B6DB64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30696" y="3429000"/>
            <a:ext cx="914400" cy="914400"/>
          </a:xfrm>
          <a:prstGeom prst="rect">
            <a:avLst/>
          </a:prstGeom>
        </p:spPr>
      </p:pic>
      <p:sp>
        <p:nvSpPr>
          <p:cNvPr id="18" name="Google Shape;99;p6">
            <a:extLst>
              <a:ext uri="{FF2B5EF4-FFF2-40B4-BE49-F238E27FC236}">
                <a16:creationId xmlns:a16="http://schemas.microsoft.com/office/drawing/2014/main" id="{1966595C-4B01-4567-A411-6A8AD34BCA19}"/>
              </a:ext>
            </a:extLst>
          </p:cNvPr>
          <p:cNvSpPr txBox="1"/>
          <p:nvPr/>
        </p:nvSpPr>
        <p:spPr>
          <a:xfrm>
            <a:off x="10245096" y="3554654"/>
            <a:ext cx="151256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Menjaga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kebersihan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200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4A3F-9E7E-4473-AEF5-52FBAAD6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Mindfulness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55BA7-A5EF-4AC7-A0D5-A21889359B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38200" y="2279015"/>
            <a:ext cx="4865583" cy="3664585"/>
          </a:xfrm>
          <a:prstGeom prst="rect">
            <a:avLst/>
          </a:prstGeom>
        </p:spPr>
      </p:pic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69910DB8-E13C-4850-8C47-D82F0E7FC277}"/>
              </a:ext>
            </a:extLst>
          </p:cNvPr>
          <p:cNvSpPr txBox="1"/>
          <p:nvPr/>
        </p:nvSpPr>
        <p:spPr>
          <a:xfrm>
            <a:off x="5703783" y="3561497"/>
            <a:ext cx="565404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panduan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Pengajar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Koding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dan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Kecerdasan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Artifisial</a:t>
            </a:r>
            <a:endParaRPr lang="en-US" sz="3200" b="1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lakukan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kegiatan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Teknik STOP.</a:t>
            </a:r>
            <a:endParaRPr lang="en-US" sz="32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012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8F953A-BA00-47F3-8B98-F8E4E283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Lembar </a:t>
            </a:r>
            <a:r>
              <a:rPr lang="en-US" dirty="0" err="1"/>
              <a:t>Kerja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F5DC6-1EDA-4CB6-A953-0F48F4171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Memahami</a:t>
            </a:r>
            <a:endParaRPr lang="en-ID" dirty="0"/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4F1573B0-7C25-484D-9F8A-B01278CE4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5920" y="2261870"/>
            <a:ext cx="2081530" cy="208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70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4A3F-9E7E-4473-AEF5-52FBAAD6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LK </a:t>
            </a:r>
            <a:r>
              <a:rPr lang="en-US" dirty="0" err="1"/>
              <a:t>Memahami</a:t>
            </a:r>
            <a:r>
              <a:rPr lang="en-US" dirty="0"/>
              <a:t> (2.1.a dan 2.1.b)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51BB4E18-9DC0-42FF-9013-012CB59DCC47}"/>
              </a:ext>
            </a:extLst>
          </p:cNvPr>
          <p:cNvSpPr txBox="1"/>
          <p:nvPr/>
        </p:nvSpPr>
        <p:spPr>
          <a:xfrm>
            <a:off x="838200" y="2240344"/>
            <a:ext cx="10610088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Unduh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file LK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Memahami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LMS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Kerjakanlah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LK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Memahami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LK 2.1.a dan LK 2.1.b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2.1.a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membuat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mind-map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atau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resume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berbasis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i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cornell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-note taking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2.2.b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setelah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mengerjakan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3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soal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mintalah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umpan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balik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2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rekan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sejawat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 LK 2.1.a dan 2.2.b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unggah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LMS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menjadi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1 file PDF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Alokasi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waktu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pengerjaan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20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menit</a:t>
            </a:r>
            <a:endParaRPr sz="1800" b="1" dirty="0"/>
          </a:p>
        </p:txBody>
      </p:sp>
    </p:spTree>
    <p:extLst>
      <p:ext uri="{BB962C8B-B14F-4D97-AF65-F5344CB8AC3E}">
        <p14:creationId xmlns:p14="http://schemas.microsoft.com/office/powerpoint/2010/main" val="1218161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sz="3600" dirty="0" err="1"/>
              <a:t>Mengelola</a:t>
            </a:r>
            <a:r>
              <a:rPr lang="en-US" sz="3600" dirty="0"/>
              <a:t> data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kehidupan</a:t>
            </a:r>
            <a:r>
              <a:rPr lang="en-US" sz="3600" dirty="0"/>
              <a:t> </a:t>
            </a:r>
            <a:r>
              <a:rPr lang="en-US" sz="3600" dirty="0" err="1"/>
              <a:t>sehari-hari</a:t>
            </a:r>
            <a:endParaRPr lang="en-US" sz="3600" dirty="0"/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034588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nn-NO" sz="32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Coba bagikan apa yang Anda ketahui atau</a:t>
            </a: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nn-NO" sz="32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pahami tentang pengelolaan data dan penyusunan instruksi?</a:t>
            </a: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32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Mengelola</a:t>
            </a:r>
            <a:r>
              <a:rPr lang="en-US" dirty="0"/>
              <a:t> data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“Cara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menemukan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mengolah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secara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sistematis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misalnya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catatan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wawancara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observasi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meningkatkan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pengetahuan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peneliti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menyajikannya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sebagai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temuan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.”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8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Kegiatan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dilakukan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menggunakan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masukan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berupa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dan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menghasilkan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informasi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bermanfaat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tujuan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sesuai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rencana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7520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Sifat Data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kualitatif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bentuk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kategori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atribut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sedangkan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kuantitatif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berbentuk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bilangan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8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kuantitatif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dikelompokkan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menjadi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yaitu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diskrit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data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kontinu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Data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diskrit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diperoleh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hasil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membilang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operasi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aritmatika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data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kontinu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diperoleh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hasil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mengukur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9387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Sumber</a:t>
            </a:r>
            <a:r>
              <a:rPr lang="en-US" dirty="0"/>
              <a:t> data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Menurut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memperoleh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terbagi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menjadi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kelompok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yaitu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/>
              <a:buChar char="•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primer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diperoleh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memperoleh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secara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langsung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sumbernya</a:t>
            </a: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/>
              <a:buChar char="•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sekunder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diperoleh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sudah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bentuk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jadi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pihak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lain.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peroleh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melalui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kegiatan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eksperimen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kegiatan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eksperimen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6053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Keakuratan</a:t>
            </a:r>
            <a:r>
              <a:rPr lang="en-US" dirty="0"/>
              <a:t> Data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kemampuan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akurasi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data, Data primer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sekunder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lebih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akurat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</a:p>
        </p:txBody>
      </p:sp>
      <p:sp>
        <p:nvSpPr>
          <p:cNvPr id="4" name="Google Shape;112;p8">
            <a:extLst>
              <a:ext uri="{FF2B5EF4-FFF2-40B4-BE49-F238E27FC236}">
                <a16:creationId xmlns:a16="http://schemas.microsoft.com/office/drawing/2014/main" id="{088CC7C4-7996-285F-644B-E01765EEB789}"/>
              </a:ext>
            </a:extLst>
          </p:cNvPr>
          <p:cNvSpPr/>
          <p:nvPr/>
        </p:nvSpPr>
        <p:spPr>
          <a:xfrm>
            <a:off x="838200" y="4069266"/>
            <a:ext cx="1078382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primer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lebih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akurat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karena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sekunder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sedikit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kurang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akurat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karena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mengalami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berbagai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tahap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pengolahan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analisis</a:t>
            </a: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208207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Mengidentifikasi</a:t>
            </a:r>
            <a:r>
              <a:rPr lang="en-US" i="1" dirty="0"/>
              <a:t> data yang </a:t>
            </a:r>
            <a:r>
              <a:rPr lang="en-US" i="1" dirty="0" err="1"/>
              <a:t>diperlukan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1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8007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Dekomposisi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1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65167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Dekomposisi</a:t>
            </a:r>
            <a:endParaRPr lang="en-US" dirty="0"/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Proses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dekomposisi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merupakan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proses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pemecahan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masalah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besar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menjadi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sub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masalah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lebih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kecil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sehingga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lebih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mudah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dikelola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Kegiatan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kita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lakukan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mengidentifikasi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diperlukan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sumber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8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92114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Aktivitas</a:t>
            </a:r>
            <a:r>
              <a:rPr lang="en-US" dirty="0"/>
              <a:t> 1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Tujuan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Peserta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pelatihan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memecah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masalah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besar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			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menjadi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bagian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kecil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lebih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mudah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diselesaikan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Plugged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spreadsheets( Google spreadsheets, Ms. Excel,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dll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Unplugged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Kertas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pensil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tulis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1427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Langkah-Langkah </a:t>
            </a:r>
            <a:r>
              <a:rPr lang="en-US" dirty="0" err="1"/>
              <a:t>Aktivitas</a:t>
            </a:r>
            <a:r>
              <a:rPr lang="en-US" dirty="0"/>
              <a:t> 1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diperlukan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Contoh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tanggal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keberangkatan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jarak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km:m:cm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jam:menit:detik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jenis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jalan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kondisi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lalu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cuaca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Sumber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gunakan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gps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tracking, 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navigasi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(google maps,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waze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historis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perjalanan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survei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sensor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lalu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periode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pengumpulan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yaitu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kerja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vs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akhir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pekan,  jam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sibuk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vs non-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sibuk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musim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kondisi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cuaca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tertentu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Contoh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ambil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pada link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berikut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https://s.id/bimtekkkasmpla2025</a:t>
            </a:r>
          </a:p>
        </p:txBody>
      </p:sp>
      <p:pic>
        <p:nvPicPr>
          <p:cNvPr id="4" name="Picture 3" descr="A qr code with a logo&#10;&#10;Description automatically generated">
            <a:extLst>
              <a:ext uri="{FF2B5EF4-FFF2-40B4-BE49-F238E27FC236}">
                <a16:creationId xmlns:a16="http://schemas.microsoft.com/office/drawing/2014/main" id="{F6E6BAF6-3DF9-A04B-0FAD-328150D90A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503" y="4857515"/>
            <a:ext cx="1635360" cy="163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67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Pembersihan</a:t>
            </a:r>
            <a:r>
              <a:rPr lang="en-US" i="1" dirty="0"/>
              <a:t> dan </a:t>
            </a:r>
            <a:r>
              <a:rPr lang="en-US" i="1" dirty="0" err="1"/>
              <a:t>Validasi</a:t>
            </a:r>
            <a:r>
              <a:rPr lang="en-US" i="1" dirty="0"/>
              <a:t> Data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44554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Pengenalan</a:t>
            </a:r>
            <a:r>
              <a:rPr lang="en-US" dirty="0"/>
              <a:t> Pola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Mengidentifikasi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bertujuan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menemukan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memberikan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informasi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berharga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mengelompokkan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pembersihan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data,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klasifikasi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data.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Pembersihan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perlu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dilakukan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memeriksa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guna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menghindari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adanya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kesalahan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seperti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duplikasi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nilai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hilang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tidak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valid. 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diperiksa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kemudian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diklasifikasikan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berdasarkan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kategori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tertentu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berdasarkan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faktor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relevan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38241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Teknik </a:t>
            </a:r>
            <a:r>
              <a:rPr lang="en-US" dirty="0" err="1"/>
              <a:t>Pembersihan</a:t>
            </a:r>
            <a:r>
              <a:rPr lang="en-US" dirty="0"/>
              <a:t> Data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Standardisasi</a:t>
            </a:r>
            <a:endParaRPr lang="en-US" sz="2400" b="1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Ketidakkonsistenan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muncul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ketika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direpresentasikan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format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struktur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berbeda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kumpulan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Sebagai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contoh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ketidaksesuaian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umum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terjadi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format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tanggal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seperti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"MM-DD-YYYY"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dangan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"DD-MM-YYYY."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Menstandarkan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format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struktur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membantu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memastikan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keseragaman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kompatibilitas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analisis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akurat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84904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Teknik </a:t>
            </a:r>
            <a:r>
              <a:rPr lang="en-US" dirty="0" err="1"/>
              <a:t>Pembersihan</a:t>
            </a:r>
            <a:r>
              <a:rPr lang="en-US" dirty="0"/>
              <a:t> Data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Mengatasi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outlier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Outlier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titik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menyimpang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secara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signifikan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lain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kumpulan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data,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disebabkan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oleh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kesalahan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kejadian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langka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anomali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sebenarnya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Nilai-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nilai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ekstrem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mendistorsi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analisis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akurasi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model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memiringkan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rata-rata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Para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profesional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manajemen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mengatasi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outlier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mengevaluasi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apakah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kesalahan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nilai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berarti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Kemudian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memutuskan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mempertahankan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menyesuaikan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menghapus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outlier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tersebut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berdasarkan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relevansinya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analisis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58615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Teknik </a:t>
            </a:r>
            <a:r>
              <a:rPr lang="en-US" dirty="0" err="1"/>
              <a:t>Pembersihan</a:t>
            </a:r>
            <a:r>
              <a:rPr lang="en-US" dirty="0"/>
              <a:t> Data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Deduplikasi</a:t>
            </a:r>
            <a:endParaRPr lang="en-US" sz="2400" b="1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Deduplikasi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proses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perampingan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 mana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berlebihan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dikurangi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menghilangkan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salinan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ekstra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informasi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Catatan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duplikat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terjadi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ketika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titik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diulang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karena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masalah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kesalahan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manual,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gangguan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Duplikat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menggelembungkan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kumpulan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mendistorsi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analisis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sehingga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menghasilkan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kesimpulan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tidak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akurat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47635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Teknik </a:t>
            </a:r>
            <a:r>
              <a:rPr lang="en-US" dirty="0" err="1"/>
              <a:t>Pembersihan</a:t>
            </a:r>
            <a:r>
              <a:rPr lang="en-US" dirty="0"/>
              <a:t> Data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Mengatasi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missing values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i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Missing values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muncul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ketika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titik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tidak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karena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pengumpulan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tidak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lengkap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kesalahan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input,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kegagalan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Kesenjangan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mendistorsi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analisis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menurunkan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akurasi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model,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membatasi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kumpulan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data.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mengatasi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para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profesional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mengganti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missing values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diperkirakan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menghapus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tidak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lengkap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menandai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i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missing values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penyelidikan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lebih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lanjut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6119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Teknik </a:t>
            </a:r>
            <a:r>
              <a:rPr lang="en-US" dirty="0" err="1"/>
              <a:t>Pembersihan</a:t>
            </a:r>
            <a:r>
              <a:rPr lang="en-US" dirty="0"/>
              <a:t> Data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Validasi</a:t>
            </a:r>
            <a:endParaRPr lang="en-US" sz="2400" b="1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Tinjauan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akhir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proses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pembersihan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sangat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penting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memverifikasi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bahwa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sudah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bersih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akurat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siap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dianalisis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divisualisasikan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sering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kali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melibatkan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penggunaan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pemeriksaan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manual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pembersih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otomatis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memeriksa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kesalahan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tersisa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tidak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konsisten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anomali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45411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Aktivitas</a:t>
            </a:r>
            <a:r>
              <a:rPr lang="en-US" dirty="0"/>
              <a:t> 2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Tujuan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Peserta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pelatihan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pengelompokan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dan 				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pembersihan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Plugged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spreadsheets (Google spreadsheets, Ms. Excel)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Unplugged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Kertas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pensil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tulis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04452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Langkah-Langkah </a:t>
            </a:r>
            <a:r>
              <a:rPr lang="en-US" dirty="0" err="1"/>
              <a:t>Aktivitas</a:t>
            </a:r>
            <a:r>
              <a:rPr lang="en-US" dirty="0"/>
              <a:t> 2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Periksa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kelengkapan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mengidentifikasi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hilang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validasi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memastikan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semua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variabel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tercatat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benar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Selanjutnya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kita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harus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melakukan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deteksi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penanganan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outlier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mengidentifikasi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nilai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tidak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masuk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akal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contoh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terlalu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cepat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terlalu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lambat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pemeriksaan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kesalahan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pencatatan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jarak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dll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Tahap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terakhir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menyamakan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satuan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pengukuran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di mana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kita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perlu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mengkonversi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semua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jarak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satuan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misalnya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satuan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kilometer),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menyeragamkan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format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misalnya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satuan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menit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dan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menyeragamkan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satuan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kecepatan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misalnya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satuan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kilometer per jam)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memberikan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label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kecepatan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valid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tidak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serta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mengevaluasi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apakah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outlier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tersebut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merupakan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anomali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nyata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hanya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kesalahan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261866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Klasifikasi</a:t>
            </a:r>
            <a:r>
              <a:rPr lang="en-US" i="1" dirty="0"/>
              <a:t> dan </a:t>
            </a:r>
            <a:r>
              <a:rPr lang="en-US" i="1" dirty="0" err="1"/>
              <a:t>Pengelompokan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3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49394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Aktivitas</a:t>
            </a:r>
            <a:r>
              <a:rPr lang="en-US" dirty="0"/>
              <a:t> 3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Tujuan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Peserta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pelatihan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pengelompokan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dan 				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pembersihan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Plugged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spreadsheets (Google spreadsheets, Ms. Excel)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Unplugged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Kertas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pensil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tulis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03729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Langkah-Langkah </a:t>
            </a:r>
            <a:r>
              <a:rPr lang="en-US" dirty="0" err="1"/>
              <a:t>Aktivitas</a:t>
            </a:r>
            <a:r>
              <a:rPr lang="en-US" dirty="0"/>
              <a:t> 2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 algn="just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Kelompokan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berdasarkan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rentang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jarak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berikan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label </a:t>
            </a:r>
            <a:r>
              <a:rPr lang="en-US" sz="1700" b="1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pendek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jarak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kurang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10 km, </a:t>
            </a:r>
            <a:r>
              <a:rPr lang="en-US" sz="1700" b="1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menengah</a:t>
            </a:r>
            <a:r>
              <a:rPr lang="en-US" sz="1700" b="1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jarak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10-30 km, </a:t>
            </a:r>
            <a:r>
              <a:rPr lang="en-US" sz="1700" b="1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jauh</a:t>
            </a:r>
            <a:r>
              <a:rPr lang="en-US" sz="1700" b="1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30 km), </a:t>
            </a:r>
          </a:p>
          <a:p>
            <a:pPr marL="457200" indent="-457200" algn="just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Kelompokan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berdasarkan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waktu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perjalanan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berikan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label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pagi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siang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sore, dan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malam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), </a:t>
            </a:r>
          </a:p>
          <a:p>
            <a:pPr marL="457200" indent="-457200" algn="just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Kelompokan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berdasarkan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seminggu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( (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berikan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label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kerja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libur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)</a:t>
            </a:r>
          </a:p>
          <a:p>
            <a:pPr marL="457200" indent="-457200" algn="just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Kelompokan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berdasarkan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jenis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jalan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berikan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label 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jalan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raya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jalan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tol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)</a:t>
            </a:r>
          </a:p>
          <a:p>
            <a:pPr marL="457200" indent="-457200" algn="just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Kelompokan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berdasarkan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kondisi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lalu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lintas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(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berikan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label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sedang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  <a:p>
            <a:pPr marL="457200" indent="-457200" algn="just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Membuat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variabel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turunan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memperkaya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analisis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 </a:t>
            </a:r>
          </a:p>
          <a:p>
            <a:pPr marL="914400" lvl="1" indent="-457200" algn="just" rtl="0" fontAlgn="base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kecepatan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rata-rata per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segmen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jalan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 </a:t>
            </a:r>
          </a:p>
          <a:p>
            <a:pPr marL="914400" lvl="1" indent="-457200" algn="just" rtl="0" fontAlgn="base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kepadatan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lalu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lintas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dikategorikan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label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sedang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atau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 </a:t>
            </a:r>
          </a:p>
          <a:p>
            <a:pPr marL="914400" lvl="1" indent="-457200" algn="just" rtl="0" fontAlgn="base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indek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hambatan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menunjukkan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rasio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antara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waktu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tempuh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nyata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dibandingkan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waktu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700" b="0" i="0" u="none" strike="noStrike" dirty="0" err="1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tempuh</a:t>
            </a:r>
            <a:r>
              <a:rPr lang="en-US" sz="1700" b="0" i="0" u="none" strike="noStrike" dirty="0">
                <a:solidFill>
                  <a:srgbClr val="0070C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ideal. 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1700" dirty="0">
              <a:solidFill>
                <a:srgbClr val="0070C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01190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Abstraksi</a:t>
            </a:r>
            <a:r>
              <a:rPr lang="en-US" i="1" dirty="0"/>
              <a:t>  Data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4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43716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Abstraksi</a:t>
            </a:r>
            <a:endParaRPr lang="en-US" dirty="0"/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Menyederhanakan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informasi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berfokus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pada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penting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mengabaikan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tidak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relevan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pengelolaan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tersebut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lakukan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mengekstraksi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fitur-fitur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penting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mentah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digunakan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analisis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lebih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lanjut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36462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Aktivitas</a:t>
            </a:r>
            <a:r>
              <a:rPr lang="en-US" dirty="0"/>
              <a:t> 4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Tujuan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Peserta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didik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abstraksi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Plugged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Spreadsheet ( Google seeds. Ms. Excel)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Unplugged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Kertas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pensil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tulis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09477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Langkah-Langkah </a:t>
            </a:r>
            <a:r>
              <a:rPr lang="en-US" dirty="0" err="1"/>
              <a:t>Aktivitas</a:t>
            </a:r>
            <a:r>
              <a:rPr lang="en-US" dirty="0"/>
              <a:t> 4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Berikut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beberapa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contoh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bisa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lakukan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bisa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kembangankan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sesuai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kebutuhan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4.1. Waktu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Rata-rata per Kilometer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4.2.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Standar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Deviasi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Waktu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4.2.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Kecepatan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Rata-rata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Berdasarkan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Kategori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Jalan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4.3.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Indeks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Hambatan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Rata-rata per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Kondisi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Lalu Lintas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798550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Penyusunan</a:t>
            </a:r>
            <a:r>
              <a:rPr lang="en-US" i="1" dirty="0"/>
              <a:t> </a:t>
            </a:r>
            <a:r>
              <a:rPr lang="en-US" i="1" dirty="0" err="1"/>
              <a:t>Instruksi</a:t>
            </a:r>
            <a:endParaRPr lang="en-US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4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38344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i="1" dirty="0" err="1"/>
              <a:t>Algoritma</a:t>
            </a:r>
            <a:endParaRPr lang="en-US" dirty="0"/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Tahap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lanjutan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 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cornerstone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sebelumnya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Setelah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melakukan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tahap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dekomposisi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abstraksi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mengenal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mengembangkan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algoritma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menghitung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berkendara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langkah-langkah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sistematis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Tahap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selanjutnya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pengolahan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sehingga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bisa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membantu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mengambil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sebuah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keputusan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lakukan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analisis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melibatkan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beberapa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komponen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utama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732700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Aktivitas</a:t>
            </a:r>
            <a:r>
              <a:rPr lang="en-US" dirty="0"/>
              <a:t> 5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Tujuan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Peserta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pelatihan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belajar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pemecahan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masalah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logistik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		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menghitung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berkendara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Plugged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blockly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Scratch,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Pictoblox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dll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Unpluged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: 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Kertas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pensil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tulis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21242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Langkah-Langkah </a:t>
            </a:r>
            <a:r>
              <a:rPr lang="en-US" dirty="0" err="1"/>
              <a:t>Aktivitas</a:t>
            </a:r>
            <a:r>
              <a:rPr lang="en-US" dirty="0"/>
              <a:t> 5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Langkah 1: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Tentukan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jarak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ditempuh</a:t>
            </a:r>
            <a:endParaRPr lang="en-US" sz="16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Tentukan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jarak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antara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titik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asal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tujuan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misalnya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100 km.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b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Langkah 2: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Tentukan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kecepatan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rata-rata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kendaraan</a:t>
            </a:r>
            <a:endParaRPr lang="en-US" sz="16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Tentukan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kecepatan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rata-rata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kendaraan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berdasarkan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kondisi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jalan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jenis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kendaraan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misalnya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60 km/jam.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b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Langkah 3: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Hitung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dasar</a:t>
            </a:r>
            <a:endParaRPr lang="en-US" sz="16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Gunakan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rumus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dasar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Jarak /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Kecepatan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Rata-rata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b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Contoh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jika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jarak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100 km dan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kecepatan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rata-rata 60 km/jam,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maka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 = 100 / 60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= 1.67  jam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b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lang="en-US" sz="16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16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5963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Langkah-Langkah </a:t>
            </a:r>
            <a:r>
              <a:rPr lang="en-US" dirty="0" err="1"/>
              <a:t>Aktivitas</a:t>
            </a:r>
            <a:r>
              <a:rPr lang="en-US" dirty="0"/>
              <a:t> 5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055681"/>
            <a:ext cx="10783824" cy="418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Langkah 4: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Tambahkan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ekstra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sebagai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faktor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eksternal</a:t>
            </a:r>
            <a:endParaRPr lang="en-US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Mempertimbangkan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faktor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seperti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kemacetan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cuaca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buruk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Misalnya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jika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perjalanan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diperkirakan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melalui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daerah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padat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pada jam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sibuk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tambah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sebesar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30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menit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b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Langkah 5: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Tambahkan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istirahat</a:t>
            </a:r>
            <a:endParaRPr lang="en-US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Jika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perlu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berhenti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istirahat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tambahkan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istirahat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Misalnya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istirahat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selama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15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menit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b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Langkah 6: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Hitung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total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endParaRPr lang="en-US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keseluruhan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jumlah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dasar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tambahan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karena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kemacetan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dan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istirahat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 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b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Contoh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5.1.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Perhitungan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Formula Dasar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(jam) = Jarak (km) ÷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Kecepatan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Rata-rata (km/jam)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Waktu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100 / 60 = 1.67 jam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b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5.2.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Perhitungan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Formula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Koreksi</a:t>
            </a:r>
            <a:endParaRPr lang="en-US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Waktu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= Waktu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Faktor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Lalu Lintas +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Faktor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Jenis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Jalan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Waktu 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Tempuh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=1.67 jam + 0.5 jam (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kemacetan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+ 0.25 jam (</a:t>
            </a:r>
            <a:r>
              <a:rPr lang="en-US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istirahat</a:t>
            </a: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 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= 2.42 jam</a:t>
            </a:r>
          </a:p>
        </p:txBody>
      </p:sp>
    </p:spTree>
    <p:extLst>
      <p:ext uri="{BB962C8B-B14F-4D97-AF65-F5344CB8AC3E}">
        <p14:creationId xmlns:p14="http://schemas.microsoft.com/office/powerpoint/2010/main" val="23612216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Langkah-Langkah </a:t>
            </a:r>
            <a:r>
              <a:rPr lang="en-US" dirty="0" err="1"/>
              <a:t>Aktivitas</a:t>
            </a:r>
            <a:r>
              <a:rPr lang="en-US" dirty="0"/>
              <a:t> 5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8FE5D7A-182C-F0F2-FE81-1B49FB707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68" y="1690689"/>
            <a:ext cx="5239512" cy="464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2EBDB6-CC4A-9F16-09B6-21745060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705" y="1690687"/>
            <a:ext cx="6133839" cy="464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3817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Sesi</a:t>
            </a:r>
            <a:r>
              <a:rPr lang="en-US" i="1" dirty="0"/>
              <a:t> Q&amp;A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615897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endParaRPr lang="en-US" dirty="0"/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40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Selamat</a:t>
            </a:r>
            <a:r>
              <a:rPr lang="en-US" sz="40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 </a:t>
            </a: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Anda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telah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berhasil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menyelesaikan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materi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Modul 2 Sub Bab 2.1</a:t>
            </a: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b="1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Sekarang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Anda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mengerjakan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4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Aktivitas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Pembelajaran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agar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memahami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mengeksplorasi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dan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merefleksikan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pembelajaran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Anda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selama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Sub Modul 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</a:t>
            </a:r>
            <a:endParaRPr lang="en-US" sz="2400" b="1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b="1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074100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8F953A-BA00-47F3-8B98-F8E4E283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Lembar </a:t>
            </a:r>
            <a:r>
              <a:rPr lang="en-US" dirty="0" err="1"/>
              <a:t>Kerja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F5DC6-1EDA-4CB6-A953-0F48F4171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Memahami</a:t>
            </a:r>
            <a:endParaRPr lang="en-ID" dirty="0"/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4F1573B0-7C25-484D-9F8A-B01278CE4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5920" y="2261870"/>
            <a:ext cx="2081530" cy="208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9738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4A3F-9E7E-4473-AEF5-52FBAAD6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LK </a:t>
            </a:r>
            <a:r>
              <a:rPr lang="en-US" dirty="0" err="1"/>
              <a:t>Mengaplikasi</a:t>
            </a:r>
            <a:r>
              <a:rPr lang="en-US" dirty="0"/>
              <a:t> (2.2)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51BB4E18-9DC0-42FF-9013-012CB59DCC47}"/>
              </a:ext>
            </a:extLst>
          </p:cNvPr>
          <p:cNvSpPr txBox="1"/>
          <p:nvPr/>
        </p:nvSpPr>
        <p:spPr>
          <a:xfrm>
            <a:off x="838200" y="2240344"/>
            <a:ext cx="10610088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Unduh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file LK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Memahami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LMS</a:t>
            </a:r>
          </a:p>
          <a:p>
            <a:pPr lvl="1"/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https://s.id/bimtekkkasmpla2025</a:t>
            </a:r>
            <a:endParaRPr lang="en-US" sz="24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Kerjakanlah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LK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Mengaplikasi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LK 2.2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Kerjakan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sheet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1,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2,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3,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4 dan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Pengembangan</a:t>
            </a:r>
            <a:endParaRPr lang="en-US" sz="24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 LK 2.2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unggah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LMS file 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spreadsheet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Alokasi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waktu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pengerjaan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120 </a:t>
            </a: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menit</a:t>
            </a:r>
            <a:endParaRPr sz="2400" b="1" dirty="0"/>
          </a:p>
        </p:txBody>
      </p:sp>
      <p:pic>
        <p:nvPicPr>
          <p:cNvPr id="4" name="Picture 3" descr="A qr code with a logo&#10;&#10;Description automatically generated">
            <a:extLst>
              <a:ext uri="{FF2B5EF4-FFF2-40B4-BE49-F238E27FC236}">
                <a16:creationId xmlns:a16="http://schemas.microsoft.com/office/drawing/2014/main" id="{0EE4A2C0-EB6E-6B14-4FC9-7E4D693CC0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527" y="1975168"/>
            <a:ext cx="1635360" cy="163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610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6000"/>
              <a:buFont typeface="Calibri"/>
              <a:buNone/>
            </a:pPr>
            <a:r>
              <a:rPr lang="en-US"/>
              <a:t>Penutup</a:t>
            </a:r>
            <a:endParaRPr/>
          </a:p>
        </p:txBody>
      </p:sp>
      <p:sp>
        <p:nvSpPr>
          <p:cNvPr id="415" name="Google Shape;415;p4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6000"/>
              <a:buFont typeface="Calibri"/>
              <a:buNone/>
            </a:pPr>
            <a:r>
              <a:rPr lang="en-US"/>
              <a:t>Terima Kasih</a:t>
            </a:r>
            <a:endParaRPr/>
          </a:p>
        </p:txBody>
      </p:sp>
      <p:sp>
        <p:nvSpPr>
          <p:cNvPr id="429" name="Google Shape;429;p4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1895</Words>
  <Application>Microsoft Office PowerPoint</Application>
  <PresentationFormat>Widescreen</PresentationFormat>
  <Paragraphs>174</Paragraphs>
  <Slides>44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Poppins</vt:lpstr>
      <vt:lpstr>Arial</vt:lpstr>
      <vt:lpstr>Helvetica Neue</vt:lpstr>
      <vt:lpstr>Calibri</vt:lpstr>
      <vt:lpstr>Office Theme</vt:lpstr>
      <vt:lpstr>Literasi Algoritma dan  Konten Digital</vt:lpstr>
      <vt:lpstr>Pengelolaan Data Dalam Kehidupan Sehari-hari dan Penyusunan Instruksi</vt:lpstr>
      <vt:lpstr>Kesepakatan Belajar</vt:lpstr>
      <vt:lpstr>Mindfulness</vt:lpstr>
      <vt:lpstr>Lembar Kerja</vt:lpstr>
      <vt:lpstr>LK Memahami (2.1.a dan 2.1.b)</vt:lpstr>
      <vt:lpstr>Mengelola data dalam kehidupan sehari-hari</vt:lpstr>
      <vt:lpstr>Mengelola data</vt:lpstr>
      <vt:lpstr>Sifat Data</vt:lpstr>
      <vt:lpstr>Sumber data</vt:lpstr>
      <vt:lpstr>Keakuratan Data</vt:lpstr>
      <vt:lpstr>Mengidentifikasi data yang diperlukan</vt:lpstr>
      <vt:lpstr>Dekomposisi</vt:lpstr>
      <vt:lpstr>Dekomposisi</vt:lpstr>
      <vt:lpstr>Aktivitas 1</vt:lpstr>
      <vt:lpstr>Langkah-Langkah Aktivitas 1</vt:lpstr>
      <vt:lpstr>Pembersihan dan Validasi Data</vt:lpstr>
      <vt:lpstr>Pengenalan Pola</vt:lpstr>
      <vt:lpstr>Teknik Pembersihan Data</vt:lpstr>
      <vt:lpstr>Teknik Pembersihan Data</vt:lpstr>
      <vt:lpstr>Teknik Pembersihan Data</vt:lpstr>
      <vt:lpstr>Teknik Pembersihan Data</vt:lpstr>
      <vt:lpstr>Teknik Pembersihan Data</vt:lpstr>
      <vt:lpstr>Aktivitas 2</vt:lpstr>
      <vt:lpstr>Langkah-Langkah Aktivitas 2</vt:lpstr>
      <vt:lpstr>Klasifikasi dan Pengelompokan</vt:lpstr>
      <vt:lpstr>Aktivitas 3</vt:lpstr>
      <vt:lpstr>Langkah-Langkah Aktivitas 2</vt:lpstr>
      <vt:lpstr>Abstraksi  Data</vt:lpstr>
      <vt:lpstr>Abstraksi</vt:lpstr>
      <vt:lpstr>Aktivitas 4</vt:lpstr>
      <vt:lpstr>Langkah-Langkah Aktivitas 4</vt:lpstr>
      <vt:lpstr>Penyusunan Instruksi</vt:lpstr>
      <vt:lpstr>Algoritma</vt:lpstr>
      <vt:lpstr>Aktivitas 5</vt:lpstr>
      <vt:lpstr>Langkah-Langkah Aktivitas 5</vt:lpstr>
      <vt:lpstr>Langkah-Langkah Aktivitas 5</vt:lpstr>
      <vt:lpstr>Langkah-Langkah Aktivitas 5</vt:lpstr>
      <vt:lpstr>Sesi Q&amp;A</vt:lpstr>
      <vt:lpstr>PowerPoint Presentation</vt:lpstr>
      <vt:lpstr>Lembar Kerja</vt:lpstr>
      <vt:lpstr>LK Mengaplikasi (2.2)</vt:lpstr>
      <vt:lpstr>Penutup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KODING DAN KECERDASAN ARTIFISIAL</dc:title>
  <dc:creator>Yoki Ariyana</dc:creator>
  <cp:lastModifiedBy>insanbjn</cp:lastModifiedBy>
  <cp:revision>7</cp:revision>
  <dcterms:created xsi:type="dcterms:W3CDTF">2025-05-02T05:28:58Z</dcterms:created>
  <dcterms:modified xsi:type="dcterms:W3CDTF">2025-06-24T16:40:53Z</dcterms:modified>
</cp:coreProperties>
</file>