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303" r:id="rId4"/>
    <p:sldId id="311" r:id="rId5"/>
    <p:sldId id="357" r:id="rId6"/>
    <p:sldId id="319" r:id="rId7"/>
    <p:sldId id="306" r:id="rId8"/>
    <p:sldId id="335" r:id="rId9"/>
    <p:sldId id="336" r:id="rId10"/>
    <p:sldId id="315" r:id="rId11"/>
    <p:sldId id="301" r:id="rId12"/>
    <p:sldId id="302" r:id="rId13"/>
    <p:sldId id="304" r:id="rId14"/>
    <p:sldId id="320" r:id="rId15"/>
    <p:sldId id="305" r:id="rId16"/>
    <p:sldId id="312" r:id="rId17"/>
    <p:sldId id="313" r:id="rId18"/>
    <p:sldId id="314" r:id="rId19"/>
    <p:sldId id="321" r:id="rId20"/>
    <p:sldId id="316" r:id="rId21"/>
    <p:sldId id="317" r:id="rId22"/>
    <p:sldId id="323" r:id="rId23"/>
    <p:sldId id="332" r:id="rId24"/>
    <p:sldId id="333" r:id="rId25"/>
    <p:sldId id="334" r:id="rId26"/>
    <p:sldId id="325" r:id="rId27"/>
    <p:sldId id="328" r:id="rId28"/>
    <p:sldId id="354" r:id="rId29"/>
    <p:sldId id="355" r:id="rId30"/>
    <p:sldId id="343" r:id="rId31"/>
    <p:sldId id="344" r:id="rId32"/>
    <p:sldId id="345" r:id="rId33"/>
    <p:sldId id="348" r:id="rId34"/>
    <p:sldId id="347" r:id="rId35"/>
    <p:sldId id="349" r:id="rId36"/>
    <p:sldId id="346" r:id="rId37"/>
    <p:sldId id="350" r:id="rId38"/>
    <p:sldId id="329" r:id="rId39"/>
    <p:sldId id="327" r:id="rId40"/>
    <p:sldId id="340" r:id="rId41"/>
    <p:sldId id="339" r:id="rId42"/>
    <p:sldId id="338" r:id="rId43"/>
    <p:sldId id="356" r:id="rId44"/>
    <p:sldId id="318" r:id="rId45"/>
    <p:sldId id="307" r:id="rId46"/>
    <p:sldId id="310" r:id="rId47"/>
    <p:sldId id="322" r:id="rId48"/>
    <p:sldId id="308" r:id="rId49"/>
    <p:sldId id="309" r:id="rId50"/>
    <p:sldId id="330" r:id="rId51"/>
    <p:sldId id="331" r:id="rId52"/>
    <p:sldId id="337" r:id="rId53"/>
    <p:sldId id="300" r:id="rId54"/>
  </p:sldIdLst>
  <p:sldSz cx="12192000" cy="6858000"/>
  <p:notesSz cx="6858000" cy="9144000"/>
  <p:embeddedFontLst>
    <p:embeddedFont>
      <p:font typeface="Calibri" panose="020F0502020204030204" pitchFamily="34" charset="0"/>
      <p:regular r:id="rId56"/>
      <p:bold r:id="rId57"/>
      <p:italic r:id="rId58"/>
      <p:boldItalic r:id="rId59"/>
    </p:embeddedFont>
    <p:embeddedFont>
      <p:font typeface="Poppins" panose="000005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i5CZaodIF5aehkOrMbr1qRQ8Wp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6879EF-8C8B-49F9-AA38-4FCC930E2A87}">
  <a:tblStyle styleId="{E26879EF-8C8B-49F9-AA38-4FCC930E2A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290E6F-A9A9-4D9F-8730-2762479B258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font" Target="fonts/font8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2456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9889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>
            <a:off x="0" y="1166259"/>
            <a:ext cx="10167060" cy="5423028"/>
          </a:xfrm>
          <a:custGeom>
            <a:avLst/>
            <a:gdLst/>
            <a:ahLst/>
            <a:cxnLst/>
            <a:rect l="l" t="t" r="r" b="b"/>
            <a:pathLst>
              <a:path w="11802702" h="5886598" extrusionOk="0">
                <a:moveTo>
                  <a:pt x="0" y="0"/>
                </a:moveTo>
                <a:lnTo>
                  <a:pt x="11802702" y="0"/>
                </a:lnTo>
                <a:lnTo>
                  <a:pt x="11802702" y="5886598"/>
                </a:lnTo>
                <a:lnTo>
                  <a:pt x="0" y="5886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/>
            </a:stretch>
          </a:blipFill>
          <a:ln>
            <a:noFill/>
          </a:ln>
        </p:spPr>
      </p:sp>
      <p:sp>
        <p:nvSpPr>
          <p:cNvPr id="17" name="Google Shape;17;p47"/>
          <p:cNvSpPr txBox="1">
            <a:spLocks noGrp="1"/>
          </p:cNvSpPr>
          <p:nvPr>
            <p:ph type="ctrTitle"/>
          </p:nvPr>
        </p:nvSpPr>
        <p:spPr>
          <a:xfrm>
            <a:off x="404037" y="2723868"/>
            <a:ext cx="5996763" cy="19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  <a:defRPr sz="6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subTitle" idx="1"/>
          </p:nvPr>
        </p:nvSpPr>
        <p:spPr>
          <a:xfrm>
            <a:off x="404037" y="5071743"/>
            <a:ext cx="5996763" cy="135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  <a:defRPr sz="2400">
                <a:solidFill>
                  <a:srgbClr val="7030A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47"/>
          <p:cNvSpPr/>
          <p:nvPr/>
        </p:nvSpPr>
        <p:spPr>
          <a:xfrm>
            <a:off x="4607442" y="29499"/>
            <a:ext cx="7570382" cy="6996223"/>
          </a:xfrm>
          <a:custGeom>
            <a:avLst/>
            <a:gdLst/>
            <a:ahLst/>
            <a:cxnLst/>
            <a:rect l="l" t="t" r="r" b="b"/>
            <a:pathLst>
              <a:path w="7570382" h="6996223" extrusionOk="0">
                <a:moveTo>
                  <a:pt x="3700130" y="0"/>
                </a:moveTo>
                <a:lnTo>
                  <a:pt x="0" y="6889898"/>
                </a:lnTo>
                <a:lnTo>
                  <a:pt x="7570382" y="6996223"/>
                </a:lnTo>
                <a:cubicBezTo>
                  <a:pt x="7563293" y="4664149"/>
                  <a:pt x="7556205" y="2353339"/>
                  <a:pt x="7549116" y="21265"/>
                </a:cubicBezTo>
                <a:lnTo>
                  <a:pt x="3700130" y="0"/>
                </a:lnTo>
                <a:close/>
              </a:path>
            </a:pathLst>
          </a:custGeom>
          <a:solidFill>
            <a:schemeClr val="accent1">
              <a:alpha val="4274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7"/>
          <p:cNvSpPr/>
          <p:nvPr/>
        </p:nvSpPr>
        <p:spPr>
          <a:xfrm>
            <a:off x="7461657" y="-395468"/>
            <a:ext cx="5041085" cy="5373859"/>
          </a:xfrm>
          <a:custGeom>
            <a:avLst/>
            <a:gdLst/>
            <a:ahLst/>
            <a:cxnLst/>
            <a:rect l="l" t="t" r="r" b="b"/>
            <a:pathLst>
              <a:path w="5041085" h="5373859" extrusionOk="0">
                <a:moveTo>
                  <a:pt x="0" y="0"/>
                </a:moveTo>
                <a:lnTo>
                  <a:pt x="5041085" y="0"/>
                </a:lnTo>
                <a:lnTo>
                  <a:pt x="5041085" y="5373860"/>
                </a:lnTo>
                <a:lnTo>
                  <a:pt x="0" y="5373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/>
            </a:stretch>
          </a:blipFill>
          <a:ln>
            <a:noFill/>
          </a:ln>
        </p:spPr>
      </p:sp>
      <p:sp>
        <p:nvSpPr>
          <p:cNvPr id="21" name="Google Shape;21;p47"/>
          <p:cNvSpPr/>
          <p:nvPr/>
        </p:nvSpPr>
        <p:spPr>
          <a:xfrm>
            <a:off x="6096000" y="3339842"/>
            <a:ext cx="5598042" cy="4986342"/>
          </a:xfrm>
          <a:custGeom>
            <a:avLst/>
            <a:gdLst/>
            <a:ahLst/>
            <a:cxnLst/>
            <a:rect l="l" t="t" r="r" b="b"/>
            <a:pathLst>
              <a:path w="6592378" h="6477011" extrusionOk="0">
                <a:moveTo>
                  <a:pt x="0" y="0"/>
                </a:moveTo>
                <a:lnTo>
                  <a:pt x="6592378" y="0"/>
                </a:lnTo>
                <a:lnTo>
                  <a:pt x="6592378" y="6477011"/>
                </a:lnTo>
                <a:lnTo>
                  <a:pt x="0" y="6477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22" name="Google Shape;22;p47"/>
          <p:cNvSpPr/>
          <p:nvPr/>
        </p:nvSpPr>
        <p:spPr>
          <a:xfrm>
            <a:off x="157608" y="65658"/>
            <a:ext cx="1021286" cy="1030324"/>
          </a:xfrm>
          <a:custGeom>
            <a:avLst/>
            <a:gdLst/>
            <a:ahLst/>
            <a:cxnLst/>
            <a:rect l="l" t="t" r="r" b="b"/>
            <a:pathLst>
              <a:path w="1021286" h="1030324" extrusionOk="0">
                <a:moveTo>
                  <a:pt x="0" y="0"/>
                </a:moveTo>
                <a:lnTo>
                  <a:pt x="1021287" y="0"/>
                </a:lnTo>
                <a:lnTo>
                  <a:pt x="1021287" y="1030325"/>
                </a:lnTo>
                <a:lnTo>
                  <a:pt x="0" y="1030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7"/>
          <p:cNvSpPr txBox="1"/>
          <p:nvPr/>
        </p:nvSpPr>
        <p:spPr>
          <a:xfrm>
            <a:off x="1251100" y="257433"/>
            <a:ext cx="7287526" cy="68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Kementerian Pendidikan Dasar dan Menengah</a:t>
            </a:r>
            <a:endParaRPr sz="1800" b="0" i="0" u="none" strike="noStrike" cap="none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24" name="Google Shape;24;p47"/>
          <p:cNvSpPr/>
          <p:nvPr/>
        </p:nvSpPr>
        <p:spPr>
          <a:xfrm>
            <a:off x="9912176" y="5513256"/>
            <a:ext cx="2036751" cy="1253166"/>
          </a:xfrm>
          <a:custGeom>
            <a:avLst/>
            <a:gdLst/>
            <a:ahLst/>
            <a:cxnLst/>
            <a:rect l="l" t="t" r="r" b="b"/>
            <a:pathLst>
              <a:path w="2036751" h="1253166" extrusionOk="0">
                <a:moveTo>
                  <a:pt x="0" y="0"/>
                </a:moveTo>
                <a:lnTo>
                  <a:pt x="2036750" y="0"/>
                </a:lnTo>
                <a:lnTo>
                  <a:pt x="2036750" y="1253167"/>
                </a:lnTo>
                <a:lnTo>
                  <a:pt x="0" y="1253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36039" b="-67113"/>
            </a:stretch>
          </a:blipFill>
          <a:ln>
            <a:noFill/>
          </a:ln>
        </p:spPr>
      </p:sp>
      <p:sp>
        <p:nvSpPr>
          <p:cNvPr id="25" name="Google Shape;25;p47"/>
          <p:cNvSpPr/>
          <p:nvPr/>
        </p:nvSpPr>
        <p:spPr>
          <a:xfrm>
            <a:off x="7586400" y="5611560"/>
            <a:ext cx="2229434" cy="1085305"/>
          </a:xfrm>
          <a:custGeom>
            <a:avLst/>
            <a:gdLst/>
            <a:ahLst/>
            <a:cxnLst/>
            <a:rect l="l" t="t" r="r" b="b"/>
            <a:pathLst>
              <a:path w="1820628" h="798727" extrusionOk="0">
                <a:moveTo>
                  <a:pt x="0" y="0"/>
                </a:moveTo>
                <a:lnTo>
                  <a:pt x="1820629" y="0"/>
                </a:lnTo>
                <a:lnTo>
                  <a:pt x="1820629" y="798727"/>
                </a:lnTo>
                <a:lnTo>
                  <a:pt x="0" y="798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407476" t="-1512772" r="-113525" b="-15620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7321343" h="8639020" extrusionOk="0">
                <a:moveTo>
                  <a:pt x="0" y="0"/>
                </a:moveTo>
                <a:lnTo>
                  <a:pt x="17321344" y="0"/>
                </a:lnTo>
                <a:lnTo>
                  <a:pt x="17321344" y="8639020"/>
                </a:lnTo>
                <a:lnTo>
                  <a:pt x="0" y="863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 l="-6031" t="-9276" r="-6030" b="-136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  <a:defRPr sz="6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  <a:defRPr sz="24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30" name="Google Shape;30;p48"/>
          <p:cNvCxnSpPr/>
          <p:nvPr/>
        </p:nvCxnSpPr>
        <p:spPr>
          <a:xfrm>
            <a:off x="838200" y="4582742"/>
            <a:ext cx="7497726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" name="Google Shape;31;p48"/>
          <p:cNvCxnSpPr/>
          <p:nvPr/>
        </p:nvCxnSpPr>
        <p:spPr>
          <a:xfrm>
            <a:off x="6719777" y="4582742"/>
            <a:ext cx="4634023" cy="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48"/>
          <p:cNvSpPr/>
          <p:nvPr/>
        </p:nvSpPr>
        <p:spPr>
          <a:xfrm>
            <a:off x="157608" y="65658"/>
            <a:ext cx="1021286" cy="1030324"/>
          </a:xfrm>
          <a:custGeom>
            <a:avLst/>
            <a:gdLst/>
            <a:ahLst/>
            <a:cxnLst/>
            <a:rect l="l" t="t" r="r" b="b"/>
            <a:pathLst>
              <a:path w="1021286" h="1030324" extrusionOk="0">
                <a:moveTo>
                  <a:pt x="0" y="0"/>
                </a:moveTo>
                <a:lnTo>
                  <a:pt x="1021287" y="0"/>
                </a:lnTo>
                <a:lnTo>
                  <a:pt x="1021287" y="1030325"/>
                </a:lnTo>
                <a:lnTo>
                  <a:pt x="0" y="1030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" name="Google Shape;33;p48"/>
          <p:cNvSpPr txBox="1"/>
          <p:nvPr/>
        </p:nvSpPr>
        <p:spPr>
          <a:xfrm>
            <a:off x="1251100" y="257433"/>
            <a:ext cx="7287526" cy="68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Kementerian Pendidikan Dasar dan Menengah</a:t>
            </a:r>
            <a:endParaRPr sz="1800" b="0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34" name="Google Shape;34;p48"/>
          <p:cNvSpPr/>
          <p:nvPr/>
        </p:nvSpPr>
        <p:spPr>
          <a:xfrm>
            <a:off x="10222728" y="-58471"/>
            <a:ext cx="1681726" cy="1077325"/>
          </a:xfrm>
          <a:custGeom>
            <a:avLst/>
            <a:gdLst/>
            <a:ahLst/>
            <a:cxnLst/>
            <a:rect l="l" t="t" r="r" b="b"/>
            <a:pathLst>
              <a:path w="2036751" h="1253166" extrusionOk="0">
                <a:moveTo>
                  <a:pt x="0" y="0"/>
                </a:moveTo>
                <a:lnTo>
                  <a:pt x="2036750" y="0"/>
                </a:lnTo>
                <a:lnTo>
                  <a:pt x="2036750" y="1253167"/>
                </a:lnTo>
                <a:lnTo>
                  <a:pt x="0" y="1253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039" b="-67113"/>
            </a:stretch>
          </a:blipFill>
          <a:ln>
            <a:noFill/>
          </a:ln>
        </p:spPr>
      </p:sp>
      <p:sp>
        <p:nvSpPr>
          <p:cNvPr id="35" name="Google Shape;35;p48"/>
          <p:cNvSpPr/>
          <p:nvPr/>
        </p:nvSpPr>
        <p:spPr>
          <a:xfrm>
            <a:off x="8554354" y="128679"/>
            <a:ext cx="1727680" cy="823745"/>
          </a:xfrm>
          <a:custGeom>
            <a:avLst/>
            <a:gdLst/>
            <a:ahLst/>
            <a:cxnLst/>
            <a:rect l="l" t="t" r="r" b="b"/>
            <a:pathLst>
              <a:path w="1820628" h="798727" extrusionOk="0">
                <a:moveTo>
                  <a:pt x="0" y="0"/>
                </a:moveTo>
                <a:lnTo>
                  <a:pt x="1820629" y="0"/>
                </a:lnTo>
                <a:lnTo>
                  <a:pt x="1820629" y="798727"/>
                </a:lnTo>
                <a:lnTo>
                  <a:pt x="0" y="798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07476" t="-1512772" r="-113525" b="-15620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  <a:defRPr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9"/>
          <p:cNvSpPr/>
          <p:nvPr/>
        </p:nvSpPr>
        <p:spPr>
          <a:xfrm>
            <a:off x="0" y="1690688"/>
            <a:ext cx="12191999" cy="5167312"/>
          </a:xfrm>
          <a:custGeom>
            <a:avLst/>
            <a:gdLst/>
            <a:ahLst/>
            <a:cxnLst/>
            <a:rect l="l" t="t" r="r" b="b"/>
            <a:pathLst>
              <a:path w="17321343" h="8639020" extrusionOk="0">
                <a:moveTo>
                  <a:pt x="0" y="0"/>
                </a:moveTo>
                <a:lnTo>
                  <a:pt x="17321344" y="0"/>
                </a:lnTo>
                <a:lnTo>
                  <a:pt x="17321344" y="8639020"/>
                </a:lnTo>
                <a:lnTo>
                  <a:pt x="0" y="863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9" name="Google Shape;39;p49"/>
          <p:cNvCxnSpPr/>
          <p:nvPr/>
        </p:nvCxnSpPr>
        <p:spPr>
          <a:xfrm>
            <a:off x="838200" y="1690688"/>
            <a:ext cx="7497726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" name="Google Shape;40;p49"/>
          <p:cNvCxnSpPr/>
          <p:nvPr/>
        </p:nvCxnSpPr>
        <p:spPr>
          <a:xfrm>
            <a:off x="6719777" y="1690688"/>
            <a:ext cx="4634023" cy="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" name="Google Shape;41;p49"/>
          <p:cNvSpPr/>
          <p:nvPr/>
        </p:nvSpPr>
        <p:spPr>
          <a:xfrm>
            <a:off x="105273" y="6268035"/>
            <a:ext cx="494516" cy="498893"/>
          </a:xfrm>
          <a:custGeom>
            <a:avLst/>
            <a:gdLst/>
            <a:ahLst/>
            <a:cxnLst/>
            <a:rect l="l" t="t" r="r" b="b"/>
            <a:pathLst>
              <a:path w="659355" h="665190" extrusionOk="0">
                <a:moveTo>
                  <a:pt x="0" y="0"/>
                </a:moveTo>
                <a:lnTo>
                  <a:pt x="659355" y="0"/>
                </a:lnTo>
                <a:lnTo>
                  <a:pt x="659355" y="665190"/>
                </a:lnTo>
                <a:lnTo>
                  <a:pt x="0" y="665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" name="Google Shape;42;p49"/>
          <p:cNvSpPr txBox="1"/>
          <p:nvPr/>
        </p:nvSpPr>
        <p:spPr>
          <a:xfrm>
            <a:off x="629853" y="6388734"/>
            <a:ext cx="6303024" cy="29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E75B5"/>
                </a:solidFill>
                <a:latin typeface="Poppins"/>
                <a:ea typeface="Poppins"/>
                <a:cs typeface="Poppins"/>
                <a:sym typeface="Poppins"/>
              </a:rPr>
              <a:t>Kementerian Pendidikan Dasar dan Menengah</a:t>
            </a:r>
            <a:endParaRPr sz="1700">
              <a:solidFill>
                <a:srgbClr val="2E75B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2808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>
            <a:alpha val="45882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jpeg"/><Relationship Id="rId11" Type="http://schemas.openxmlformats.org/officeDocument/2006/relationships/image" Target="../media/image25.svg"/><Relationship Id="rId5" Type="http://schemas.openxmlformats.org/officeDocument/2006/relationships/image" Target="../media/image31.png"/><Relationship Id="rId10" Type="http://schemas.openxmlformats.org/officeDocument/2006/relationships/image" Target="../media/image24.png"/><Relationship Id="rId4" Type="http://schemas.openxmlformats.org/officeDocument/2006/relationships/image" Target="../media/image30.png"/><Relationship Id="rId9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11" Type="http://schemas.openxmlformats.org/officeDocument/2006/relationships/image" Target="../media/image25.svg"/><Relationship Id="rId5" Type="http://schemas.openxmlformats.org/officeDocument/2006/relationships/image" Target="../media/image35.jpeg"/><Relationship Id="rId10" Type="http://schemas.openxmlformats.org/officeDocument/2006/relationships/image" Target="../media/image24.png"/><Relationship Id="rId4" Type="http://schemas.openxmlformats.org/officeDocument/2006/relationships/image" Target="../media/image34.jpe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3.jpeg"/><Relationship Id="rId7" Type="http://schemas.openxmlformats.org/officeDocument/2006/relationships/image" Target="../media/image41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11" Type="http://schemas.openxmlformats.org/officeDocument/2006/relationships/image" Target="../media/image25.svg"/><Relationship Id="rId5" Type="http://schemas.openxmlformats.org/officeDocument/2006/relationships/image" Target="../media/image35.jpeg"/><Relationship Id="rId10" Type="http://schemas.openxmlformats.org/officeDocument/2006/relationships/image" Target="../media/image24.png"/><Relationship Id="rId4" Type="http://schemas.openxmlformats.org/officeDocument/2006/relationships/image" Target="../media/image34.jpeg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pictoblox.ai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s.id/asetbimtekkkasmp2025" TargetMode="External"/><Relationship Id="rId2" Type="http://schemas.openxmlformats.org/officeDocument/2006/relationships/hyperlink" Target="https://teachablemachine.withgoogle.com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hyperlink" Target="https://teachablemachine.withgoogle.com/models/p4htvOJVt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pictoblox.ai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25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teachablemachine.withgoogle.com/" TargetMode="External"/><Relationship Id="rId2" Type="http://schemas.openxmlformats.org/officeDocument/2006/relationships/hyperlink" Target="https://s.id/asetbimtekkkasmp2025" TargetMode="Externa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youtu.be/JqJAxjvGgEk?si=xq6Dr5qcwTzQJx9n" TargetMode="Externa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404037" y="2723868"/>
            <a:ext cx="5996763" cy="19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sz="4400"/>
              <a:t>KODING DAN KECERDASAN ARTIFISIAL</a:t>
            </a:r>
            <a:endParaRPr sz="4400"/>
          </a:p>
        </p:txBody>
      </p:sp>
      <p:sp>
        <p:nvSpPr>
          <p:cNvPr id="60" name="Google Shape;60;p1"/>
          <p:cNvSpPr txBox="1">
            <a:spLocks noGrp="1"/>
          </p:cNvSpPr>
          <p:nvPr>
            <p:ph type="subTitle" idx="1"/>
          </p:nvPr>
        </p:nvSpPr>
        <p:spPr>
          <a:xfrm>
            <a:off x="404037" y="5071743"/>
            <a:ext cx="5996763" cy="135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/>
              <a:t>Pendidikan Dasar dan Menengah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415365" y="1486249"/>
            <a:ext cx="5996763" cy="123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Modul </a:t>
            </a:r>
            <a:r>
              <a:rPr lang="en-US" sz="44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 SMP (</a:t>
            </a:r>
            <a:r>
              <a:rPr lang="en-US" sz="4400" b="1" dirty="0" err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r>
              <a:rPr lang="en-US" sz="44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D)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</a:pP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Tools </a:t>
            </a:r>
            <a:r>
              <a:rPr lang="en-US" dirty="0" err="1"/>
              <a:t>Kecerdasan</a:t>
            </a:r>
            <a:r>
              <a:rPr lang="en-US" dirty="0"/>
              <a:t> </a:t>
            </a:r>
            <a:r>
              <a:rPr lang="en-US" dirty="0" err="1"/>
              <a:t>Artifisial</a:t>
            </a:r>
            <a:endParaRPr dirty="0"/>
          </a:p>
        </p:txBody>
      </p:sp>
      <p:sp>
        <p:nvSpPr>
          <p:cNvPr id="67" name="Google Shape;67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r>
              <a:rPr lang="en-US" dirty="0"/>
              <a:t>Pada </a:t>
            </a:r>
            <a:r>
              <a:rPr lang="en-US" dirty="0" err="1"/>
              <a:t>Jenjang</a:t>
            </a:r>
            <a:r>
              <a:rPr lang="en-US" dirty="0"/>
              <a:t> 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Menengah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(SMP)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Kesepakatan</a:t>
            </a:r>
            <a:r>
              <a:rPr lang="en-US" dirty="0"/>
              <a:t> </a:t>
            </a:r>
            <a:r>
              <a:rPr lang="en-US" dirty="0" err="1"/>
              <a:t>Belajar</a:t>
            </a:r>
            <a:endParaRPr lang="en-ID" dirty="0"/>
          </a:p>
        </p:txBody>
      </p:sp>
      <p:pic>
        <p:nvPicPr>
          <p:cNvPr id="4" name="Graphic 3" descr="Stopwatch with solid fill">
            <a:extLst>
              <a:ext uri="{FF2B5EF4-FFF2-40B4-BE49-F238E27FC236}">
                <a16:creationId xmlns:a16="http://schemas.microsoft.com/office/drawing/2014/main" id="{39CA5F6F-2118-49E3-84D6-39A399194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080" y="2682239"/>
            <a:ext cx="914400" cy="914400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9D37064B-9113-456D-AF15-85E545C20A49}"/>
              </a:ext>
            </a:extLst>
          </p:cNvPr>
          <p:cNvSpPr txBox="1"/>
          <p:nvPr/>
        </p:nvSpPr>
        <p:spPr>
          <a:xfrm>
            <a:off x="2209800" y="2939405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Hadir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tepat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7" name="Graphic 6" descr="Smart Phone with solid fill">
            <a:extLst>
              <a:ext uri="{FF2B5EF4-FFF2-40B4-BE49-F238E27FC236}">
                <a16:creationId xmlns:a16="http://schemas.microsoft.com/office/drawing/2014/main" id="{7DF77D22-D74E-43BA-A00A-6EFE129F9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431" y="4209092"/>
            <a:ext cx="761049" cy="761049"/>
          </a:xfrm>
          <a:prstGeom prst="rect">
            <a:avLst/>
          </a:prstGeom>
        </p:spPr>
      </p:pic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9B7F6D2D-D5CC-4332-BE62-8949BA0A7111}"/>
              </a:ext>
            </a:extLst>
          </p:cNvPr>
          <p:cNvSpPr/>
          <p:nvPr/>
        </p:nvSpPr>
        <p:spPr>
          <a:xfrm>
            <a:off x="1021080" y="4130989"/>
            <a:ext cx="1051560" cy="914401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30EFBD8D-BF89-4599-9C44-5922A0EF384E}"/>
              </a:ext>
            </a:extLst>
          </p:cNvPr>
          <p:cNvSpPr txBox="1"/>
          <p:nvPr/>
        </p:nvSpPr>
        <p:spPr>
          <a:xfrm>
            <a:off x="2209800" y="4388154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Ponsel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mode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hening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1" name="Graphic 10" descr="Meeting with solid fill">
            <a:extLst>
              <a:ext uri="{FF2B5EF4-FFF2-40B4-BE49-F238E27FC236}">
                <a16:creationId xmlns:a16="http://schemas.microsoft.com/office/drawing/2014/main" id="{25F884CF-5501-4729-977C-F5FB06723E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6858" y="2710806"/>
            <a:ext cx="914400" cy="914400"/>
          </a:xfrm>
          <a:prstGeom prst="rect">
            <a:avLst/>
          </a:prstGeom>
        </p:spPr>
      </p:pic>
      <p:sp>
        <p:nvSpPr>
          <p:cNvPr id="12" name="Google Shape;99;p6">
            <a:extLst>
              <a:ext uri="{FF2B5EF4-FFF2-40B4-BE49-F238E27FC236}">
                <a16:creationId xmlns:a16="http://schemas.microsoft.com/office/drawing/2014/main" id="{BDF068C3-7172-448C-9346-E3350B4B2160}"/>
              </a:ext>
            </a:extLst>
          </p:cNvPr>
          <p:cNvSpPr txBox="1"/>
          <p:nvPr/>
        </p:nvSpPr>
        <p:spPr>
          <a:xfrm>
            <a:off x="6505578" y="3028931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Saling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menghormati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4" name="Graphic 13" descr="Customer review with solid fill">
            <a:extLst>
              <a:ext uri="{FF2B5EF4-FFF2-40B4-BE49-F238E27FC236}">
                <a16:creationId xmlns:a16="http://schemas.microsoft.com/office/drawing/2014/main" id="{9E816402-26EB-4669-B017-7DCC820030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6858" y="4084308"/>
            <a:ext cx="914400" cy="914400"/>
          </a:xfrm>
          <a:prstGeom prst="rect">
            <a:avLst/>
          </a:prstGeom>
        </p:spPr>
      </p:pic>
      <p:sp>
        <p:nvSpPr>
          <p:cNvPr id="15" name="Google Shape;99;p6">
            <a:extLst>
              <a:ext uri="{FF2B5EF4-FFF2-40B4-BE49-F238E27FC236}">
                <a16:creationId xmlns:a16="http://schemas.microsoft.com/office/drawing/2014/main" id="{1E532CC9-014F-4CE0-968A-927971BED355}"/>
              </a:ext>
            </a:extLst>
          </p:cNvPr>
          <p:cNvSpPr txBox="1"/>
          <p:nvPr/>
        </p:nvSpPr>
        <p:spPr>
          <a:xfrm>
            <a:off x="6505578" y="4526266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Aktif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pembelajaran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7" name="Graphic 16" descr="Large paint brush with solid fill">
            <a:extLst>
              <a:ext uri="{FF2B5EF4-FFF2-40B4-BE49-F238E27FC236}">
                <a16:creationId xmlns:a16="http://schemas.microsoft.com/office/drawing/2014/main" id="{4F6DD62B-C685-4B0F-992D-2EC8B6DB64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0696" y="3429000"/>
            <a:ext cx="914400" cy="914400"/>
          </a:xfrm>
          <a:prstGeom prst="rect">
            <a:avLst/>
          </a:prstGeom>
        </p:spPr>
      </p:pic>
      <p:sp>
        <p:nvSpPr>
          <p:cNvPr id="18" name="Google Shape;99;p6">
            <a:extLst>
              <a:ext uri="{FF2B5EF4-FFF2-40B4-BE49-F238E27FC236}">
                <a16:creationId xmlns:a16="http://schemas.microsoft.com/office/drawing/2014/main" id="{1966595C-4B01-4567-A411-6A8AD34BCA19}"/>
              </a:ext>
            </a:extLst>
          </p:cNvPr>
          <p:cNvSpPr txBox="1"/>
          <p:nvPr/>
        </p:nvSpPr>
        <p:spPr>
          <a:xfrm>
            <a:off x="10245096" y="3554654"/>
            <a:ext cx="151256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Menjaga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kebersihan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200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Mindfulness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5BA7-A5EF-4AC7-A0D5-A21889359B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38200" y="2279015"/>
            <a:ext cx="4865583" cy="3664585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69910DB8-E13C-4850-8C47-D82F0E7FC277}"/>
              </a:ext>
            </a:extLst>
          </p:cNvPr>
          <p:cNvSpPr txBox="1"/>
          <p:nvPr/>
        </p:nvSpPr>
        <p:spPr>
          <a:xfrm>
            <a:off x="5703783" y="3561497"/>
            <a:ext cx="565404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panduan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Pengajar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Koding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endParaRPr lang="en-US" sz="32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lakukan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kegiatan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Teknik STOP.</a:t>
            </a:r>
            <a:endParaRPr lang="en-US" sz="32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012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38BC-B137-42F6-9394-47B4F6FA4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Pelatihan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711EF9F6-754D-4DB3-806F-95962EC6078E}"/>
              </a:ext>
            </a:extLst>
          </p:cNvPr>
          <p:cNvSpPr txBox="1"/>
          <p:nvPr/>
        </p:nvSpPr>
        <p:spPr>
          <a:xfrm>
            <a:off x="838200" y="2209864"/>
            <a:ext cx="1057656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pelatihan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mengidentifikasi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konsep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komunikasi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melalui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tool KA.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pelatihan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menghubungkan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memberikan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input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bermakna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sistem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KA.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pelatihan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menggunakan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chatbot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sederhana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sebagai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interaktif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pelatihan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menganalisis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konsep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klasifikasi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mengolah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mengelompokkan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data.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pelatihan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mengembangkan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desain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sederhana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berbasis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KA.</a:t>
            </a:r>
          </a:p>
        </p:txBody>
      </p:sp>
    </p:spTree>
    <p:extLst>
      <p:ext uri="{BB962C8B-B14F-4D97-AF65-F5344CB8AC3E}">
        <p14:creationId xmlns:p14="http://schemas.microsoft.com/office/powerpoint/2010/main" val="27936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8F953A-BA00-47F3-8B98-F8E4E283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Kerja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F5DC6-1EDA-4CB6-A953-0F48F417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Memahami</a:t>
            </a:r>
            <a:endParaRPr lang="en-ID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4F1573B0-7C25-484D-9F8A-B01278CE4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70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Memahami</a:t>
            </a:r>
            <a:r>
              <a:rPr lang="en-US" dirty="0"/>
              <a:t> (4.1 dan 4.2)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51BB4E18-9DC0-42FF-9013-012CB59DCC47}"/>
              </a:ext>
            </a:extLst>
          </p:cNvPr>
          <p:cNvSpPr txBox="1"/>
          <p:nvPr/>
        </p:nvSpPr>
        <p:spPr>
          <a:xfrm>
            <a:off x="838200" y="2240344"/>
            <a:ext cx="1061008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Unduh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file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Memahami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LMS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Memahami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4.1 dan 4.2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4.1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mind-map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resume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berbasis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cornell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-note taking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4.2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setelah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mengerjakan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3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soal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mintalah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umpan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balik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sejawat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 LK 4.1 dan 4.2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unggah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LMS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 file PDF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Alokasi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pengerjaan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20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menit</a:t>
            </a:r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121816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9E251-DCDB-4C8E-A465-414791C9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67817-3EC7-407F-A25C-6F0DBD45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Section B dan Section C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3434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D8E0CB-CB16-4A5F-9B9E-4AEB3C79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Instruksi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</a:t>
            </a:r>
            <a:r>
              <a:rPr lang="en-US" dirty="0" err="1"/>
              <a:t>Memahami</a:t>
            </a:r>
            <a:endParaRPr lang="en-ID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16A08750-5437-4F58-BA32-A4A5259337C8}"/>
              </a:ext>
            </a:extLst>
          </p:cNvPr>
          <p:cNvSpPr txBox="1"/>
          <p:nvPr/>
        </p:nvSpPr>
        <p:spPr>
          <a:xfrm>
            <a:off x="838200" y="3063304"/>
            <a:ext cx="10576560" cy="2727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kelas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kelompok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pembelajaran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Tiap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kelompok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mengerjakan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pilihan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 Section B/C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Tiap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kelompok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memaparkan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depan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kelas</a:t>
            </a:r>
            <a:endParaRPr lang="en-US" sz="2800" i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Lakukan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jawab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Pengajar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memberikan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refleksi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keseluruhan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Alokasi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pembelajaran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90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menit</a:t>
            </a:r>
            <a:endParaRPr sz="1800" b="1" dirty="0"/>
          </a:p>
        </p:txBody>
      </p:sp>
      <p:pic>
        <p:nvPicPr>
          <p:cNvPr id="6" name="Graphic 5" descr="Group brainstorm with solid fill">
            <a:extLst>
              <a:ext uri="{FF2B5EF4-FFF2-40B4-BE49-F238E27FC236}">
                <a16:creationId xmlns:a16="http://schemas.microsoft.com/office/drawing/2014/main" id="{0EE8E0F8-3BBE-4F96-89FE-286976BBB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084896"/>
            <a:ext cx="1115568" cy="111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75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DD317-95C5-4E3D-9E85-36FB9BF4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B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2B5CD-71E6-4AD8-A1A8-84661909B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/>
              <a:t>Pengenalan</a:t>
            </a:r>
            <a:r>
              <a:rPr lang="en-US" i="1" dirty="0"/>
              <a:t> </a:t>
            </a:r>
            <a:r>
              <a:rPr lang="en-US" i="1" dirty="0" err="1"/>
              <a:t>Kecerdasan</a:t>
            </a:r>
            <a:r>
              <a:rPr lang="en-US" i="1" dirty="0"/>
              <a:t> </a:t>
            </a:r>
            <a:r>
              <a:rPr lang="en-US" i="1" dirty="0" err="1"/>
              <a:t>Artifisial</a:t>
            </a:r>
            <a:r>
              <a:rPr lang="en-US" i="1" dirty="0"/>
              <a:t> </a:t>
            </a:r>
            <a:r>
              <a:rPr lang="en-US" i="1" dirty="0" err="1"/>
              <a:t>Sederhana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4660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i="1" dirty="0" err="1"/>
              <a:t>Pengenalan</a:t>
            </a:r>
            <a:r>
              <a:rPr lang="en-US" i="1" dirty="0"/>
              <a:t> </a:t>
            </a:r>
            <a:r>
              <a:rPr lang="en-US" i="1" dirty="0" err="1"/>
              <a:t>Kecerdasan</a:t>
            </a:r>
            <a:r>
              <a:rPr lang="en-US" i="1" dirty="0"/>
              <a:t> </a:t>
            </a:r>
            <a:r>
              <a:rPr lang="en-US" i="1" dirty="0" err="1"/>
              <a:t>Artifisial</a:t>
            </a:r>
            <a:r>
              <a:rPr lang="en-US" i="1" dirty="0"/>
              <a:t> </a:t>
            </a:r>
            <a:r>
              <a:rPr lang="en-US" i="1" dirty="0" err="1"/>
              <a:t>Sederhana</a:t>
            </a:r>
            <a:endParaRPr dirty="0"/>
          </a:p>
        </p:txBody>
      </p:sp>
      <p:sp>
        <p:nvSpPr>
          <p:cNvPr id="99" name="Google Shape;99;p6"/>
          <p:cNvSpPr txBox="1"/>
          <p:nvPr/>
        </p:nvSpPr>
        <p:spPr>
          <a:xfrm>
            <a:off x="838200" y="2597531"/>
            <a:ext cx="10610088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perangkat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lunak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meniru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kecerdasan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manusia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menyelesaikan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tugas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tertentu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menggunakan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algoritma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disebut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Kecerdasan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Artifisial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(KA).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Meskipun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tidak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memiliki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kesadaran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pemahaman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seperti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manusia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, KA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ini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dapat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memproses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data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cepat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dan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memberikan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jawaban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bermanfaat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berbagai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konteks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komunikasi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. Chatbot,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asisten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virtual, dan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penerjemah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otomatis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adalah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contoh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umum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alat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komunikasi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sederhana</a:t>
            </a:r>
            <a:r>
              <a:rPr lang="en-US" sz="2800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Kecerdasan</a:t>
            </a:r>
            <a:r>
              <a:rPr lang="en-US" dirty="0"/>
              <a:t> </a:t>
            </a:r>
            <a:r>
              <a:rPr lang="en-US" dirty="0" err="1"/>
              <a:t>Artifisial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Komunikasi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B2957E-29F0-48A4-B15C-8A4457389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501933"/>
              </p:ext>
            </p:extLst>
          </p:nvPr>
        </p:nvGraphicFramePr>
        <p:xfrm>
          <a:off x="979932" y="2505900"/>
          <a:ext cx="7042405" cy="3069456"/>
        </p:xfrm>
        <a:graphic>
          <a:graphicData uri="http://schemas.openxmlformats.org/drawingml/2006/table">
            <a:tbl>
              <a:tblPr firstRow="1" firstCol="1" bandRow="1">
                <a:tableStyleId>{E26879EF-8C8B-49F9-AA38-4FCC930E2A87}</a:tableStyleId>
              </a:tblPr>
              <a:tblGrid>
                <a:gridCol w="434747">
                  <a:extLst>
                    <a:ext uri="{9D8B030D-6E8A-4147-A177-3AD203B41FA5}">
                      <a16:colId xmlns:a16="http://schemas.microsoft.com/office/drawing/2014/main" val="3070699783"/>
                    </a:ext>
                  </a:extLst>
                </a:gridCol>
                <a:gridCol w="1867002">
                  <a:extLst>
                    <a:ext uri="{9D8B030D-6E8A-4147-A177-3AD203B41FA5}">
                      <a16:colId xmlns:a16="http://schemas.microsoft.com/office/drawing/2014/main" val="3640168995"/>
                    </a:ext>
                  </a:extLst>
                </a:gridCol>
                <a:gridCol w="2161267">
                  <a:extLst>
                    <a:ext uri="{9D8B030D-6E8A-4147-A177-3AD203B41FA5}">
                      <a16:colId xmlns:a16="http://schemas.microsoft.com/office/drawing/2014/main" val="1988760793"/>
                    </a:ext>
                  </a:extLst>
                </a:gridCol>
                <a:gridCol w="2579389">
                  <a:extLst>
                    <a:ext uri="{9D8B030D-6E8A-4147-A177-3AD203B41FA5}">
                      <a16:colId xmlns:a16="http://schemas.microsoft.com/office/drawing/2014/main" val="3038316468"/>
                    </a:ext>
                  </a:extLst>
                </a:gridCol>
              </a:tblGrid>
              <a:tr h="2458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No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effectLst/>
                        </a:rPr>
                        <a:t>Jenis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effectLst/>
                        </a:rPr>
                        <a:t>Aplikasi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effectLst/>
                        </a:rPr>
                        <a:t>Keterangan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0692751"/>
                  </a:ext>
                </a:extLst>
              </a:tr>
              <a:tr h="7601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1.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Chatbot</a:t>
                      </a:r>
                      <a:endParaRPr lang="en-ID" sz="16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ChatGPT, DeepSeek, Copilot, MetaAI</a:t>
                      </a:r>
                      <a:endParaRPr lang="en-ID" sz="160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</a:rPr>
                        <a:t>Membantu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pengguna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untuk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menjawab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pertanyaan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pengguna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secara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otomatis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en-ID" sz="16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0477307"/>
                  </a:ext>
                </a:extLst>
              </a:tr>
              <a:tr h="7601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2.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Assistant Virtual</a:t>
                      </a:r>
                      <a:endParaRPr lang="en-ID" sz="16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Google Asisten, Siri, Alexa</a:t>
                      </a:r>
                      <a:endParaRPr lang="en-ID" sz="160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Membantu pengguna dalam pencarian informasi dan pengelolaan jadwal.</a:t>
                      </a:r>
                      <a:endParaRPr lang="en-ID" sz="160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5941522"/>
                  </a:ext>
                </a:extLst>
              </a:tr>
              <a:tr h="50298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3.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</a:rPr>
                        <a:t>Penerjemah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Otomatis</a:t>
                      </a:r>
                      <a:endParaRPr lang="en-ID" sz="16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Google Translate, DeepL</a:t>
                      </a:r>
                      <a:endParaRPr lang="en-ID" sz="160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Membantu pengguna dalam komunikasi antar Bahasa</a:t>
                      </a:r>
                      <a:endParaRPr lang="en-ID" sz="160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8308062"/>
                  </a:ext>
                </a:extLst>
              </a:tr>
              <a:tr h="7601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4.</a:t>
                      </a:r>
                      <a:endParaRPr lang="en-ID" sz="12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</a:rPr>
                        <a:t>Sistem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Pengenal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Suara</a:t>
                      </a:r>
                      <a:endParaRPr lang="en-ID" sz="16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Google Speech </a:t>
                      </a:r>
                      <a:r>
                        <a:rPr lang="en-US" sz="1600" dirty="0" err="1">
                          <a:effectLst/>
                        </a:rPr>
                        <a:t>Recognation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NatrualReader</a:t>
                      </a:r>
                      <a:endParaRPr lang="en-ID" sz="16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</a:rPr>
                        <a:t>Membantu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pengguna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untuk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mengubah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ucapan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menjadi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teks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atau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sebaliknya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en-ID" sz="16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9423460"/>
                  </a:ext>
                </a:extLst>
              </a:tr>
            </a:tbl>
          </a:graphicData>
        </a:graphic>
      </p:graphicFrame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14211A33-C045-412F-AECD-2B3694550F21}"/>
              </a:ext>
            </a:extLst>
          </p:cNvPr>
          <p:cNvSpPr txBox="1"/>
          <p:nvPr/>
        </p:nvSpPr>
        <p:spPr>
          <a:xfrm>
            <a:off x="8158162" y="2597531"/>
            <a:ext cx="3290125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Bagaimana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pengalaman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Bapak/Ibu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penggunaan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jernis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perangkat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9795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nn-NO" dirty="0"/>
              <a:t>Peran Kecerdasan Artifisial dalam Komunikasi</a:t>
            </a:r>
            <a:endParaRPr lang="en-US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14211A33-C045-412F-AECD-2B3694550F21}"/>
              </a:ext>
            </a:extLst>
          </p:cNvPr>
          <p:cNvSpPr txBox="1"/>
          <p:nvPr/>
        </p:nvSpPr>
        <p:spPr>
          <a:xfrm>
            <a:off x="838200" y="2354643"/>
            <a:ext cx="1030605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Meningkatkan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effesiensi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mempercepat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komunikasi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respon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otomatis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Membantu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penerjemahan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memungkinkan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orang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berbicara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antara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berbagai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bahasa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Meningkatkan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aksesibilitas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membantu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orang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keterbatasan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seperti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tunanetra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dapat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menggunakanti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text-to-speech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Mengoptimalkan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informasi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karena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membantu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mengatur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agenda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melalui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pengingat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otomatis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488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Pengenalan</a:t>
            </a:r>
            <a:r>
              <a:rPr lang="en-US" i="1" dirty="0"/>
              <a:t> </a:t>
            </a:r>
            <a:r>
              <a:rPr lang="en-US" i="1" dirty="0" err="1"/>
              <a:t>Kecerdasan</a:t>
            </a:r>
            <a:r>
              <a:rPr lang="en-US" i="1" dirty="0"/>
              <a:t> </a:t>
            </a:r>
            <a:r>
              <a:rPr lang="en-US" i="1" dirty="0" err="1"/>
              <a:t>Artifisial</a:t>
            </a:r>
            <a:r>
              <a:rPr lang="en-US" i="1" dirty="0"/>
              <a:t> </a:t>
            </a:r>
            <a:r>
              <a:rPr lang="en-US" i="1" dirty="0" err="1"/>
              <a:t>Sederhana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8007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6027-4FAA-4594-BE6B-C8F62019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</a:t>
            </a:r>
            <a:r>
              <a:rPr lang="en-US" dirty="0"/>
              <a:t> (1)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F21DA-C4C7-4B10-9AA9-6EDB7DCD1BF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87" y="2162174"/>
            <a:ext cx="5175250" cy="36582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24299F-0184-4320-9C5C-5E42178FCA7C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43"/>
          <a:stretch/>
        </p:blipFill>
        <p:spPr bwMode="auto">
          <a:xfrm>
            <a:off x="6096000" y="2162174"/>
            <a:ext cx="5168265" cy="1924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B89D69FE-549C-4FD5-AB05-D9BF361CC009}"/>
              </a:ext>
            </a:extLst>
          </p:cNvPr>
          <p:cNvSpPr txBox="1"/>
          <p:nvPr/>
        </p:nvSpPr>
        <p:spPr>
          <a:xfrm>
            <a:off x="6303965" y="4086224"/>
            <a:ext cx="4729795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Manakah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Unplugged yang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termasuk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Memakai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Mungkin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memakai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Tidak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menggunakan</a:t>
            </a:r>
            <a:r>
              <a:rPr lang="en-US" sz="22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</a:t>
            </a:r>
          </a:p>
        </p:txBody>
      </p:sp>
      <p:pic>
        <p:nvPicPr>
          <p:cNvPr id="6" name="Graphic 5" descr="Group brainstorm with solid fill">
            <a:extLst>
              <a:ext uri="{FF2B5EF4-FFF2-40B4-BE49-F238E27FC236}">
                <a16:creationId xmlns:a16="http://schemas.microsoft.com/office/drawing/2014/main" id="{5DA06709-A1BC-4D1B-B184-A1822DD14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23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6027-4FAA-4594-BE6B-C8F62019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</a:t>
            </a:r>
            <a:r>
              <a:rPr lang="en-US" dirty="0"/>
              <a:t> (2.1)</a:t>
            </a:r>
            <a:endParaRPr lang="en-ID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B89D69FE-549C-4FD5-AB05-D9BF361CC009}"/>
              </a:ext>
            </a:extLst>
          </p:cNvPr>
          <p:cNvSpPr txBox="1"/>
          <p:nvPr/>
        </p:nvSpPr>
        <p:spPr>
          <a:xfrm>
            <a:off x="838200" y="2211704"/>
            <a:ext cx="987552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Pasangkan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penggunaan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dibawah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ini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Inputnya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37B674-B7CE-4604-AAD8-93BD4F0660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6757" y="2632076"/>
            <a:ext cx="1283653" cy="1661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1CF749-FA77-41F2-919D-577D672DFDA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10095" y="2554290"/>
            <a:ext cx="1522096" cy="1661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C646E-9D82-4AC1-878E-D87790A0DC1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775960" y="2645727"/>
            <a:ext cx="1401602" cy="1704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D1B575-F906-48DE-B022-F565F93E402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477247" y="2621282"/>
            <a:ext cx="1522096" cy="16154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A3FB43-F83D-464B-BD0B-F1520308D0B5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" t="3135" r="74739" b="49537"/>
          <a:stretch/>
        </p:blipFill>
        <p:spPr bwMode="auto">
          <a:xfrm>
            <a:off x="1057195" y="4858375"/>
            <a:ext cx="1283653" cy="15938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C0D73B-6693-4998-ACD4-6006C1034014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38" t="50871" r="799" b="1801"/>
          <a:stretch/>
        </p:blipFill>
        <p:spPr bwMode="auto">
          <a:xfrm>
            <a:off x="3211050" y="4767249"/>
            <a:ext cx="1283652" cy="1661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BE7526-928A-4199-8A31-7E3C8E1F22CF}"/>
              </a:ext>
            </a:extLst>
          </p:cNvPr>
          <p:cNvPicPr/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3" t="1313" r="50202" b="49396"/>
          <a:stretch/>
        </p:blipFill>
        <p:spPr bwMode="auto">
          <a:xfrm>
            <a:off x="5775960" y="4684701"/>
            <a:ext cx="1283652" cy="17049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A90A2D-0462-49E6-85D5-A86BAA4B8F40}"/>
              </a:ext>
            </a:extLst>
          </p:cNvPr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57" t="51259" r="25080" b="1413"/>
          <a:stretch/>
        </p:blipFill>
        <p:spPr bwMode="auto">
          <a:xfrm>
            <a:off x="8842571" y="4702000"/>
            <a:ext cx="1283651" cy="17049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F372E783-37F5-4C0F-BEE9-DAACEDF15265}"/>
              </a:ext>
            </a:extLst>
          </p:cNvPr>
          <p:cNvSpPr/>
          <p:nvPr/>
        </p:nvSpPr>
        <p:spPr>
          <a:xfrm>
            <a:off x="1214674" y="4342768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4937E1E6-8E58-474B-A468-419CA9AEF414}"/>
              </a:ext>
            </a:extLst>
          </p:cNvPr>
          <p:cNvSpPr/>
          <p:nvPr/>
        </p:nvSpPr>
        <p:spPr>
          <a:xfrm>
            <a:off x="3829327" y="4250688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8398680-D881-47C7-B916-4BDA0D6A851E}"/>
              </a:ext>
            </a:extLst>
          </p:cNvPr>
          <p:cNvSpPr/>
          <p:nvPr/>
        </p:nvSpPr>
        <p:spPr>
          <a:xfrm>
            <a:off x="6290071" y="4296406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9564DDA-3E9D-429B-A89F-C6CF7BFE5F82}"/>
              </a:ext>
            </a:extLst>
          </p:cNvPr>
          <p:cNvSpPr/>
          <p:nvPr/>
        </p:nvSpPr>
        <p:spPr>
          <a:xfrm>
            <a:off x="9176580" y="4321810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1DD26F3-C576-447B-8BAA-31146B45A760}"/>
              </a:ext>
            </a:extLst>
          </p:cNvPr>
          <p:cNvSpPr/>
          <p:nvPr/>
        </p:nvSpPr>
        <p:spPr>
          <a:xfrm>
            <a:off x="2541747" y="5554488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1B6CA00-5D23-4F48-A1C6-B761826D3384}"/>
              </a:ext>
            </a:extLst>
          </p:cNvPr>
          <p:cNvSpPr/>
          <p:nvPr/>
        </p:nvSpPr>
        <p:spPr>
          <a:xfrm>
            <a:off x="4604184" y="5487181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F7BE81B-8D50-47C4-B69F-A4906FEE0BD9}"/>
              </a:ext>
            </a:extLst>
          </p:cNvPr>
          <p:cNvSpPr/>
          <p:nvPr/>
        </p:nvSpPr>
        <p:spPr>
          <a:xfrm>
            <a:off x="7214061" y="5443840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64458541-1803-48EF-84F5-813AD59CD3C5}"/>
              </a:ext>
            </a:extLst>
          </p:cNvPr>
          <p:cNvSpPr/>
          <p:nvPr/>
        </p:nvSpPr>
        <p:spPr>
          <a:xfrm>
            <a:off x="10383981" y="5315893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2" name="Graphic 21" descr="Group brainstorm with solid fill">
            <a:extLst>
              <a:ext uri="{FF2B5EF4-FFF2-40B4-BE49-F238E27FC236}">
                <a16:creationId xmlns:a16="http://schemas.microsoft.com/office/drawing/2014/main" id="{C896CB42-5EC2-4209-AD74-9A1CD63935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6027-4FAA-4594-BE6B-C8F62019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</a:t>
            </a:r>
            <a:r>
              <a:rPr lang="en-US" dirty="0"/>
              <a:t> (2.2)</a:t>
            </a:r>
            <a:endParaRPr lang="en-ID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B89D69FE-549C-4FD5-AB05-D9BF361CC009}"/>
              </a:ext>
            </a:extLst>
          </p:cNvPr>
          <p:cNvSpPr txBox="1"/>
          <p:nvPr/>
        </p:nvSpPr>
        <p:spPr>
          <a:xfrm>
            <a:off x="838200" y="2105343"/>
            <a:ext cx="987552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Pasangkan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penggunaan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dibawah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ini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denganProsesnya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A3FB43-F83D-464B-BD0B-F1520308D0B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" t="3135" r="74739" b="49537"/>
          <a:stretch/>
        </p:blipFill>
        <p:spPr bwMode="auto">
          <a:xfrm>
            <a:off x="1057195" y="4858375"/>
            <a:ext cx="1283653" cy="15938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C0D73B-6693-4998-ACD4-6006C1034014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38" t="50871" r="799" b="1801"/>
          <a:stretch/>
        </p:blipFill>
        <p:spPr bwMode="auto">
          <a:xfrm>
            <a:off x="3211050" y="4767249"/>
            <a:ext cx="1283652" cy="1661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BE7526-928A-4199-8A31-7E3C8E1F22CF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3" t="1313" r="50202" b="49396"/>
          <a:stretch/>
        </p:blipFill>
        <p:spPr bwMode="auto">
          <a:xfrm>
            <a:off x="5775960" y="4684701"/>
            <a:ext cx="1283652" cy="17049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A90A2D-0462-49E6-85D5-A86BAA4B8F40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57" t="51259" r="25080" b="1413"/>
          <a:stretch/>
        </p:blipFill>
        <p:spPr bwMode="auto">
          <a:xfrm>
            <a:off x="8842571" y="4702000"/>
            <a:ext cx="1283651" cy="17049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F372E783-37F5-4C0F-BEE9-DAACEDF15265}"/>
              </a:ext>
            </a:extLst>
          </p:cNvPr>
          <p:cNvSpPr/>
          <p:nvPr/>
        </p:nvSpPr>
        <p:spPr>
          <a:xfrm>
            <a:off x="1214674" y="4342768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4937E1E6-8E58-474B-A468-419CA9AEF414}"/>
              </a:ext>
            </a:extLst>
          </p:cNvPr>
          <p:cNvSpPr/>
          <p:nvPr/>
        </p:nvSpPr>
        <p:spPr>
          <a:xfrm>
            <a:off x="3829327" y="4250688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8398680-D881-47C7-B916-4BDA0D6A851E}"/>
              </a:ext>
            </a:extLst>
          </p:cNvPr>
          <p:cNvSpPr/>
          <p:nvPr/>
        </p:nvSpPr>
        <p:spPr>
          <a:xfrm>
            <a:off x="6290071" y="4296406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9564DDA-3E9D-429B-A89F-C6CF7BFE5F82}"/>
              </a:ext>
            </a:extLst>
          </p:cNvPr>
          <p:cNvSpPr/>
          <p:nvPr/>
        </p:nvSpPr>
        <p:spPr>
          <a:xfrm>
            <a:off x="9176580" y="4321810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1DD26F3-C576-447B-8BAA-31146B45A760}"/>
              </a:ext>
            </a:extLst>
          </p:cNvPr>
          <p:cNvSpPr/>
          <p:nvPr/>
        </p:nvSpPr>
        <p:spPr>
          <a:xfrm>
            <a:off x="2541747" y="5554488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1B6CA00-5D23-4F48-A1C6-B761826D3384}"/>
              </a:ext>
            </a:extLst>
          </p:cNvPr>
          <p:cNvSpPr/>
          <p:nvPr/>
        </p:nvSpPr>
        <p:spPr>
          <a:xfrm>
            <a:off x="4604184" y="5487181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F7BE81B-8D50-47C4-B69F-A4906FEE0BD9}"/>
              </a:ext>
            </a:extLst>
          </p:cNvPr>
          <p:cNvSpPr/>
          <p:nvPr/>
        </p:nvSpPr>
        <p:spPr>
          <a:xfrm>
            <a:off x="7214061" y="5443840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64458541-1803-48EF-84F5-813AD59CD3C5}"/>
              </a:ext>
            </a:extLst>
          </p:cNvPr>
          <p:cNvSpPr/>
          <p:nvPr/>
        </p:nvSpPr>
        <p:spPr>
          <a:xfrm>
            <a:off x="10383981" y="5315893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D303B-C3F0-4A4A-BFE3-C836613040F4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43808" y="2604140"/>
            <a:ext cx="1413591" cy="16922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DC2AC6-C0DE-4A1D-8946-831EC45AAC04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3276440" y="2468405"/>
            <a:ext cx="1413589" cy="17822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FBE4E7-160F-4D1E-BDF5-07EEAE7B0E5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5645626" y="2522529"/>
            <a:ext cx="1413589" cy="17424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2A03C99-B468-4EDF-B6DD-F09D114EFE9A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8567696" y="2540786"/>
            <a:ext cx="1413589" cy="1801982"/>
          </a:xfrm>
          <a:prstGeom prst="rect">
            <a:avLst/>
          </a:prstGeom>
        </p:spPr>
      </p:pic>
      <p:pic>
        <p:nvPicPr>
          <p:cNvPr id="26" name="Graphic 25" descr="Group brainstorm with solid fill">
            <a:extLst>
              <a:ext uri="{FF2B5EF4-FFF2-40B4-BE49-F238E27FC236}">
                <a16:creationId xmlns:a16="http://schemas.microsoft.com/office/drawing/2014/main" id="{467973C2-22A7-4095-999F-BE07AF2FE2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9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6027-4FAA-4594-BE6B-C8F62019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</a:t>
            </a:r>
            <a:r>
              <a:rPr lang="en-US" dirty="0"/>
              <a:t> (2.3)</a:t>
            </a:r>
            <a:endParaRPr lang="en-ID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B89D69FE-549C-4FD5-AB05-D9BF361CC009}"/>
              </a:ext>
            </a:extLst>
          </p:cNvPr>
          <p:cNvSpPr txBox="1"/>
          <p:nvPr/>
        </p:nvSpPr>
        <p:spPr>
          <a:xfrm>
            <a:off x="838200" y="2105343"/>
            <a:ext cx="987552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Pasangkan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penggunaan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dibawah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ini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denganProsesnya</a:t>
            </a:r>
            <a:r>
              <a:rPr lang="en-US" sz="2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A3FB43-F83D-464B-BD0B-F1520308D0B5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" t="3135" r="74739" b="49537"/>
          <a:stretch/>
        </p:blipFill>
        <p:spPr bwMode="auto">
          <a:xfrm>
            <a:off x="1057195" y="4858375"/>
            <a:ext cx="1283653" cy="15938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C0D73B-6693-4998-ACD4-6006C1034014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38" t="50871" r="799" b="1801"/>
          <a:stretch/>
        </p:blipFill>
        <p:spPr bwMode="auto">
          <a:xfrm>
            <a:off x="3211050" y="4767249"/>
            <a:ext cx="1283652" cy="1661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BE7526-928A-4199-8A31-7E3C8E1F22CF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3" t="1313" r="50202" b="49396"/>
          <a:stretch/>
        </p:blipFill>
        <p:spPr bwMode="auto">
          <a:xfrm>
            <a:off x="5775960" y="4684701"/>
            <a:ext cx="1283652" cy="17049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A90A2D-0462-49E6-85D5-A86BAA4B8F40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57" t="51259" r="25080" b="1413"/>
          <a:stretch/>
        </p:blipFill>
        <p:spPr bwMode="auto">
          <a:xfrm>
            <a:off x="8842571" y="4702000"/>
            <a:ext cx="1283651" cy="17049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F372E783-37F5-4C0F-BEE9-DAACEDF15265}"/>
              </a:ext>
            </a:extLst>
          </p:cNvPr>
          <p:cNvSpPr/>
          <p:nvPr/>
        </p:nvSpPr>
        <p:spPr>
          <a:xfrm>
            <a:off x="1214674" y="4342768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4937E1E6-8E58-474B-A468-419CA9AEF414}"/>
              </a:ext>
            </a:extLst>
          </p:cNvPr>
          <p:cNvSpPr/>
          <p:nvPr/>
        </p:nvSpPr>
        <p:spPr>
          <a:xfrm>
            <a:off x="3829327" y="4250688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8398680-D881-47C7-B916-4BDA0D6A851E}"/>
              </a:ext>
            </a:extLst>
          </p:cNvPr>
          <p:cNvSpPr/>
          <p:nvPr/>
        </p:nvSpPr>
        <p:spPr>
          <a:xfrm>
            <a:off x="6290071" y="4296406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9564DDA-3E9D-429B-A89F-C6CF7BFE5F82}"/>
              </a:ext>
            </a:extLst>
          </p:cNvPr>
          <p:cNvSpPr/>
          <p:nvPr/>
        </p:nvSpPr>
        <p:spPr>
          <a:xfrm>
            <a:off x="9176580" y="4321810"/>
            <a:ext cx="307817" cy="221296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1DD26F3-C576-447B-8BAA-31146B45A760}"/>
              </a:ext>
            </a:extLst>
          </p:cNvPr>
          <p:cNvSpPr/>
          <p:nvPr/>
        </p:nvSpPr>
        <p:spPr>
          <a:xfrm>
            <a:off x="2541747" y="5554488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1B6CA00-5D23-4F48-A1C6-B761826D3384}"/>
              </a:ext>
            </a:extLst>
          </p:cNvPr>
          <p:cNvSpPr/>
          <p:nvPr/>
        </p:nvSpPr>
        <p:spPr>
          <a:xfrm>
            <a:off x="4604184" y="5487181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F7BE81B-8D50-47C4-B69F-A4906FEE0BD9}"/>
              </a:ext>
            </a:extLst>
          </p:cNvPr>
          <p:cNvSpPr/>
          <p:nvPr/>
        </p:nvSpPr>
        <p:spPr>
          <a:xfrm>
            <a:off x="7214061" y="5443840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64458541-1803-48EF-84F5-813AD59CD3C5}"/>
              </a:ext>
            </a:extLst>
          </p:cNvPr>
          <p:cNvSpPr/>
          <p:nvPr/>
        </p:nvSpPr>
        <p:spPr>
          <a:xfrm>
            <a:off x="10383981" y="5315893"/>
            <a:ext cx="307817" cy="2212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A6B3C1-70F5-4D78-BC74-54AE8F9BA74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38199" y="2544198"/>
            <a:ext cx="1283653" cy="170648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D1280A3-E265-454C-B23C-09F0114C33B6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3211050" y="2586354"/>
            <a:ext cx="1283652" cy="16611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AA6307-35EF-47BF-B612-95F09C7C19F2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5626099" y="2536190"/>
            <a:ext cx="1433513" cy="170497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224198F-08AA-4FA3-A168-3F1AADFA0251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8634289" y="2544198"/>
            <a:ext cx="1433513" cy="1752208"/>
          </a:xfrm>
          <a:prstGeom prst="rect">
            <a:avLst/>
          </a:prstGeom>
        </p:spPr>
      </p:pic>
      <p:pic>
        <p:nvPicPr>
          <p:cNvPr id="22" name="Graphic 21" descr="Group brainstorm with solid fill">
            <a:extLst>
              <a:ext uri="{FF2B5EF4-FFF2-40B4-BE49-F238E27FC236}">
                <a16:creationId xmlns:a16="http://schemas.microsoft.com/office/drawing/2014/main" id="{B713E1B5-187F-461A-9670-0ACBCEED7E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96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Pengenalan</a:t>
            </a:r>
            <a:r>
              <a:rPr lang="en-US" i="1" dirty="0"/>
              <a:t> </a:t>
            </a:r>
            <a:r>
              <a:rPr lang="en-US" i="1" dirty="0" err="1"/>
              <a:t>Kecerdasan</a:t>
            </a:r>
            <a:r>
              <a:rPr lang="en-US" i="1" dirty="0"/>
              <a:t> </a:t>
            </a:r>
            <a:r>
              <a:rPr lang="en-US" i="1" dirty="0" err="1"/>
              <a:t>Artifisial</a:t>
            </a:r>
            <a:r>
              <a:rPr lang="en-US" i="1" dirty="0"/>
              <a:t> </a:t>
            </a:r>
            <a:r>
              <a:rPr lang="en-US" i="1" dirty="0" err="1"/>
              <a:t>Sederhana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00103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6027-4FAA-4594-BE6B-C8F62019E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Plugged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22" name="Google Shape;99;p6">
            <a:extLst>
              <a:ext uri="{FF2B5EF4-FFF2-40B4-BE49-F238E27FC236}">
                <a16:creationId xmlns:a16="http://schemas.microsoft.com/office/drawing/2014/main" id="{CE2E8FA2-5ADB-4474-9483-274267F37924}"/>
              </a:ext>
            </a:extLst>
          </p:cNvPr>
          <p:cNvSpPr txBox="1"/>
          <p:nvPr/>
        </p:nvSpPr>
        <p:spPr>
          <a:xfrm>
            <a:off x="838200" y="2722776"/>
            <a:ext cx="1061008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Buatlah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Penjadwalan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menggunakan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HP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berbasis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KA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ada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Modul 4 pada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B.4.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Plugged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Penggunaan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endParaRPr sz="1800" b="1" dirty="0"/>
          </a:p>
        </p:txBody>
      </p:sp>
      <p:pic>
        <p:nvPicPr>
          <p:cNvPr id="4" name="Graphic 3" descr="Group brainstorm with solid fill">
            <a:extLst>
              <a:ext uri="{FF2B5EF4-FFF2-40B4-BE49-F238E27FC236}">
                <a16:creationId xmlns:a16="http://schemas.microsoft.com/office/drawing/2014/main" id="{4D127D74-CD72-47E2-B146-10ADB3C33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94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E29E7A-A549-4F82-8ECD-9969C63A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C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F3B28-1646-4863-BD07-CE8623639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Kecerdasan</a:t>
            </a:r>
            <a:r>
              <a:rPr lang="en-US" dirty="0"/>
              <a:t> </a:t>
            </a:r>
            <a:r>
              <a:rPr lang="en-US" dirty="0" err="1"/>
              <a:t>Artifisial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33280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08A37E-1E35-4336-B160-CA92921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Kecerdasan</a:t>
            </a:r>
            <a:r>
              <a:rPr lang="en-US" dirty="0"/>
              <a:t> </a:t>
            </a:r>
            <a:r>
              <a:rPr lang="en-US" dirty="0" err="1"/>
              <a:t>Aritifisial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Input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CD061-2F57-4EF5-9B89-D7E52D9518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84569" y="2764072"/>
            <a:ext cx="7082473" cy="2447925"/>
          </a:xfrm>
          <a:prstGeom prst="rect">
            <a:avLst/>
          </a:prstGeom>
        </p:spPr>
      </p:pic>
      <p:sp>
        <p:nvSpPr>
          <p:cNvPr id="6" name="Google Shape;99;p6">
            <a:extLst>
              <a:ext uri="{FF2B5EF4-FFF2-40B4-BE49-F238E27FC236}">
                <a16:creationId xmlns:a16="http://schemas.microsoft.com/office/drawing/2014/main" id="{D1AD51D4-60B2-44B1-9C96-321D93CC1B76}"/>
              </a:ext>
            </a:extLst>
          </p:cNvPr>
          <p:cNvSpPr txBox="1"/>
          <p:nvPr/>
        </p:nvSpPr>
        <p:spPr>
          <a:xfrm>
            <a:off x="1589086" y="2338767"/>
            <a:ext cx="423672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KA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menerima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data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bentuk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teks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gambar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suara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dokumen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sensor</a:t>
            </a:r>
            <a:endParaRPr lang="en-US" sz="2000" b="1" dirty="0"/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AA455F8B-1F24-42D0-8520-2F0E510A095A}"/>
              </a:ext>
            </a:extLst>
          </p:cNvPr>
          <p:cNvSpPr/>
          <p:nvPr/>
        </p:nvSpPr>
        <p:spPr>
          <a:xfrm rot="20139537">
            <a:off x="1571068" y="3187961"/>
            <a:ext cx="731520" cy="16611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D2309E32-343F-4CCD-A35F-8039EC86199E}"/>
              </a:ext>
            </a:extLst>
          </p:cNvPr>
          <p:cNvSpPr txBox="1"/>
          <p:nvPr/>
        </p:nvSpPr>
        <p:spPr>
          <a:xfrm>
            <a:off x="3435903" y="5475416"/>
            <a:ext cx="477980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KA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menganalisis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data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menggunakan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algoritma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pemelajaran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mesinnya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(Machine Learning)</a:t>
            </a:r>
            <a:endParaRPr lang="en-US" sz="2000" b="1" dirty="0"/>
          </a:p>
        </p:txBody>
      </p:sp>
      <p:sp>
        <p:nvSpPr>
          <p:cNvPr id="10" name="Google Shape;99;p6">
            <a:extLst>
              <a:ext uri="{FF2B5EF4-FFF2-40B4-BE49-F238E27FC236}">
                <a16:creationId xmlns:a16="http://schemas.microsoft.com/office/drawing/2014/main" id="{5C2CF918-7292-4ABB-90C9-88D36654246A}"/>
              </a:ext>
            </a:extLst>
          </p:cNvPr>
          <p:cNvSpPr txBox="1"/>
          <p:nvPr/>
        </p:nvSpPr>
        <p:spPr>
          <a:xfrm>
            <a:off x="6690360" y="2338767"/>
            <a:ext cx="495712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KA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memberikan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respon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bentuk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teks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suara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gambar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tindakan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otomatis</a:t>
            </a:r>
            <a:endParaRPr lang="en-US" sz="2000" b="1" dirty="0"/>
          </a:p>
        </p:txBody>
      </p:sp>
      <p:sp>
        <p:nvSpPr>
          <p:cNvPr id="11" name="Arrow: Curved Right 10">
            <a:extLst>
              <a:ext uri="{FF2B5EF4-FFF2-40B4-BE49-F238E27FC236}">
                <a16:creationId xmlns:a16="http://schemas.microsoft.com/office/drawing/2014/main" id="{B3EB93FC-AE7A-4DD4-A4C1-E7E9FBFD167F}"/>
              </a:ext>
            </a:extLst>
          </p:cNvPr>
          <p:cNvSpPr/>
          <p:nvPr/>
        </p:nvSpPr>
        <p:spPr>
          <a:xfrm rot="2353967" flipH="1">
            <a:off x="9492729" y="3187962"/>
            <a:ext cx="731520" cy="166116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EDCC27D4-0068-4F5A-A4DA-A4B20FD9F46E}"/>
              </a:ext>
            </a:extLst>
          </p:cNvPr>
          <p:cNvSpPr/>
          <p:nvPr/>
        </p:nvSpPr>
        <p:spPr>
          <a:xfrm>
            <a:off x="5478064" y="4958938"/>
            <a:ext cx="347741" cy="5638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5128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08A37E-1E35-4336-B160-CA92921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Prompt (1)</a:t>
            </a:r>
            <a:endParaRPr lang="en-ID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78E531A1-7C6B-4866-83F2-980AEEE4C0B6}"/>
              </a:ext>
            </a:extLst>
          </p:cNvPr>
          <p:cNvSpPr txBox="1"/>
          <p:nvPr/>
        </p:nvSpPr>
        <p:spPr>
          <a:xfrm>
            <a:off x="2438400" y="1797752"/>
            <a:ext cx="438912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C.R.E.A.T.E</a:t>
            </a:r>
            <a:endParaRPr lang="en-US" sz="54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6" name="Google Shape;99;p6">
            <a:extLst>
              <a:ext uri="{FF2B5EF4-FFF2-40B4-BE49-F238E27FC236}">
                <a16:creationId xmlns:a16="http://schemas.microsoft.com/office/drawing/2014/main" id="{8DA0F4A9-9EB5-41C5-8E99-4684E4134007}"/>
              </a:ext>
            </a:extLst>
          </p:cNvPr>
          <p:cNvSpPr txBox="1"/>
          <p:nvPr/>
        </p:nvSpPr>
        <p:spPr>
          <a:xfrm>
            <a:off x="975360" y="2753093"/>
            <a:ext cx="23622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Character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8" name="Google Shape;99;p6">
            <a:extLst>
              <a:ext uri="{FF2B5EF4-FFF2-40B4-BE49-F238E27FC236}">
                <a16:creationId xmlns:a16="http://schemas.microsoft.com/office/drawing/2014/main" id="{BBC766D7-577D-4BA3-8198-0CB8F5C80302}"/>
              </a:ext>
            </a:extLst>
          </p:cNvPr>
          <p:cNvSpPr txBox="1"/>
          <p:nvPr/>
        </p:nvSpPr>
        <p:spPr>
          <a:xfrm>
            <a:off x="975360" y="3228965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Peran yang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diinginkan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7" name="Google Shape;99;p6">
            <a:extLst>
              <a:ext uri="{FF2B5EF4-FFF2-40B4-BE49-F238E27FC236}">
                <a16:creationId xmlns:a16="http://schemas.microsoft.com/office/drawing/2014/main" id="{702FEF1C-A46D-46E7-B61A-EC41ECECA396}"/>
              </a:ext>
            </a:extLst>
          </p:cNvPr>
          <p:cNvSpPr txBox="1"/>
          <p:nvPr/>
        </p:nvSpPr>
        <p:spPr>
          <a:xfrm>
            <a:off x="975360" y="3689994"/>
            <a:ext cx="23317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Request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29AC6E0B-B0AD-4070-9032-8C0BC6DFFDF5}"/>
              </a:ext>
            </a:extLst>
          </p:cNvPr>
          <p:cNvSpPr txBox="1"/>
          <p:nvPr/>
        </p:nvSpPr>
        <p:spPr>
          <a:xfrm>
            <a:off x="975360" y="4165866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Menjelaskan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permintaan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pengguna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0" name="Google Shape;99;p6">
            <a:extLst>
              <a:ext uri="{FF2B5EF4-FFF2-40B4-BE49-F238E27FC236}">
                <a16:creationId xmlns:a16="http://schemas.microsoft.com/office/drawing/2014/main" id="{D3291D72-AC07-431B-B0F0-1B4A6898CBB6}"/>
              </a:ext>
            </a:extLst>
          </p:cNvPr>
          <p:cNvSpPr txBox="1"/>
          <p:nvPr/>
        </p:nvSpPr>
        <p:spPr>
          <a:xfrm>
            <a:off x="975360" y="4624981"/>
            <a:ext cx="23317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Example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11" name="Google Shape;99;p6">
            <a:extLst>
              <a:ext uri="{FF2B5EF4-FFF2-40B4-BE49-F238E27FC236}">
                <a16:creationId xmlns:a16="http://schemas.microsoft.com/office/drawing/2014/main" id="{EFD134A0-1BF4-4324-B88C-CEF75F2298A1}"/>
              </a:ext>
            </a:extLst>
          </p:cNvPr>
          <p:cNvSpPr txBox="1"/>
          <p:nvPr/>
        </p:nvSpPr>
        <p:spPr>
          <a:xfrm>
            <a:off x="975360" y="5100853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yang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diinginkan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4" name="Google Shape;99;p6">
            <a:extLst>
              <a:ext uri="{FF2B5EF4-FFF2-40B4-BE49-F238E27FC236}">
                <a16:creationId xmlns:a16="http://schemas.microsoft.com/office/drawing/2014/main" id="{B69677D0-E39C-4120-86E6-13069FF5AB3D}"/>
              </a:ext>
            </a:extLst>
          </p:cNvPr>
          <p:cNvSpPr txBox="1"/>
          <p:nvPr/>
        </p:nvSpPr>
        <p:spPr>
          <a:xfrm>
            <a:off x="5364480" y="3153162"/>
            <a:ext cx="612648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Tambahan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perubahan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yang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diinginkan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(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cara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penulisan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)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5" name="Google Shape;99;p6">
            <a:extLst>
              <a:ext uri="{FF2B5EF4-FFF2-40B4-BE49-F238E27FC236}">
                <a16:creationId xmlns:a16="http://schemas.microsoft.com/office/drawing/2014/main" id="{0A0D0E76-FAB0-4938-8773-88115783BB5C}"/>
              </a:ext>
            </a:extLst>
          </p:cNvPr>
          <p:cNvSpPr txBox="1"/>
          <p:nvPr/>
        </p:nvSpPr>
        <p:spPr>
          <a:xfrm>
            <a:off x="5394960" y="3614191"/>
            <a:ext cx="23317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Type of output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16" name="Google Shape;99;p6">
            <a:extLst>
              <a:ext uri="{FF2B5EF4-FFF2-40B4-BE49-F238E27FC236}">
                <a16:creationId xmlns:a16="http://schemas.microsoft.com/office/drawing/2014/main" id="{33D3CB9E-9D5B-4815-A38D-C53C727A95C8}"/>
              </a:ext>
            </a:extLst>
          </p:cNvPr>
          <p:cNvSpPr txBox="1"/>
          <p:nvPr/>
        </p:nvSpPr>
        <p:spPr>
          <a:xfrm>
            <a:off x="5364480" y="4090063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Format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keluaran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7" name="Google Shape;99;p6">
            <a:extLst>
              <a:ext uri="{FF2B5EF4-FFF2-40B4-BE49-F238E27FC236}">
                <a16:creationId xmlns:a16="http://schemas.microsoft.com/office/drawing/2014/main" id="{7D67DD07-DF2F-4270-87EB-A1134D91EB15}"/>
              </a:ext>
            </a:extLst>
          </p:cNvPr>
          <p:cNvSpPr txBox="1"/>
          <p:nvPr/>
        </p:nvSpPr>
        <p:spPr>
          <a:xfrm>
            <a:off x="5394960" y="4549178"/>
            <a:ext cx="23317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Extras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18" name="Google Shape;99;p6">
            <a:extLst>
              <a:ext uri="{FF2B5EF4-FFF2-40B4-BE49-F238E27FC236}">
                <a16:creationId xmlns:a16="http://schemas.microsoft.com/office/drawing/2014/main" id="{DD5AE605-6D21-4F9C-9826-785D2AC8BC95}"/>
              </a:ext>
            </a:extLst>
          </p:cNvPr>
          <p:cNvSpPr txBox="1"/>
          <p:nvPr/>
        </p:nvSpPr>
        <p:spPr>
          <a:xfrm>
            <a:off x="5364480" y="5025050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Konteks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tambahan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9" name="Google Shape;99;p6">
            <a:extLst>
              <a:ext uri="{FF2B5EF4-FFF2-40B4-BE49-F238E27FC236}">
                <a16:creationId xmlns:a16="http://schemas.microsoft.com/office/drawing/2014/main" id="{1761C139-1E6A-4438-BC99-F29ED1EA3EB2}"/>
              </a:ext>
            </a:extLst>
          </p:cNvPr>
          <p:cNvSpPr txBox="1"/>
          <p:nvPr/>
        </p:nvSpPr>
        <p:spPr>
          <a:xfrm>
            <a:off x="5394960" y="2753093"/>
            <a:ext cx="23622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Adjustment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106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08A37E-1E35-4336-B160-CA92921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Prompt (2)</a:t>
            </a:r>
            <a:endParaRPr lang="en-ID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78E531A1-7C6B-4866-83F2-980AEEE4C0B6}"/>
              </a:ext>
            </a:extLst>
          </p:cNvPr>
          <p:cNvSpPr txBox="1"/>
          <p:nvPr/>
        </p:nvSpPr>
        <p:spPr>
          <a:xfrm>
            <a:off x="4602480" y="2029838"/>
            <a:ext cx="438912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C.R.E.A.T.E</a:t>
            </a:r>
            <a:endParaRPr lang="en-US" sz="54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8" name="Google Shape;99;p6">
            <a:extLst>
              <a:ext uri="{FF2B5EF4-FFF2-40B4-BE49-F238E27FC236}">
                <a16:creationId xmlns:a16="http://schemas.microsoft.com/office/drawing/2014/main" id="{BBC766D7-577D-4BA3-8198-0CB8F5C80302}"/>
              </a:ext>
            </a:extLst>
          </p:cNvPr>
          <p:cNvSpPr txBox="1"/>
          <p:nvPr/>
        </p:nvSpPr>
        <p:spPr>
          <a:xfrm>
            <a:off x="975360" y="3531995"/>
            <a:ext cx="105156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Jadilah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seorang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guru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koding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(c)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Buatkan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esai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tentang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Pemanfaatan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Kehidupan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(r)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 “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bidang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Pendidikan dan Kesehatan di era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Revolusi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Industri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4.0”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(e)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Gunakan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Bahasa Indonesia yang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mudah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dipahami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oleh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didik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7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(a)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Hasilnya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format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esai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minimal 500 kata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(t)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Sertakan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perjalan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Daftar Pustaka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terkait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(e)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19" name="Google Shape;99;p6">
            <a:extLst>
              <a:ext uri="{FF2B5EF4-FFF2-40B4-BE49-F238E27FC236}">
                <a16:creationId xmlns:a16="http://schemas.microsoft.com/office/drawing/2014/main" id="{1761C139-1E6A-4438-BC99-F29ED1EA3EB2}"/>
              </a:ext>
            </a:extLst>
          </p:cNvPr>
          <p:cNvSpPr txBox="1"/>
          <p:nvPr/>
        </p:nvSpPr>
        <p:spPr>
          <a:xfrm>
            <a:off x="975360" y="2900508"/>
            <a:ext cx="23622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Contoh</a:t>
            </a:r>
            <a:endParaRPr lang="en-US" sz="36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7631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08A37E-1E35-4336-B160-CA92921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Prompt (3)</a:t>
            </a:r>
            <a:endParaRPr lang="en-ID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78E531A1-7C6B-4866-83F2-980AEEE4C0B6}"/>
              </a:ext>
            </a:extLst>
          </p:cNvPr>
          <p:cNvSpPr txBox="1"/>
          <p:nvPr/>
        </p:nvSpPr>
        <p:spPr>
          <a:xfrm>
            <a:off x="2438400" y="1797752"/>
            <a:ext cx="438912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S.T.A.R</a:t>
            </a:r>
            <a:endParaRPr lang="en-US" sz="54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6" name="Google Shape;99;p6">
            <a:extLst>
              <a:ext uri="{FF2B5EF4-FFF2-40B4-BE49-F238E27FC236}">
                <a16:creationId xmlns:a16="http://schemas.microsoft.com/office/drawing/2014/main" id="{8DA0F4A9-9EB5-41C5-8E99-4684E4134007}"/>
              </a:ext>
            </a:extLst>
          </p:cNvPr>
          <p:cNvSpPr txBox="1"/>
          <p:nvPr/>
        </p:nvSpPr>
        <p:spPr>
          <a:xfrm>
            <a:off x="975360" y="2753093"/>
            <a:ext cx="23622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Situation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8" name="Google Shape;99;p6">
            <a:extLst>
              <a:ext uri="{FF2B5EF4-FFF2-40B4-BE49-F238E27FC236}">
                <a16:creationId xmlns:a16="http://schemas.microsoft.com/office/drawing/2014/main" id="{BBC766D7-577D-4BA3-8198-0CB8F5C80302}"/>
              </a:ext>
            </a:extLst>
          </p:cNvPr>
          <p:cNvSpPr txBox="1"/>
          <p:nvPr/>
        </p:nvSpPr>
        <p:spPr>
          <a:xfrm>
            <a:off x="975360" y="3228965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Masalah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yang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akan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diberikan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7" name="Google Shape;99;p6">
            <a:extLst>
              <a:ext uri="{FF2B5EF4-FFF2-40B4-BE49-F238E27FC236}">
                <a16:creationId xmlns:a16="http://schemas.microsoft.com/office/drawing/2014/main" id="{702FEF1C-A46D-46E7-B61A-EC41ECECA396}"/>
              </a:ext>
            </a:extLst>
          </p:cNvPr>
          <p:cNvSpPr txBox="1"/>
          <p:nvPr/>
        </p:nvSpPr>
        <p:spPr>
          <a:xfrm>
            <a:off x="975360" y="3689994"/>
            <a:ext cx="23317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Task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29AC6E0B-B0AD-4070-9032-8C0BC6DFFDF5}"/>
              </a:ext>
            </a:extLst>
          </p:cNvPr>
          <p:cNvSpPr txBox="1"/>
          <p:nvPr/>
        </p:nvSpPr>
        <p:spPr>
          <a:xfrm>
            <a:off x="975360" y="4165866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Tugas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yang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harus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diselesaikan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0" name="Google Shape;99;p6">
            <a:extLst>
              <a:ext uri="{FF2B5EF4-FFF2-40B4-BE49-F238E27FC236}">
                <a16:creationId xmlns:a16="http://schemas.microsoft.com/office/drawing/2014/main" id="{D3291D72-AC07-431B-B0F0-1B4A6898CBB6}"/>
              </a:ext>
            </a:extLst>
          </p:cNvPr>
          <p:cNvSpPr txBox="1"/>
          <p:nvPr/>
        </p:nvSpPr>
        <p:spPr>
          <a:xfrm>
            <a:off x="975360" y="4624981"/>
            <a:ext cx="23317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Action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11" name="Google Shape;99;p6">
            <a:extLst>
              <a:ext uri="{FF2B5EF4-FFF2-40B4-BE49-F238E27FC236}">
                <a16:creationId xmlns:a16="http://schemas.microsoft.com/office/drawing/2014/main" id="{EFD134A0-1BF4-4324-B88C-CEF75F2298A1}"/>
              </a:ext>
            </a:extLst>
          </p:cNvPr>
          <p:cNvSpPr txBox="1"/>
          <p:nvPr/>
        </p:nvSpPr>
        <p:spPr>
          <a:xfrm>
            <a:off x="975360" y="5100853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Langkah yang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harus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diambil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4" name="Google Shape;99;p6">
            <a:extLst>
              <a:ext uri="{FF2B5EF4-FFF2-40B4-BE49-F238E27FC236}">
                <a16:creationId xmlns:a16="http://schemas.microsoft.com/office/drawing/2014/main" id="{B69677D0-E39C-4120-86E6-13069FF5AB3D}"/>
              </a:ext>
            </a:extLst>
          </p:cNvPr>
          <p:cNvSpPr txBox="1"/>
          <p:nvPr/>
        </p:nvSpPr>
        <p:spPr>
          <a:xfrm>
            <a:off x="5364480" y="3153162"/>
            <a:ext cx="612648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akhir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15" name="Google Shape;99;p6">
            <a:extLst>
              <a:ext uri="{FF2B5EF4-FFF2-40B4-BE49-F238E27FC236}">
                <a16:creationId xmlns:a16="http://schemas.microsoft.com/office/drawing/2014/main" id="{0A0D0E76-FAB0-4938-8773-88115783BB5C}"/>
              </a:ext>
            </a:extLst>
          </p:cNvPr>
          <p:cNvSpPr txBox="1"/>
          <p:nvPr/>
        </p:nvSpPr>
        <p:spPr>
          <a:xfrm>
            <a:off x="5394960" y="3614191"/>
            <a:ext cx="233172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Contoh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  <p:sp>
        <p:nvSpPr>
          <p:cNvPr id="16" name="Google Shape;99;p6">
            <a:extLst>
              <a:ext uri="{FF2B5EF4-FFF2-40B4-BE49-F238E27FC236}">
                <a16:creationId xmlns:a16="http://schemas.microsoft.com/office/drawing/2014/main" id="{33D3CB9E-9D5B-4815-A38D-C53C727A95C8}"/>
              </a:ext>
            </a:extLst>
          </p:cNvPr>
          <p:cNvSpPr txBox="1"/>
          <p:nvPr/>
        </p:nvSpPr>
        <p:spPr>
          <a:xfrm>
            <a:off x="5471160" y="4061155"/>
            <a:ext cx="64008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Aku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seorang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guru yang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kesulitan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soal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pedekatan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HOTS dan SILO 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(s)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Materi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yang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diberikan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adalah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pemanfaatan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(t)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Buatkan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soal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tesebut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sebanyak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10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soal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bentuk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pilihan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ganda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opsi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pilihan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sebanyak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buah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memperhatikan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tingkat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pembelajaran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beserta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jawaban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(a)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Tampilan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bentuk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tabel</a:t>
            </a:r>
            <a:r>
              <a:rPr lang="en-US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(r)</a:t>
            </a:r>
          </a:p>
        </p:txBody>
      </p:sp>
      <p:sp>
        <p:nvSpPr>
          <p:cNvPr id="19" name="Google Shape;99;p6">
            <a:extLst>
              <a:ext uri="{FF2B5EF4-FFF2-40B4-BE49-F238E27FC236}">
                <a16:creationId xmlns:a16="http://schemas.microsoft.com/office/drawing/2014/main" id="{1761C139-1E6A-4438-BC99-F29ED1EA3EB2}"/>
              </a:ext>
            </a:extLst>
          </p:cNvPr>
          <p:cNvSpPr txBox="1"/>
          <p:nvPr/>
        </p:nvSpPr>
        <p:spPr>
          <a:xfrm>
            <a:off x="5394960" y="2753093"/>
            <a:ext cx="23622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highlight>
                  <a:srgbClr val="FFFF00"/>
                </a:highlight>
                <a:latin typeface="Calibri"/>
                <a:cs typeface="Calibri"/>
                <a:sym typeface="Calibri"/>
              </a:rPr>
              <a:t>Result</a:t>
            </a:r>
            <a:endParaRPr lang="en-US" sz="2000" dirty="0">
              <a:solidFill>
                <a:srgbClr val="1E4E79"/>
              </a:solidFill>
              <a:highlight>
                <a:srgbClr val="FFFF00"/>
              </a:highlight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2396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08A37E-1E35-4336-B160-CA92921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Pola Prompt (4)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C6286532-8074-4619-87E8-B7BA9B364337}"/>
              </a:ext>
            </a:extLst>
          </p:cNvPr>
          <p:cNvSpPr txBox="1"/>
          <p:nvPr/>
        </p:nvSpPr>
        <p:spPr>
          <a:xfrm>
            <a:off x="2740152" y="2823231"/>
            <a:ext cx="8613648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Perhatian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diajarkan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tentang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pola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prompt,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tetapi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diarahkan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proses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Analisis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Kritis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terhadap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Output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dihasilkan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F69821C6-BF71-4E53-A9A3-21871980A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712" y="3032195"/>
            <a:ext cx="1755648" cy="17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46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Kecerdasan</a:t>
            </a:r>
            <a:r>
              <a:rPr lang="en-US" i="1" dirty="0"/>
              <a:t> </a:t>
            </a:r>
            <a:r>
              <a:rPr lang="en-US" i="1" dirty="0" err="1"/>
              <a:t>Aritifisial</a:t>
            </a:r>
            <a:r>
              <a:rPr lang="en-US" i="1" dirty="0"/>
              <a:t> </a:t>
            </a:r>
            <a:r>
              <a:rPr lang="en-US" i="1" dirty="0" err="1"/>
              <a:t>berbasis</a:t>
            </a:r>
            <a:r>
              <a:rPr lang="en-US" i="1" dirty="0"/>
              <a:t> Input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3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7B033-17CE-4399-9031-A775085583FB}"/>
              </a:ext>
            </a:extLst>
          </p:cNvPr>
          <p:cNvSpPr txBox="1"/>
          <p:nvPr/>
        </p:nvSpPr>
        <p:spPr>
          <a:xfrm>
            <a:off x="3049073" y="3246134"/>
            <a:ext cx="60981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0" dirty="0">
                <a:effectLst/>
              </a:rPr>
              <a:t>  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44448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52B-9F8C-4DEF-81F2-0DD2AA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</a:t>
            </a:r>
            <a:endParaRPr lang="en-ID" i="1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9709A760-E152-4691-9F95-BA141190132A}"/>
              </a:ext>
            </a:extLst>
          </p:cNvPr>
          <p:cNvSpPr txBox="1"/>
          <p:nvPr/>
        </p:nvSpPr>
        <p:spPr>
          <a:xfrm>
            <a:off x="838200" y="2305635"/>
            <a:ext cx="10610088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Bukalah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simulasi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bermain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(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Role-Playing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)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Ada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ChatGPT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(KA)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ada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Pemandu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Wisata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Ikuti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petunjuk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Modul 4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implementasinya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C.1.2.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Unplugged Chatbot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Sederhana</a:t>
            </a:r>
            <a:endParaRPr lang="en-US" sz="1800" b="1" dirty="0"/>
          </a:p>
        </p:txBody>
      </p:sp>
      <p:pic>
        <p:nvPicPr>
          <p:cNvPr id="7" name="Graphic 6" descr="Group brainstorm with solid fill">
            <a:extLst>
              <a:ext uri="{FF2B5EF4-FFF2-40B4-BE49-F238E27FC236}">
                <a16:creationId xmlns:a16="http://schemas.microsoft.com/office/drawing/2014/main" id="{0967454D-293D-4649-89A3-E3FD447C2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33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52B-9F8C-4DEF-81F2-0DD2AA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Plugged</a:t>
            </a:r>
            <a:endParaRPr lang="en-ID" i="1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9709A760-E152-4691-9F95-BA141190132A}"/>
              </a:ext>
            </a:extLst>
          </p:cNvPr>
          <p:cNvSpPr txBox="1"/>
          <p:nvPr/>
        </p:nvSpPr>
        <p:spPr>
          <a:xfrm>
            <a:off x="838200" y="1690688"/>
            <a:ext cx="10610088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Bukalah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aplikasi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PictoBlox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bisa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2"/>
              </a:rPr>
              <a:t>Online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Offline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Tambahkan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ekstension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ChatGPT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Ikuti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petunjuk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Modul 4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implementasinya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pada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C.1.3.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Plugged Chatbot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Sederhana</a:t>
            </a:r>
            <a:endParaRPr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CF4F78-9AFC-4DDD-A74A-29CF6B1875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96440" y="3958788"/>
            <a:ext cx="3810000" cy="2417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6FB0DC-6BE6-4652-ADED-08857D1F7A3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85562" y="3958788"/>
            <a:ext cx="4269423" cy="2417048"/>
          </a:xfrm>
          <a:prstGeom prst="rect">
            <a:avLst/>
          </a:prstGeom>
        </p:spPr>
      </p:pic>
      <p:pic>
        <p:nvPicPr>
          <p:cNvPr id="7" name="Graphic 6" descr="Group brainstorm with solid fill">
            <a:extLst>
              <a:ext uri="{FF2B5EF4-FFF2-40B4-BE49-F238E27FC236}">
                <a16:creationId xmlns:a16="http://schemas.microsoft.com/office/drawing/2014/main" id="{0967454D-293D-4649-89A3-E3FD447C26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6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D859-2F4F-4714-BA53-B8BECFFD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Mengenal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Kecerdasan</a:t>
            </a:r>
            <a:r>
              <a:rPr lang="en-ID" dirty="0"/>
              <a:t> </a:t>
            </a:r>
            <a:r>
              <a:rPr lang="en-ID" dirty="0" err="1"/>
              <a:t>Artifisial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77A10B-FD3A-405D-AE53-252F5852D6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391092"/>
            <a:ext cx="6004560" cy="3400108"/>
          </a:xfrm>
          <a:prstGeom prst="rect">
            <a:avLst/>
          </a:prstGeom>
        </p:spPr>
      </p:pic>
      <p:sp>
        <p:nvSpPr>
          <p:cNvPr id="4" name="Google Shape;99;p6">
            <a:extLst>
              <a:ext uri="{FF2B5EF4-FFF2-40B4-BE49-F238E27FC236}">
                <a16:creationId xmlns:a16="http://schemas.microsoft.com/office/drawing/2014/main" id="{00BFB244-959A-412A-844B-DACA67B52080}"/>
              </a:ext>
            </a:extLst>
          </p:cNvPr>
          <p:cNvSpPr txBox="1"/>
          <p:nvPr/>
        </p:nvSpPr>
        <p:spPr>
          <a:xfrm>
            <a:off x="6979920" y="2315528"/>
            <a:ext cx="446836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Supervised Machine Learning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ID" sz="2400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kategori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machine learning yang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set data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berlabel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melatih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algoritma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guna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memprediksi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mengenali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240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pola</a:t>
            </a:r>
            <a:r>
              <a:rPr lang="en-ID" sz="2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400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545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D859-2F4F-4714-BA53-B8BECFFD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Proses </a:t>
            </a:r>
            <a:r>
              <a:rPr lang="en-ID" dirty="0" err="1"/>
              <a:t>Klasifikasi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Kecerdasan</a:t>
            </a:r>
            <a:r>
              <a:rPr lang="en-ID" dirty="0"/>
              <a:t> </a:t>
            </a:r>
            <a:r>
              <a:rPr lang="en-ID" dirty="0" err="1"/>
              <a:t>Artifisial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77A10B-FD3A-405D-AE53-252F5852D6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3720" y="2780506"/>
            <a:ext cx="6004560" cy="34001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DD8C74-306E-4029-B03F-16A1C851F2F8}"/>
              </a:ext>
            </a:extLst>
          </p:cNvPr>
          <p:cNvSpPr/>
          <p:nvPr/>
        </p:nvSpPr>
        <p:spPr>
          <a:xfrm>
            <a:off x="3093720" y="2865120"/>
            <a:ext cx="1828800" cy="3230880"/>
          </a:xfrm>
          <a:prstGeom prst="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Google Shape;99;p6">
            <a:extLst>
              <a:ext uri="{FF2B5EF4-FFF2-40B4-BE49-F238E27FC236}">
                <a16:creationId xmlns:a16="http://schemas.microsoft.com/office/drawing/2014/main" id="{A5D0AC62-A378-4071-ADE8-2CFE0C44012F}"/>
              </a:ext>
            </a:extLst>
          </p:cNvPr>
          <p:cNvSpPr txBox="1"/>
          <p:nvPr/>
        </p:nvSpPr>
        <p:spPr>
          <a:xfrm>
            <a:off x="655320" y="4168140"/>
            <a:ext cx="203803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Mengumpulkan dan menyimpan data</a:t>
            </a:r>
            <a:endParaRPr lang="en-US" sz="2000" b="1" dirty="0"/>
          </a:p>
        </p:txBody>
      </p:sp>
      <p:sp>
        <p:nvSpPr>
          <p:cNvPr id="7" name="Arrow: Curved Down 6">
            <a:extLst>
              <a:ext uri="{FF2B5EF4-FFF2-40B4-BE49-F238E27FC236}">
                <a16:creationId xmlns:a16="http://schemas.microsoft.com/office/drawing/2014/main" id="{5F41B7A9-CADD-45A4-8A4B-7B4108A33012}"/>
              </a:ext>
            </a:extLst>
          </p:cNvPr>
          <p:cNvSpPr/>
          <p:nvPr/>
        </p:nvSpPr>
        <p:spPr>
          <a:xfrm rot="20576953">
            <a:off x="1234439" y="3414885"/>
            <a:ext cx="2087880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8" name="Google Shape;99;p6">
            <a:extLst>
              <a:ext uri="{FF2B5EF4-FFF2-40B4-BE49-F238E27FC236}">
                <a16:creationId xmlns:a16="http://schemas.microsoft.com/office/drawing/2014/main" id="{58176D53-9EFD-4914-9AD2-7CC2AE65853D}"/>
              </a:ext>
            </a:extLst>
          </p:cNvPr>
          <p:cNvSpPr txBox="1"/>
          <p:nvPr/>
        </p:nvSpPr>
        <p:spPr>
          <a:xfrm>
            <a:off x="4764911" y="1931001"/>
            <a:ext cx="203803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data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latih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(training) dan data test</a:t>
            </a:r>
            <a:endParaRPr lang="en-US" sz="2000" b="1" dirty="0"/>
          </a:p>
        </p:txBody>
      </p: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04BE26ED-268F-417E-9E0A-19D3BD76D69D}"/>
              </a:ext>
            </a:extLst>
          </p:cNvPr>
          <p:cNvSpPr txBox="1"/>
          <p:nvPr/>
        </p:nvSpPr>
        <p:spPr>
          <a:xfrm>
            <a:off x="9498646" y="3080906"/>
            <a:ext cx="203803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Melatih model</a:t>
            </a:r>
            <a:endParaRPr lang="en-US" sz="20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6DADBE-1560-4A33-9552-0F3B2E5D2B9C}"/>
              </a:ext>
            </a:extLst>
          </p:cNvPr>
          <p:cNvSpPr/>
          <p:nvPr/>
        </p:nvSpPr>
        <p:spPr>
          <a:xfrm>
            <a:off x="5014654" y="3307080"/>
            <a:ext cx="1299917" cy="1368871"/>
          </a:xfrm>
          <a:prstGeom prst="rect">
            <a:avLst/>
          </a:prstGeom>
          <a:noFill/>
          <a:ln w="5715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6FA80E6-EF92-4463-8074-E418BDFD1285}"/>
              </a:ext>
            </a:extLst>
          </p:cNvPr>
          <p:cNvSpPr/>
          <p:nvPr/>
        </p:nvSpPr>
        <p:spPr>
          <a:xfrm>
            <a:off x="5481191" y="2948400"/>
            <a:ext cx="396240" cy="4464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060A5B-05C8-46B7-B4AA-A316C018CF1E}"/>
              </a:ext>
            </a:extLst>
          </p:cNvPr>
          <p:cNvSpPr/>
          <p:nvPr/>
        </p:nvSpPr>
        <p:spPr>
          <a:xfrm>
            <a:off x="6406705" y="2946624"/>
            <a:ext cx="2691575" cy="1729328"/>
          </a:xfrm>
          <a:prstGeom prst="rect">
            <a:avLst/>
          </a:prstGeom>
          <a:noFill/>
          <a:ln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2CC2E8-EA48-4962-AD73-B8290B931949}"/>
              </a:ext>
            </a:extLst>
          </p:cNvPr>
          <p:cNvSpPr/>
          <p:nvPr/>
        </p:nvSpPr>
        <p:spPr>
          <a:xfrm>
            <a:off x="5969565" y="4811743"/>
            <a:ext cx="1828800" cy="1284257"/>
          </a:xfrm>
          <a:prstGeom prst="rect">
            <a:avLst/>
          </a:prstGeom>
          <a:noFill/>
          <a:ln w="5715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Arrow: Curved Down 13">
            <a:extLst>
              <a:ext uri="{FF2B5EF4-FFF2-40B4-BE49-F238E27FC236}">
                <a16:creationId xmlns:a16="http://schemas.microsoft.com/office/drawing/2014/main" id="{2844F0EF-6C4D-4837-9E54-0B1448712BD0}"/>
              </a:ext>
            </a:extLst>
          </p:cNvPr>
          <p:cNvSpPr/>
          <p:nvPr/>
        </p:nvSpPr>
        <p:spPr>
          <a:xfrm>
            <a:off x="8869680" y="2225040"/>
            <a:ext cx="2038034" cy="72158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26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88FEC-4C71-45E5-8BB6-E87AF6C5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Training Data</a:t>
            </a:r>
            <a:endParaRPr lang="en-ID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4D35E-5B50-4374-9F10-07617019CF7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6340"/>
            <a:ext cx="4358640" cy="2898140"/>
          </a:xfrm>
          <a:prstGeom prst="rect">
            <a:avLst/>
          </a:prstGeom>
        </p:spPr>
      </p:pic>
      <p:sp>
        <p:nvSpPr>
          <p:cNvPr id="4" name="Google Shape;99;p6">
            <a:extLst>
              <a:ext uri="{FF2B5EF4-FFF2-40B4-BE49-F238E27FC236}">
                <a16:creationId xmlns:a16="http://schemas.microsoft.com/office/drawing/2014/main" id="{BB4F08E7-6E18-46BD-BB5C-48612B966630}"/>
              </a:ext>
            </a:extLst>
          </p:cNvPr>
          <p:cNvSpPr txBox="1"/>
          <p:nvPr/>
        </p:nvSpPr>
        <p:spPr>
          <a:xfrm>
            <a:off x="5353366" y="3429000"/>
            <a:ext cx="5893754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Memiliki lebih banyak </a:t>
            </a:r>
            <a:r>
              <a:rPr lang="nl-NL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epochs</a:t>
            </a: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meningkatkan kemampuan model untuk mengenali pola, tetapi terlalu banyak </a:t>
            </a:r>
            <a:r>
              <a:rPr lang="nl-NL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epochs</a:t>
            </a: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dapat menyebabkan </a:t>
            </a:r>
            <a:r>
              <a:rPr lang="nl-NL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overfitting</a:t>
            </a: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yang berarti model terlalu spesifik pada data latih.  Terlalu banyak </a:t>
            </a:r>
            <a:r>
              <a:rPr lang="nl-NL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batch</a:t>
            </a: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dapat mempercepat pelatihan tetapi mengurangi variasi pembelajaran. </a:t>
            </a:r>
            <a:endParaRPr lang="en-US" sz="2000" dirty="0"/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3E207AF3-818F-4843-8736-A7E571D27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5836" y="2328672"/>
            <a:ext cx="1100328" cy="11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20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CB87-6B89-4854-B1BC-94E0431D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Accuracy</a:t>
            </a:r>
            <a:endParaRPr lang="en-ID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12753C-1902-4742-A4E8-AE1B0036A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2519362"/>
            <a:ext cx="5336729" cy="3256598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05F8CCF0-C055-4FC0-ACE6-AB7574668BB8}"/>
              </a:ext>
            </a:extLst>
          </p:cNvPr>
          <p:cNvSpPr txBox="1"/>
          <p:nvPr/>
        </p:nvSpPr>
        <p:spPr>
          <a:xfrm>
            <a:off x="6113968" y="3810000"/>
            <a:ext cx="5133152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Apabila setiap Class jika nilai Accuracy mendekati nilai 1.0 maka data class yang dipakai sudah bagus. Minimal bisa mendekati 0.80</a:t>
            </a:r>
            <a:endParaRPr lang="en-US" sz="2000" dirty="0"/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6DA6395D-B7E3-4E18-B4AA-38FAD51AC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8316" y="2594038"/>
            <a:ext cx="1100328" cy="11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17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18B9-F037-4828-AD08-ADC3D680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Accuracy per Epoch</a:t>
            </a:r>
            <a:endParaRPr lang="en-ID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BAB80-13BC-4BEA-B37F-6379E48EE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32672"/>
            <a:ext cx="4169319" cy="3610928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FCFB874C-E03D-4222-B512-519B884CFCBB}"/>
              </a:ext>
            </a:extLst>
          </p:cNvPr>
          <p:cNvSpPr txBox="1"/>
          <p:nvPr/>
        </p:nvSpPr>
        <p:spPr>
          <a:xfrm>
            <a:off x="5336728" y="3794760"/>
            <a:ext cx="6017072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Persentase data yang diklasifikasikan dengan benar dalam setiap epoch.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Semakin mendekati nilai 1.0 maka data yang diberikan (input) sudah sangat baik.</a:t>
            </a:r>
            <a:endParaRPr lang="en-US" sz="2000" dirty="0"/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D5DEE99-35CD-45E1-8E84-400A575A8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6728" y="2513076"/>
            <a:ext cx="1100328" cy="11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19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18B9-F037-4828-AD08-ADC3D680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Loss per Epoch</a:t>
            </a:r>
            <a:endParaRPr lang="en-ID" i="1" dirty="0"/>
          </a:p>
        </p:txBody>
      </p:sp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FCFB874C-E03D-4222-B512-519B884CFCBB}"/>
              </a:ext>
            </a:extLst>
          </p:cNvPr>
          <p:cNvSpPr txBox="1"/>
          <p:nvPr/>
        </p:nvSpPr>
        <p:spPr>
          <a:xfrm>
            <a:off x="5336728" y="3794760"/>
            <a:ext cx="601707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Kesalahan yang terjadi dalam prediksi, semakin kecil semakin baik</a:t>
            </a:r>
            <a:endParaRPr lang="en-US" sz="2000" dirty="0"/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D5DEE99-35CD-45E1-8E84-400A575A8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6728" y="2513076"/>
            <a:ext cx="1100328" cy="1100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D9743-9811-42A8-8537-2B79DF7D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55532"/>
            <a:ext cx="4306627" cy="364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659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D90B-C58F-46F4-8BFB-32714B1B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Confusion Matrix</a:t>
            </a:r>
            <a:endParaRPr lang="en-ID" i="1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739905BC-6E82-4C48-BA8E-7689E4637EF1}"/>
              </a:ext>
            </a:extLst>
          </p:cNvPr>
          <p:cNvSpPr txBox="1"/>
          <p:nvPr/>
        </p:nvSpPr>
        <p:spPr>
          <a:xfrm>
            <a:off x="5074920" y="3966564"/>
            <a:ext cx="589375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sz="20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Matriks yang menunjukkan jumlah prediksi yang benar dan salah untuk masing-masing kelas. Pastikan antara baris dan kolom jika ingin hasil training baik maka selain kotak berwarna merah harus bernilai 0 (nol).</a:t>
            </a:r>
            <a:endParaRPr lang="en-US" sz="2000" dirty="0"/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E46AE040-9DD0-456A-909C-4DD8AA67F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4920" y="2677355"/>
            <a:ext cx="1100328" cy="1100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4E007B-914C-460C-A78F-B597FC58D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0" y="2541269"/>
            <a:ext cx="4019550" cy="353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28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08A37E-1E35-4336-B160-CA92921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Supervised Machine Learning</a:t>
            </a:r>
            <a:endParaRPr lang="en-ID" i="1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C6286532-8074-4619-87E8-B7BA9B364337}"/>
              </a:ext>
            </a:extLst>
          </p:cNvPr>
          <p:cNvSpPr txBox="1"/>
          <p:nvPr/>
        </p:nvSpPr>
        <p:spPr>
          <a:xfrm>
            <a:off x="2637121" y="2372469"/>
            <a:ext cx="861364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Perhatian</a:t>
            </a:r>
            <a:endParaRPr lang="en-US" sz="28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diajarkan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tentang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menggunakan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TeachableMachine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melakukan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S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upervised Machine Learning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Tetapi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melakukan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pengamatan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data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bisa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diamati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seperti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Coffusion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Matrix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Accuracy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Input dan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konfigurasi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Training Data 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epochs, batch sizes, learning rate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)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langsung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F69821C6-BF71-4E53-A9A3-21871980A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39" y="3264340"/>
            <a:ext cx="1755648" cy="17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09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Kecerdasan</a:t>
            </a:r>
            <a:r>
              <a:rPr lang="en-US" i="1" dirty="0"/>
              <a:t> </a:t>
            </a:r>
            <a:r>
              <a:rPr lang="en-US" i="1" dirty="0" err="1"/>
              <a:t>Aritifisial</a:t>
            </a:r>
            <a:r>
              <a:rPr lang="en-US" i="1" dirty="0"/>
              <a:t> </a:t>
            </a:r>
            <a:r>
              <a:rPr lang="en-US" i="1" dirty="0" err="1"/>
              <a:t>berbasis</a:t>
            </a:r>
            <a:r>
              <a:rPr lang="en-US" i="1" dirty="0"/>
              <a:t> Input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4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116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52B-9F8C-4DEF-81F2-0DD2AA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 </a:t>
            </a:r>
            <a:r>
              <a:rPr lang="en-US" dirty="0"/>
              <a:t>(1)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9709A760-E152-4691-9F95-BA141190132A}"/>
              </a:ext>
            </a:extLst>
          </p:cNvPr>
          <p:cNvSpPr txBox="1"/>
          <p:nvPr/>
        </p:nvSpPr>
        <p:spPr>
          <a:xfrm>
            <a:off x="838200" y="2315528"/>
            <a:ext cx="10610088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Lakukan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penerapan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pembelajaran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Klasifikasi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pada Machine Learning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unplugged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Perkenalkan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pola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terhadap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klasifikasi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Susunlah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algoritma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dapat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digunakan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Machine Learning pada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unplugged 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Setelah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itu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lakukan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training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data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disediakan</a:t>
            </a:r>
            <a:endParaRPr sz="1800" dirty="0"/>
          </a:p>
        </p:txBody>
      </p:sp>
      <p:pic>
        <p:nvPicPr>
          <p:cNvPr id="7" name="Graphic 6" descr="Group brainstorm with solid fill">
            <a:extLst>
              <a:ext uri="{FF2B5EF4-FFF2-40B4-BE49-F238E27FC236}">
                <a16:creationId xmlns:a16="http://schemas.microsoft.com/office/drawing/2014/main" id="{0967454D-293D-4649-89A3-E3FD447C2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529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52B-9F8C-4DEF-81F2-0DD2AA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 </a:t>
            </a:r>
            <a:r>
              <a:rPr lang="en-US" dirty="0"/>
              <a:t>(2)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9709A760-E152-4691-9F95-BA141190132A}"/>
              </a:ext>
            </a:extLst>
          </p:cNvPr>
          <p:cNvSpPr txBox="1"/>
          <p:nvPr/>
        </p:nvSpPr>
        <p:spPr>
          <a:xfrm>
            <a:off x="838200" y="2315528"/>
            <a:ext cx="108051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Perhatikan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Gambar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Klasifikasi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Menggigit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Tidak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Menggigit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dibawah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ini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!</a:t>
            </a:r>
          </a:p>
        </p:txBody>
      </p:sp>
      <p:pic>
        <p:nvPicPr>
          <p:cNvPr id="7" name="Graphic 6" descr="Group brainstorm with solid fill">
            <a:extLst>
              <a:ext uri="{FF2B5EF4-FFF2-40B4-BE49-F238E27FC236}">
                <a16:creationId xmlns:a16="http://schemas.microsoft.com/office/drawing/2014/main" id="{0967454D-293D-4649-89A3-E3FD447C2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0470A4-3D75-46E6-8A32-9948CC9A543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439922" y="2788921"/>
            <a:ext cx="3456940" cy="340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2643C4-9941-4E39-AD02-71B42213C60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72490" y="2777152"/>
            <a:ext cx="3422650" cy="251015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8BFCD3-7715-4F03-9ED7-767F277657AE}"/>
              </a:ext>
            </a:extLst>
          </p:cNvPr>
          <p:cNvCxnSpPr/>
          <p:nvPr/>
        </p:nvCxnSpPr>
        <p:spPr>
          <a:xfrm>
            <a:off x="4295140" y="2931161"/>
            <a:ext cx="0" cy="326136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0E0141F8-3B4C-4B39-AF5A-D1CD47D34761}"/>
              </a:ext>
            </a:extLst>
          </p:cNvPr>
          <p:cNvSpPr txBox="1"/>
          <p:nvPr/>
        </p:nvSpPr>
        <p:spPr>
          <a:xfrm>
            <a:off x="8070342" y="2931161"/>
            <a:ext cx="324916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Tentukan</a:t>
            </a:r>
            <a:r>
              <a:rPr lang="en-US" sz="2800" dirty="0"/>
              <a:t> </a:t>
            </a:r>
            <a:r>
              <a:rPr lang="en-US" sz="2800" dirty="0" err="1"/>
              <a:t>pola</a:t>
            </a:r>
            <a:r>
              <a:rPr lang="en-US" sz="2800" dirty="0"/>
              <a:t> yang </a:t>
            </a:r>
            <a:r>
              <a:rPr lang="en-US" sz="2800" dirty="0" err="1"/>
              <a:t>perlu</a:t>
            </a:r>
            <a:r>
              <a:rPr lang="en-US" sz="2800" dirty="0"/>
              <a:t> </a:t>
            </a:r>
            <a:r>
              <a:rPr lang="en-US" sz="2800" dirty="0" err="1"/>
              <a:t>diamati</a:t>
            </a:r>
            <a:r>
              <a:rPr lang="en-US" sz="2800" dirty="0"/>
              <a:t> </a:t>
            </a:r>
            <a:r>
              <a:rPr lang="en-US" sz="2800" dirty="0" err="1"/>
              <a:t>apa</a:t>
            </a:r>
            <a:r>
              <a:rPr lang="en-US" sz="2800" dirty="0"/>
              <a:t> </a:t>
            </a:r>
            <a:r>
              <a:rPr lang="en-US" sz="2800" dirty="0" err="1"/>
              <a:t>saja</a:t>
            </a:r>
            <a:r>
              <a:rPr lang="en-US" sz="2800" dirty="0"/>
              <a:t>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Tentukan</a:t>
            </a:r>
            <a:r>
              <a:rPr lang="en-US" sz="2800" dirty="0"/>
              <a:t> </a:t>
            </a:r>
            <a:r>
              <a:rPr lang="en-US" sz="2800" dirty="0" err="1"/>
              <a:t>Algoritma</a:t>
            </a:r>
            <a:r>
              <a:rPr lang="en-US" sz="2800" dirty="0"/>
              <a:t> yang </a:t>
            </a:r>
            <a:r>
              <a:rPr lang="en-US" sz="2800" dirty="0" err="1"/>
              <a:t>digunakan</a:t>
            </a:r>
            <a:r>
              <a:rPr lang="en-US" sz="2800" dirty="0"/>
              <a:t>?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718219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52B-9F8C-4DEF-81F2-0DD2AA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Unplugged </a:t>
            </a:r>
            <a:r>
              <a:rPr lang="en-US" dirty="0"/>
              <a:t>(3)</a:t>
            </a:r>
            <a:endParaRPr lang="en-ID" dirty="0"/>
          </a:p>
        </p:txBody>
      </p:sp>
      <p:pic>
        <p:nvPicPr>
          <p:cNvPr id="7" name="Graphic 6" descr="Group brainstorm with solid fill">
            <a:extLst>
              <a:ext uri="{FF2B5EF4-FFF2-40B4-BE49-F238E27FC236}">
                <a16:creationId xmlns:a16="http://schemas.microsoft.com/office/drawing/2014/main" id="{0967454D-293D-4649-89A3-E3FD447C2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C9F0B5-08B5-48C5-9892-36A2D3E7CCA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68333" y="2242820"/>
            <a:ext cx="4983480" cy="39751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73688F-F640-4691-BB66-0A760EB51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710837"/>
              </p:ext>
            </p:extLst>
          </p:nvPr>
        </p:nvGraphicFramePr>
        <p:xfrm>
          <a:off x="5816285" y="3855720"/>
          <a:ext cx="5707382" cy="2216499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1493210">
                  <a:extLst>
                    <a:ext uri="{9D8B030D-6E8A-4147-A177-3AD203B41FA5}">
                      <a16:colId xmlns:a16="http://schemas.microsoft.com/office/drawing/2014/main" val="19440193"/>
                    </a:ext>
                  </a:extLst>
                </a:gridCol>
                <a:gridCol w="1404724">
                  <a:extLst>
                    <a:ext uri="{9D8B030D-6E8A-4147-A177-3AD203B41FA5}">
                      <a16:colId xmlns:a16="http://schemas.microsoft.com/office/drawing/2014/main" val="461043847"/>
                    </a:ext>
                  </a:extLst>
                </a:gridCol>
                <a:gridCol w="1404724">
                  <a:extLst>
                    <a:ext uri="{9D8B030D-6E8A-4147-A177-3AD203B41FA5}">
                      <a16:colId xmlns:a16="http://schemas.microsoft.com/office/drawing/2014/main" val="1135385234"/>
                    </a:ext>
                  </a:extLst>
                </a:gridCol>
                <a:gridCol w="1404724">
                  <a:extLst>
                    <a:ext uri="{9D8B030D-6E8A-4147-A177-3AD203B41FA5}">
                      <a16:colId xmlns:a16="http://schemas.microsoft.com/office/drawing/2014/main" val="2910337722"/>
                    </a:ext>
                  </a:extLst>
                </a:gridCol>
              </a:tblGrid>
              <a:tr h="133988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3: __________</a:t>
                      </a:r>
                      <a:endParaRPr lang="en-ID" sz="18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5: _________</a:t>
                      </a:r>
                      <a:endParaRPr lang="en-ID" sz="18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10: _________</a:t>
                      </a:r>
                      <a:endParaRPr lang="en-ID" sz="18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11: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_________</a:t>
                      </a:r>
                      <a:endParaRPr lang="en-ID" sz="18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5304653"/>
                  </a:ext>
                </a:extLst>
              </a:tr>
              <a:tr h="8766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13: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__________</a:t>
                      </a:r>
                      <a:endParaRPr lang="en-ID" sz="1800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b="1" dirty="0">
                          <a:effectLst/>
                        </a:rPr>
                        <a:t>16: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_________</a:t>
                      </a:r>
                      <a:endParaRPr lang="en-ID" sz="1800" b="1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b="1" dirty="0">
                          <a:effectLst/>
                        </a:rPr>
                        <a:t>19: </a:t>
                      </a:r>
                      <a:r>
                        <a:rPr lang="en-ID" sz="1800" dirty="0">
                          <a:effectLst/>
                        </a:rPr>
                        <a:t>_________</a:t>
                      </a:r>
                      <a:endParaRPr lang="en-ID" sz="1800" b="1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b="1" dirty="0">
                          <a:effectLst/>
                        </a:rPr>
                        <a:t>20: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D" sz="1800" dirty="0">
                          <a:effectLst/>
                        </a:rPr>
                        <a:t>_________</a:t>
                      </a:r>
                      <a:endParaRPr lang="en-ID" sz="1800" b="1" dirty="0">
                        <a:effectLst/>
                        <a:latin typeface="Aptos"/>
                        <a:ea typeface="Aptos"/>
                        <a:cs typeface="Apto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9593913"/>
                  </a:ext>
                </a:extLst>
              </a:tr>
            </a:tbl>
          </a:graphicData>
        </a:graphic>
      </p:graphicFrame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6022A6B9-2013-44D3-BAA9-34737342B854}"/>
              </a:ext>
            </a:extLst>
          </p:cNvPr>
          <p:cNvSpPr txBox="1"/>
          <p:nvPr/>
        </p:nvSpPr>
        <p:spPr>
          <a:xfrm>
            <a:off x="5816285" y="2242820"/>
            <a:ext cx="570738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accent1"/>
                </a:solidFill>
              </a:rPr>
              <a:t>Berdasarkan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pola</a:t>
            </a:r>
            <a:r>
              <a:rPr lang="en-US" sz="2400" dirty="0">
                <a:solidFill>
                  <a:schemeClr val="accent1"/>
                </a:solidFill>
              </a:rPr>
              <a:t> dan </a:t>
            </a:r>
            <a:r>
              <a:rPr lang="en-US" sz="2400" dirty="0" err="1">
                <a:solidFill>
                  <a:schemeClr val="accent1"/>
                </a:solidFill>
              </a:rPr>
              <a:t>algoritma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sebelumnya</a:t>
            </a:r>
            <a:r>
              <a:rPr lang="en-US" sz="2400" dirty="0">
                <a:solidFill>
                  <a:schemeClr val="accent1"/>
                </a:solidFill>
              </a:rPr>
              <a:t>. </a:t>
            </a:r>
            <a:r>
              <a:rPr lang="en-US" sz="2400" dirty="0" err="1">
                <a:solidFill>
                  <a:schemeClr val="accent1"/>
                </a:solidFill>
              </a:rPr>
              <a:t>Tentukan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hasil</a:t>
            </a:r>
            <a:r>
              <a:rPr lang="en-US" sz="2400" dirty="0">
                <a:solidFill>
                  <a:schemeClr val="accent1"/>
                </a:solidFill>
              </a:rPr>
              <a:t> training </a:t>
            </a:r>
            <a:r>
              <a:rPr lang="en-US" sz="2400" dirty="0" err="1">
                <a:solidFill>
                  <a:schemeClr val="accent1"/>
                </a:solidFill>
              </a:rPr>
              <a:t>klasifikasi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gambar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disamping</a:t>
            </a:r>
            <a:r>
              <a:rPr lang="en-US" sz="2400" dirty="0">
                <a:solidFill>
                  <a:schemeClr val="accent1"/>
                </a:solidFill>
              </a:rPr>
              <a:t> </a:t>
            </a:r>
            <a:r>
              <a:rPr lang="en-US" sz="2400" dirty="0" err="1">
                <a:solidFill>
                  <a:schemeClr val="accent1"/>
                </a:solidFill>
              </a:rPr>
              <a:t>dengan</a:t>
            </a:r>
            <a:r>
              <a:rPr lang="en-US" sz="2400" dirty="0">
                <a:solidFill>
                  <a:schemeClr val="accent1"/>
                </a:solidFill>
              </a:rPr>
              <a:t> data </a:t>
            </a:r>
            <a:r>
              <a:rPr lang="en-US" sz="2400" dirty="0" err="1">
                <a:solidFill>
                  <a:schemeClr val="accent1"/>
                </a:solidFill>
              </a:rPr>
              <a:t>dibawah</a:t>
            </a:r>
            <a:r>
              <a:rPr lang="en-US" sz="2400" dirty="0">
                <a:solidFill>
                  <a:schemeClr val="accent1"/>
                </a:solidFill>
              </a:rPr>
              <a:t>!</a:t>
            </a:r>
            <a:endParaRPr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467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52B-9F8C-4DEF-81F2-0DD2AA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Plugged </a:t>
            </a:r>
            <a:r>
              <a:rPr lang="en-US" dirty="0"/>
              <a:t>(1)</a:t>
            </a:r>
            <a:endParaRPr lang="en-ID" i="1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9709A760-E152-4691-9F95-BA141190132A}"/>
              </a:ext>
            </a:extLst>
          </p:cNvPr>
          <p:cNvSpPr txBox="1"/>
          <p:nvPr/>
        </p:nvSpPr>
        <p:spPr>
          <a:xfrm>
            <a:off x="838200" y="2540693"/>
            <a:ext cx="10610088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Buatlah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projek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Machine Learning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</a:t>
            </a:r>
            <a:r>
              <a:rPr lang="en-US" sz="2800" i="1" dirty="0" err="1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2"/>
              </a:rPr>
              <a:t>TeachableMachine</a:t>
            </a:r>
            <a:endParaRPr lang="en-US" sz="2800" i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Unduh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dataset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3"/>
              </a:rPr>
              <a:t>kucing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3"/>
              </a:rPr>
              <a:t> dan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3"/>
              </a:rPr>
              <a:t>ayam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Lakukan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Uji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Coba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(training) di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Teachable Machine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jika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sudah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baik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buatlah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link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4"/>
              </a:rPr>
              <a:t>datasetsnya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  <a:endParaRPr lang="en-US" sz="2800" i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Ikuti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petunjuk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Modul 4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implementasinya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pada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C.2.3.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Penerapan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Klasifikasi</a:t>
            </a:r>
            <a:endParaRPr lang="en-US" sz="1800" b="1" dirty="0"/>
          </a:p>
        </p:txBody>
      </p:sp>
      <p:pic>
        <p:nvPicPr>
          <p:cNvPr id="7" name="Graphic 6" descr="Group brainstorm with solid fill">
            <a:extLst>
              <a:ext uri="{FF2B5EF4-FFF2-40B4-BE49-F238E27FC236}">
                <a16:creationId xmlns:a16="http://schemas.microsoft.com/office/drawing/2014/main" id="{0967454D-293D-4649-89A3-E3FD447C26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568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852B-9F8C-4DEF-81F2-0DD2AA5A7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Plugged </a:t>
            </a:r>
            <a:r>
              <a:rPr lang="en-US" dirty="0"/>
              <a:t>(1)</a:t>
            </a:r>
            <a:endParaRPr lang="en-ID" i="1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9709A760-E152-4691-9F95-BA141190132A}"/>
              </a:ext>
            </a:extLst>
          </p:cNvPr>
          <p:cNvSpPr txBox="1"/>
          <p:nvPr/>
        </p:nvSpPr>
        <p:spPr>
          <a:xfrm>
            <a:off x="941231" y="2090192"/>
            <a:ext cx="10610088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Bukalah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aplikasi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PictoBlox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bisa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2"/>
              </a:rPr>
              <a:t>Online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Offline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Tambahkan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ekstension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ChatGPT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Teachable Machine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Masukan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link teachable machine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kemudian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koding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blockly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Ikuti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petunjuk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Modul 4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implementasinya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pada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C.2.3.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Contoh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Penerapan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Klasifikasi</a:t>
            </a:r>
            <a:endParaRPr sz="1800" b="1" dirty="0"/>
          </a:p>
        </p:txBody>
      </p:sp>
      <p:pic>
        <p:nvPicPr>
          <p:cNvPr id="7" name="Graphic 6" descr="Group brainstorm with solid fill">
            <a:extLst>
              <a:ext uri="{FF2B5EF4-FFF2-40B4-BE49-F238E27FC236}">
                <a16:creationId xmlns:a16="http://schemas.microsoft.com/office/drawing/2014/main" id="{0967454D-293D-4649-89A3-E3FD447C2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1565" y="282477"/>
            <a:ext cx="1386840" cy="1386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B6FF60-34C0-4CE5-AE51-DAA109048F8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268942" y="4767808"/>
            <a:ext cx="2925606" cy="17250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C29D2E-19B4-4CFD-919E-34EF4F778DA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902391" y="4627862"/>
            <a:ext cx="3091257" cy="1947661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06807F4-BF55-43C2-9C9A-ABA731F71056}"/>
              </a:ext>
            </a:extLst>
          </p:cNvPr>
          <p:cNvSpPr/>
          <p:nvPr/>
        </p:nvSpPr>
        <p:spPr>
          <a:xfrm>
            <a:off x="5215944" y="5188683"/>
            <a:ext cx="1506828" cy="632568"/>
          </a:xfrm>
          <a:prstGeom prst="rightArrow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0672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C032-C3E0-4AC0-8929-ABDEEC39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Kerja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D9074-35A3-49B4-99B3-3A89118A9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Mengaplikasi</a:t>
            </a:r>
            <a:endParaRPr lang="en-ID" dirty="0"/>
          </a:p>
        </p:txBody>
      </p:sp>
      <p:pic>
        <p:nvPicPr>
          <p:cNvPr id="4" name="Graphic 3" descr="Checklist with solid fill">
            <a:extLst>
              <a:ext uri="{FF2B5EF4-FFF2-40B4-BE49-F238E27FC236}">
                <a16:creationId xmlns:a16="http://schemas.microsoft.com/office/drawing/2014/main" id="{51F77783-164F-4CC9-8658-47DF38029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82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BBEF-70DD-4BAA-AAE4-2D4005E7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Mengaplikasi</a:t>
            </a:r>
            <a:r>
              <a:rPr lang="en-US" dirty="0"/>
              <a:t> (1)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5A50369F-4B84-43D9-8D4F-19049E317CE8}"/>
              </a:ext>
            </a:extLst>
          </p:cNvPr>
          <p:cNvSpPr txBox="1"/>
          <p:nvPr/>
        </p:nvSpPr>
        <p:spPr>
          <a:xfrm>
            <a:off x="838200" y="2091711"/>
            <a:ext cx="10610088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Pengajar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membentuk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kelompok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tugasnya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Unduh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file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Mengaplikasi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LMS dan 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2"/>
              </a:rPr>
              <a:t>asset datasets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Modul 4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Mengaplikasi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4.3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berkelompok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Tugas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ada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3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898525" marR="0" lvl="0" indent="-365125"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a.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datasets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  <a:hlinkClick r:id="rId3"/>
              </a:rPr>
              <a:t>Teachable Machine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3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binatang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kemudian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linknya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</a:p>
          <a:p>
            <a:pPr marL="898525" marR="0" lvl="0" indent="-457200"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b.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Koding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PictoBlox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informasi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klasifikasinya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</a:p>
          <a:p>
            <a:pPr marL="898525" marR="0" lvl="0" indent="-90488"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Extension yang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digunakan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TeachableMachine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</a:t>
            </a:r>
            <a:r>
              <a:rPr lang="en-US" sz="2800" b="1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ChatGPT</a:t>
            </a:r>
            <a:endParaRPr sz="1800" b="1" i="1" dirty="0"/>
          </a:p>
        </p:txBody>
      </p:sp>
    </p:spTree>
    <p:extLst>
      <p:ext uri="{BB962C8B-B14F-4D97-AF65-F5344CB8AC3E}">
        <p14:creationId xmlns:p14="http://schemas.microsoft.com/office/powerpoint/2010/main" val="34147858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BBEF-70DD-4BAA-AAE4-2D4005E7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Mengaplikasi</a:t>
            </a:r>
            <a:r>
              <a:rPr lang="en-US" dirty="0"/>
              <a:t> (2)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5A50369F-4B84-43D9-8D4F-19049E317CE8}"/>
              </a:ext>
            </a:extLst>
          </p:cNvPr>
          <p:cNvSpPr txBox="1"/>
          <p:nvPr/>
        </p:nvSpPr>
        <p:spPr>
          <a:xfrm>
            <a:off x="838200" y="2240344"/>
            <a:ext cx="10610088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898525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   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Gunakan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pola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Prompt di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Modul 4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menghasilkan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informasi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ChatGPT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  <a:p>
            <a:pPr marL="898525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prompt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desain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poster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projeknya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Canva 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(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terapkan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ilmu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Modul 2, 3, dan 4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)</a:t>
            </a:r>
            <a:endParaRPr lang="en-US" sz="28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365125" marR="0" lvl="0" indent="-365125"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5.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Alokasi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penggerjaan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9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0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setelah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itu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presentasikan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masing-masing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kelompok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  <a:p>
            <a:pPr marL="365125" marR="0" lvl="0" indent="-365125"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6. Hasil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Projek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masukan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 PDF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mulai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dari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confusion matrix, epochs,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blockly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tampilan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uji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coba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, dan prompt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desain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poster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beserta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poster.</a:t>
            </a:r>
          </a:p>
        </p:txBody>
      </p:sp>
    </p:spTree>
    <p:extLst>
      <p:ext uri="{BB962C8B-B14F-4D97-AF65-F5344CB8AC3E}">
        <p14:creationId xmlns:p14="http://schemas.microsoft.com/office/powerpoint/2010/main" val="41799003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FB52D-AFA7-430F-9796-57815042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Kerja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719E4-253F-46C5-96A7-DBBC5744C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Merefleksi</a:t>
            </a:r>
            <a:endParaRPr lang="en-ID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49B47D20-71FD-4875-A8C3-68267C57A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534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5478-8AB6-4730-A95B-4FB64969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Refleksi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11335FD6-C2D7-4699-B573-DE3CE8EEA114}"/>
              </a:ext>
            </a:extLst>
          </p:cNvPr>
          <p:cNvSpPr txBox="1"/>
          <p:nvPr/>
        </p:nvSpPr>
        <p:spPr>
          <a:xfrm>
            <a:off x="838200" y="2240344"/>
            <a:ext cx="10610088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Unduh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file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Merefleksi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LMS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Merefleksi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4.4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pendekatan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4F (Fact, Feeling, Finding, dan Future)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Perhatikan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Rubrik pada slide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berikut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mengisi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Refleksinya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Unggah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hasilnya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File PDF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LMS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Alokasi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pengerjaan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20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menit</a:t>
            </a:r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4064997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5478-8AB6-4730-A95B-4FB64969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Refleksi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11335FD6-C2D7-4699-B573-DE3CE8EEA114}"/>
              </a:ext>
            </a:extLst>
          </p:cNvPr>
          <p:cNvSpPr txBox="1"/>
          <p:nvPr/>
        </p:nvSpPr>
        <p:spPr>
          <a:xfrm>
            <a:off x="1252538" y="2125085"/>
            <a:ext cx="1061008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Rubrik: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EDA6E3-9228-4624-A2BB-D31B4024B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910008"/>
              </p:ext>
            </p:extLst>
          </p:nvPr>
        </p:nvGraphicFramePr>
        <p:xfrm>
          <a:off x="838200" y="2562540"/>
          <a:ext cx="10515599" cy="3297047"/>
        </p:xfrm>
        <a:graphic>
          <a:graphicData uri="http://schemas.openxmlformats.org/drawingml/2006/table">
            <a:tbl>
              <a:tblPr firstRow="1" firstCol="1" bandRow="1">
                <a:tableStyleId>{E26879EF-8C8B-49F9-AA38-4FCC930E2A87}</a:tableStyleId>
              </a:tblPr>
              <a:tblGrid>
                <a:gridCol w="1992694">
                  <a:extLst>
                    <a:ext uri="{9D8B030D-6E8A-4147-A177-3AD203B41FA5}">
                      <a16:colId xmlns:a16="http://schemas.microsoft.com/office/drawing/2014/main" val="2867412891"/>
                    </a:ext>
                  </a:extLst>
                </a:gridCol>
                <a:gridCol w="4355719">
                  <a:extLst>
                    <a:ext uri="{9D8B030D-6E8A-4147-A177-3AD203B41FA5}">
                      <a16:colId xmlns:a16="http://schemas.microsoft.com/office/drawing/2014/main" val="764909683"/>
                    </a:ext>
                  </a:extLst>
                </a:gridCol>
                <a:gridCol w="4167186">
                  <a:extLst>
                    <a:ext uri="{9D8B030D-6E8A-4147-A177-3AD203B41FA5}">
                      <a16:colId xmlns:a16="http://schemas.microsoft.com/office/drawing/2014/main" val="3557327843"/>
                    </a:ext>
                  </a:extLst>
                </a:gridCol>
              </a:tblGrid>
              <a:tr h="225094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Indikator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</a:t>
                      </a:r>
                      <a:endParaRPr lang="en-ID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Completed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5164836"/>
                  </a:ext>
                </a:extLst>
              </a:tr>
              <a:tr h="69612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 (Fakta)</a:t>
                      </a:r>
                      <a:endParaRPr lang="en-ID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Menyampaikan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akurat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terkait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input KA supervised learning, dan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pentingnya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berlabel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Fakta tidak lengkap, kabur, atau tidak sesuai konteks pertanyaan.</a:t>
                      </a:r>
                      <a:endParaRPr lang="en-ID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33647"/>
                  </a:ext>
                </a:extLst>
              </a:tr>
              <a:tr h="69612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Feeling (Perasan)</a:t>
                      </a:r>
                      <a:endParaRPr lang="en-ID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Mengungkapkan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perasaan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pribadi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terhadap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pengalaman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atau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pemahaman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tentang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KA.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Tidak mencantumkan perasaan atau bersifat terlalu umum/tidak nyambung</a:t>
                      </a:r>
                      <a:endParaRPr lang="en-ID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1662170"/>
                  </a:ext>
                </a:extLst>
              </a:tr>
              <a:tr h="69612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Finding (Penemuan)</a:t>
                      </a:r>
                      <a:endParaRPr lang="en-ID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Menyimpulkan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pembelajaran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utama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dari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pengalaman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atau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pengetahuan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baru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termasuk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tantangan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solusinya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Tidak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insight yang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mendalam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atau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hanya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mengulang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tanpa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pemahaman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baru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555927"/>
                  </a:ext>
                </a:extLst>
              </a:tr>
              <a:tr h="69612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Future</a:t>
                      </a:r>
                    </a:p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(Masa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Depan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ID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Menyampaikan rencana konkret untuk meningkatkan pemahaman atau praktik di masa depan.</a:t>
                      </a:r>
                      <a:endParaRPr lang="en-ID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Tidak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rencana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atau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rencana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terlalu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umum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tidak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terkait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langsung</a:t>
                      </a:r>
                      <a:r>
                        <a:rPr lang="en-ID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ID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64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4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54CCD4-4580-49F6-822C-EDA46FEC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Kuis</a:t>
            </a:r>
            <a:r>
              <a:rPr lang="en-US" dirty="0"/>
              <a:t> </a:t>
            </a:r>
            <a:r>
              <a:rPr lang="en-US" dirty="0" err="1"/>
              <a:t>Pemahaman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D6577-F646-4901-9657-48E7D57C4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4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Tools </a:t>
            </a:r>
            <a:r>
              <a:rPr lang="en-US" dirty="0" err="1"/>
              <a:t>Kecerdasan</a:t>
            </a:r>
            <a:r>
              <a:rPr lang="en-US" dirty="0"/>
              <a:t> </a:t>
            </a:r>
            <a:r>
              <a:rPr lang="en-US" dirty="0" err="1"/>
              <a:t>Artifisial</a:t>
            </a:r>
            <a:endParaRPr lang="en-ID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253EDD05-02EE-44D0-8454-AD1F577A8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004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5478-8AB6-4730-A95B-4FB64969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Kuis</a:t>
            </a:r>
            <a:r>
              <a:rPr lang="en-US" dirty="0"/>
              <a:t> </a:t>
            </a:r>
            <a:r>
              <a:rPr lang="en-US" dirty="0" err="1"/>
              <a:t>Pemahaman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11335FD6-C2D7-4699-B573-DE3CE8EEA114}"/>
              </a:ext>
            </a:extLst>
          </p:cNvPr>
          <p:cNvSpPr txBox="1"/>
          <p:nvPr/>
        </p:nvSpPr>
        <p:spPr>
          <a:xfrm>
            <a:off x="838200" y="2497922"/>
            <a:ext cx="10610088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kuis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10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soal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 1.4.a.2.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Kuis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Pemahaman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Komunikasi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melalui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Tools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endParaRPr lang="en-US" sz="28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Semoga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Sukses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!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13152368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CB0F0-AAC3-49C8-A596-5126C78D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Refleksi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F2DA6-E103-4F8F-8D1A-88FE9FCCF0FB}"/>
              </a:ext>
            </a:extLst>
          </p:cNvPr>
          <p:cNvSpPr txBox="1"/>
          <p:nvPr/>
        </p:nvSpPr>
        <p:spPr>
          <a:xfrm>
            <a:off x="1218247" y="550408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hlinkClick r:id="rId2"/>
              </a:rPr>
              <a:t>https://youtu.be/JqJAxjvGgEk?si=xq6Dr5qcwTzQJx9n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063B3-9D6C-4FD4-AEA2-4F5D8BDEAF4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247" y="2743784"/>
            <a:ext cx="2698433" cy="2577415"/>
          </a:xfrm>
          <a:prstGeom prst="rect">
            <a:avLst/>
          </a:prstGeom>
        </p:spPr>
      </p:pic>
      <p:sp>
        <p:nvSpPr>
          <p:cNvPr id="6" name="Google Shape;99;p6">
            <a:extLst>
              <a:ext uri="{FF2B5EF4-FFF2-40B4-BE49-F238E27FC236}">
                <a16:creationId xmlns:a16="http://schemas.microsoft.com/office/drawing/2014/main" id="{1B6F5870-0479-48DE-803D-F363B6D5B631}"/>
              </a:ext>
            </a:extLst>
          </p:cNvPr>
          <p:cNvSpPr txBox="1"/>
          <p:nvPr/>
        </p:nvSpPr>
        <p:spPr>
          <a:xfrm>
            <a:off x="5825703" y="2966770"/>
            <a:ext cx="5654040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Secara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mandiri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Bapak/Ibu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Peserta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pelatihan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Koding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dapat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menyimak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refleksi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modul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4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disamping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.</a:t>
            </a:r>
            <a:endParaRPr lang="en-US" sz="32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80554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</a:pPr>
            <a:r>
              <a:rPr lang="en-US" dirty="0" err="1"/>
              <a:t>Terima</a:t>
            </a:r>
            <a:r>
              <a:rPr lang="en-US" dirty="0"/>
              <a:t> Kasih</a:t>
            </a:r>
            <a:endParaRPr dirty="0"/>
          </a:p>
        </p:txBody>
      </p:sp>
      <p:sp>
        <p:nvSpPr>
          <p:cNvPr id="429" name="Google Shape;429;p4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1785</Words>
  <Application>Microsoft Office PowerPoint</Application>
  <PresentationFormat>Widescreen</PresentationFormat>
  <Paragraphs>258</Paragraphs>
  <Slides>53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Poppins</vt:lpstr>
      <vt:lpstr>Arial</vt:lpstr>
      <vt:lpstr>Calibri</vt:lpstr>
      <vt:lpstr>Aptos</vt:lpstr>
      <vt:lpstr>Office Theme</vt:lpstr>
      <vt:lpstr>KODING DAN KECERDASAN ARTIFISIAL</vt:lpstr>
      <vt:lpstr>Komunikasi Melalui Tools Kecerdasan Artifisial</vt:lpstr>
      <vt:lpstr>Kesepakatan Belajar</vt:lpstr>
      <vt:lpstr>Mindfulness</vt:lpstr>
      <vt:lpstr>Tujuan Pelatihan</vt:lpstr>
      <vt:lpstr>Lembar Kerja</vt:lpstr>
      <vt:lpstr>LK Memahami (4.1 dan 4.2)</vt:lpstr>
      <vt:lpstr>Tahapan Pembelajaran</vt:lpstr>
      <vt:lpstr>Instruksi Pembelajaran Memahami</vt:lpstr>
      <vt:lpstr>Section B</vt:lpstr>
      <vt:lpstr>Pengenalan Kecerdasan Artifisial Sederhana</vt:lpstr>
      <vt:lpstr>Jenis Perangkat Kecerdasan Artifisial untuk Komunikasi</vt:lpstr>
      <vt:lpstr>Peran Kecerdasan Artifisial dalam Komunikasi</vt:lpstr>
      <vt:lpstr>Pengenalan Kecerdasan Artifisial Sederhana</vt:lpstr>
      <vt:lpstr>Aktivitas Unplugged (1)</vt:lpstr>
      <vt:lpstr>Aktivitas Unplugged (2.1)</vt:lpstr>
      <vt:lpstr>Aktivitas Unplugged (2.2)</vt:lpstr>
      <vt:lpstr>Aktivitas Unplugged (2.3)</vt:lpstr>
      <vt:lpstr>Pengenalan Kecerdasan Artifisial Sederhana</vt:lpstr>
      <vt:lpstr>Aktivitas Plugged </vt:lpstr>
      <vt:lpstr>Section C</vt:lpstr>
      <vt:lpstr>Kecerdasan Aritifisial berbasis Input</vt:lpstr>
      <vt:lpstr>Pola Prompt (1)</vt:lpstr>
      <vt:lpstr>Pola Prompt (2)</vt:lpstr>
      <vt:lpstr>Pola Prompt (3)</vt:lpstr>
      <vt:lpstr>Pola Prompt (4)</vt:lpstr>
      <vt:lpstr>Kecerdasan Aritifisial berbasis Input</vt:lpstr>
      <vt:lpstr>Aktivitas Unplugged</vt:lpstr>
      <vt:lpstr>Aktivitas Plugged</vt:lpstr>
      <vt:lpstr>Mengenal Klasifikasi dalam Kecerdasan Artifisial</vt:lpstr>
      <vt:lpstr>Proses Klasifikasi dalam Kecerdasan Artifisial</vt:lpstr>
      <vt:lpstr>Training Data</vt:lpstr>
      <vt:lpstr>Accuracy</vt:lpstr>
      <vt:lpstr>Accuracy per Epoch</vt:lpstr>
      <vt:lpstr>Loss per Epoch</vt:lpstr>
      <vt:lpstr>Confusion Matrix</vt:lpstr>
      <vt:lpstr>Supervised Machine Learning</vt:lpstr>
      <vt:lpstr>Kecerdasan Aritifisial berbasis Input</vt:lpstr>
      <vt:lpstr>Aktivitas Unplugged (1)</vt:lpstr>
      <vt:lpstr>Aktivitas Unplugged (2)</vt:lpstr>
      <vt:lpstr>Aktivitas Unplugged (3)</vt:lpstr>
      <vt:lpstr>Aktivitas Plugged (1)</vt:lpstr>
      <vt:lpstr>Aktivitas Plugged (1)</vt:lpstr>
      <vt:lpstr>Lembar Kerja</vt:lpstr>
      <vt:lpstr>LK Mengaplikasi (1)</vt:lpstr>
      <vt:lpstr>LK Mengaplikasi (2)</vt:lpstr>
      <vt:lpstr>Lembar Kerja</vt:lpstr>
      <vt:lpstr>LK Refleksi</vt:lpstr>
      <vt:lpstr>LK Refleksi</vt:lpstr>
      <vt:lpstr>Kuis Pemahaman</vt:lpstr>
      <vt:lpstr>Kuis Pemahaman</vt:lpstr>
      <vt:lpstr>Refleksi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KODING DAN KECERDASAN ARTIFISIAL</dc:title>
  <dc:creator>Yoki Ariyana</dc:creator>
  <cp:lastModifiedBy>LENOVO</cp:lastModifiedBy>
  <cp:revision>44</cp:revision>
  <dcterms:created xsi:type="dcterms:W3CDTF">2025-05-02T05:28:58Z</dcterms:created>
  <dcterms:modified xsi:type="dcterms:W3CDTF">2025-06-24T02:10:50Z</dcterms:modified>
</cp:coreProperties>
</file>