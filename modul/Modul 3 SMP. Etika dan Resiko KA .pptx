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sldSz cx="12192000" cy="6858000"/>
  <p:notesSz cx="6858000" cy="9144000"/>
  <p:embeddedFontLst>
    <p:embeddedFont>
      <p:font typeface="Open Sans" panose="020F0502020204030204" pitchFamily="34" charset="0"/>
      <p:bold r:id="rId51"/>
      <p:boldItalic r:id="rId52"/>
    </p:embeddedFont>
    <p:embeddedFont>
      <p:font typeface="Poppins" panose="020B0502040204020203" pitchFamily="2" charset="0"/>
      <p:regular r:id="rId53"/>
      <p:bold r:id="rId54"/>
      <p:italic r:id="rId55"/>
      <p:boldItalic r:id="rId5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0" roundtripDataSignature="AMtx7mh1HQwubpOPLppCm91Ef9rLxo3DJ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E672876-49A7-4F25-B86E-DCB586B44718}">
  <a:tblStyle styleId="{8E672876-49A7-4F25-B86E-DCB586B44718}"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82" d="100"/>
          <a:sy n="82" d="100"/>
        </p:scale>
        <p:origin x="71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font" Target="fonts/font5.fntdata"/><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3.fntdata"/><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6.fntdata"/><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4.fntdata"/><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2.fntdata"/><Relationship Id="rId60"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 name="Google Shape;5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 name="Google Shape;6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 name="Google Shape;7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 name="Google Shape;7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 name="Google Shape;199;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2" name="Google Shape;302;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4" name="Google Shape;314;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0" name="Google Shape;320;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6" name="Google Shape;32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8" name="Google Shape;338;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1" name="Google Shape;36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0" name="Google Shape;370;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6" name="Google Shape;376;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8" name="Google Shape;388;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7" name="Google Shape;397;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3" name="Google Shape;403;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9" name="Google Shape;409;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7" name="Google Shape;417;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3" name="Google Shape;423;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9" name="Google Shape;429;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8" name="Google Shape;438;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2" name="Google Shape;462;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9" name="Google Shape;469;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5" name="Google Shape;475;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5" name="Google Shape;485;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2" name="Google Shape;502;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0" name="Google Shape;510;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0" name="Google Shape;520;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9" name="Google Shape;529;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6" name="Google Shape;536;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2" name="Google Shape;542;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9" name="Google Shape;549;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5" name="Google Shape;555;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2" name="Google Shape;562;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9" name="Google Shape;569;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5" name="Google Shape;575;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50"/>
          <p:cNvSpPr/>
          <p:nvPr/>
        </p:nvSpPr>
        <p:spPr>
          <a:xfrm>
            <a:off x="0" y="1166259"/>
            <a:ext cx="10167060" cy="5423028"/>
          </a:xfrm>
          <a:custGeom>
            <a:avLst/>
            <a:gdLst/>
            <a:ahLst/>
            <a:cxnLst/>
            <a:rect l="l" t="t" r="r" b="b"/>
            <a:pathLst>
              <a:path w="11802702" h="5886598" extrusionOk="0">
                <a:moveTo>
                  <a:pt x="0" y="0"/>
                </a:moveTo>
                <a:lnTo>
                  <a:pt x="11802702" y="0"/>
                </a:lnTo>
                <a:lnTo>
                  <a:pt x="11802702" y="5886598"/>
                </a:lnTo>
                <a:lnTo>
                  <a:pt x="0" y="5886598"/>
                </a:lnTo>
                <a:lnTo>
                  <a:pt x="0" y="0"/>
                </a:lnTo>
                <a:close/>
              </a:path>
            </a:pathLst>
          </a:custGeom>
          <a:blipFill rotWithShape="1">
            <a:blip r:embed="rId2">
              <a:alphaModFix amt="31999"/>
            </a:blip>
            <a:stretch>
              <a:fillRect/>
            </a:stretch>
          </a:blipFill>
          <a:ln>
            <a:noFill/>
          </a:ln>
        </p:spPr>
      </p:sp>
      <p:sp>
        <p:nvSpPr>
          <p:cNvPr id="17" name="Google Shape;17;p50"/>
          <p:cNvSpPr txBox="1">
            <a:spLocks noGrp="1"/>
          </p:cNvSpPr>
          <p:nvPr>
            <p:ph type="ctrTitle"/>
          </p:nvPr>
        </p:nvSpPr>
        <p:spPr>
          <a:xfrm>
            <a:off x="404037" y="2723868"/>
            <a:ext cx="5996763" cy="195760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2E75B5"/>
              </a:buClr>
              <a:buSzPts val="6000"/>
              <a:buFont typeface="Calibri"/>
              <a:buNone/>
              <a:defRPr sz="6000" b="1">
                <a:solidFill>
                  <a:srgbClr val="2E75B5"/>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50"/>
          <p:cNvSpPr txBox="1">
            <a:spLocks noGrp="1"/>
          </p:cNvSpPr>
          <p:nvPr>
            <p:ph type="subTitle" idx="1"/>
          </p:nvPr>
        </p:nvSpPr>
        <p:spPr>
          <a:xfrm>
            <a:off x="404037" y="5071743"/>
            <a:ext cx="5996763" cy="1357569"/>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rgbClr val="7030A0"/>
              </a:buClr>
              <a:buSzPts val="2400"/>
              <a:buNone/>
              <a:defRPr sz="2400">
                <a:solidFill>
                  <a:srgbClr val="7030A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9" name="Google Shape;19;p50"/>
          <p:cNvSpPr/>
          <p:nvPr/>
        </p:nvSpPr>
        <p:spPr>
          <a:xfrm>
            <a:off x="4607442" y="29499"/>
            <a:ext cx="7570382" cy="6996223"/>
          </a:xfrm>
          <a:custGeom>
            <a:avLst/>
            <a:gdLst/>
            <a:ahLst/>
            <a:cxnLst/>
            <a:rect l="l" t="t" r="r" b="b"/>
            <a:pathLst>
              <a:path w="7570382" h="6996223" extrusionOk="0">
                <a:moveTo>
                  <a:pt x="3700130" y="0"/>
                </a:moveTo>
                <a:lnTo>
                  <a:pt x="0" y="6889898"/>
                </a:lnTo>
                <a:lnTo>
                  <a:pt x="7570382" y="6996223"/>
                </a:lnTo>
                <a:cubicBezTo>
                  <a:pt x="7563293" y="4664149"/>
                  <a:pt x="7556205" y="2353339"/>
                  <a:pt x="7549116" y="21265"/>
                </a:cubicBezTo>
                <a:lnTo>
                  <a:pt x="3700130" y="0"/>
                </a:lnTo>
                <a:close/>
              </a:path>
            </a:pathLst>
          </a:custGeom>
          <a:solidFill>
            <a:schemeClr val="accent1">
              <a:alpha val="42352"/>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 name="Google Shape;20;p50"/>
          <p:cNvSpPr/>
          <p:nvPr/>
        </p:nvSpPr>
        <p:spPr>
          <a:xfrm>
            <a:off x="7461657" y="-395468"/>
            <a:ext cx="5041085" cy="5373859"/>
          </a:xfrm>
          <a:custGeom>
            <a:avLst/>
            <a:gdLst/>
            <a:ahLst/>
            <a:cxnLst/>
            <a:rect l="l" t="t" r="r" b="b"/>
            <a:pathLst>
              <a:path w="5041085" h="5373859" extrusionOk="0">
                <a:moveTo>
                  <a:pt x="0" y="0"/>
                </a:moveTo>
                <a:lnTo>
                  <a:pt x="5041085" y="0"/>
                </a:lnTo>
                <a:lnTo>
                  <a:pt x="5041085" y="5373860"/>
                </a:lnTo>
                <a:lnTo>
                  <a:pt x="0" y="5373860"/>
                </a:lnTo>
                <a:lnTo>
                  <a:pt x="0" y="0"/>
                </a:lnTo>
                <a:close/>
              </a:path>
            </a:pathLst>
          </a:custGeom>
          <a:blipFill rotWithShape="1">
            <a:blip r:embed="rId3">
              <a:alphaModFix amt="31000"/>
            </a:blip>
            <a:stretch>
              <a:fillRect/>
            </a:stretch>
          </a:blipFill>
          <a:ln>
            <a:noFill/>
          </a:ln>
        </p:spPr>
      </p:sp>
      <p:sp>
        <p:nvSpPr>
          <p:cNvPr id="21" name="Google Shape;21;p50"/>
          <p:cNvSpPr/>
          <p:nvPr/>
        </p:nvSpPr>
        <p:spPr>
          <a:xfrm>
            <a:off x="6096000" y="3339842"/>
            <a:ext cx="5598042" cy="4986342"/>
          </a:xfrm>
          <a:custGeom>
            <a:avLst/>
            <a:gdLst/>
            <a:ahLst/>
            <a:cxnLst/>
            <a:rect l="l" t="t" r="r" b="b"/>
            <a:pathLst>
              <a:path w="6592378" h="6477011" extrusionOk="0">
                <a:moveTo>
                  <a:pt x="0" y="0"/>
                </a:moveTo>
                <a:lnTo>
                  <a:pt x="6592378" y="0"/>
                </a:lnTo>
                <a:lnTo>
                  <a:pt x="6592378" y="6477011"/>
                </a:lnTo>
                <a:lnTo>
                  <a:pt x="0" y="6477011"/>
                </a:lnTo>
                <a:lnTo>
                  <a:pt x="0" y="0"/>
                </a:lnTo>
                <a:close/>
              </a:path>
            </a:pathLst>
          </a:custGeom>
          <a:blipFill rotWithShape="1">
            <a:blip r:embed="rId4">
              <a:alphaModFix amt="17000"/>
            </a:blip>
            <a:stretch>
              <a:fillRect/>
            </a:stretch>
          </a:blipFill>
          <a:ln>
            <a:noFill/>
          </a:ln>
        </p:spPr>
      </p:sp>
      <p:sp>
        <p:nvSpPr>
          <p:cNvPr id="22" name="Google Shape;22;p50"/>
          <p:cNvSpPr/>
          <p:nvPr/>
        </p:nvSpPr>
        <p:spPr>
          <a:xfrm>
            <a:off x="157608" y="65658"/>
            <a:ext cx="1021286" cy="1030324"/>
          </a:xfrm>
          <a:custGeom>
            <a:avLst/>
            <a:gdLst/>
            <a:ahLst/>
            <a:cxnLst/>
            <a:rect l="l" t="t" r="r" b="b"/>
            <a:pathLst>
              <a:path w="1021286" h="1030324" extrusionOk="0">
                <a:moveTo>
                  <a:pt x="0" y="0"/>
                </a:moveTo>
                <a:lnTo>
                  <a:pt x="1021287" y="0"/>
                </a:lnTo>
                <a:lnTo>
                  <a:pt x="1021287" y="1030325"/>
                </a:lnTo>
                <a:lnTo>
                  <a:pt x="0" y="1030325"/>
                </a:lnTo>
                <a:lnTo>
                  <a:pt x="0" y="0"/>
                </a:lnTo>
                <a:close/>
              </a:path>
            </a:pathLst>
          </a:custGeom>
          <a:blipFill rotWithShape="1">
            <a:blip r:embed="rId5">
              <a:alphaModFix/>
            </a:blip>
            <a:stretch>
              <a:fillRect/>
            </a:stretch>
          </a:blipFill>
          <a:ln>
            <a:noFill/>
          </a:ln>
        </p:spPr>
      </p:sp>
      <p:sp>
        <p:nvSpPr>
          <p:cNvPr id="23" name="Google Shape;23;p50"/>
          <p:cNvSpPr txBox="1"/>
          <p:nvPr/>
        </p:nvSpPr>
        <p:spPr>
          <a:xfrm>
            <a:off x="1251100" y="257433"/>
            <a:ext cx="7287526" cy="680892"/>
          </a:xfrm>
          <a:prstGeom prst="rect">
            <a:avLst/>
          </a:prstGeom>
          <a:noFill/>
          <a:ln>
            <a:noFill/>
          </a:ln>
        </p:spPr>
        <p:txBody>
          <a:bodyPr spcFirstLastPara="1" wrap="square" lIns="0" tIns="0" rIns="0" bIns="0" anchor="t" anchorCtr="0">
            <a:spAutoFit/>
          </a:bodyPr>
          <a:lstStyle/>
          <a:p>
            <a:pPr marL="0" marR="0" lvl="0" indent="0" algn="l" rtl="0">
              <a:lnSpc>
                <a:spcPct val="156666"/>
              </a:lnSpc>
              <a:spcBef>
                <a:spcPts val="0"/>
              </a:spcBef>
              <a:spcAft>
                <a:spcPts val="0"/>
              </a:spcAft>
              <a:buClr>
                <a:srgbClr val="000000"/>
              </a:buClr>
              <a:buSzPts val="1800"/>
              <a:buFont typeface="Arial"/>
              <a:buNone/>
            </a:pPr>
            <a:r>
              <a:rPr lang="en-US" sz="1800" b="0" i="0" u="none" strike="noStrike" cap="none">
                <a:solidFill>
                  <a:srgbClr val="2E75B5"/>
                </a:solidFill>
                <a:latin typeface="Arial"/>
                <a:ea typeface="Arial"/>
                <a:cs typeface="Arial"/>
                <a:sym typeface="Arial"/>
              </a:rPr>
              <a:t>Kementerian Pendidikan Dasar dan Menengah</a:t>
            </a:r>
            <a:endParaRPr sz="1800" b="0" i="0" u="none" strike="noStrike" cap="none">
              <a:solidFill>
                <a:srgbClr val="2E75B5"/>
              </a:solidFill>
              <a:latin typeface="Arial"/>
              <a:ea typeface="Arial"/>
              <a:cs typeface="Arial"/>
              <a:sym typeface="Arial"/>
            </a:endParaRPr>
          </a:p>
          <a:p>
            <a:pPr marL="0" marR="0" lvl="0" indent="0" algn="l" rtl="0">
              <a:lnSpc>
                <a:spcPct val="156666"/>
              </a:lnSpc>
              <a:spcBef>
                <a:spcPts val="0"/>
              </a:spcBef>
              <a:spcAft>
                <a:spcPts val="0"/>
              </a:spcAft>
              <a:buClr>
                <a:srgbClr val="000000"/>
              </a:buClr>
              <a:buSzPts val="1800"/>
              <a:buFont typeface="Arial"/>
              <a:buNone/>
            </a:pPr>
            <a:r>
              <a:rPr lang="en-US" sz="1800" b="0" i="0" u="none" strike="noStrike" cap="none">
                <a:solidFill>
                  <a:srgbClr val="2E75B5"/>
                </a:solidFill>
                <a:latin typeface="Arial"/>
                <a:ea typeface="Arial"/>
                <a:cs typeface="Arial"/>
                <a:sym typeface="Arial"/>
              </a:rPr>
              <a:t>Republik Indonesia</a:t>
            </a:r>
            <a:endParaRPr sz="1400" b="0" i="0" u="none" strike="noStrike" cap="none">
              <a:solidFill>
                <a:srgbClr val="000000"/>
              </a:solidFill>
              <a:latin typeface="Arial"/>
              <a:ea typeface="Arial"/>
              <a:cs typeface="Arial"/>
              <a:sym typeface="Arial"/>
            </a:endParaRPr>
          </a:p>
        </p:txBody>
      </p:sp>
      <p:sp>
        <p:nvSpPr>
          <p:cNvPr id="24" name="Google Shape;24;p50"/>
          <p:cNvSpPr/>
          <p:nvPr/>
        </p:nvSpPr>
        <p:spPr>
          <a:xfrm>
            <a:off x="9912176" y="5513256"/>
            <a:ext cx="2036751" cy="1253166"/>
          </a:xfrm>
          <a:custGeom>
            <a:avLst/>
            <a:gdLst/>
            <a:ahLst/>
            <a:cxnLst/>
            <a:rect l="l" t="t" r="r" b="b"/>
            <a:pathLst>
              <a:path w="2036751" h="1253166" extrusionOk="0">
                <a:moveTo>
                  <a:pt x="0" y="0"/>
                </a:moveTo>
                <a:lnTo>
                  <a:pt x="2036750" y="0"/>
                </a:lnTo>
                <a:lnTo>
                  <a:pt x="2036750" y="1253167"/>
                </a:lnTo>
                <a:lnTo>
                  <a:pt x="0" y="1253167"/>
                </a:lnTo>
                <a:lnTo>
                  <a:pt x="0" y="0"/>
                </a:lnTo>
                <a:close/>
              </a:path>
            </a:pathLst>
          </a:custGeom>
          <a:blipFill rotWithShape="1">
            <a:blip r:embed="rId6">
              <a:alphaModFix/>
            </a:blip>
            <a:stretch>
              <a:fillRect t="-36035" b="-67108"/>
            </a:stretch>
          </a:blipFill>
          <a:ln>
            <a:noFill/>
          </a:ln>
        </p:spPr>
      </p:sp>
      <p:sp>
        <p:nvSpPr>
          <p:cNvPr id="25" name="Google Shape;25;p50"/>
          <p:cNvSpPr/>
          <p:nvPr/>
        </p:nvSpPr>
        <p:spPr>
          <a:xfrm>
            <a:off x="7586400" y="5611560"/>
            <a:ext cx="2229434" cy="1085305"/>
          </a:xfrm>
          <a:custGeom>
            <a:avLst/>
            <a:gdLst/>
            <a:ahLst/>
            <a:cxnLst/>
            <a:rect l="l" t="t" r="r" b="b"/>
            <a:pathLst>
              <a:path w="1820628" h="798727" extrusionOk="0">
                <a:moveTo>
                  <a:pt x="0" y="0"/>
                </a:moveTo>
                <a:lnTo>
                  <a:pt x="1820629" y="0"/>
                </a:lnTo>
                <a:lnTo>
                  <a:pt x="1820629" y="798727"/>
                </a:lnTo>
                <a:lnTo>
                  <a:pt x="0" y="798727"/>
                </a:lnTo>
                <a:lnTo>
                  <a:pt x="0" y="0"/>
                </a:lnTo>
                <a:close/>
              </a:path>
            </a:pathLst>
          </a:custGeom>
          <a:blipFill rotWithShape="1">
            <a:blip r:embed="rId7">
              <a:alphaModFix/>
            </a:blip>
            <a:stretch>
              <a:fillRect l="-407451" t="-1512505" r="-113512" b="-156155"/>
            </a:stretch>
          </a:blip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6"/>
        <p:cNvGrpSpPr/>
        <p:nvPr/>
      </p:nvGrpSpPr>
      <p:grpSpPr>
        <a:xfrm>
          <a:off x="0" y="0"/>
          <a:ext cx="0" cy="0"/>
          <a:chOff x="0" y="0"/>
          <a:chExt cx="0" cy="0"/>
        </a:xfrm>
      </p:grpSpPr>
      <p:sp>
        <p:nvSpPr>
          <p:cNvPr id="27" name="Google Shape;27;p51"/>
          <p:cNvSpPr/>
          <p:nvPr/>
        </p:nvSpPr>
        <p:spPr>
          <a:xfrm>
            <a:off x="0" y="0"/>
            <a:ext cx="12192000" cy="6858000"/>
          </a:xfrm>
          <a:custGeom>
            <a:avLst/>
            <a:gdLst/>
            <a:ahLst/>
            <a:cxnLst/>
            <a:rect l="l" t="t" r="r" b="b"/>
            <a:pathLst>
              <a:path w="17321343" h="8639020" extrusionOk="0">
                <a:moveTo>
                  <a:pt x="0" y="0"/>
                </a:moveTo>
                <a:lnTo>
                  <a:pt x="17321344" y="0"/>
                </a:lnTo>
                <a:lnTo>
                  <a:pt x="17321344" y="8639020"/>
                </a:lnTo>
                <a:lnTo>
                  <a:pt x="0" y="8639020"/>
                </a:lnTo>
                <a:lnTo>
                  <a:pt x="0" y="0"/>
                </a:lnTo>
                <a:close/>
              </a:path>
            </a:pathLst>
          </a:custGeom>
          <a:blipFill rotWithShape="1">
            <a:blip r:embed="rId2">
              <a:alphaModFix amt="31999"/>
            </a:blip>
            <a:stretch>
              <a:fillRect l="-6029" t="-9273" r="-6027" b="-13671"/>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8" name="Google Shape;28;p5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2E75B5"/>
              </a:buClr>
              <a:buSzPts val="6000"/>
              <a:buFont typeface="Calibri"/>
              <a:buNone/>
              <a:defRPr sz="6000" b="1">
                <a:solidFill>
                  <a:srgbClr val="2E75B5"/>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5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2E75B5"/>
              </a:buClr>
              <a:buSzPts val="2400"/>
              <a:buNone/>
              <a:defRPr sz="2400" b="1">
                <a:solidFill>
                  <a:srgbClr val="2E75B5"/>
                </a:solidFill>
                <a:latin typeface="Calibri"/>
                <a:ea typeface="Calibri"/>
                <a:cs typeface="Calibri"/>
                <a:sym typeface="Calibri"/>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cxnSp>
        <p:nvCxnSpPr>
          <p:cNvPr id="30" name="Google Shape;30;p51"/>
          <p:cNvCxnSpPr/>
          <p:nvPr/>
        </p:nvCxnSpPr>
        <p:spPr>
          <a:xfrm>
            <a:off x="838200" y="4582742"/>
            <a:ext cx="7497726" cy="0"/>
          </a:xfrm>
          <a:prstGeom prst="straightConnector1">
            <a:avLst/>
          </a:prstGeom>
          <a:noFill/>
          <a:ln w="57150" cap="flat" cmpd="sng">
            <a:solidFill>
              <a:schemeClr val="accent1"/>
            </a:solidFill>
            <a:prstDash val="solid"/>
            <a:miter lim="800000"/>
            <a:headEnd type="none" w="sm" len="sm"/>
            <a:tailEnd type="none" w="sm" len="sm"/>
          </a:ln>
        </p:spPr>
      </p:cxnSp>
      <p:cxnSp>
        <p:nvCxnSpPr>
          <p:cNvPr id="31" name="Google Shape;31;p51"/>
          <p:cNvCxnSpPr/>
          <p:nvPr/>
        </p:nvCxnSpPr>
        <p:spPr>
          <a:xfrm>
            <a:off x="6719777" y="4582742"/>
            <a:ext cx="4634023" cy="0"/>
          </a:xfrm>
          <a:prstGeom prst="straightConnector1">
            <a:avLst/>
          </a:prstGeom>
          <a:noFill/>
          <a:ln w="57150" cap="flat" cmpd="sng">
            <a:solidFill>
              <a:schemeClr val="accent2"/>
            </a:solidFill>
            <a:prstDash val="solid"/>
            <a:miter lim="800000"/>
            <a:headEnd type="none" w="sm" len="sm"/>
            <a:tailEnd type="none" w="sm" len="sm"/>
          </a:ln>
        </p:spPr>
      </p:cxnSp>
      <p:sp>
        <p:nvSpPr>
          <p:cNvPr id="32" name="Google Shape;32;p51"/>
          <p:cNvSpPr/>
          <p:nvPr/>
        </p:nvSpPr>
        <p:spPr>
          <a:xfrm>
            <a:off x="157608" y="65658"/>
            <a:ext cx="1021286" cy="1030324"/>
          </a:xfrm>
          <a:custGeom>
            <a:avLst/>
            <a:gdLst/>
            <a:ahLst/>
            <a:cxnLst/>
            <a:rect l="l" t="t" r="r" b="b"/>
            <a:pathLst>
              <a:path w="1021286" h="1030324" extrusionOk="0">
                <a:moveTo>
                  <a:pt x="0" y="0"/>
                </a:moveTo>
                <a:lnTo>
                  <a:pt x="1021287" y="0"/>
                </a:lnTo>
                <a:lnTo>
                  <a:pt x="1021287" y="1030325"/>
                </a:lnTo>
                <a:lnTo>
                  <a:pt x="0" y="1030325"/>
                </a:lnTo>
                <a:lnTo>
                  <a:pt x="0" y="0"/>
                </a:lnTo>
                <a:close/>
              </a:path>
            </a:pathLst>
          </a:custGeom>
          <a:blipFill rotWithShape="1">
            <a:blip r:embed="rId3">
              <a:alphaModFix/>
            </a:blip>
            <a:stretch>
              <a:fillRect/>
            </a:stretch>
          </a:blipFill>
          <a:ln>
            <a:noFill/>
          </a:ln>
        </p:spPr>
      </p:sp>
      <p:sp>
        <p:nvSpPr>
          <p:cNvPr id="33" name="Google Shape;33;p51"/>
          <p:cNvSpPr txBox="1"/>
          <p:nvPr/>
        </p:nvSpPr>
        <p:spPr>
          <a:xfrm>
            <a:off x="1251100" y="257433"/>
            <a:ext cx="7287526" cy="680892"/>
          </a:xfrm>
          <a:prstGeom prst="rect">
            <a:avLst/>
          </a:prstGeom>
          <a:noFill/>
          <a:ln>
            <a:noFill/>
          </a:ln>
        </p:spPr>
        <p:txBody>
          <a:bodyPr spcFirstLastPara="1" wrap="square" lIns="0" tIns="0" rIns="0" bIns="0" anchor="t" anchorCtr="0">
            <a:spAutoFit/>
          </a:bodyPr>
          <a:lstStyle/>
          <a:p>
            <a:pPr marL="0" marR="0" lvl="0" indent="0" algn="l" rtl="0">
              <a:lnSpc>
                <a:spcPct val="156666"/>
              </a:lnSpc>
              <a:spcBef>
                <a:spcPts val="0"/>
              </a:spcBef>
              <a:spcAft>
                <a:spcPts val="0"/>
              </a:spcAft>
              <a:buClr>
                <a:srgbClr val="000000"/>
              </a:buClr>
              <a:buSzPts val="1800"/>
              <a:buFont typeface="Arial"/>
              <a:buNone/>
            </a:pPr>
            <a:r>
              <a:rPr lang="en-US" sz="1800" b="0" i="0" u="none" strike="noStrike" cap="none">
                <a:solidFill>
                  <a:srgbClr val="2E75B5"/>
                </a:solidFill>
                <a:latin typeface="Arial"/>
                <a:ea typeface="Arial"/>
                <a:cs typeface="Arial"/>
                <a:sym typeface="Arial"/>
              </a:rPr>
              <a:t>Kementerian Pendidikan Dasar dan Menengah</a:t>
            </a:r>
            <a:endParaRPr sz="1800" b="0" i="0" u="none" strike="noStrike" cap="none">
              <a:solidFill>
                <a:srgbClr val="2E75B5"/>
              </a:solidFill>
              <a:latin typeface="Arial"/>
              <a:ea typeface="Arial"/>
              <a:cs typeface="Arial"/>
              <a:sym typeface="Arial"/>
            </a:endParaRPr>
          </a:p>
          <a:p>
            <a:pPr marL="0" marR="0" lvl="0" indent="0" algn="l" rtl="0">
              <a:lnSpc>
                <a:spcPct val="156666"/>
              </a:lnSpc>
              <a:spcBef>
                <a:spcPts val="0"/>
              </a:spcBef>
              <a:spcAft>
                <a:spcPts val="0"/>
              </a:spcAft>
              <a:buClr>
                <a:srgbClr val="000000"/>
              </a:buClr>
              <a:buSzPts val="1800"/>
              <a:buFont typeface="Arial"/>
              <a:buNone/>
            </a:pPr>
            <a:r>
              <a:rPr lang="en-US" sz="1800" b="0" i="0" u="none" strike="noStrike" cap="none">
                <a:solidFill>
                  <a:srgbClr val="2E75B5"/>
                </a:solidFill>
                <a:latin typeface="Arial"/>
                <a:ea typeface="Arial"/>
                <a:cs typeface="Arial"/>
                <a:sym typeface="Arial"/>
              </a:rPr>
              <a:t>Republik Indonesia</a:t>
            </a:r>
            <a:endParaRPr sz="1400" b="0" i="0" u="none" strike="noStrike" cap="none">
              <a:solidFill>
                <a:srgbClr val="000000"/>
              </a:solidFill>
              <a:latin typeface="Arial"/>
              <a:ea typeface="Arial"/>
              <a:cs typeface="Arial"/>
              <a:sym typeface="Arial"/>
            </a:endParaRPr>
          </a:p>
        </p:txBody>
      </p:sp>
      <p:sp>
        <p:nvSpPr>
          <p:cNvPr id="34" name="Google Shape;34;p51"/>
          <p:cNvSpPr/>
          <p:nvPr/>
        </p:nvSpPr>
        <p:spPr>
          <a:xfrm>
            <a:off x="10222728" y="-58471"/>
            <a:ext cx="1681726" cy="1077325"/>
          </a:xfrm>
          <a:custGeom>
            <a:avLst/>
            <a:gdLst/>
            <a:ahLst/>
            <a:cxnLst/>
            <a:rect l="l" t="t" r="r" b="b"/>
            <a:pathLst>
              <a:path w="2036751" h="1253166" extrusionOk="0">
                <a:moveTo>
                  <a:pt x="0" y="0"/>
                </a:moveTo>
                <a:lnTo>
                  <a:pt x="2036750" y="0"/>
                </a:lnTo>
                <a:lnTo>
                  <a:pt x="2036750" y="1253167"/>
                </a:lnTo>
                <a:lnTo>
                  <a:pt x="0" y="1253167"/>
                </a:lnTo>
                <a:lnTo>
                  <a:pt x="0" y="0"/>
                </a:lnTo>
                <a:close/>
              </a:path>
            </a:pathLst>
          </a:custGeom>
          <a:blipFill rotWithShape="1">
            <a:blip r:embed="rId4">
              <a:alphaModFix/>
            </a:blip>
            <a:stretch>
              <a:fillRect t="-36035" b="-67108"/>
            </a:stretch>
          </a:blipFill>
          <a:ln>
            <a:noFill/>
          </a:ln>
        </p:spPr>
      </p:sp>
      <p:sp>
        <p:nvSpPr>
          <p:cNvPr id="35" name="Google Shape;35;p51"/>
          <p:cNvSpPr/>
          <p:nvPr/>
        </p:nvSpPr>
        <p:spPr>
          <a:xfrm>
            <a:off x="8554354" y="128679"/>
            <a:ext cx="1727680" cy="823745"/>
          </a:xfrm>
          <a:custGeom>
            <a:avLst/>
            <a:gdLst/>
            <a:ahLst/>
            <a:cxnLst/>
            <a:rect l="l" t="t" r="r" b="b"/>
            <a:pathLst>
              <a:path w="1820628" h="798727" extrusionOk="0">
                <a:moveTo>
                  <a:pt x="0" y="0"/>
                </a:moveTo>
                <a:lnTo>
                  <a:pt x="1820629" y="0"/>
                </a:lnTo>
                <a:lnTo>
                  <a:pt x="1820629" y="798727"/>
                </a:lnTo>
                <a:lnTo>
                  <a:pt x="0" y="798727"/>
                </a:lnTo>
                <a:lnTo>
                  <a:pt x="0" y="0"/>
                </a:lnTo>
                <a:close/>
              </a:path>
            </a:pathLst>
          </a:custGeom>
          <a:blipFill rotWithShape="1">
            <a:blip r:embed="rId5">
              <a:alphaModFix/>
            </a:blip>
            <a:stretch>
              <a:fillRect l="-407451" t="-1512505" r="-113512" b="-156155"/>
            </a:stretch>
          </a:blip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6"/>
        <p:cNvGrpSpPr/>
        <p:nvPr/>
      </p:nvGrpSpPr>
      <p:grpSpPr>
        <a:xfrm>
          <a:off x="0" y="0"/>
          <a:ext cx="0" cy="0"/>
          <a:chOff x="0" y="0"/>
          <a:chExt cx="0" cy="0"/>
        </a:xfrm>
      </p:grpSpPr>
      <p:sp>
        <p:nvSpPr>
          <p:cNvPr id="37" name="Google Shape;37;p52"/>
          <p:cNvSpPr/>
          <p:nvPr/>
        </p:nvSpPr>
        <p:spPr>
          <a:xfrm>
            <a:off x="0" y="1690688"/>
            <a:ext cx="12191999" cy="5167312"/>
          </a:xfrm>
          <a:custGeom>
            <a:avLst/>
            <a:gdLst/>
            <a:ahLst/>
            <a:cxnLst/>
            <a:rect l="l" t="t" r="r" b="b"/>
            <a:pathLst>
              <a:path w="17321343" h="8639020" extrusionOk="0">
                <a:moveTo>
                  <a:pt x="0" y="0"/>
                </a:moveTo>
                <a:lnTo>
                  <a:pt x="17321344" y="0"/>
                </a:lnTo>
                <a:lnTo>
                  <a:pt x="17321344" y="8639020"/>
                </a:lnTo>
                <a:lnTo>
                  <a:pt x="0" y="8639020"/>
                </a:lnTo>
                <a:lnTo>
                  <a:pt x="0" y="0"/>
                </a:lnTo>
                <a:close/>
              </a:path>
            </a:pathLst>
          </a:custGeom>
          <a:blipFill rotWithShape="1">
            <a:blip r:embed="rId2">
              <a:alphaModFix amt="31999"/>
            </a:blip>
            <a:stretch>
              <a:fillRect/>
            </a:stretch>
          </a:blipFill>
          <a:ln>
            <a:noFill/>
          </a:ln>
        </p:spPr>
      </p:sp>
      <p:sp>
        <p:nvSpPr>
          <p:cNvPr id="38" name="Google Shape;38;p5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2E75B5"/>
              </a:buClr>
              <a:buSzPts val="4400"/>
              <a:buFont typeface="Calibri"/>
              <a:buNone/>
              <a:defRPr b="1">
                <a:solidFill>
                  <a:srgbClr val="2E75B5"/>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1E4E79"/>
              </a:buClr>
              <a:buSzPts val="2800"/>
              <a:buChar char="•"/>
              <a:defRPr>
                <a:solidFill>
                  <a:srgbClr val="1E4E79"/>
                </a:solidFill>
                <a:latin typeface="Calibri"/>
                <a:ea typeface="Calibri"/>
                <a:cs typeface="Calibri"/>
                <a:sym typeface="Calibri"/>
              </a:defRPr>
            </a:lvl1pPr>
            <a:lvl2pPr marL="914400" lvl="1" indent="-381000" algn="l">
              <a:lnSpc>
                <a:spcPct val="90000"/>
              </a:lnSpc>
              <a:spcBef>
                <a:spcPts val="500"/>
              </a:spcBef>
              <a:spcAft>
                <a:spcPts val="0"/>
              </a:spcAft>
              <a:buClr>
                <a:srgbClr val="1E4E79"/>
              </a:buClr>
              <a:buSzPts val="2400"/>
              <a:buChar char="•"/>
              <a:defRPr>
                <a:solidFill>
                  <a:srgbClr val="1E4E79"/>
                </a:solidFill>
                <a:latin typeface="Calibri"/>
                <a:ea typeface="Calibri"/>
                <a:cs typeface="Calibri"/>
                <a:sym typeface="Calibri"/>
              </a:defRPr>
            </a:lvl2pPr>
            <a:lvl3pPr marL="1371600" lvl="2" indent="-355600" algn="l">
              <a:lnSpc>
                <a:spcPct val="90000"/>
              </a:lnSpc>
              <a:spcBef>
                <a:spcPts val="500"/>
              </a:spcBef>
              <a:spcAft>
                <a:spcPts val="0"/>
              </a:spcAft>
              <a:buClr>
                <a:srgbClr val="1E4E79"/>
              </a:buClr>
              <a:buSzPts val="2000"/>
              <a:buChar char="•"/>
              <a:defRPr>
                <a:solidFill>
                  <a:srgbClr val="1E4E79"/>
                </a:solidFill>
                <a:latin typeface="Calibri"/>
                <a:ea typeface="Calibri"/>
                <a:cs typeface="Calibri"/>
                <a:sym typeface="Calibri"/>
              </a:defRPr>
            </a:lvl3pPr>
            <a:lvl4pPr marL="1828800" lvl="3" indent="-342900" algn="l">
              <a:lnSpc>
                <a:spcPct val="90000"/>
              </a:lnSpc>
              <a:spcBef>
                <a:spcPts val="500"/>
              </a:spcBef>
              <a:spcAft>
                <a:spcPts val="0"/>
              </a:spcAft>
              <a:buClr>
                <a:srgbClr val="1E4E79"/>
              </a:buClr>
              <a:buSzPts val="1800"/>
              <a:buChar char="•"/>
              <a:defRPr>
                <a:solidFill>
                  <a:srgbClr val="1E4E79"/>
                </a:solidFill>
                <a:latin typeface="Calibri"/>
                <a:ea typeface="Calibri"/>
                <a:cs typeface="Calibri"/>
                <a:sym typeface="Calibri"/>
              </a:defRPr>
            </a:lvl4pPr>
            <a:lvl5pPr marL="2286000" lvl="4" indent="-342900" algn="l">
              <a:lnSpc>
                <a:spcPct val="90000"/>
              </a:lnSpc>
              <a:spcBef>
                <a:spcPts val="500"/>
              </a:spcBef>
              <a:spcAft>
                <a:spcPts val="0"/>
              </a:spcAft>
              <a:buClr>
                <a:srgbClr val="1E4E79"/>
              </a:buClr>
              <a:buSzPts val="1800"/>
              <a:buChar char="•"/>
              <a:defRPr>
                <a:solidFill>
                  <a:srgbClr val="1E4E79"/>
                </a:solidFill>
                <a:latin typeface="Calibri"/>
                <a:ea typeface="Calibri"/>
                <a:cs typeface="Calibri"/>
                <a:sym typeface="Calibri"/>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40" name="Google Shape;40;p52"/>
          <p:cNvCxnSpPr/>
          <p:nvPr/>
        </p:nvCxnSpPr>
        <p:spPr>
          <a:xfrm>
            <a:off x="838200" y="1690688"/>
            <a:ext cx="7497726" cy="0"/>
          </a:xfrm>
          <a:prstGeom prst="straightConnector1">
            <a:avLst/>
          </a:prstGeom>
          <a:noFill/>
          <a:ln w="57150" cap="flat" cmpd="sng">
            <a:solidFill>
              <a:schemeClr val="accent1"/>
            </a:solidFill>
            <a:prstDash val="solid"/>
            <a:miter lim="800000"/>
            <a:headEnd type="none" w="sm" len="sm"/>
            <a:tailEnd type="none" w="sm" len="sm"/>
          </a:ln>
        </p:spPr>
      </p:cxnSp>
      <p:cxnSp>
        <p:nvCxnSpPr>
          <p:cNvPr id="41" name="Google Shape;41;p52"/>
          <p:cNvCxnSpPr/>
          <p:nvPr/>
        </p:nvCxnSpPr>
        <p:spPr>
          <a:xfrm>
            <a:off x="6719777" y="1690688"/>
            <a:ext cx="4634023" cy="0"/>
          </a:xfrm>
          <a:prstGeom prst="straightConnector1">
            <a:avLst/>
          </a:prstGeom>
          <a:noFill/>
          <a:ln w="57150" cap="flat" cmpd="sng">
            <a:solidFill>
              <a:schemeClr val="accent2"/>
            </a:solidFill>
            <a:prstDash val="solid"/>
            <a:miter lim="800000"/>
            <a:headEnd type="none" w="sm" len="sm"/>
            <a:tailEnd type="none" w="sm" len="sm"/>
          </a:ln>
        </p:spPr>
      </p:cxnSp>
      <p:sp>
        <p:nvSpPr>
          <p:cNvPr id="42" name="Google Shape;42;p52"/>
          <p:cNvSpPr/>
          <p:nvPr/>
        </p:nvSpPr>
        <p:spPr>
          <a:xfrm>
            <a:off x="105273" y="6268035"/>
            <a:ext cx="494516" cy="498893"/>
          </a:xfrm>
          <a:custGeom>
            <a:avLst/>
            <a:gdLst/>
            <a:ahLst/>
            <a:cxnLst/>
            <a:rect l="l" t="t" r="r" b="b"/>
            <a:pathLst>
              <a:path w="659355" h="665190" extrusionOk="0">
                <a:moveTo>
                  <a:pt x="0" y="0"/>
                </a:moveTo>
                <a:lnTo>
                  <a:pt x="659355" y="0"/>
                </a:lnTo>
                <a:lnTo>
                  <a:pt x="659355" y="665190"/>
                </a:lnTo>
                <a:lnTo>
                  <a:pt x="0" y="665190"/>
                </a:lnTo>
                <a:lnTo>
                  <a:pt x="0" y="0"/>
                </a:lnTo>
                <a:close/>
              </a:path>
            </a:pathLst>
          </a:custGeom>
          <a:blipFill rotWithShape="1">
            <a:blip r:embed="rId3">
              <a:alphaModFix/>
            </a:blip>
            <a:stretch>
              <a:fillRect/>
            </a:stretch>
          </a:blipFill>
          <a:ln>
            <a:noFill/>
          </a:ln>
        </p:spPr>
      </p:sp>
      <p:sp>
        <p:nvSpPr>
          <p:cNvPr id="43" name="Google Shape;43;p52"/>
          <p:cNvSpPr txBox="1"/>
          <p:nvPr/>
        </p:nvSpPr>
        <p:spPr>
          <a:xfrm>
            <a:off x="629853" y="6388734"/>
            <a:ext cx="6303024" cy="294943"/>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700"/>
              <a:buFont typeface="Arial"/>
              <a:buNone/>
            </a:pPr>
            <a:r>
              <a:rPr lang="en-US" sz="1700" b="0" i="0" u="none" strike="noStrike" cap="none">
                <a:solidFill>
                  <a:srgbClr val="2E75B5"/>
                </a:solidFill>
                <a:latin typeface="Poppins"/>
                <a:ea typeface="Poppins"/>
                <a:cs typeface="Poppins"/>
                <a:sym typeface="Poppins"/>
              </a:rPr>
              <a:t>Kementerian Pendidikan Dasar dan Menengah</a:t>
            </a:r>
            <a:endParaRPr sz="1700" b="0" i="0" u="none" strike="noStrike" cap="none">
              <a:solidFill>
                <a:srgbClr val="2E75B5"/>
              </a:solidFill>
              <a:latin typeface="Poppins"/>
              <a:ea typeface="Poppins"/>
              <a:cs typeface="Poppins"/>
              <a:sym typeface="Poppi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4"/>
        <p:cNvGrpSpPr/>
        <p:nvPr/>
      </p:nvGrpSpPr>
      <p:grpSpPr>
        <a:xfrm>
          <a:off x="0" y="0"/>
          <a:ext cx="0" cy="0"/>
          <a:chOff x="0" y="0"/>
          <a:chExt cx="0" cy="0"/>
        </a:xfrm>
      </p:grpSpPr>
      <p:sp>
        <p:nvSpPr>
          <p:cNvPr id="45" name="Google Shape;45;p5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2E75B5"/>
              </a:buClr>
              <a:buSzPts val="4400"/>
              <a:buFont typeface="Calibri"/>
              <a:buNone/>
              <a:defRPr b="1">
                <a:solidFill>
                  <a:srgbClr val="2E75B5"/>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53"/>
          <p:cNvSpPr/>
          <p:nvPr/>
        </p:nvSpPr>
        <p:spPr>
          <a:xfrm>
            <a:off x="0" y="1690688"/>
            <a:ext cx="12191999" cy="5167312"/>
          </a:xfrm>
          <a:custGeom>
            <a:avLst/>
            <a:gdLst/>
            <a:ahLst/>
            <a:cxnLst/>
            <a:rect l="l" t="t" r="r" b="b"/>
            <a:pathLst>
              <a:path w="17321343" h="8639020" extrusionOk="0">
                <a:moveTo>
                  <a:pt x="0" y="0"/>
                </a:moveTo>
                <a:lnTo>
                  <a:pt x="17321344" y="0"/>
                </a:lnTo>
                <a:lnTo>
                  <a:pt x="17321344" y="8639020"/>
                </a:lnTo>
                <a:lnTo>
                  <a:pt x="0" y="8639020"/>
                </a:lnTo>
                <a:lnTo>
                  <a:pt x="0" y="0"/>
                </a:lnTo>
                <a:close/>
              </a:path>
            </a:pathLst>
          </a:custGeom>
          <a:blipFill rotWithShape="1">
            <a:blip r:embed="rId2">
              <a:alphaModFix amt="31999"/>
            </a:blip>
            <a:stretch>
              <a:fillRect/>
            </a:stretch>
          </a:blipFill>
          <a:ln>
            <a:noFill/>
          </a:ln>
        </p:spPr>
      </p:sp>
      <p:cxnSp>
        <p:nvCxnSpPr>
          <p:cNvPr id="47" name="Google Shape;47;p53"/>
          <p:cNvCxnSpPr/>
          <p:nvPr/>
        </p:nvCxnSpPr>
        <p:spPr>
          <a:xfrm>
            <a:off x="838200" y="1690688"/>
            <a:ext cx="7497726" cy="0"/>
          </a:xfrm>
          <a:prstGeom prst="straightConnector1">
            <a:avLst/>
          </a:prstGeom>
          <a:noFill/>
          <a:ln w="57150" cap="flat" cmpd="sng">
            <a:solidFill>
              <a:schemeClr val="accent1"/>
            </a:solidFill>
            <a:prstDash val="solid"/>
            <a:miter lim="800000"/>
            <a:headEnd type="none" w="sm" len="sm"/>
            <a:tailEnd type="none" w="sm" len="sm"/>
          </a:ln>
        </p:spPr>
      </p:cxnSp>
      <p:cxnSp>
        <p:nvCxnSpPr>
          <p:cNvPr id="48" name="Google Shape;48;p53"/>
          <p:cNvCxnSpPr/>
          <p:nvPr/>
        </p:nvCxnSpPr>
        <p:spPr>
          <a:xfrm>
            <a:off x="6719777" y="1690688"/>
            <a:ext cx="4634023" cy="0"/>
          </a:xfrm>
          <a:prstGeom prst="straightConnector1">
            <a:avLst/>
          </a:prstGeom>
          <a:noFill/>
          <a:ln w="57150" cap="flat" cmpd="sng">
            <a:solidFill>
              <a:schemeClr val="accent2"/>
            </a:solidFill>
            <a:prstDash val="solid"/>
            <a:miter lim="800000"/>
            <a:headEnd type="none" w="sm" len="sm"/>
            <a:tailEnd type="none" w="sm" len="sm"/>
          </a:ln>
        </p:spPr>
      </p:cxnSp>
      <p:sp>
        <p:nvSpPr>
          <p:cNvPr id="49" name="Google Shape;49;p53"/>
          <p:cNvSpPr/>
          <p:nvPr/>
        </p:nvSpPr>
        <p:spPr>
          <a:xfrm>
            <a:off x="105273" y="6268035"/>
            <a:ext cx="494516" cy="498893"/>
          </a:xfrm>
          <a:custGeom>
            <a:avLst/>
            <a:gdLst/>
            <a:ahLst/>
            <a:cxnLst/>
            <a:rect l="l" t="t" r="r" b="b"/>
            <a:pathLst>
              <a:path w="659355" h="665190" extrusionOk="0">
                <a:moveTo>
                  <a:pt x="0" y="0"/>
                </a:moveTo>
                <a:lnTo>
                  <a:pt x="659355" y="0"/>
                </a:lnTo>
                <a:lnTo>
                  <a:pt x="659355" y="665190"/>
                </a:lnTo>
                <a:lnTo>
                  <a:pt x="0" y="665190"/>
                </a:lnTo>
                <a:lnTo>
                  <a:pt x="0" y="0"/>
                </a:lnTo>
                <a:close/>
              </a:path>
            </a:pathLst>
          </a:custGeom>
          <a:blipFill rotWithShape="1">
            <a:blip r:embed="rId3">
              <a:alphaModFix/>
            </a:blip>
            <a:stretch>
              <a:fillRect/>
            </a:stretch>
          </a:blipFill>
          <a:ln>
            <a:noFill/>
          </a:ln>
        </p:spPr>
      </p:sp>
      <p:sp>
        <p:nvSpPr>
          <p:cNvPr id="50" name="Google Shape;50;p53"/>
          <p:cNvSpPr txBox="1"/>
          <p:nvPr/>
        </p:nvSpPr>
        <p:spPr>
          <a:xfrm>
            <a:off x="629853" y="6388734"/>
            <a:ext cx="6303024" cy="294943"/>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700"/>
              <a:buFont typeface="Arial"/>
              <a:buNone/>
            </a:pPr>
            <a:r>
              <a:rPr lang="en-US" sz="1700" b="0" i="0" u="none" strike="noStrike" cap="none">
                <a:solidFill>
                  <a:srgbClr val="2E75B5"/>
                </a:solidFill>
                <a:latin typeface="Poppins"/>
                <a:ea typeface="Poppins"/>
                <a:cs typeface="Poppins"/>
                <a:sym typeface="Poppins"/>
              </a:rPr>
              <a:t>Kementerian Pendidikan Dasar dan Menengah</a:t>
            </a:r>
            <a:endParaRPr sz="1700" b="0" i="0" u="none" strike="noStrike" cap="none">
              <a:solidFill>
                <a:srgbClr val="2E75B5"/>
              </a:solidFill>
              <a:latin typeface="Poppins"/>
              <a:ea typeface="Poppins"/>
              <a:cs typeface="Poppins"/>
              <a:sym typeface="Poppi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1"/>
        <p:cNvGrpSpPr/>
        <p:nvPr/>
      </p:nvGrpSpPr>
      <p:grpSpPr>
        <a:xfrm>
          <a:off x="0" y="0"/>
          <a:ext cx="0" cy="0"/>
          <a:chOff x="0" y="0"/>
          <a:chExt cx="0" cy="0"/>
        </a:xfrm>
      </p:grpSpPr>
      <p:sp>
        <p:nvSpPr>
          <p:cNvPr id="52" name="Google Shape;52;p54"/>
          <p:cNvSpPr/>
          <p:nvPr/>
        </p:nvSpPr>
        <p:spPr>
          <a:xfrm>
            <a:off x="0" y="0"/>
            <a:ext cx="12192000" cy="6858000"/>
          </a:xfrm>
          <a:custGeom>
            <a:avLst/>
            <a:gdLst/>
            <a:ahLst/>
            <a:cxnLst/>
            <a:rect l="l" t="t" r="r" b="b"/>
            <a:pathLst>
              <a:path w="17321343" h="8639020" extrusionOk="0">
                <a:moveTo>
                  <a:pt x="0" y="0"/>
                </a:moveTo>
                <a:lnTo>
                  <a:pt x="17321344" y="0"/>
                </a:lnTo>
                <a:lnTo>
                  <a:pt x="17321344" y="8639020"/>
                </a:lnTo>
                <a:lnTo>
                  <a:pt x="0" y="8639020"/>
                </a:lnTo>
                <a:lnTo>
                  <a:pt x="0" y="0"/>
                </a:lnTo>
                <a:close/>
              </a:path>
            </a:pathLst>
          </a:custGeom>
          <a:blipFill rotWithShape="1">
            <a:blip r:embed="rId2">
              <a:alphaModFix amt="31999"/>
            </a:blip>
            <a:stretch>
              <a:fillRect l="-6029" t="-9273" r="-6027" b="-13671"/>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3" name="Google Shape;53;p54"/>
          <p:cNvSpPr/>
          <p:nvPr/>
        </p:nvSpPr>
        <p:spPr>
          <a:xfrm>
            <a:off x="105273" y="6268035"/>
            <a:ext cx="494516" cy="498893"/>
          </a:xfrm>
          <a:custGeom>
            <a:avLst/>
            <a:gdLst/>
            <a:ahLst/>
            <a:cxnLst/>
            <a:rect l="l" t="t" r="r" b="b"/>
            <a:pathLst>
              <a:path w="659355" h="665190" extrusionOk="0">
                <a:moveTo>
                  <a:pt x="0" y="0"/>
                </a:moveTo>
                <a:lnTo>
                  <a:pt x="659355" y="0"/>
                </a:lnTo>
                <a:lnTo>
                  <a:pt x="659355" y="665190"/>
                </a:lnTo>
                <a:lnTo>
                  <a:pt x="0" y="665190"/>
                </a:lnTo>
                <a:lnTo>
                  <a:pt x="0" y="0"/>
                </a:lnTo>
                <a:close/>
              </a:path>
            </a:pathLst>
          </a:custGeom>
          <a:blipFill rotWithShape="1">
            <a:blip r:embed="rId3">
              <a:alphaModFix/>
            </a:blip>
            <a:stretch>
              <a:fillRect/>
            </a:stretch>
          </a:blipFill>
          <a:ln>
            <a:noFill/>
          </a:ln>
        </p:spPr>
      </p:sp>
      <p:sp>
        <p:nvSpPr>
          <p:cNvPr id="54" name="Google Shape;54;p54"/>
          <p:cNvSpPr txBox="1"/>
          <p:nvPr/>
        </p:nvSpPr>
        <p:spPr>
          <a:xfrm>
            <a:off x="629853" y="6388734"/>
            <a:ext cx="6303024" cy="294943"/>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Clr>
                <a:srgbClr val="000000"/>
              </a:buClr>
              <a:buSzPts val="1700"/>
              <a:buFont typeface="Arial"/>
              <a:buNone/>
            </a:pPr>
            <a:r>
              <a:rPr lang="en-US" sz="1700" b="0" i="0" u="none" strike="noStrike" cap="none">
                <a:solidFill>
                  <a:srgbClr val="2E75B5"/>
                </a:solidFill>
                <a:latin typeface="Poppins"/>
                <a:ea typeface="Poppins"/>
                <a:cs typeface="Poppins"/>
                <a:sym typeface="Poppins"/>
              </a:rPr>
              <a:t>Kementerian Pendidikan Dasar dan Menengah</a:t>
            </a:r>
            <a:endParaRPr sz="1700" b="0" i="0" u="none" strike="noStrike" cap="none">
              <a:solidFill>
                <a:srgbClr val="2E75B5"/>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DDEAF6">
            <a:alpha val="45490"/>
          </a:srgbClr>
        </a:solidFill>
        <a:effectLst/>
      </p:bgPr>
    </p:bg>
    <p:spTree>
      <p:nvGrpSpPr>
        <p:cNvPr id="1" name="Shape 9"/>
        <p:cNvGrpSpPr/>
        <p:nvPr/>
      </p:nvGrpSpPr>
      <p:grpSpPr>
        <a:xfrm>
          <a:off x="0" y="0"/>
          <a:ext cx="0" cy="0"/>
          <a:chOff x="0" y="0"/>
          <a:chExt cx="0" cy="0"/>
        </a:xfrm>
      </p:grpSpPr>
      <p:sp>
        <p:nvSpPr>
          <p:cNvPr id="10" name="Google Shape;10;p4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4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18" Type="http://schemas.openxmlformats.org/officeDocument/2006/relationships/image" Target="../media/image35.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17" Type="http://schemas.openxmlformats.org/officeDocument/2006/relationships/image" Target="../media/image34.png"/><Relationship Id="rId2" Type="http://schemas.openxmlformats.org/officeDocument/2006/relationships/notesSlide" Target="../notesSlides/notesSlide14.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19" Type="http://schemas.openxmlformats.org/officeDocument/2006/relationships/image" Target="../media/image36.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s>
</file>

<file path=ppt/slides/_rels/slide15.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5.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2.png"/><Relationship Id="rId2" Type="http://schemas.openxmlformats.org/officeDocument/2006/relationships/notesSlide" Target="../notesSlides/notesSlide16.xml"/><Relationship Id="rId1" Type="http://schemas.openxmlformats.org/officeDocument/2006/relationships/slideLayout" Target="../slideLayouts/slideLayout5.xml"/><Relationship Id="rId6" Type="http://schemas.openxmlformats.org/officeDocument/2006/relationships/image" Target="../media/image41.png"/><Relationship Id="rId5" Type="http://schemas.openxmlformats.org/officeDocument/2006/relationships/image" Target="../media/image39.png"/><Relationship Id="rId4" Type="http://schemas.openxmlformats.org/officeDocument/2006/relationships/image" Target="../media/image38.png"/></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0.xml"/><Relationship Id="rId1" Type="http://schemas.openxmlformats.org/officeDocument/2006/relationships/slideLayout" Target="../slideLayouts/slideLayout5.xml"/><Relationship Id="rId6" Type="http://schemas.openxmlformats.org/officeDocument/2006/relationships/hyperlink" Target="https://data.go.id/" TargetMode="External"/><Relationship Id="rId5" Type="http://schemas.openxmlformats.org/officeDocument/2006/relationships/hyperlink" Target="https://archive.ics.uci.edu/" TargetMode="External"/><Relationship Id="rId4" Type="http://schemas.openxmlformats.org/officeDocument/2006/relationships/hyperlink" Target="https://huggingface.co/datasets"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46.png"/></Relationships>
</file>

<file path=ppt/slides/_rels/slide2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hyperlink" Target="https://quickdraw.withgoogle.com/"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4.xml"/><Relationship Id="rId5" Type="http://schemas.openxmlformats.org/officeDocument/2006/relationships/image" Target="../media/image49.png"/><Relationship Id="rId4" Type="http://schemas.openxmlformats.org/officeDocument/2006/relationships/image" Target="../media/image48.png"/></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5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png"/><Relationship Id="rId7" Type="http://schemas.openxmlformats.org/officeDocument/2006/relationships/image" Target="../media/image56.jpg"/><Relationship Id="rId2" Type="http://schemas.openxmlformats.org/officeDocument/2006/relationships/notesSlide" Target="../notesSlides/notesSlide32.xml"/><Relationship Id="rId1" Type="http://schemas.openxmlformats.org/officeDocument/2006/relationships/slideLayout" Target="../slideLayouts/slideLayout5.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3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5.xml"/><Relationship Id="rId1" Type="http://schemas.openxmlformats.org/officeDocument/2006/relationships/slideLayout" Target="../slideLayouts/slideLayout5.xml"/><Relationship Id="rId4" Type="http://schemas.openxmlformats.org/officeDocument/2006/relationships/hyperlink" Target="https://detectfakes.kellogg.northwestern.edu/"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9.xml"/><Relationship Id="rId1" Type="http://schemas.openxmlformats.org/officeDocument/2006/relationships/slideLayout" Target="../slideLayouts/slideLayout4.xml"/><Relationship Id="rId4" Type="http://schemas.openxmlformats.org/officeDocument/2006/relationships/image" Target="../media/image62.png"/></Relationships>
</file>

<file path=ppt/slides/_rels/slide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0.xml"/><Relationship Id="rId1" Type="http://schemas.openxmlformats.org/officeDocument/2006/relationships/slideLayout" Target="../slideLayouts/slideLayout4.xml"/><Relationship Id="rId4" Type="http://schemas.openxmlformats.org/officeDocument/2006/relationships/image" Target="../media/image50.png"/></Relationships>
</file>

<file path=ppt/slides/_rels/slide4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
          <p:cNvSpPr txBox="1">
            <a:spLocks noGrp="1"/>
          </p:cNvSpPr>
          <p:nvPr>
            <p:ph type="ctrTitle"/>
          </p:nvPr>
        </p:nvSpPr>
        <p:spPr>
          <a:xfrm>
            <a:off x="404037" y="2723868"/>
            <a:ext cx="5996763" cy="195760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E75B5"/>
              </a:buClr>
              <a:buSzPts val="4400"/>
              <a:buFont typeface="Calibri"/>
              <a:buNone/>
            </a:pPr>
            <a:r>
              <a:rPr lang="en-US" sz="4400"/>
              <a:t>KODING DAN KECERDASAN ARTIFISIAL</a:t>
            </a:r>
            <a:endParaRPr sz="4400"/>
          </a:p>
        </p:txBody>
      </p:sp>
      <p:sp>
        <p:nvSpPr>
          <p:cNvPr id="60" name="Google Shape;60;p1"/>
          <p:cNvSpPr txBox="1">
            <a:spLocks noGrp="1"/>
          </p:cNvSpPr>
          <p:nvPr>
            <p:ph type="subTitle" idx="1"/>
          </p:nvPr>
        </p:nvSpPr>
        <p:spPr>
          <a:xfrm>
            <a:off x="404037" y="5071743"/>
            <a:ext cx="5996763" cy="1357569"/>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7030A0"/>
              </a:buClr>
              <a:buSzPts val="2400"/>
              <a:buNone/>
            </a:pPr>
            <a:r>
              <a:rPr lang="en-US"/>
              <a:t>Pendidikan Dasar dan Menengah</a:t>
            </a:r>
            <a:endParaRPr/>
          </a:p>
        </p:txBody>
      </p:sp>
      <p:sp>
        <p:nvSpPr>
          <p:cNvPr id="61" name="Google Shape;61;p1"/>
          <p:cNvSpPr txBox="1"/>
          <p:nvPr/>
        </p:nvSpPr>
        <p:spPr>
          <a:xfrm>
            <a:off x="415365" y="1486249"/>
            <a:ext cx="5996763" cy="1238768"/>
          </a:xfrm>
          <a:prstGeom prst="rect">
            <a:avLst/>
          </a:prstGeom>
          <a:noFill/>
          <a:ln>
            <a:noFill/>
          </a:ln>
        </p:spPr>
        <p:txBody>
          <a:bodyPr spcFirstLastPara="1" wrap="square" lIns="91425" tIns="45700" rIns="91425" bIns="45700" anchor="b" anchorCtr="0">
            <a:normAutofit/>
          </a:bodyPr>
          <a:lstStyle/>
          <a:p>
            <a:pPr marL="0" marR="0" lvl="0" indent="0" algn="l" rtl="0">
              <a:lnSpc>
                <a:spcPct val="90000"/>
              </a:lnSpc>
              <a:spcBef>
                <a:spcPts val="0"/>
              </a:spcBef>
              <a:spcAft>
                <a:spcPts val="0"/>
              </a:spcAft>
              <a:buClr>
                <a:srgbClr val="C00000"/>
              </a:buClr>
              <a:buSzPts val="4400"/>
              <a:buFont typeface="Calibri"/>
              <a:buNone/>
            </a:pPr>
            <a:r>
              <a:rPr lang="en-US" sz="4400" b="1" i="0" u="none" strike="noStrike" cap="none">
                <a:solidFill>
                  <a:srgbClr val="C00000"/>
                </a:solidFill>
                <a:latin typeface="Calibri"/>
                <a:ea typeface="Calibri"/>
                <a:cs typeface="Calibri"/>
                <a:sym typeface="Calibri"/>
              </a:rPr>
              <a:t>Modul 3 SMP (Fase D)</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2E75B5"/>
              </a:buClr>
              <a:buSzPts val="6000"/>
              <a:buFont typeface="Calibri"/>
              <a:buNone/>
            </a:pPr>
            <a:r>
              <a:rPr lang="en-US"/>
              <a:t>Etika dan Resiko Kecerdasan Artifisial</a:t>
            </a:r>
            <a:endParaRPr/>
          </a:p>
        </p:txBody>
      </p:sp>
      <p:sp>
        <p:nvSpPr>
          <p:cNvPr id="67" name="Google Shape;67;p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2E75B5"/>
              </a:buClr>
              <a:buSzPts val="2400"/>
              <a:buNone/>
            </a:pPr>
            <a:r>
              <a:rPr lang="en-US"/>
              <a:t>Pada Jenjang Pendidikan Dasar dan Menengah</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E75B5"/>
              </a:buClr>
              <a:buSzPts val="4400"/>
              <a:buFont typeface="Calibri"/>
              <a:buNone/>
            </a:pPr>
            <a:r>
              <a:rPr lang="en-US"/>
              <a:t>Tujuan Pelatihan</a:t>
            </a:r>
            <a:endParaRPr/>
          </a:p>
        </p:txBody>
      </p:sp>
      <p:sp>
        <p:nvSpPr>
          <p:cNvPr id="73" name="Google Shape;73;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565150" lvl="0" indent="-514350" algn="just" rtl="0">
              <a:lnSpc>
                <a:spcPct val="90000"/>
              </a:lnSpc>
              <a:spcBef>
                <a:spcPts val="1000"/>
              </a:spcBef>
              <a:spcAft>
                <a:spcPts val="0"/>
              </a:spcAft>
              <a:buSzPts val="2800"/>
              <a:buFont typeface="Arial"/>
              <a:buAutoNum type="arabicPeriod"/>
            </a:pPr>
            <a:r>
              <a:rPr lang="en-US"/>
              <a:t>Peserta pelatihan mendefinisikan konsep KA generatif</a:t>
            </a:r>
            <a:endParaRPr/>
          </a:p>
          <a:p>
            <a:pPr marL="565150" lvl="0" indent="-514350" algn="just" rtl="0">
              <a:lnSpc>
                <a:spcPct val="90000"/>
              </a:lnSpc>
              <a:spcBef>
                <a:spcPts val="1000"/>
              </a:spcBef>
              <a:spcAft>
                <a:spcPts val="0"/>
              </a:spcAft>
              <a:buSzPts val="2800"/>
              <a:buFont typeface="Arial"/>
              <a:buAutoNum type="arabicPeriod"/>
            </a:pPr>
            <a:r>
              <a:rPr lang="en-US"/>
              <a:t>Peserta pelatihan menjelaskan kualitas data dalam KA</a:t>
            </a:r>
            <a:endParaRPr/>
          </a:p>
          <a:p>
            <a:pPr marL="565150" lvl="0" indent="-514350" algn="just" rtl="0">
              <a:lnSpc>
                <a:spcPct val="90000"/>
              </a:lnSpc>
              <a:spcBef>
                <a:spcPts val="1000"/>
              </a:spcBef>
              <a:spcAft>
                <a:spcPts val="0"/>
              </a:spcAft>
              <a:buSzPts val="2800"/>
              <a:buFont typeface="Arial"/>
              <a:buAutoNum type="arabicPeriod"/>
            </a:pPr>
            <a:r>
              <a:rPr lang="en-US"/>
              <a:t>Peserta pelatihan menerapkan KA generatif pada kehidupan sehari-hari</a:t>
            </a:r>
            <a:endParaRPr/>
          </a:p>
          <a:p>
            <a:pPr marL="565150" lvl="0" indent="-514350" algn="just" rtl="0">
              <a:lnSpc>
                <a:spcPct val="90000"/>
              </a:lnSpc>
              <a:spcBef>
                <a:spcPts val="1000"/>
              </a:spcBef>
              <a:spcAft>
                <a:spcPts val="0"/>
              </a:spcAft>
              <a:buSzPts val="2800"/>
              <a:buFont typeface="Arial"/>
              <a:buAutoNum type="arabicPeriod"/>
            </a:pPr>
            <a:r>
              <a:rPr lang="en-US"/>
              <a:t>Peserta pelatihan menerapkan etika dan resiko penggunaan KA generatif</a:t>
            </a:r>
            <a:endParaRPr/>
          </a:p>
          <a:p>
            <a:pPr marL="565150" lvl="0" indent="-514350" algn="just" rtl="0">
              <a:lnSpc>
                <a:spcPct val="90000"/>
              </a:lnSpc>
              <a:spcBef>
                <a:spcPts val="1000"/>
              </a:spcBef>
              <a:spcAft>
                <a:spcPts val="0"/>
              </a:spcAft>
              <a:buSzPts val="2800"/>
              <a:buFont typeface="Arial"/>
              <a:buAutoNum type="arabicPeriod"/>
            </a:pPr>
            <a:r>
              <a:rPr lang="en-US"/>
              <a:t>Peserta pelatihan menganalisis konten deepfake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E75B5"/>
              </a:buClr>
              <a:buSzPts val="4400"/>
              <a:buFont typeface="Calibri"/>
              <a:buNone/>
            </a:pPr>
            <a:r>
              <a:rPr lang="en-US"/>
              <a:t>Kesepakatan Belajar</a:t>
            </a:r>
            <a:endParaRPr/>
          </a:p>
        </p:txBody>
      </p:sp>
      <p:pic>
        <p:nvPicPr>
          <p:cNvPr id="79" name="Google Shape;79;p4" descr="Stopwatch with solid fill"/>
          <p:cNvPicPr preferRelativeResize="0"/>
          <p:nvPr/>
        </p:nvPicPr>
        <p:blipFill rotWithShape="1">
          <a:blip r:embed="rId3">
            <a:alphaModFix/>
          </a:blip>
          <a:srcRect/>
          <a:stretch/>
        </p:blipFill>
        <p:spPr>
          <a:xfrm>
            <a:off x="1021080" y="2682239"/>
            <a:ext cx="914400" cy="914400"/>
          </a:xfrm>
          <a:prstGeom prst="rect">
            <a:avLst/>
          </a:prstGeom>
          <a:noFill/>
          <a:ln>
            <a:noFill/>
          </a:ln>
        </p:spPr>
      </p:pic>
      <p:sp>
        <p:nvSpPr>
          <p:cNvPr id="80" name="Google Shape;80;p4"/>
          <p:cNvSpPr txBox="1"/>
          <p:nvPr/>
        </p:nvSpPr>
        <p:spPr>
          <a:xfrm>
            <a:off x="2209800" y="2939405"/>
            <a:ext cx="4495800" cy="4000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1E4E79"/>
                </a:solidFill>
                <a:latin typeface="Calibri"/>
                <a:ea typeface="Calibri"/>
                <a:cs typeface="Calibri"/>
                <a:sym typeface="Calibri"/>
              </a:rPr>
              <a:t>Hadir tepat waktu</a:t>
            </a:r>
            <a:endParaRPr sz="2000" b="0" i="0" u="none" strike="noStrike" cap="none">
              <a:solidFill>
                <a:srgbClr val="1E4E79"/>
              </a:solidFill>
              <a:latin typeface="Calibri"/>
              <a:ea typeface="Calibri"/>
              <a:cs typeface="Calibri"/>
              <a:sym typeface="Calibri"/>
            </a:endParaRPr>
          </a:p>
        </p:txBody>
      </p:sp>
      <p:pic>
        <p:nvPicPr>
          <p:cNvPr id="81" name="Google Shape;81;p4" descr="Smart Phone with solid fill"/>
          <p:cNvPicPr preferRelativeResize="0"/>
          <p:nvPr/>
        </p:nvPicPr>
        <p:blipFill rotWithShape="1">
          <a:blip r:embed="rId4">
            <a:alphaModFix/>
          </a:blip>
          <a:srcRect/>
          <a:stretch/>
        </p:blipFill>
        <p:spPr>
          <a:xfrm>
            <a:off x="1174431" y="4209092"/>
            <a:ext cx="761049" cy="761049"/>
          </a:xfrm>
          <a:prstGeom prst="rect">
            <a:avLst/>
          </a:prstGeom>
          <a:noFill/>
          <a:ln>
            <a:noFill/>
          </a:ln>
        </p:spPr>
      </p:pic>
      <p:sp>
        <p:nvSpPr>
          <p:cNvPr id="82" name="Google Shape;82;p4"/>
          <p:cNvSpPr/>
          <p:nvPr/>
        </p:nvSpPr>
        <p:spPr>
          <a:xfrm>
            <a:off x="1021080" y="4130989"/>
            <a:ext cx="1051560" cy="914401"/>
          </a:xfrm>
          <a:prstGeom prst="noSmoking">
            <a:avLst>
              <a:gd name="adj" fmla="val 18750"/>
            </a:avLst>
          </a:prstGeom>
          <a:solidFill>
            <a:srgbClr val="C00000"/>
          </a:solidFill>
          <a:ln w="25400" cap="flat" cmpd="sng">
            <a:solidFill>
              <a:srgbClr val="31538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83" name="Google Shape;83;p4"/>
          <p:cNvSpPr txBox="1"/>
          <p:nvPr/>
        </p:nvSpPr>
        <p:spPr>
          <a:xfrm>
            <a:off x="2209800" y="4388154"/>
            <a:ext cx="4495800" cy="4000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1E4E79"/>
                </a:solidFill>
                <a:latin typeface="Calibri"/>
                <a:ea typeface="Calibri"/>
                <a:cs typeface="Calibri"/>
                <a:sym typeface="Calibri"/>
              </a:rPr>
              <a:t>Ponsel mode hening</a:t>
            </a:r>
            <a:endParaRPr sz="2000" b="0" i="0" u="none" strike="noStrike" cap="none">
              <a:solidFill>
                <a:srgbClr val="1E4E79"/>
              </a:solidFill>
              <a:latin typeface="Calibri"/>
              <a:ea typeface="Calibri"/>
              <a:cs typeface="Calibri"/>
              <a:sym typeface="Calibri"/>
            </a:endParaRPr>
          </a:p>
        </p:txBody>
      </p:sp>
      <p:pic>
        <p:nvPicPr>
          <p:cNvPr id="84" name="Google Shape;84;p4" descr="Meeting with solid fill"/>
          <p:cNvPicPr preferRelativeResize="0"/>
          <p:nvPr/>
        </p:nvPicPr>
        <p:blipFill rotWithShape="1">
          <a:blip r:embed="rId5">
            <a:alphaModFix/>
          </a:blip>
          <a:srcRect/>
          <a:stretch/>
        </p:blipFill>
        <p:spPr>
          <a:xfrm>
            <a:off x="5316858" y="2710806"/>
            <a:ext cx="914400" cy="914400"/>
          </a:xfrm>
          <a:prstGeom prst="rect">
            <a:avLst/>
          </a:prstGeom>
          <a:noFill/>
          <a:ln>
            <a:noFill/>
          </a:ln>
        </p:spPr>
      </p:pic>
      <p:sp>
        <p:nvSpPr>
          <p:cNvPr id="85" name="Google Shape;85;p4"/>
          <p:cNvSpPr txBox="1"/>
          <p:nvPr/>
        </p:nvSpPr>
        <p:spPr>
          <a:xfrm>
            <a:off x="6505578" y="3028931"/>
            <a:ext cx="4495800" cy="4000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1E4E79"/>
                </a:solidFill>
                <a:latin typeface="Calibri"/>
                <a:ea typeface="Calibri"/>
                <a:cs typeface="Calibri"/>
                <a:sym typeface="Calibri"/>
              </a:rPr>
              <a:t>Saling menghormati</a:t>
            </a:r>
            <a:endParaRPr sz="2000" b="0" i="0" u="none" strike="noStrike" cap="none">
              <a:solidFill>
                <a:srgbClr val="1E4E79"/>
              </a:solidFill>
              <a:latin typeface="Calibri"/>
              <a:ea typeface="Calibri"/>
              <a:cs typeface="Calibri"/>
              <a:sym typeface="Calibri"/>
            </a:endParaRPr>
          </a:p>
        </p:txBody>
      </p:sp>
      <p:pic>
        <p:nvPicPr>
          <p:cNvPr id="86" name="Google Shape;86;p4" descr="Customer review with solid fill"/>
          <p:cNvPicPr preferRelativeResize="0"/>
          <p:nvPr/>
        </p:nvPicPr>
        <p:blipFill rotWithShape="1">
          <a:blip r:embed="rId6">
            <a:alphaModFix/>
          </a:blip>
          <a:srcRect/>
          <a:stretch/>
        </p:blipFill>
        <p:spPr>
          <a:xfrm>
            <a:off x="5316858" y="4084308"/>
            <a:ext cx="914400" cy="914400"/>
          </a:xfrm>
          <a:prstGeom prst="rect">
            <a:avLst/>
          </a:prstGeom>
          <a:noFill/>
          <a:ln>
            <a:noFill/>
          </a:ln>
        </p:spPr>
      </p:pic>
      <p:sp>
        <p:nvSpPr>
          <p:cNvPr id="87" name="Google Shape;87;p4"/>
          <p:cNvSpPr txBox="1"/>
          <p:nvPr/>
        </p:nvSpPr>
        <p:spPr>
          <a:xfrm>
            <a:off x="6505578" y="4526266"/>
            <a:ext cx="4495800" cy="4000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1E4E79"/>
                </a:solidFill>
                <a:latin typeface="Calibri"/>
                <a:ea typeface="Calibri"/>
                <a:cs typeface="Calibri"/>
                <a:sym typeface="Calibri"/>
              </a:rPr>
              <a:t>Aktif dalam pembelajaran</a:t>
            </a:r>
            <a:endParaRPr sz="2000" b="0" i="0" u="none" strike="noStrike" cap="none">
              <a:solidFill>
                <a:srgbClr val="1E4E79"/>
              </a:solidFill>
              <a:latin typeface="Calibri"/>
              <a:ea typeface="Calibri"/>
              <a:cs typeface="Calibri"/>
              <a:sym typeface="Calibri"/>
            </a:endParaRPr>
          </a:p>
        </p:txBody>
      </p:sp>
      <p:pic>
        <p:nvPicPr>
          <p:cNvPr id="88" name="Google Shape;88;p4" descr="Large paint brush with solid fill"/>
          <p:cNvPicPr preferRelativeResize="0"/>
          <p:nvPr/>
        </p:nvPicPr>
        <p:blipFill rotWithShape="1">
          <a:blip r:embed="rId7">
            <a:alphaModFix/>
          </a:blip>
          <a:srcRect/>
          <a:stretch/>
        </p:blipFill>
        <p:spPr>
          <a:xfrm>
            <a:off x="9330696" y="3429000"/>
            <a:ext cx="914400" cy="914400"/>
          </a:xfrm>
          <a:prstGeom prst="rect">
            <a:avLst/>
          </a:prstGeom>
          <a:noFill/>
          <a:ln>
            <a:noFill/>
          </a:ln>
        </p:spPr>
      </p:pic>
      <p:sp>
        <p:nvSpPr>
          <p:cNvPr id="89" name="Google Shape;89;p4"/>
          <p:cNvSpPr txBox="1"/>
          <p:nvPr/>
        </p:nvSpPr>
        <p:spPr>
          <a:xfrm>
            <a:off x="10245096" y="3554654"/>
            <a:ext cx="1512564" cy="70784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1E4E79"/>
                </a:solidFill>
                <a:latin typeface="Calibri"/>
                <a:ea typeface="Calibri"/>
                <a:cs typeface="Calibri"/>
                <a:sym typeface="Calibri"/>
              </a:rPr>
              <a:t>Menjaga kebersihan</a:t>
            </a:r>
            <a:endParaRPr sz="2000" b="0" i="0" u="none" strike="noStrike" cap="none">
              <a:solidFill>
                <a:srgbClr val="1E4E79"/>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E75B5"/>
              </a:buClr>
              <a:buSzPts val="4400"/>
              <a:buFont typeface="Calibri"/>
              <a:buNone/>
            </a:pPr>
            <a:r>
              <a:rPr lang="en-US"/>
              <a:t>Mindfulness</a:t>
            </a:r>
            <a:endParaRPr/>
          </a:p>
        </p:txBody>
      </p:sp>
      <p:pic>
        <p:nvPicPr>
          <p:cNvPr id="95" name="Google Shape;95;p5"/>
          <p:cNvPicPr preferRelativeResize="0"/>
          <p:nvPr/>
        </p:nvPicPr>
        <p:blipFill rotWithShape="1">
          <a:blip r:embed="rId3">
            <a:alphaModFix amt="85000"/>
          </a:blip>
          <a:srcRect/>
          <a:stretch/>
        </p:blipFill>
        <p:spPr>
          <a:xfrm>
            <a:off x="838200" y="2279015"/>
            <a:ext cx="4865583" cy="3664585"/>
          </a:xfrm>
          <a:prstGeom prst="rect">
            <a:avLst/>
          </a:prstGeom>
          <a:noFill/>
          <a:ln>
            <a:noFill/>
          </a:ln>
        </p:spPr>
      </p:pic>
      <p:sp>
        <p:nvSpPr>
          <p:cNvPr id="96" name="Google Shape;96;p5"/>
          <p:cNvSpPr txBox="1"/>
          <p:nvPr/>
        </p:nvSpPr>
        <p:spPr>
          <a:xfrm>
            <a:off x="5703782" y="3561497"/>
            <a:ext cx="5813303" cy="15696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1E4E79"/>
                </a:solidFill>
                <a:latin typeface="Calibri"/>
                <a:ea typeface="Calibri"/>
                <a:cs typeface="Calibri"/>
                <a:sym typeface="Calibri"/>
              </a:rPr>
              <a:t>Dengan panduan Pengajar Koding dan Kecerdasan Artifisial,</a:t>
            </a:r>
            <a:endParaRPr sz="3200" b="1" i="0" u="none" strike="noStrike" cap="none">
              <a:solidFill>
                <a:srgbClr val="1E4E79"/>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1E4E79"/>
                </a:solidFill>
                <a:latin typeface="Calibri"/>
                <a:ea typeface="Calibri"/>
                <a:cs typeface="Calibri"/>
                <a:sym typeface="Calibri"/>
              </a:rPr>
              <a:t>lakukan kegiatan Teknik STOP.</a:t>
            </a:r>
            <a:endParaRPr sz="3200" b="0" i="0" u="none" strike="noStrike" cap="none">
              <a:solidFill>
                <a:srgbClr val="1E4E79"/>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2E75B5"/>
              </a:buClr>
              <a:buSzPts val="6000"/>
              <a:buFont typeface="Calibri"/>
              <a:buNone/>
            </a:pPr>
            <a:r>
              <a:rPr lang="en-US"/>
              <a:t>Lembar Kerja</a:t>
            </a:r>
            <a:endParaRPr/>
          </a:p>
        </p:txBody>
      </p:sp>
      <p:sp>
        <p:nvSpPr>
          <p:cNvPr id="102" name="Google Shape;102;p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457200" lvl="0" indent="-228600" algn="l" rtl="0">
              <a:lnSpc>
                <a:spcPct val="90000"/>
              </a:lnSpc>
              <a:spcBef>
                <a:spcPts val="1000"/>
              </a:spcBef>
              <a:spcAft>
                <a:spcPts val="0"/>
              </a:spcAft>
              <a:buClr>
                <a:srgbClr val="2E75B5"/>
              </a:buClr>
              <a:buSzPts val="2400"/>
              <a:buNone/>
            </a:pPr>
            <a:r>
              <a:rPr lang="en-US"/>
              <a:t>Memahami</a:t>
            </a:r>
            <a:endParaRPr/>
          </a:p>
        </p:txBody>
      </p:sp>
      <p:pic>
        <p:nvPicPr>
          <p:cNvPr id="103" name="Google Shape;103;p6" descr="Checklist with solid fill"/>
          <p:cNvPicPr preferRelativeResize="0"/>
          <p:nvPr/>
        </p:nvPicPr>
        <p:blipFill rotWithShape="1">
          <a:blip r:embed="rId3">
            <a:alphaModFix/>
          </a:blip>
          <a:srcRect/>
          <a:stretch/>
        </p:blipFill>
        <p:spPr>
          <a:xfrm>
            <a:off x="9265920" y="2261870"/>
            <a:ext cx="2081530" cy="208153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E75B5"/>
              </a:buClr>
              <a:buSzPts val="4400"/>
              <a:buFont typeface="Calibri"/>
              <a:buNone/>
            </a:pPr>
            <a:r>
              <a:rPr lang="en-US"/>
              <a:t>LK Memahami (3.1 dan 3.2)</a:t>
            </a:r>
            <a:endParaRPr/>
          </a:p>
        </p:txBody>
      </p:sp>
      <p:sp>
        <p:nvSpPr>
          <p:cNvPr id="109" name="Google Shape;109;p7"/>
          <p:cNvSpPr txBox="1"/>
          <p:nvPr/>
        </p:nvSpPr>
        <p:spPr>
          <a:xfrm>
            <a:off x="838200" y="2240344"/>
            <a:ext cx="10610088" cy="39702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1E4E79"/>
                </a:solidFill>
                <a:latin typeface="Calibri"/>
                <a:ea typeface="Calibri"/>
                <a:cs typeface="Calibri"/>
                <a:sym typeface="Calibri"/>
              </a:rPr>
              <a:t>Instruksi:</a:t>
            </a:r>
            <a:endParaRPr/>
          </a:p>
          <a:p>
            <a:pPr marL="514350" marR="0" lvl="0" indent="-514350" algn="l" rtl="0">
              <a:lnSpc>
                <a:spcPct val="100000"/>
              </a:lnSpc>
              <a:spcBef>
                <a:spcPts val="0"/>
              </a:spcBef>
              <a:spcAft>
                <a:spcPts val="0"/>
              </a:spcAft>
              <a:buClr>
                <a:srgbClr val="000000"/>
              </a:buClr>
              <a:buSzPts val="2800"/>
              <a:buFont typeface="Arial"/>
              <a:buAutoNum type="arabicPeriod"/>
            </a:pPr>
            <a:r>
              <a:rPr lang="en-US" sz="2800" b="0" i="0" u="none" strike="noStrike" cap="none">
                <a:solidFill>
                  <a:srgbClr val="1E4E79"/>
                </a:solidFill>
                <a:latin typeface="Calibri"/>
                <a:ea typeface="Calibri"/>
                <a:cs typeface="Calibri"/>
                <a:sym typeface="Calibri"/>
              </a:rPr>
              <a:t>Unduh file LK Memahami di LMS</a:t>
            </a:r>
            <a:endParaRPr/>
          </a:p>
          <a:p>
            <a:pPr marL="514350" marR="0" lvl="0" indent="-514350" algn="l" rtl="0">
              <a:lnSpc>
                <a:spcPct val="100000"/>
              </a:lnSpc>
              <a:spcBef>
                <a:spcPts val="0"/>
              </a:spcBef>
              <a:spcAft>
                <a:spcPts val="0"/>
              </a:spcAft>
              <a:buClr>
                <a:srgbClr val="000000"/>
              </a:buClr>
              <a:buSzPts val="2800"/>
              <a:buFont typeface="Arial"/>
              <a:buAutoNum type="arabicPeriod"/>
            </a:pPr>
            <a:r>
              <a:rPr lang="en-US" sz="2800" b="0" i="0" u="none" strike="noStrike" cap="none">
                <a:solidFill>
                  <a:srgbClr val="1E4E79"/>
                </a:solidFill>
                <a:latin typeface="Calibri"/>
                <a:ea typeface="Calibri"/>
                <a:cs typeface="Calibri"/>
                <a:sym typeface="Calibri"/>
              </a:rPr>
              <a:t>Kerjakanlah LK Memahami bagian 3.1 dan 3.2</a:t>
            </a:r>
            <a:endParaRPr sz="2800" b="0" i="0" u="none" strike="noStrike" cap="none">
              <a:solidFill>
                <a:srgbClr val="1E4E79"/>
              </a:solidFill>
              <a:latin typeface="Calibri"/>
              <a:ea typeface="Calibri"/>
              <a:cs typeface="Calibri"/>
              <a:sym typeface="Calibri"/>
            </a:endParaRPr>
          </a:p>
          <a:p>
            <a:pPr marL="514350" marR="0" lvl="0" indent="-514350" algn="l" rtl="0">
              <a:lnSpc>
                <a:spcPct val="100000"/>
              </a:lnSpc>
              <a:spcBef>
                <a:spcPts val="0"/>
              </a:spcBef>
              <a:spcAft>
                <a:spcPts val="0"/>
              </a:spcAft>
              <a:buClr>
                <a:srgbClr val="000000"/>
              </a:buClr>
              <a:buSzPts val="2800"/>
              <a:buFont typeface="Arial"/>
              <a:buAutoNum type="arabicPeriod"/>
            </a:pPr>
            <a:r>
              <a:rPr lang="en-US" sz="2800" b="0" i="0" u="none" strike="noStrike" cap="none">
                <a:solidFill>
                  <a:srgbClr val="1E4E79"/>
                </a:solidFill>
                <a:latin typeface="Calibri"/>
                <a:ea typeface="Calibri"/>
                <a:cs typeface="Calibri"/>
                <a:sym typeface="Calibri"/>
              </a:rPr>
              <a:t>Untuk bagian 3.1 membuat </a:t>
            </a:r>
            <a:r>
              <a:rPr lang="en-US" sz="2800" b="0" i="1" u="none" strike="noStrike" cap="none">
                <a:solidFill>
                  <a:srgbClr val="1E4E79"/>
                </a:solidFill>
                <a:latin typeface="Calibri"/>
                <a:ea typeface="Calibri"/>
                <a:cs typeface="Calibri"/>
                <a:sym typeface="Calibri"/>
              </a:rPr>
              <a:t>mind-map</a:t>
            </a:r>
            <a:r>
              <a:rPr lang="en-US" sz="2800" b="0" i="0" u="none" strike="noStrike" cap="none">
                <a:solidFill>
                  <a:srgbClr val="1E4E79"/>
                </a:solidFill>
                <a:latin typeface="Calibri"/>
                <a:ea typeface="Calibri"/>
                <a:cs typeface="Calibri"/>
                <a:sym typeface="Calibri"/>
              </a:rPr>
              <a:t> atau resume berbasis </a:t>
            </a:r>
            <a:r>
              <a:rPr lang="en-US" sz="2800" b="0" i="1" u="none" strike="noStrike" cap="none">
                <a:solidFill>
                  <a:srgbClr val="1E4E79"/>
                </a:solidFill>
                <a:latin typeface="Calibri"/>
                <a:ea typeface="Calibri"/>
                <a:cs typeface="Calibri"/>
                <a:sym typeface="Calibri"/>
              </a:rPr>
              <a:t>cornell-note taking</a:t>
            </a:r>
            <a:endParaRPr/>
          </a:p>
          <a:p>
            <a:pPr marL="514350" marR="0" lvl="0" indent="-514350" algn="l" rtl="0">
              <a:lnSpc>
                <a:spcPct val="100000"/>
              </a:lnSpc>
              <a:spcBef>
                <a:spcPts val="0"/>
              </a:spcBef>
              <a:spcAft>
                <a:spcPts val="0"/>
              </a:spcAft>
              <a:buClr>
                <a:srgbClr val="000000"/>
              </a:buClr>
              <a:buSzPts val="2800"/>
              <a:buFont typeface="Arial"/>
              <a:buAutoNum type="arabicPeriod"/>
            </a:pPr>
            <a:r>
              <a:rPr lang="en-US" sz="2800" b="0" i="0" u="none" strike="noStrike" cap="none">
                <a:solidFill>
                  <a:srgbClr val="1E4E79"/>
                </a:solidFill>
                <a:latin typeface="Calibri"/>
                <a:ea typeface="Calibri"/>
                <a:cs typeface="Calibri"/>
                <a:sym typeface="Calibri"/>
              </a:rPr>
              <a:t>Untuk bagian 3.2 setelah mengerjakan 3 soal mintalah umpan balik 2 rekan sejawat</a:t>
            </a:r>
            <a:endParaRPr sz="2800" b="0" i="0" u="none" strike="noStrike" cap="none">
              <a:solidFill>
                <a:srgbClr val="1E4E79"/>
              </a:solidFill>
              <a:latin typeface="Calibri"/>
              <a:ea typeface="Calibri"/>
              <a:cs typeface="Calibri"/>
              <a:sym typeface="Calibri"/>
            </a:endParaRPr>
          </a:p>
          <a:p>
            <a:pPr marL="514350" marR="0" lvl="0" indent="-514350" algn="l" rtl="0">
              <a:lnSpc>
                <a:spcPct val="100000"/>
              </a:lnSpc>
              <a:spcBef>
                <a:spcPts val="0"/>
              </a:spcBef>
              <a:spcAft>
                <a:spcPts val="0"/>
              </a:spcAft>
              <a:buClr>
                <a:srgbClr val="000000"/>
              </a:buClr>
              <a:buSzPts val="2800"/>
              <a:buFont typeface="Arial"/>
              <a:buAutoNum type="arabicPeriod"/>
            </a:pPr>
            <a:r>
              <a:rPr lang="en-US" sz="2800" b="0" i="0" u="none" strike="noStrike" cap="none">
                <a:solidFill>
                  <a:srgbClr val="1E4E79"/>
                </a:solidFill>
                <a:latin typeface="Calibri"/>
                <a:ea typeface="Calibri"/>
                <a:cs typeface="Calibri"/>
                <a:sym typeface="Calibri"/>
              </a:rPr>
              <a:t>Hasil LK 3.1 dan 3.2 unggah dalam LMS menjadi 1 file PDF</a:t>
            </a:r>
            <a:endParaRPr/>
          </a:p>
          <a:p>
            <a:pPr marL="514350" marR="0" lvl="0" indent="-514350" algn="l" rtl="0">
              <a:lnSpc>
                <a:spcPct val="100000"/>
              </a:lnSpc>
              <a:spcBef>
                <a:spcPts val="0"/>
              </a:spcBef>
              <a:spcAft>
                <a:spcPts val="0"/>
              </a:spcAft>
              <a:buClr>
                <a:srgbClr val="000000"/>
              </a:buClr>
              <a:buSzPts val="2800"/>
              <a:buFont typeface="Arial"/>
              <a:buAutoNum type="arabicPeriod"/>
            </a:pPr>
            <a:r>
              <a:rPr lang="en-US" sz="2800" b="0" i="0" u="none" strike="noStrike" cap="none">
                <a:solidFill>
                  <a:srgbClr val="1E4E79"/>
                </a:solidFill>
                <a:latin typeface="Calibri"/>
                <a:ea typeface="Calibri"/>
                <a:cs typeface="Calibri"/>
                <a:sym typeface="Calibri"/>
              </a:rPr>
              <a:t>Alokasi waktu pengerjaan </a:t>
            </a:r>
            <a:r>
              <a:rPr lang="en-US" sz="2800" b="1" i="0" u="none" strike="noStrike" cap="none">
                <a:solidFill>
                  <a:srgbClr val="1E4E79"/>
                </a:solidFill>
                <a:latin typeface="Calibri"/>
                <a:ea typeface="Calibri"/>
                <a:cs typeface="Calibri"/>
                <a:sym typeface="Calibri"/>
              </a:rPr>
              <a:t>20 menit</a:t>
            </a:r>
            <a:endParaRPr sz="1800" b="1" i="0" u="none" strike="noStrike" cap="non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2E75B5"/>
              </a:buClr>
              <a:buSzPts val="6000"/>
              <a:buFont typeface="Calibri"/>
              <a:buNone/>
            </a:pPr>
            <a:r>
              <a:rPr lang="en-US"/>
              <a:t>Tahapan Pembelajaran</a:t>
            </a:r>
            <a:endParaRPr/>
          </a:p>
        </p:txBody>
      </p:sp>
      <p:sp>
        <p:nvSpPr>
          <p:cNvPr id="115" name="Google Shape;115;p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457200" lvl="0" indent="-228600" algn="l" rtl="0">
              <a:lnSpc>
                <a:spcPct val="90000"/>
              </a:lnSpc>
              <a:spcBef>
                <a:spcPts val="1000"/>
              </a:spcBef>
              <a:spcAft>
                <a:spcPts val="0"/>
              </a:spcAft>
              <a:buClr>
                <a:srgbClr val="2E75B5"/>
              </a:buClr>
              <a:buSzPts val="2400"/>
              <a:buNone/>
            </a:pPr>
            <a:r>
              <a:rPr lang="en-US"/>
              <a:t>Untuk Section B dan Section C</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E75B5"/>
              </a:buClr>
              <a:buSzPts val="4400"/>
              <a:buFont typeface="Calibri"/>
              <a:buNone/>
            </a:pPr>
            <a:r>
              <a:rPr lang="en-US"/>
              <a:t>Instruksi Pembelajaran Memahami</a:t>
            </a:r>
            <a:endParaRPr/>
          </a:p>
        </p:txBody>
      </p:sp>
      <p:sp>
        <p:nvSpPr>
          <p:cNvPr id="121" name="Google Shape;121;p9"/>
          <p:cNvSpPr txBox="1"/>
          <p:nvPr/>
        </p:nvSpPr>
        <p:spPr>
          <a:xfrm>
            <a:off x="838200" y="3063304"/>
            <a:ext cx="10610088" cy="3108503"/>
          </a:xfrm>
          <a:prstGeom prst="rect">
            <a:avLst/>
          </a:prstGeom>
          <a:noFill/>
          <a:ln>
            <a:noFill/>
          </a:ln>
        </p:spPr>
        <p:txBody>
          <a:bodyPr spcFirstLastPara="1" wrap="square" lIns="91425" tIns="45700" rIns="91425" bIns="45700" anchor="t" anchorCtr="0">
            <a:spAutoFit/>
          </a:bodyPr>
          <a:lstStyle/>
          <a:p>
            <a:pPr marL="514350" marR="0" lvl="0" indent="-514350" algn="l" rtl="0">
              <a:lnSpc>
                <a:spcPct val="100000"/>
              </a:lnSpc>
              <a:spcBef>
                <a:spcPts val="0"/>
              </a:spcBef>
              <a:spcAft>
                <a:spcPts val="0"/>
              </a:spcAft>
              <a:buClr>
                <a:srgbClr val="000000"/>
              </a:buClr>
              <a:buSzPts val="2800"/>
              <a:buFont typeface="Arial"/>
              <a:buAutoNum type="arabicPeriod"/>
            </a:pPr>
            <a:r>
              <a:rPr lang="en-US" sz="2800" b="0" i="0" u="none" strike="noStrike" cap="none">
                <a:solidFill>
                  <a:srgbClr val="1E4E79"/>
                </a:solidFill>
                <a:latin typeface="Calibri"/>
                <a:ea typeface="Calibri"/>
                <a:cs typeface="Calibri"/>
                <a:sym typeface="Calibri"/>
              </a:rPr>
              <a:t>Bagi kelas menjadi 4 kelompok pembelajaran</a:t>
            </a:r>
            <a:endParaRPr sz="2800" b="0" i="0" u="none" strike="noStrike" cap="none">
              <a:solidFill>
                <a:srgbClr val="1E4E79"/>
              </a:solidFill>
              <a:latin typeface="Calibri"/>
              <a:ea typeface="Calibri"/>
              <a:cs typeface="Calibri"/>
              <a:sym typeface="Calibri"/>
            </a:endParaRPr>
          </a:p>
          <a:p>
            <a:pPr marL="514350" marR="0" lvl="0" indent="-514350" algn="l" rtl="0">
              <a:lnSpc>
                <a:spcPct val="100000"/>
              </a:lnSpc>
              <a:spcBef>
                <a:spcPts val="0"/>
              </a:spcBef>
              <a:spcAft>
                <a:spcPts val="0"/>
              </a:spcAft>
              <a:buClr>
                <a:srgbClr val="000000"/>
              </a:buClr>
              <a:buSzPts val="2800"/>
              <a:buFont typeface="Arial"/>
              <a:buAutoNum type="arabicPeriod"/>
            </a:pPr>
            <a:r>
              <a:rPr lang="en-US" sz="2800" b="0" i="0" u="none" strike="noStrike" cap="none">
                <a:solidFill>
                  <a:srgbClr val="1E4E79"/>
                </a:solidFill>
                <a:latin typeface="Calibri"/>
                <a:ea typeface="Calibri"/>
                <a:cs typeface="Calibri"/>
                <a:sym typeface="Calibri"/>
              </a:rPr>
              <a:t>Tiap kelompok mengerjakan Aktivitas 1 (section B) dan Aktivitas 2 (section C) </a:t>
            </a:r>
            <a:endParaRPr/>
          </a:p>
          <a:p>
            <a:pPr marL="514350" marR="0" lvl="0" indent="-514350" algn="l" rtl="0">
              <a:lnSpc>
                <a:spcPct val="100000"/>
              </a:lnSpc>
              <a:spcBef>
                <a:spcPts val="0"/>
              </a:spcBef>
              <a:spcAft>
                <a:spcPts val="0"/>
              </a:spcAft>
              <a:buClr>
                <a:srgbClr val="000000"/>
              </a:buClr>
              <a:buSzPts val="2800"/>
              <a:buFont typeface="Arial"/>
              <a:buAutoNum type="arabicPeriod"/>
            </a:pPr>
            <a:r>
              <a:rPr lang="en-US" sz="2800" b="0" i="0" u="none" strike="noStrike" cap="none">
                <a:solidFill>
                  <a:srgbClr val="1E4E79"/>
                </a:solidFill>
                <a:latin typeface="Calibri"/>
                <a:ea typeface="Calibri"/>
                <a:cs typeface="Calibri"/>
                <a:sym typeface="Calibri"/>
              </a:rPr>
              <a:t>Tiap kelompok memaparkan hasil aktivitasnya di depan kelas</a:t>
            </a:r>
            <a:endParaRPr sz="2800" b="0" i="1" u="none" strike="noStrike" cap="none">
              <a:solidFill>
                <a:srgbClr val="1E4E79"/>
              </a:solidFill>
              <a:latin typeface="Calibri"/>
              <a:ea typeface="Calibri"/>
              <a:cs typeface="Calibri"/>
              <a:sym typeface="Calibri"/>
            </a:endParaRPr>
          </a:p>
          <a:p>
            <a:pPr marL="514350" marR="0" lvl="0" indent="-514350" algn="l" rtl="0">
              <a:lnSpc>
                <a:spcPct val="100000"/>
              </a:lnSpc>
              <a:spcBef>
                <a:spcPts val="0"/>
              </a:spcBef>
              <a:spcAft>
                <a:spcPts val="0"/>
              </a:spcAft>
              <a:buClr>
                <a:srgbClr val="000000"/>
              </a:buClr>
              <a:buSzPts val="2800"/>
              <a:buFont typeface="Arial"/>
              <a:buAutoNum type="arabicPeriod"/>
            </a:pPr>
            <a:r>
              <a:rPr lang="en-US" sz="2800" b="0" i="0" u="none" strike="noStrike" cap="none">
                <a:solidFill>
                  <a:srgbClr val="1E4E79"/>
                </a:solidFill>
                <a:latin typeface="Calibri"/>
                <a:ea typeface="Calibri"/>
                <a:cs typeface="Calibri"/>
                <a:sym typeface="Calibri"/>
              </a:rPr>
              <a:t>Lakukan sesi tanya jawab dari hasil aktivitas</a:t>
            </a:r>
            <a:endParaRPr sz="2800" b="0" i="0" u="none" strike="noStrike" cap="none">
              <a:solidFill>
                <a:srgbClr val="1E4E79"/>
              </a:solidFill>
              <a:latin typeface="Calibri"/>
              <a:ea typeface="Calibri"/>
              <a:cs typeface="Calibri"/>
              <a:sym typeface="Calibri"/>
            </a:endParaRPr>
          </a:p>
          <a:p>
            <a:pPr marL="514350" marR="0" lvl="0" indent="-514350" algn="l" rtl="0">
              <a:lnSpc>
                <a:spcPct val="100000"/>
              </a:lnSpc>
              <a:spcBef>
                <a:spcPts val="0"/>
              </a:spcBef>
              <a:spcAft>
                <a:spcPts val="0"/>
              </a:spcAft>
              <a:buClr>
                <a:srgbClr val="000000"/>
              </a:buClr>
              <a:buSzPts val="2800"/>
              <a:buFont typeface="Arial"/>
              <a:buAutoNum type="arabicPeriod"/>
            </a:pPr>
            <a:r>
              <a:rPr lang="en-US" sz="2800" b="0" i="0" u="none" strike="noStrike" cap="none">
                <a:solidFill>
                  <a:srgbClr val="1E4E79"/>
                </a:solidFill>
                <a:latin typeface="Calibri"/>
                <a:ea typeface="Calibri"/>
                <a:cs typeface="Calibri"/>
                <a:sym typeface="Calibri"/>
              </a:rPr>
              <a:t>Pengajar memberikan refleksi hasil aktivitas keseluruhan</a:t>
            </a:r>
            <a:endParaRPr sz="2800" b="0" i="0" u="none" strike="noStrike" cap="none">
              <a:solidFill>
                <a:srgbClr val="1E4E79"/>
              </a:solidFill>
              <a:latin typeface="Calibri"/>
              <a:ea typeface="Calibri"/>
              <a:cs typeface="Calibri"/>
              <a:sym typeface="Calibri"/>
            </a:endParaRPr>
          </a:p>
          <a:p>
            <a:pPr marL="514350" marR="0" lvl="0" indent="-514350" algn="l" rtl="0">
              <a:lnSpc>
                <a:spcPct val="100000"/>
              </a:lnSpc>
              <a:spcBef>
                <a:spcPts val="0"/>
              </a:spcBef>
              <a:spcAft>
                <a:spcPts val="0"/>
              </a:spcAft>
              <a:buClr>
                <a:srgbClr val="000000"/>
              </a:buClr>
              <a:buSzPts val="2800"/>
              <a:buFont typeface="Arial"/>
              <a:buAutoNum type="arabicPeriod"/>
            </a:pPr>
            <a:r>
              <a:rPr lang="en-US" sz="2800" b="0" i="0" u="none" strike="noStrike" cap="none">
                <a:solidFill>
                  <a:srgbClr val="1E4E79"/>
                </a:solidFill>
                <a:latin typeface="Calibri"/>
                <a:ea typeface="Calibri"/>
                <a:cs typeface="Calibri"/>
                <a:sym typeface="Calibri"/>
              </a:rPr>
              <a:t>Alokasi waktu pembelajaran </a:t>
            </a:r>
            <a:r>
              <a:rPr lang="en-US" sz="2800" b="1" i="0" u="none" strike="noStrike" cap="none">
                <a:solidFill>
                  <a:srgbClr val="1E4E79"/>
                </a:solidFill>
                <a:latin typeface="Calibri"/>
                <a:ea typeface="Calibri"/>
                <a:cs typeface="Calibri"/>
                <a:sym typeface="Calibri"/>
              </a:rPr>
              <a:t>90 menit</a:t>
            </a:r>
            <a:endParaRPr sz="1800" b="1" i="0" u="none" strike="noStrike" cap="none">
              <a:solidFill>
                <a:srgbClr val="000000"/>
              </a:solidFill>
              <a:latin typeface="Arial"/>
              <a:ea typeface="Arial"/>
              <a:cs typeface="Arial"/>
              <a:sym typeface="Arial"/>
            </a:endParaRPr>
          </a:p>
        </p:txBody>
      </p:sp>
      <p:pic>
        <p:nvPicPr>
          <p:cNvPr id="122" name="Google Shape;122;p9" descr="Group brainstorm with solid fill"/>
          <p:cNvPicPr preferRelativeResize="0"/>
          <p:nvPr/>
        </p:nvPicPr>
        <p:blipFill rotWithShape="1">
          <a:blip r:embed="rId3">
            <a:alphaModFix/>
          </a:blip>
          <a:srcRect/>
          <a:stretch/>
        </p:blipFill>
        <p:spPr>
          <a:xfrm>
            <a:off x="838200" y="2084896"/>
            <a:ext cx="1115568" cy="111556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2E75B5"/>
              </a:buClr>
              <a:buSzPts val="6000"/>
              <a:buFont typeface="Calibri"/>
              <a:buNone/>
            </a:pPr>
            <a:r>
              <a:rPr lang="en-US"/>
              <a:t>Kecerdasan Artifisial Generatif dan Implementasinya</a:t>
            </a:r>
            <a:endParaRPr/>
          </a:p>
        </p:txBody>
      </p:sp>
      <p:sp>
        <p:nvSpPr>
          <p:cNvPr id="128" name="Google Shape;128;p1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457200" lvl="0" indent="-228600" algn="l" rtl="0">
              <a:lnSpc>
                <a:spcPct val="90000"/>
              </a:lnSpc>
              <a:spcBef>
                <a:spcPts val="1000"/>
              </a:spcBef>
              <a:spcAft>
                <a:spcPts val="0"/>
              </a:spcAft>
              <a:buClr>
                <a:srgbClr val="2E75B5"/>
              </a:buClr>
              <a:buSzPts val="2400"/>
              <a:buNone/>
            </a:pPr>
            <a:r>
              <a:rPr lang="en-US"/>
              <a:t>Section B</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E75B5"/>
              </a:buClr>
              <a:buSzPts val="4400"/>
              <a:buFont typeface="Calibri"/>
              <a:buNone/>
            </a:pPr>
            <a:r>
              <a:rPr lang="en-US"/>
              <a:t>Kecerdasan Artifisial Generatif</a:t>
            </a:r>
            <a:endParaRPr/>
          </a:p>
        </p:txBody>
      </p:sp>
      <p:sp>
        <p:nvSpPr>
          <p:cNvPr id="134" name="Google Shape;134;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62500" lnSpcReduction="20000"/>
          </a:bodyPr>
          <a:lstStyle/>
          <a:p>
            <a:pPr marL="457200" lvl="0" indent="-406400" algn="just" rtl="0">
              <a:lnSpc>
                <a:spcPct val="120000"/>
              </a:lnSpc>
              <a:spcBef>
                <a:spcPts val="400"/>
              </a:spcBef>
              <a:spcAft>
                <a:spcPts val="0"/>
              </a:spcAft>
              <a:buSzPct val="160000"/>
              <a:buChar char="•"/>
            </a:pPr>
            <a:r>
              <a:rPr lang="en-US">
                <a:latin typeface="Calibri"/>
                <a:ea typeface="Calibri"/>
                <a:cs typeface="Calibri"/>
                <a:sym typeface="Calibri"/>
              </a:rPr>
              <a:t>Kecerdasan Artifisial (KA) atau </a:t>
            </a:r>
            <a:r>
              <a:rPr lang="en-US" i="1">
                <a:latin typeface="Calibri"/>
                <a:ea typeface="Calibri"/>
                <a:cs typeface="Calibri"/>
                <a:sym typeface="Calibri"/>
              </a:rPr>
              <a:t>Artificial Intelligence </a:t>
            </a:r>
            <a:r>
              <a:rPr lang="en-US">
                <a:latin typeface="Calibri"/>
                <a:ea typeface="Calibri"/>
                <a:cs typeface="Calibri"/>
                <a:sym typeface="Calibri"/>
              </a:rPr>
              <a:t>(AI) adalah konsep luas tentang mesin yang bisa melakukan tugas-tugas yang biasanya membutuhkan kecerdasan manusia, seperti memahami bahasa, merencanakan, bermain catur, dan sebagainya. </a:t>
            </a:r>
            <a:endParaRPr/>
          </a:p>
          <a:p>
            <a:pPr marL="457200" lvl="0" indent="-406400" algn="just" rtl="0">
              <a:lnSpc>
                <a:spcPct val="120000"/>
              </a:lnSpc>
              <a:spcBef>
                <a:spcPts val="400"/>
              </a:spcBef>
              <a:spcAft>
                <a:spcPts val="0"/>
              </a:spcAft>
              <a:buSzPct val="160000"/>
              <a:buChar char="•"/>
            </a:pPr>
            <a:r>
              <a:rPr lang="en-US">
                <a:latin typeface="Calibri"/>
                <a:ea typeface="Calibri"/>
                <a:cs typeface="Calibri"/>
                <a:sym typeface="Calibri"/>
              </a:rPr>
              <a:t>Pembelajaran Mesin atau </a:t>
            </a:r>
            <a:r>
              <a:rPr lang="en-US" i="1">
                <a:latin typeface="Calibri"/>
                <a:ea typeface="Calibri"/>
                <a:cs typeface="Calibri"/>
                <a:sym typeface="Calibri"/>
              </a:rPr>
              <a:t>Machine Learning </a:t>
            </a:r>
            <a:r>
              <a:rPr lang="en-US">
                <a:latin typeface="Calibri"/>
                <a:ea typeface="Calibri"/>
                <a:cs typeface="Calibri"/>
                <a:sym typeface="Calibri"/>
              </a:rPr>
              <a:t>(ML) adalah salah satu cabang atau pendekatan di dalam KA, yang memungkinkan mesin belajar dari data tanpa diprogram secara eksplisit. Saat ini pembelajaran mesin populer karena ketersediaan data yang cukup besar dan mudah untuk diperoleh. </a:t>
            </a:r>
            <a:endParaRPr/>
          </a:p>
          <a:p>
            <a:pPr marL="457200" lvl="0" indent="-406400" algn="just" rtl="0">
              <a:lnSpc>
                <a:spcPct val="120000"/>
              </a:lnSpc>
              <a:spcBef>
                <a:spcPts val="400"/>
              </a:spcBef>
              <a:spcAft>
                <a:spcPts val="0"/>
              </a:spcAft>
              <a:buSzPct val="160000"/>
              <a:buChar char="•"/>
            </a:pPr>
            <a:r>
              <a:rPr lang="en-US">
                <a:latin typeface="Calibri"/>
                <a:ea typeface="Calibri"/>
                <a:cs typeface="Calibri"/>
                <a:sym typeface="Calibri"/>
              </a:rPr>
              <a:t>Perbedaan </a:t>
            </a:r>
            <a:r>
              <a:rPr lang="en-US" i="1">
                <a:latin typeface="Calibri"/>
                <a:ea typeface="Calibri"/>
                <a:cs typeface="Calibri"/>
                <a:sym typeface="Calibri"/>
              </a:rPr>
              <a:t>machine learning </a:t>
            </a:r>
            <a:r>
              <a:rPr lang="en-US">
                <a:latin typeface="Calibri"/>
                <a:ea typeface="Calibri"/>
                <a:cs typeface="Calibri"/>
                <a:sym typeface="Calibri"/>
              </a:rPr>
              <a:t>dengan </a:t>
            </a:r>
            <a:r>
              <a:rPr lang="en-US" i="1">
                <a:latin typeface="Calibri"/>
                <a:ea typeface="Calibri"/>
                <a:cs typeface="Calibri"/>
                <a:sym typeface="Calibri"/>
              </a:rPr>
              <a:t>deep learning </a:t>
            </a:r>
            <a:r>
              <a:rPr lang="en-US">
                <a:latin typeface="Calibri"/>
                <a:ea typeface="Calibri"/>
                <a:cs typeface="Calibri"/>
                <a:sym typeface="Calibri"/>
              </a:rPr>
              <a:t>adalah bahwa </a:t>
            </a:r>
            <a:r>
              <a:rPr lang="en-US" i="1">
                <a:latin typeface="Calibri"/>
                <a:ea typeface="Calibri"/>
                <a:cs typeface="Calibri"/>
                <a:sym typeface="Calibri"/>
              </a:rPr>
              <a:t>deep learning </a:t>
            </a:r>
            <a:r>
              <a:rPr lang="en-US">
                <a:latin typeface="Calibri"/>
                <a:ea typeface="Calibri"/>
                <a:cs typeface="Calibri"/>
                <a:sym typeface="Calibri"/>
              </a:rPr>
              <a:t>membutuhkan lebih banyak data (</a:t>
            </a:r>
            <a:r>
              <a:rPr lang="en-US" i="1">
                <a:latin typeface="Calibri"/>
                <a:ea typeface="Calibri"/>
                <a:cs typeface="Calibri"/>
                <a:sym typeface="Calibri"/>
              </a:rPr>
              <a:t>big data</a:t>
            </a:r>
            <a:r>
              <a:rPr lang="en-US">
                <a:latin typeface="Calibri"/>
                <a:ea typeface="Calibri"/>
                <a:cs typeface="Calibri"/>
                <a:sym typeface="Calibri"/>
              </a:rPr>
              <a:t>) dibandingkan dengan algoritma </a:t>
            </a:r>
            <a:r>
              <a:rPr lang="en-US" i="1">
                <a:latin typeface="Calibri"/>
                <a:ea typeface="Calibri"/>
                <a:cs typeface="Calibri"/>
                <a:sym typeface="Calibri"/>
              </a:rPr>
              <a:t>machine learning </a:t>
            </a:r>
            <a:r>
              <a:rPr lang="en-US">
                <a:latin typeface="Calibri"/>
                <a:ea typeface="Calibri"/>
                <a:cs typeface="Calibri"/>
                <a:sym typeface="Calibri"/>
              </a:rPr>
              <a:t>lainnya. Namun </a:t>
            </a:r>
            <a:r>
              <a:rPr lang="en-US" i="1">
                <a:latin typeface="Calibri"/>
                <a:ea typeface="Calibri"/>
                <a:cs typeface="Calibri"/>
                <a:sym typeface="Calibri"/>
              </a:rPr>
              <a:t>deep learning</a:t>
            </a:r>
            <a:r>
              <a:rPr lang="en-US">
                <a:latin typeface="Calibri"/>
                <a:ea typeface="Calibri"/>
                <a:cs typeface="Calibri"/>
                <a:sym typeface="Calibri"/>
              </a:rPr>
              <a:t> mampu melakukan pembelajaran yang lebih kompleks dan toleransi kesalahan data yang lebih longgar dibandingkan algoritma </a:t>
            </a:r>
            <a:r>
              <a:rPr lang="en-US" i="1">
                <a:latin typeface="Calibri"/>
                <a:ea typeface="Calibri"/>
                <a:cs typeface="Calibri"/>
                <a:sym typeface="Calibri"/>
              </a:rPr>
              <a:t>machine learning </a:t>
            </a:r>
            <a:r>
              <a:rPr lang="en-US">
                <a:latin typeface="Calibri"/>
                <a:ea typeface="Calibri"/>
                <a:cs typeface="Calibri"/>
                <a:sym typeface="Calibri"/>
              </a:rPr>
              <a:t>lain.</a:t>
            </a:r>
            <a:endParaRPr/>
          </a:p>
          <a:p>
            <a:pPr marL="457200" lvl="0" indent="-406400" algn="just" rtl="0">
              <a:lnSpc>
                <a:spcPct val="120000"/>
              </a:lnSpc>
              <a:spcBef>
                <a:spcPts val="400"/>
              </a:spcBef>
              <a:spcAft>
                <a:spcPts val="0"/>
              </a:spcAft>
              <a:buSzPct val="160000"/>
              <a:buChar char="•"/>
            </a:pPr>
            <a:r>
              <a:rPr lang="en-US">
                <a:latin typeface="Calibri"/>
                <a:ea typeface="Calibri"/>
                <a:cs typeface="Calibri"/>
                <a:sym typeface="Calibri"/>
              </a:rPr>
              <a:t>Selanjutnya deep learning berkembang menjadi KA generatif atau </a:t>
            </a:r>
            <a:r>
              <a:rPr lang="en-US" i="1">
                <a:latin typeface="Calibri"/>
                <a:ea typeface="Calibri"/>
                <a:cs typeface="Calibri"/>
                <a:sym typeface="Calibri"/>
              </a:rPr>
              <a:t>generative AI </a:t>
            </a:r>
            <a:r>
              <a:rPr lang="en-US">
                <a:latin typeface="Calibri"/>
                <a:ea typeface="Calibri"/>
                <a:cs typeface="Calibri"/>
                <a:sym typeface="Calibri"/>
              </a:rPr>
              <a:t>(genAI), yaitu model </a:t>
            </a:r>
            <a:r>
              <a:rPr lang="en-US" i="1">
                <a:latin typeface="Calibri"/>
                <a:ea typeface="Calibri"/>
                <a:cs typeface="Calibri"/>
                <a:sym typeface="Calibri"/>
              </a:rPr>
              <a:t>deep learning </a:t>
            </a:r>
            <a:r>
              <a:rPr lang="en-US">
                <a:latin typeface="Calibri"/>
                <a:ea typeface="Calibri"/>
                <a:cs typeface="Calibri"/>
                <a:sym typeface="Calibri"/>
              </a:rPr>
              <a:t>yang dihasilkan dari pembelajaran data yang besar (</a:t>
            </a:r>
            <a:r>
              <a:rPr lang="en-US" i="1">
                <a:latin typeface="Calibri"/>
                <a:ea typeface="Calibri"/>
                <a:cs typeface="Calibri"/>
                <a:sym typeface="Calibri"/>
              </a:rPr>
              <a:t>big data</a:t>
            </a:r>
            <a:r>
              <a:rPr lang="en-US">
                <a:latin typeface="Calibri"/>
                <a:ea typeface="Calibri"/>
                <a:cs typeface="Calibri"/>
                <a:sym typeface="Calibri"/>
              </a:rPr>
              <a:t>) yang mampu menghasilkan (</a:t>
            </a:r>
            <a:r>
              <a:rPr lang="en-US" i="1">
                <a:latin typeface="Calibri"/>
                <a:ea typeface="Calibri"/>
                <a:cs typeface="Calibri"/>
                <a:sym typeface="Calibri"/>
              </a:rPr>
              <a:t>generate</a:t>
            </a:r>
            <a:r>
              <a:rPr lang="en-US">
                <a:latin typeface="Calibri"/>
                <a:ea typeface="Calibri"/>
                <a:cs typeface="Calibri"/>
                <a:sym typeface="Calibri"/>
              </a:rPr>
              <a:t>) konten baru. Konten tersebut bisa berupa teks, gambar dan lain sebagainya.  Beberapa contoh dari KA generatif adalah chatGPT, gemini, dan lain sebagainya.</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E75B5"/>
              </a:buClr>
              <a:buSzPts val="4400"/>
              <a:buFont typeface="Calibri"/>
              <a:buNone/>
            </a:pPr>
            <a:r>
              <a:rPr lang="en-US"/>
              <a:t>Ruang Lingkup dan Definisi Teknologi KA Generatif</a:t>
            </a:r>
            <a:endParaRPr/>
          </a:p>
        </p:txBody>
      </p:sp>
      <p:sp>
        <p:nvSpPr>
          <p:cNvPr id="140" name="Google Shape;140;p12"/>
          <p:cNvSpPr txBox="1">
            <a:spLocks noGrp="1"/>
          </p:cNvSpPr>
          <p:nvPr>
            <p:ph type="body" idx="1"/>
          </p:nvPr>
        </p:nvSpPr>
        <p:spPr>
          <a:xfrm>
            <a:off x="838200" y="1825625"/>
            <a:ext cx="5643062" cy="4351338"/>
          </a:xfrm>
          <a:prstGeom prst="rect">
            <a:avLst/>
          </a:prstGeom>
          <a:noFill/>
          <a:ln>
            <a:noFill/>
          </a:ln>
        </p:spPr>
        <p:txBody>
          <a:bodyPr spcFirstLastPara="1" wrap="square" lIns="91425" tIns="45700" rIns="91425" bIns="45700" anchor="t" anchorCtr="0">
            <a:normAutofit/>
          </a:bodyPr>
          <a:lstStyle/>
          <a:p>
            <a:pPr marL="457200" lvl="0" indent="-406400" algn="l" rtl="0">
              <a:lnSpc>
                <a:spcPct val="90000"/>
              </a:lnSpc>
              <a:spcBef>
                <a:spcPts val="1000"/>
              </a:spcBef>
              <a:spcAft>
                <a:spcPts val="0"/>
              </a:spcAft>
              <a:buClr>
                <a:srgbClr val="1E4E79"/>
              </a:buClr>
              <a:buSzPts val="2800"/>
              <a:buChar char="•"/>
            </a:pPr>
            <a:r>
              <a:rPr lang="en-US" sz="2400">
                <a:latin typeface="Calibri"/>
                <a:ea typeface="Calibri"/>
                <a:cs typeface="Calibri"/>
                <a:sym typeface="Calibri"/>
              </a:rPr>
              <a:t>Teknologi KA generatif merupakan bagian dari teknologi KA yang berbasis pembelajaran mesin (</a:t>
            </a:r>
            <a:r>
              <a:rPr lang="en-US" sz="2400" i="1">
                <a:latin typeface="Calibri"/>
                <a:ea typeface="Calibri"/>
                <a:cs typeface="Calibri"/>
                <a:sym typeface="Calibri"/>
              </a:rPr>
              <a:t>machine learning</a:t>
            </a:r>
            <a:r>
              <a:rPr lang="en-US" sz="2400">
                <a:latin typeface="Calibri"/>
                <a:ea typeface="Calibri"/>
                <a:cs typeface="Calibri"/>
                <a:sym typeface="Calibri"/>
              </a:rPr>
              <a:t>), tepatnya sebagai bagian dari </a:t>
            </a:r>
            <a:r>
              <a:rPr lang="en-US" sz="2400" i="1">
                <a:latin typeface="Calibri"/>
                <a:ea typeface="Calibri"/>
                <a:cs typeface="Calibri"/>
                <a:sym typeface="Calibri"/>
              </a:rPr>
              <a:t>deep learning</a:t>
            </a:r>
            <a:r>
              <a:rPr lang="en-US" sz="2400">
                <a:latin typeface="Calibri"/>
                <a:ea typeface="Calibri"/>
                <a:cs typeface="Calibri"/>
                <a:sym typeface="Calibri"/>
              </a:rPr>
              <a:t>* yang mampu menciptakan konten baru seperti teks, gambar, suara, atau video.</a:t>
            </a:r>
            <a:endParaRPr/>
          </a:p>
          <a:p>
            <a:pPr marL="457200" lvl="0" indent="-228600" algn="l" rtl="0">
              <a:lnSpc>
                <a:spcPct val="90000"/>
              </a:lnSpc>
              <a:spcBef>
                <a:spcPts val="1000"/>
              </a:spcBef>
              <a:spcAft>
                <a:spcPts val="0"/>
              </a:spcAft>
              <a:buClr>
                <a:srgbClr val="1E4E79"/>
              </a:buClr>
              <a:buSzPts val="2800"/>
              <a:buNone/>
            </a:pPr>
            <a:endParaRPr sz="2400">
              <a:latin typeface="Calibri"/>
              <a:ea typeface="Calibri"/>
              <a:cs typeface="Calibri"/>
              <a:sym typeface="Calibri"/>
            </a:endParaRPr>
          </a:p>
        </p:txBody>
      </p:sp>
      <p:sp>
        <p:nvSpPr>
          <p:cNvPr id="141" name="Google Shape;141;p12"/>
          <p:cNvSpPr txBox="1"/>
          <p:nvPr/>
        </p:nvSpPr>
        <p:spPr>
          <a:xfrm>
            <a:off x="838200" y="4278937"/>
            <a:ext cx="5643062" cy="2265926"/>
          </a:xfrm>
          <a:prstGeom prst="rect">
            <a:avLst/>
          </a:prstGeom>
          <a:noFill/>
          <a:ln>
            <a:noFill/>
          </a:ln>
        </p:spPr>
        <p:txBody>
          <a:bodyPr spcFirstLastPara="1" wrap="square" lIns="91425" tIns="45700" rIns="91425" bIns="45700" anchor="t" anchorCtr="0">
            <a:normAutofit/>
          </a:bodyPr>
          <a:lstStyle/>
          <a:p>
            <a:pPr marL="457200" marR="0" lvl="0" indent="-406400" algn="l" rtl="0">
              <a:lnSpc>
                <a:spcPct val="90000"/>
              </a:lnSpc>
              <a:spcBef>
                <a:spcPts val="1000"/>
              </a:spcBef>
              <a:spcAft>
                <a:spcPts val="0"/>
              </a:spcAft>
              <a:buClr>
                <a:srgbClr val="1E4E79"/>
              </a:buClr>
              <a:buSzPts val="2800"/>
              <a:buFont typeface="Arial"/>
              <a:buChar char="•"/>
            </a:pPr>
            <a:r>
              <a:rPr lang="en-US" sz="2400" b="0" i="0" u="none" strike="noStrike" cap="none">
                <a:solidFill>
                  <a:srgbClr val="1E4E79"/>
                </a:solidFill>
                <a:latin typeface="Calibri"/>
                <a:ea typeface="Calibri"/>
                <a:cs typeface="Calibri"/>
                <a:sym typeface="Calibri"/>
              </a:rPr>
              <a:t>Contoh sistem KA Generatif: ChatGPT, copilot Bing, DeepSeek, gemini Google, Grok, Dall-e, midjourney, sora, dan lainnya</a:t>
            </a:r>
            <a:endParaRPr/>
          </a:p>
        </p:txBody>
      </p:sp>
      <p:sp>
        <p:nvSpPr>
          <p:cNvPr id="142" name="Google Shape;142;p12"/>
          <p:cNvSpPr txBox="1"/>
          <p:nvPr/>
        </p:nvSpPr>
        <p:spPr>
          <a:xfrm>
            <a:off x="7156176" y="5928467"/>
            <a:ext cx="4585709" cy="460027"/>
          </a:xfrm>
          <a:prstGeom prst="rect">
            <a:avLst/>
          </a:prstGeom>
          <a:noFill/>
          <a:ln>
            <a:noFill/>
          </a:ln>
        </p:spPr>
        <p:txBody>
          <a:bodyPr spcFirstLastPara="1" wrap="square" lIns="91425" tIns="45700" rIns="91425" bIns="45700" anchor="t" anchorCtr="0">
            <a:normAutofit lnSpcReduction="10000"/>
          </a:bodyPr>
          <a:lstStyle/>
          <a:p>
            <a:pPr marL="50800" marR="0" lvl="0" indent="0" algn="l" rtl="0">
              <a:lnSpc>
                <a:spcPct val="90000"/>
              </a:lnSpc>
              <a:spcBef>
                <a:spcPts val="1000"/>
              </a:spcBef>
              <a:spcAft>
                <a:spcPts val="0"/>
              </a:spcAft>
              <a:buClr>
                <a:srgbClr val="1E4E79"/>
              </a:buClr>
              <a:buSzPts val="2800"/>
              <a:buFont typeface="Arial"/>
              <a:buNone/>
            </a:pPr>
            <a:r>
              <a:rPr lang="en-US" sz="1800" b="0" i="0" u="none" strike="noStrike" cap="none">
                <a:solidFill>
                  <a:srgbClr val="1E4E79"/>
                </a:solidFill>
                <a:latin typeface="Calibri"/>
                <a:ea typeface="Calibri"/>
                <a:cs typeface="Calibri"/>
                <a:sym typeface="Calibri"/>
              </a:rPr>
              <a:t>KA Generatif sebagai bagian dari Teknologi KA</a:t>
            </a:r>
            <a:endParaRPr/>
          </a:p>
        </p:txBody>
      </p:sp>
      <p:pic>
        <p:nvPicPr>
          <p:cNvPr id="143" name="Google Shape;143;p12"/>
          <p:cNvPicPr preferRelativeResize="0"/>
          <p:nvPr/>
        </p:nvPicPr>
        <p:blipFill rotWithShape="1">
          <a:blip r:embed="rId3">
            <a:alphaModFix/>
          </a:blip>
          <a:srcRect/>
          <a:stretch/>
        </p:blipFill>
        <p:spPr>
          <a:xfrm>
            <a:off x="6599037" y="1861325"/>
            <a:ext cx="5360735" cy="4126519"/>
          </a:xfrm>
          <a:prstGeom prst="rect">
            <a:avLst/>
          </a:prstGeom>
          <a:noFill/>
          <a:ln>
            <a:noFill/>
          </a:ln>
        </p:spPr>
      </p:pic>
      <p:sp>
        <p:nvSpPr>
          <p:cNvPr id="144" name="Google Shape;144;p12"/>
          <p:cNvSpPr txBox="1"/>
          <p:nvPr/>
        </p:nvSpPr>
        <p:spPr>
          <a:xfrm>
            <a:off x="838200" y="5733824"/>
            <a:ext cx="5403317" cy="673152"/>
          </a:xfrm>
          <a:prstGeom prst="rect">
            <a:avLst/>
          </a:prstGeom>
          <a:noFill/>
          <a:ln>
            <a:noFill/>
          </a:ln>
        </p:spPr>
        <p:txBody>
          <a:bodyPr spcFirstLastPara="1" wrap="square" lIns="91425" tIns="45700" rIns="91425" bIns="45700" anchor="t" anchorCtr="0">
            <a:normAutofit fontScale="85000" lnSpcReduction="10000"/>
          </a:bodyPr>
          <a:lstStyle/>
          <a:p>
            <a:pPr marL="50800" marR="0" lvl="0" indent="0" algn="l" rtl="0">
              <a:lnSpc>
                <a:spcPct val="90000"/>
              </a:lnSpc>
              <a:spcBef>
                <a:spcPts val="1000"/>
              </a:spcBef>
              <a:spcAft>
                <a:spcPts val="0"/>
              </a:spcAft>
              <a:buClr>
                <a:srgbClr val="1E4E79"/>
              </a:buClr>
              <a:buSzPct val="183006"/>
              <a:buFont typeface="Arial"/>
              <a:buNone/>
            </a:pPr>
            <a:r>
              <a:rPr lang="en-US" sz="1800" b="0" i="0" u="none" strike="noStrike" cap="none">
                <a:solidFill>
                  <a:srgbClr val="1E4E79"/>
                </a:solidFill>
                <a:latin typeface="Calibri"/>
                <a:ea typeface="Calibri"/>
                <a:cs typeface="Calibri"/>
                <a:sym typeface="Calibri"/>
              </a:rPr>
              <a:t>*) penggunaan istilah </a:t>
            </a:r>
            <a:r>
              <a:rPr lang="en-US" sz="1800" b="0" i="1" u="none" strike="noStrike" cap="none">
                <a:solidFill>
                  <a:srgbClr val="1E4E79"/>
                </a:solidFill>
                <a:latin typeface="Calibri"/>
                <a:ea typeface="Calibri"/>
                <a:cs typeface="Calibri"/>
                <a:sym typeface="Calibri"/>
              </a:rPr>
              <a:t>deep learning</a:t>
            </a:r>
            <a:r>
              <a:rPr lang="en-US" sz="1800" b="0" i="0" u="none" strike="noStrike" cap="none">
                <a:solidFill>
                  <a:srgbClr val="1E4E79"/>
                </a:solidFill>
                <a:latin typeface="Calibri"/>
                <a:ea typeface="Calibri"/>
                <a:cs typeface="Calibri"/>
                <a:sym typeface="Calibri"/>
              </a:rPr>
              <a:t> disini kaitannya dalam konteks pembelajaran mesin dan bukan dalam konteks pedagogi</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E75B5"/>
              </a:buClr>
              <a:buSzPts val="4400"/>
              <a:buFont typeface="Calibri"/>
              <a:buNone/>
            </a:pPr>
            <a:r>
              <a:rPr lang="en-US"/>
              <a:t>Prinsip Kerja KA Generatif</a:t>
            </a:r>
            <a:endParaRPr/>
          </a:p>
        </p:txBody>
      </p:sp>
      <p:sp>
        <p:nvSpPr>
          <p:cNvPr id="150" name="Google Shape;150;p13"/>
          <p:cNvSpPr txBox="1"/>
          <p:nvPr/>
        </p:nvSpPr>
        <p:spPr>
          <a:xfrm>
            <a:off x="893457" y="1690688"/>
            <a:ext cx="10768772" cy="639149"/>
          </a:xfrm>
          <a:prstGeom prst="rect">
            <a:avLst/>
          </a:prstGeom>
          <a:noFill/>
          <a:ln>
            <a:noFill/>
          </a:ln>
        </p:spPr>
        <p:txBody>
          <a:bodyPr spcFirstLastPara="1" wrap="square" lIns="0" tIns="0" rIns="0" bIns="0" anchor="t" anchorCtr="0">
            <a:spAutoFit/>
          </a:bodyPr>
          <a:lstStyle/>
          <a:p>
            <a:pPr marL="0" marR="0" lvl="0" indent="0" algn="l" rtl="0">
              <a:lnSpc>
                <a:spcPct val="199964"/>
              </a:lnSpc>
              <a:spcBef>
                <a:spcPts val="0"/>
              </a:spcBef>
              <a:spcAft>
                <a:spcPts val="0"/>
              </a:spcAft>
              <a:buNone/>
            </a:pPr>
            <a:r>
              <a:rPr lang="en-US" sz="2800" b="1" i="0" u="none" strike="noStrike" cap="none">
                <a:solidFill>
                  <a:srgbClr val="2E75B5"/>
                </a:solidFill>
                <a:latin typeface="Poppins"/>
                <a:ea typeface="Poppins"/>
                <a:cs typeface="Poppins"/>
                <a:sym typeface="Poppins"/>
              </a:rPr>
              <a:t>A. Pembentukan Pembelajaran Mesin (</a:t>
            </a:r>
            <a:r>
              <a:rPr lang="en-US" sz="2800" b="1" i="1" u="none" strike="noStrike" cap="none">
                <a:solidFill>
                  <a:srgbClr val="2E75B5"/>
                </a:solidFill>
                <a:latin typeface="Poppins"/>
                <a:ea typeface="Poppins"/>
                <a:cs typeface="Poppins"/>
                <a:sym typeface="Poppins"/>
              </a:rPr>
              <a:t>Machine Learning</a:t>
            </a:r>
            <a:r>
              <a:rPr lang="en-US" sz="2800" b="1" i="0" u="none" strike="noStrike" cap="none">
                <a:solidFill>
                  <a:srgbClr val="2E75B5"/>
                </a:solidFill>
                <a:latin typeface="Poppins"/>
                <a:ea typeface="Poppins"/>
                <a:cs typeface="Poppins"/>
                <a:sym typeface="Poppins"/>
              </a:rPr>
              <a:t>)</a:t>
            </a:r>
            <a:endParaRPr/>
          </a:p>
        </p:txBody>
      </p:sp>
      <p:sp>
        <p:nvSpPr>
          <p:cNvPr id="151" name="Google Shape;151;p13"/>
          <p:cNvSpPr txBox="1"/>
          <p:nvPr/>
        </p:nvSpPr>
        <p:spPr>
          <a:xfrm>
            <a:off x="1302200" y="2433650"/>
            <a:ext cx="6346828" cy="518988"/>
          </a:xfrm>
          <a:prstGeom prst="rect">
            <a:avLst/>
          </a:prstGeom>
          <a:noFill/>
          <a:ln>
            <a:noFill/>
          </a:ln>
        </p:spPr>
        <p:txBody>
          <a:bodyPr spcFirstLastPara="1" wrap="square" lIns="0" tIns="0" rIns="0" bIns="0" anchor="t" anchorCtr="0">
            <a:spAutoFit/>
          </a:bodyPr>
          <a:lstStyle/>
          <a:p>
            <a:pPr marL="0" marR="0" lvl="0" indent="0" algn="l" rtl="0">
              <a:lnSpc>
                <a:spcPct val="187458"/>
              </a:lnSpc>
              <a:spcBef>
                <a:spcPts val="0"/>
              </a:spcBef>
              <a:spcAft>
                <a:spcPts val="0"/>
              </a:spcAft>
              <a:buNone/>
            </a:pPr>
            <a:r>
              <a:rPr lang="en-US" sz="2400" b="1" i="0" u="none" strike="noStrike" cap="none">
                <a:solidFill>
                  <a:srgbClr val="2E75B5"/>
                </a:solidFill>
                <a:latin typeface="Poppins"/>
                <a:ea typeface="Poppins"/>
                <a:cs typeface="Poppins"/>
                <a:sym typeface="Poppins"/>
              </a:rPr>
              <a:t>Tahapan Pelatihan Model (Training)</a:t>
            </a:r>
            <a:endParaRPr/>
          </a:p>
        </p:txBody>
      </p:sp>
      <p:sp>
        <p:nvSpPr>
          <p:cNvPr id="152" name="Google Shape;152;p13"/>
          <p:cNvSpPr txBox="1"/>
          <p:nvPr/>
        </p:nvSpPr>
        <p:spPr>
          <a:xfrm>
            <a:off x="1085107" y="3056451"/>
            <a:ext cx="9785924" cy="1107996"/>
          </a:xfrm>
          <a:prstGeom prst="rect">
            <a:avLst/>
          </a:prstGeom>
          <a:noFill/>
          <a:ln>
            <a:noFill/>
          </a:ln>
        </p:spPr>
        <p:txBody>
          <a:bodyPr spcFirstLastPara="1" wrap="square" lIns="0" tIns="0" rIns="0" bIns="0" anchor="t" anchorCtr="0">
            <a:spAutoFit/>
          </a:bodyPr>
          <a:lstStyle/>
          <a:p>
            <a:pPr marL="539749" marR="0" lvl="1" indent="-269874" algn="just" rtl="0">
              <a:lnSpc>
                <a:spcPct val="100000"/>
              </a:lnSpc>
              <a:spcBef>
                <a:spcPts val="0"/>
              </a:spcBef>
              <a:spcAft>
                <a:spcPts val="0"/>
              </a:spcAft>
              <a:buClr>
                <a:srgbClr val="000000"/>
              </a:buClr>
              <a:buSzPts val="2400"/>
              <a:buFont typeface="Arial"/>
              <a:buChar char="•"/>
            </a:pPr>
            <a:r>
              <a:rPr lang="en-US" sz="2400" b="0" i="0" u="none" strike="noStrike" cap="none">
                <a:solidFill>
                  <a:srgbClr val="1E4E79"/>
                </a:solidFill>
                <a:latin typeface="Calibri"/>
                <a:ea typeface="Calibri"/>
                <a:cs typeface="Calibri"/>
                <a:sym typeface="Calibri"/>
              </a:rPr>
              <a:t>Teknologi KA yang ada dalam setiap sistem KA pada dasarnya berupa file yang berisi pengetahuan atau pola yang dimiliki manusia dalam menghasilkan sebuah keputusan. File ini sering disebut sebagai </a:t>
            </a:r>
            <a:r>
              <a:rPr lang="en-US" sz="2400" b="1" i="0" u="none" strike="noStrike" cap="none">
                <a:solidFill>
                  <a:srgbClr val="1E4E79"/>
                </a:solidFill>
                <a:latin typeface="Calibri"/>
                <a:ea typeface="Calibri"/>
                <a:cs typeface="Calibri"/>
                <a:sym typeface="Calibri"/>
              </a:rPr>
              <a:t>model KA</a:t>
            </a:r>
            <a:r>
              <a:rPr lang="en-US" sz="2400" b="0" i="0" u="none" strike="noStrike" cap="none">
                <a:solidFill>
                  <a:srgbClr val="1E4E79"/>
                </a:solidFill>
                <a:latin typeface="Calibri"/>
                <a:ea typeface="Calibri"/>
                <a:cs typeface="Calibri"/>
                <a:sym typeface="Calibri"/>
              </a:rPr>
              <a:t>.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grpSp>
        <p:nvGrpSpPr>
          <p:cNvPr id="157" name="Google Shape;157;p14"/>
          <p:cNvGrpSpPr/>
          <p:nvPr/>
        </p:nvGrpSpPr>
        <p:grpSpPr>
          <a:xfrm>
            <a:off x="361628" y="919343"/>
            <a:ext cx="7408301" cy="3943995"/>
            <a:chOff x="725895" y="3179544"/>
            <a:chExt cx="5917752" cy="3150464"/>
          </a:xfrm>
        </p:grpSpPr>
        <p:sp>
          <p:nvSpPr>
            <p:cNvPr id="158" name="Google Shape;158;p14"/>
            <p:cNvSpPr/>
            <p:nvPr/>
          </p:nvSpPr>
          <p:spPr>
            <a:xfrm>
              <a:off x="725895" y="3179544"/>
              <a:ext cx="5893181" cy="3150464"/>
            </a:xfrm>
            <a:custGeom>
              <a:avLst/>
              <a:gdLst/>
              <a:ahLst/>
              <a:cxnLst/>
              <a:rect l="l" t="t" r="r" b="b"/>
              <a:pathLst>
                <a:path w="2438405" h="1317481" extrusionOk="0">
                  <a:moveTo>
                    <a:pt x="32612" y="0"/>
                  </a:moveTo>
                  <a:lnTo>
                    <a:pt x="2405792" y="0"/>
                  </a:lnTo>
                  <a:cubicBezTo>
                    <a:pt x="2423804" y="0"/>
                    <a:pt x="2438405" y="14601"/>
                    <a:pt x="2438405" y="32612"/>
                  </a:cubicBezTo>
                  <a:lnTo>
                    <a:pt x="2438405" y="1284869"/>
                  </a:lnTo>
                  <a:cubicBezTo>
                    <a:pt x="2438405" y="1302880"/>
                    <a:pt x="2423804" y="1317481"/>
                    <a:pt x="2405792" y="1317481"/>
                  </a:cubicBezTo>
                  <a:lnTo>
                    <a:pt x="32612" y="1317481"/>
                  </a:lnTo>
                  <a:cubicBezTo>
                    <a:pt x="14601" y="1317481"/>
                    <a:pt x="0" y="1302880"/>
                    <a:pt x="0" y="1284869"/>
                  </a:cubicBezTo>
                  <a:lnTo>
                    <a:pt x="0" y="32612"/>
                  </a:lnTo>
                  <a:cubicBezTo>
                    <a:pt x="0" y="14601"/>
                    <a:pt x="14601" y="0"/>
                    <a:pt x="32612" y="0"/>
                  </a:cubicBez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9" name="Google Shape;159;p14"/>
            <p:cNvGrpSpPr/>
            <p:nvPr/>
          </p:nvGrpSpPr>
          <p:grpSpPr>
            <a:xfrm>
              <a:off x="933921" y="3325405"/>
              <a:ext cx="5709726" cy="2849512"/>
              <a:chOff x="79626" y="0"/>
              <a:chExt cx="11926299" cy="5951974"/>
            </a:xfrm>
          </p:grpSpPr>
          <p:sp>
            <p:nvSpPr>
              <p:cNvPr id="160" name="Google Shape;160;p14"/>
              <p:cNvSpPr/>
              <p:nvPr/>
            </p:nvSpPr>
            <p:spPr>
              <a:xfrm>
                <a:off x="8860305" y="0"/>
                <a:ext cx="2758733" cy="2156358"/>
              </a:xfrm>
              <a:custGeom>
                <a:avLst/>
                <a:gdLst/>
                <a:ahLst/>
                <a:cxnLst/>
                <a:rect l="l" t="t" r="r" b="b"/>
                <a:pathLst>
                  <a:path w="2156358" h="2156358" extrusionOk="0">
                    <a:moveTo>
                      <a:pt x="0" y="0"/>
                    </a:moveTo>
                    <a:lnTo>
                      <a:pt x="2156358" y="0"/>
                    </a:lnTo>
                    <a:lnTo>
                      <a:pt x="2156358" y="2156358"/>
                    </a:lnTo>
                    <a:lnTo>
                      <a:pt x="0" y="2156358"/>
                    </a:lnTo>
                    <a:lnTo>
                      <a:pt x="0" y="0"/>
                    </a:lnTo>
                    <a:close/>
                  </a:path>
                </a:pathLst>
              </a:custGeom>
              <a:blipFill rotWithShape="1">
                <a:blip r:embed="rId3">
                  <a:alphaModFix/>
                </a:blip>
                <a:stretch>
                  <a:fillRect/>
                </a:stretch>
              </a:blipFill>
              <a:ln>
                <a:noFill/>
              </a:ln>
            </p:spPr>
          </p:sp>
          <p:grpSp>
            <p:nvGrpSpPr>
              <p:cNvPr id="161" name="Google Shape;161;p14"/>
              <p:cNvGrpSpPr/>
              <p:nvPr/>
            </p:nvGrpSpPr>
            <p:grpSpPr>
              <a:xfrm>
                <a:off x="9431106" y="534964"/>
                <a:ext cx="1509462" cy="1058853"/>
                <a:chOff x="0" y="-38100"/>
                <a:chExt cx="758620" cy="532154"/>
              </a:xfrm>
            </p:grpSpPr>
            <p:sp>
              <p:nvSpPr>
                <p:cNvPr id="162" name="Google Shape;162;p14"/>
                <p:cNvSpPr/>
                <p:nvPr/>
              </p:nvSpPr>
              <p:spPr>
                <a:xfrm>
                  <a:off x="53246" y="-14109"/>
                  <a:ext cx="705374" cy="494054"/>
                </a:xfrm>
                <a:custGeom>
                  <a:avLst/>
                  <a:gdLst/>
                  <a:ahLst/>
                  <a:cxnLst/>
                  <a:rect l="l" t="t" r="r" b="b"/>
                  <a:pathLst>
                    <a:path w="525929" h="494054" extrusionOk="0">
                      <a:moveTo>
                        <a:pt x="0" y="0"/>
                      </a:moveTo>
                      <a:lnTo>
                        <a:pt x="525929" y="0"/>
                      </a:lnTo>
                      <a:lnTo>
                        <a:pt x="525929" y="494054"/>
                      </a:lnTo>
                      <a:lnTo>
                        <a:pt x="0" y="494054"/>
                      </a:lnTo>
                      <a:close/>
                    </a:path>
                  </a:pathLst>
                </a:custGeom>
                <a:solidFill>
                  <a:srgbClr val="F2F2F2"/>
                </a:solidFill>
                <a:ln>
                  <a:noFill/>
                </a:ln>
              </p:spPr>
            </p:sp>
            <p:sp>
              <p:nvSpPr>
                <p:cNvPr id="163" name="Google Shape;163;p14"/>
                <p:cNvSpPr txBox="1"/>
                <p:nvPr/>
              </p:nvSpPr>
              <p:spPr>
                <a:xfrm>
                  <a:off x="0" y="-38100"/>
                  <a:ext cx="525929" cy="532154"/>
                </a:xfrm>
                <a:prstGeom prst="rect">
                  <a:avLst/>
                </a:prstGeom>
                <a:noFill/>
                <a:ln>
                  <a:noFill/>
                </a:ln>
              </p:spPr>
              <p:txBody>
                <a:bodyPr spcFirstLastPara="1" wrap="square" lIns="50800" tIns="50800" rIns="50800" bIns="50800" anchor="ctr" anchorCtr="0">
                  <a:noAutofit/>
                </a:bodyPr>
                <a:lstStyle/>
                <a:p>
                  <a:pPr marL="0" marR="0" lvl="0" indent="0" algn="ctr" rtl="0">
                    <a:lnSpc>
                      <a:spcPct val="265900"/>
                    </a:lnSpc>
                    <a:spcBef>
                      <a:spcPts val="0"/>
                    </a:spcBef>
                    <a:spcAft>
                      <a:spcPts val="0"/>
                    </a:spcAft>
                    <a:buNone/>
                  </a:pPr>
                  <a:endParaRPr sz="1000" b="0" i="0" u="none" strike="noStrike" cap="none">
                    <a:solidFill>
                      <a:schemeClr val="dk1"/>
                    </a:solidFill>
                    <a:latin typeface="Arial"/>
                    <a:ea typeface="Arial"/>
                    <a:cs typeface="Arial"/>
                    <a:sym typeface="Arial"/>
                  </a:endParaRPr>
                </a:p>
              </p:txBody>
            </p:sp>
          </p:grpSp>
          <p:sp>
            <p:nvSpPr>
              <p:cNvPr id="164" name="Google Shape;164;p14"/>
              <p:cNvSpPr txBox="1"/>
              <p:nvPr/>
            </p:nvSpPr>
            <p:spPr>
              <a:xfrm>
                <a:off x="9842421" y="450553"/>
                <a:ext cx="792776" cy="656140"/>
              </a:xfrm>
              <a:prstGeom prst="rect">
                <a:avLst/>
              </a:prstGeom>
              <a:noFill/>
              <a:ln>
                <a:noFill/>
              </a:ln>
            </p:spPr>
            <p:txBody>
              <a:bodyPr spcFirstLastPara="1" wrap="square" lIns="0" tIns="0" rIns="0" bIns="0" anchor="t" anchorCtr="0">
                <a:spAutoFit/>
              </a:bodyPr>
              <a:lstStyle/>
              <a:p>
                <a:pPr marL="0" marR="0" lvl="0" indent="0" algn="ctr" rtl="0">
                  <a:lnSpc>
                    <a:spcPct val="167800"/>
                  </a:lnSpc>
                  <a:spcBef>
                    <a:spcPts val="0"/>
                  </a:spcBef>
                  <a:spcAft>
                    <a:spcPts val="0"/>
                  </a:spcAft>
                  <a:buNone/>
                </a:pPr>
                <a:r>
                  <a:rPr lang="en-US" sz="2000" b="1" i="0" u="none" strike="noStrike" cap="none">
                    <a:solidFill>
                      <a:schemeClr val="dk1"/>
                    </a:solidFill>
                    <a:latin typeface="Open Sans"/>
                    <a:ea typeface="Open Sans"/>
                    <a:cs typeface="Open Sans"/>
                    <a:sym typeface="Open Sans"/>
                  </a:rPr>
                  <a:t>KA</a:t>
                </a:r>
                <a:endParaRPr/>
              </a:p>
            </p:txBody>
          </p:sp>
          <p:sp>
            <p:nvSpPr>
              <p:cNvPr id="165" name="Google Shape;165;p14"/>
              <p:cNvSpPr txBox="1"/>
              <p:nvPr/>
            </p:nvSpPr>
            <p:spPr>
              <a:xfrm>
                <a:off x="9490004" y="1142899"/>
                <a:ext cx="1556507" cy="513529"/>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000" b="1" i="0" u="none" strike="noStrike" cap="none">
                    <a:solidFill>
                      <a:schemeClr val="dk1"/>
                    </a:solidFill>
                    <a:latin typeface="Open Sans"/>
                    <a:ea typeface="Open Sans"/>
                    <a:cs typeface="Open Sans"/>
                    <a:sym typeface="Open Sans"/>
                  </a:rPr>
                  <a:t>Kecerdasan Artifisial</a:t>
                </a:r>
                <a:endParaRPr/>
              </a:p>
            </p:txBody>
          </p:sp>
          <p:sp>
            <p:nvSpPr>
              <p:cNvPr id="166" name="Google Shape;166;p14"/>
              <p:cNvSpPr/>
              <p:nvPr/>
            </p:nvSpPr>
            <p:spPr>
              <a:xfrm>
                <a:off x="466608" y="113469"/>
                <a:ext cx="2679762" cy="2297896"/>
              </a:xfrm>
              <a:custGeom>
                <a:avLst/>
                <a:gdLst/>
                <a:ahLst/>
                <a:cxnLst/>
                <a:rect l="l" t="t" r="r" b="b"/>
                <a:pathLst>
                  <a:path w="2679762" h="2297896" extrusionOk="0">
                    <a:moveTo>
                      <a:pt x="0" y="0"/>
                    </a:moveTo>
                    <a:lnTo>
                      <a:pt x="2679762" y="0"/>
                    </a:lnTo>
                    <a:lnTo>
                      <a:pt x="2679762" y="2297896"/>
                    </a:lnTo>
                    <a:lnTo>
                      <a:pt x="0" y="2297896"/>
                    </a:lnTo>
                    <a:lnTo>
                      <a:pt x="0" y="0"/>
                    </a:lnTo>
                    <a:close/>
                  </a:path>
                </a:pathLst>
              </a:custGeom>
              <a:blipFill rotWithShape="1">
                <a:blip r:embed="rId4">
                  <a:alphaModFix/>
                </a:blip>
                <a:stretch>
                  <a:fillRect/>
                </a:stretch>
              </a:blipFill>
              <a:ln>
                <a:noFill/>
              </a:ln>
            </p:spPr>
          </p:sp>
          <p:sp>
            <p:nvSpPr>
              <p:cNvPr id="167" name="Google Shape;167;p14"/>
              <p:cNvSpPr txBox="1"/>
              <p:nvPr/>
            </p:nvSpPr>
            <p:spPr>
              <a:xfrm>
                <a:off x="458177" y="346932"/>
                <a:ext cx="1774740" cy="371238"/>
              </a:xfrm>
              <a:prstGeom prst="rect">
                <a:avLst/>
              </a:prstGeom>
              <a:noFill/>
              <a:ln>
                <a:noFill/>
              </a:ln>
            </p:spPr>
            <p:txBody>
              <a:bodyPr spcFirstLastPara="1" wrap="square" lIns="0" tIns="0" rIns="0" bIns="0" anchor="t" anchorCtr="0">
                <a:spAutoFit/>
              </a:bodyPr>
              <a:lstStyle/>
              <a:p>
                <a:pPr marL="0" marR="0" lvl="0" indent="0" algn="ctr" rtl="0">
                  <a:lnSpc>
                    <a:spcPct val="156333"/>
                  </a:lnSpc>
                  <a:spcBef>
                    <a:spcPts val="0"/>
                  </a:spcBef>
                  <a:spcAft>
                    <a:spcPts val="0"/>
                  </a:spcAft>
                  <a:buNone/>
                </a:pPr>
                <a:r>
                  <a:rPr lang="en-US" sz="1200" b="1" i="0" u="none" strike="noStrike" cap="none">
                    <a:solidFill>
                      <a:schemeClr val="dk1"/>
                    </a:solidFill>
                    <a:latin typeface="Open Sans"/>
                    <a:ea typeface="Open Sans"/>
                    <a:cs typeface="Open Sans"/>
                    <a:sym typeface="Open Sans"/>
                  </a:rPr>
                  <a:t>DATA LATIH</a:t>
                </a:r>
                <a:endParaRPr/>
              </a:p>
            </p:txBody>
          </p:sp>
          <p:grpSp>
            <p:nvGrpSpPr>
              <p:cNvPr id="168" name="Google Shape;168;p14"/>
              <p:cNvGrpSpPr/>
              <p:nvPr/>
            </p:nvGrpSpPr>
            <p:grpSpPr>
              <a:xfrm>
                <a:off x="4315583" y="229825"/>
                <a:ext cx="3463673" cy="1345910"/>
                <a:chOff x="0" y="-38100"/>
                <a:chExt cx="1407793" cy="547038"/>
              </a:xfrm>
            </p:grpSpPr>
            <p:sp>
              <p:nvSpPr>
                <p:cNvPr id="169" name="Google Shape;169;p14"/>
                <p:cNvSpPr/>
                <p:nvPr/>
              </p:nvSpPr>
              <p:spPr>
                <a:xfrm>
                  <a:off x="0" y="0"/>
                  <a:ext cx="1407793" cy="508938"/>
                </a:xfrm>
                <a:custGeom>
                  <a:avLst/>
                  <a:gdLst/>
                  <a:ahLst/>
                  <a:cxnLst/>
                  <a:rect l="l" t="t" r="r" b="b"/>
                  <a:pathLst>
                    <a:path w="1407793" h="508938" extrusionOk="0">
                      <a:moveTo>
                        <a:pt x="31626" y="0"/>
                      </a:moveTo>
                      <a:lnTo>
                        <a:pt x="1376166" y="0"/>
                      </a:lnTo>
                      <a:cubicBezTo>
                        <a:pt x="1384554" y="0"/>
                        <a:pt x="1392598" y="3332"/>
                        <a:pt x="1398529" y="9263"/>
                      </a:cubicBezTo>
                      <a:cubicBezTo>
                        <a:pt x="1404460" y="15194"/>
                        <a:pt x="1407793" y="23238"/>
                        <a:pt x="1407793" y="31626"/>
                      </a:cubicBezTo>
                      <a:lnTo>
                        <a:pt x="1407793" y="477312"/>
                      </a:lnTo>
                      <a:cubicBezTo>
                        <a:pt x="1407793" y="485700"/>
                        <a:pt x="1404460" y="493744"/>
                        <a:pt x="1398529" y="499675"/>
                      </a:cubicBezTo>
                      <a:cubicBezTo>
                        <a:pt x="1392598" y="505606"/>
                        <a:pt x="1384554" y="508938"/>
                        <a:pt x="1376166" y="508938"/>
                      </a:cubicBezTo>
                      <a:lnTo>
                        <a:pt x="31626" y="508938"/>
                      </a:lnTo>
                      <a:cubicBezTo>
                        <a:pt x="14160" y="508938"/>
                        <a:pt x="0" y="494779"/>
                        <a:pt x="0" y="477312"/>
                      </a:cubicBezTo>
                      <a:lnTo>
                        <a:pt x="0" y="31626"/>
                      </a:lnTo>
                      <a:cubicBezTo>
                        <a:pt x="0" y="23238"/>
                        <a:pt x="3332" y="15194"/>
                        <a:pt x="9263" y="9263"/>
                      </a:cubicBezTo>
                      <a:cubicBezTo>
                        <a:pt x="15194" y="3332"/>
                        <a:pt x="23238" y="0"/>
                        <a:pt x="31626" y="0"/>
                      </a:cubicBezTo>
                      <a:close/>
                    </a:path>
                  </a:pathLst>
                </a:custGeom>
                <a:solidFill>
                  <a:srgbClr val="0035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4"/>
                <p:cNvSpPr txBox="1"/>
                <p:nvPr/>
              </p:nvSpPr>
              <p:spPr>
                <a:xfrm>
                  <a:off x="0" y="-38100"/>
                  <a:ext cx="1407793" cy="547038"/>
                </a:xfrm>
                <a:prstGeom prst="rect">
                  <a:avLst/>
                </a:prstGeom>
                <a:noFill/>
                <a:ln>
                  <a:noFill/>
                </a:ln>
              </p:spPr>
              <p:txBody>
                <a:bodyPr spcFirstLastPara="1" wrap="square" lIns="62800" tIns="62800" rIns="62800" bIns="62800" anchor="ctr" anchorCtr="0">
                  <a:noAutofit/>
                </a:bodyPr>
                <a:lstStyle/>
                <a:p>
                  <a:pPr marL="0" marR="0" lvl="0" indent="0" algn="ctr" rtl="0">
                    <a:lnSpc>
                      <a:spcPct val="265900"/>
                    </a:lnSpc>
                    <a:spcBef>
                      <a:spcPts val="0"/>
                    </a:spcBef>
                    <a:spcAft>
                      <a:spcPts val="0"/>
                    </a:spcAft>
                    <a:buNone/>
                  </a:pPr>
                  <a:endParaRPr sz="1000" b="0" i="0" u="none" strike="noStrike" cap="none">
                    <a:solidFill>
                      <a:schemeClr val="dk1"/>
                    </a:solidFill>
                    <a:latin typeface="Arial"/>
                    <a:ea typeface="Arial"/>
                    <a:cs typeface="Arial"/>
                    <a:sym typeface="Arial"/>
                  </a:endParaRPr>
                </a:p>
              </p:txBody>
            </p:sp>
          </p:grpSp>
          <p:sp>
            <p:nvSpPr>
              <p:cNvPr id="171" name="Google Shape;171;p14"/>
              <p:cNvSpPr txBox="1"/>
              <p:nvPr/>
            </p:nvSpPr>
            <p:spPr>
              <a:xfrm>
                <a:off x="4274648" y="460839"/>
                <a:ext cx="3493636" cy="707161"/>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100" b="1" i="0" u="none" strike="noStrike" cap="none">
                    <a:solidFill>
                      <a:srgbClr val="FFFF00"/>
                    </a:solidFill>
                    <a:latin typeface="Open Sans"/>
                    <a:ea typeface="Open Sans"/>
                    <a:cs typeface="Open Sans"/>
                    <a:sym typeface="Open Sans"/>
                  </a:rPr>
                  <a:t>ALGORITMA PEMBELAJARAN MESIN</a:t>
                </a:r>
                <a:endParaRPr/>
              </a:p>
            </p:txBody>
          </p:sp>
          <p:sp>
            <p:nvSpPr>
              <p:cNvPr id="172" name="Google Shape;172;p14"/>
              <p:cNvSpPr txBox="1"/>
              <p:nvPr/>
            </p:nvSpPr>
            <p:spPr>
              <a:xfrm>
                <a:off x="4227419" y="1247243"/>
                <a:ext cx="3475735" cy="215682"/>
              </a:xfrm>
              <a:prstGeom prst="rect">
                <a:avLst/>
              </a:prstGeom>
              <a:noFill/>
              <a:ln>
                <a:noFill/>
              </a:ln>
            </p:spPr>
            <p:txBody>
              <a:bodyPr spcFirstLastPara="1" wrap="square" lIns="0" tIns="0" rIns="0" bIns="0" anchor="t" anchorCtr="0">
                <a:spAutoFit/>
              </a:bodyPr>
              <a:lstStyle/>
              <a:p>
                <a:pPr marL="0" marR="0" lvl="0" indent="0" algn="ctr" rtl="0">
                  <a:lnSpc>
                    <a:spcPct val="101000"/>
                  </a:lnSpc>
                  <a:spcBef>
                    <a:spcPts val="0"/>
                  </a:spcBef>
                  <a:spcAft>
                    <a:spcPts val="0"/>
                  </a:spcAft>
                  <a:buNone/>
                </a:pPr>
                <a:r>
                  <a:rPr lang="en-US" sz="1000" b="1" i="0" u="none" strike="noStrike" cap="none">
                    <a:solidFill>
                      <a:schemeClr val="lt1"/>
                    </a:solidFill>
                    <a:latin typeface="Open Sans"/>
                    <a:ea typeface="Open Sans"/>
                    <a:cs typeface="Open Sans"/>
                    <a:sym typeface="Open Sans"/>
                  </a:rPr>
                  <a:t>(Termasuk Deep Learning)</a:t>
                </a:r>
                <a:endParaRPr/>
              </a:p>
            </p:txBody>
          </p:sp>
          <p:sp>
            <p:nvSpPr>
              <p:cNvPr id="173" name="Google Shape;173;p14"/>
              <p:cNvSpPr/>
              <p:nvPr/>
            </p:nvSpPr>
            <p:spPr>
              <a:xfrm>
                <a:off x="79626" y="3501294"/>
                <a:ext cx="933947" cy="860400"/>
              </a:xfrm>
              <a:custGeom>
                <a:avLst/>
                <a:gdLst/>
                <a:ahLst/>
                <a:cxnLst/>
                <a:rect l="l" t="t" r="r" b="b"/>
                <a:pathLst>
                  <a:path w="933948" h="860400" extrusionOk="0">
                    <a:moveTo>
                      <a:pt x="0" y="0"/>
                    </a:moveTo>
                    <a:lnTo>
                      <a:pt x="933948" y="0"/>
                    </a:lnTo>
                    <a:lnTo>
                      <a:pt x="933948" y="860399"/>
                    </a:lnTo>
                    <a:lnTo>
                      <a:pt x="0" y="860399"/>
                    </a:lnTo>
                    <a:lnTo>
                      <a:pt x="0" y="0"/>
                    </a:lnTo>
                    <a:close/>
                  </a:path>
                </a:pathLst>
              </a:custGeom>
              <a:blipFill rotWithShape="1">
                <a:blip r:embed="rId5">
                  <a:alphaModFix/>
                </a:blip>
                <a:stretch>
                  <a:fillRect/>
                </a:stretch>
              </a:blipFill>
              <a:ln>
                <a:noFill/>
              </a:ln>
            </p:spPr>
          </p:sp>
          <p:sp>
            <p:nvSpPr>
              <p:cNvPr id="174" name="Google Shape;174;p14"/>
              <p:cNvSpPr/>
              <p:nvPr/>
            </p:nvSpPr>
            <p:spPr>
              <a:xfrm>
                <a:off x="195405" y="4283659"/>
                <a:ext cx="594423" cy="892192"/>
              </a:xfrm>
              <a:custGeom>
                <a:avLst/>
                <a:gdLst/>
                <a:ahLst/>
                <a:cxnLst/>
                <a:rect l="l" t="t" r="r" b="b"/>
                <a:pathLst>
                  <a:path w="594423" h="892192" extrusionOk="0">
                    <a:moveTo>
                      <a:pt x="0" y="0"/>
                    </a:moveTo>
                    <a:lnTo>
                      <a:pt x="594423" y="0"/>
                    </a:lnTo>
                    <a:lnTo>
                      <a:pt x="594423" y="892191"/>
                    </a:lnTo>
                    <a:lnTo>
                      <a:pt x="0" y="892191"/>
                    </a:lnTo>
                    <a:lnTo>
                      <a:pt x="0" y="0"/>
                    </a:lnTo>
                    <a:close/>
                  </a:path>
                </a:pathLst>
              </a:custGeom>
              <a:blipFill rotWithShape="1">
                <a:blip r:embed="rId6">
                  <a:alphaModFix/>
                </a:blip>
                <a:stretch>
                  <a:fillRect/>
                </a:stretch>
              </a:blipFill>
              <a:ln>
                <a:noFill/>
              </a:ln>
            </p:spPr>
          </p:sp>
          <p:sp>
            <p:nvSpPr>
              <p:cNvPr id="175" name="Google Shape;175;p14"/>
              <p:cNvSpPr/>
              <p:nvPr/>
            </p:nvSpPr>
            <p:spPr>
              <a:xfrm>
                <a:off x="1143387" y="3355335"/>
                <a:ext cx="784545" cy="996247"/>
              </a:xfrm>
              <a:custGeom>
                <a:avLst/>
                <a:gdLst/>
                <a:ahLst/>
                <a:cxnLst/>
                <a:rect l="l" t="t" r="r" b="b"/>
                <a:pathLst>
                  <a:path w="784545" h="996247" extrusionOk="0">
                    <a:moveTo>
                      <a:pt x="0" y="0"/>
                    </a:moveTo>
                    <a:lnTo>
                      <a:pt x="784545" y="0"/>
                    </a:lnTo>
                    <a:lnTo>
                      <a:pt x="784545" y="996247"/>
                    </a:lnTo>
                    <a:lnTo>
                      <a:pt x="0" y="996247"/>
                    </a:lnTo>
                    <a:lnTo>
                      <a:pt x="0" y="0"/>
                    </a:lnTo>
                    <a:close/>
                  </a:path>
                </a:pathLst>
              </a:custGeom>
              <a:blipFill rotWithShape="1">
                <a:blip r:embed="rId7">
                  <a:alphaModFix/>
                </a:blip>
                <a:stretch>
                  <a:fillRect/>
                </a:stretch>
              </a:blipFill>
              <a:ln>
                <a:noFill/>
              </a:ln>
            </p:spPr>
          </p:sp>
          <p:sp>
            <p:nvSpPr>
              <p:cNvPr id="176" name="Google Shape;176;p14"/>
              <p:cNvSpPr/>
              <p:nvPr/>
            </p:nvSpPr>
            <p:spPr>
              <a:xfrm>
                <a:off x="284817" y="5326973"/>
                <a:ext cx="1010021" cy="538257"/>
              </a:xfrm>
              <a:custGeom>
                <a:avLst/>
                <a:gdLst/>
                <a:ahLst/>
                <a:cxnLst/>
                <a:rect l="l" t="t" r="r" b="b"/>
                <a:pathLst>
                  <a:path w="1010021" h="538257" extrusionOk="0">
                    <a:moveTo>
                      <a:pt x="0" y="0"/>
                    </a:moveTo>
                    <a:lnTo>
                      <a:pt x="1010021" y="0"/>
                    </a:lnTo>
                    <a:lnTo>
                      <a:pt x="1010021" y="538257"/>
                    </a:lnTo>
                    <a:lnTo>
                      <a:pt x="0" y="538257"/>
                    </a:lnTo>
                    <a:lnTo>
                      <a:pt x="0" y="0"/>
                    </a:lnTo>
                    <a:close/>
                  </a:path>
                </a:pathLst>
              </a:custGeom>
              <a:blipFill rotWithShape="1">
                <a:blip r:embed="rId8">
                  <a:alphaModFix/>
                </a:blip>
                <a:stretch>
                  <a:fillRect/>
                </a:stretch>
              </a:blipFill>
              <a:ln>
                <a:noFill/>
              </a:ln>
            </p:spPr>
          </p:sp>
          <p:sp>
            <p:nvSpPr>
              <p:cNvPr id="177" name="Google Shape;177;p14"/>
              <p:cNvSpPr/>
              <p:nvPr/>
            </p:nvSpPr>
            <p:spPr>
              <a:xfrm>
                <a:off x="1239705" y="5030520"/>
                <a:ext cx="921454" cy="921454"/>
              </a:xfrm>
              <a:custGeom>
                <a:avLst/>
                <a:gdLst/>
                <a:ahLst/>
                <a:cxnLst/>
                <a:rect l="l" t="t" r="r" b="b"/>
                <a:pathLst>
                  <a:path w="921454" h="921454" extrusionOk="0">
                    <a:moveTo>
                      <a:pt x="0" y="0"/>
                    </a:moveTo>
                    <a:lnTo>
                      <a:pt x="921454" y="0"/>
                    </a:lnTo>
                    <a:lnTo>
                      <a:pt x="921454" y="921454"/>
                    </a:lnTo>
                    <a:lnTo>
                      <a:pt x="0" y="921454"/>
                    </a:lnTo>
                    <a:lnTo>
                      <a:pt x="0" y="0"/>
                    </a:lnTo>
                    <a:close/>
                  </a:path>
                </a:pathLst>
              </a:custGeom>
              <a:blipFill rotWithShape="1">
                <a:blip r:embed="rId9">
                  <a:alphaModFix/>
                </a:blip>
                <a:stretch>
                  <a:fillRect/>
                </a:stretch>
              </a:blipFill>
              <a:ln>
                <a:noFill/>
              </a:ln>
            </p:spPr>
          </p:sp>
          <p:sp>
            <p:nvSpPr>
              <p:cNvPr id="178" name="Google Shape;178;p14"/>
              <p:cNvSpPr/>
              <p:nvPr/>
            </p:nvSpPr>
            <p:spPr>
              <a:xfrm>
                <a:off x="701072" y="4317425"/>
                <a:ext cx="834588" cy="860400"/>
              </a:xfrm>
              <a:custGeom>
                <a:avLst/>
                <a:gdLst/>
                <a:ahLst/>
                <a:cxnLst/>
                <a:rect l="l" t="t" r="r" b="b"/>
                <a:pathLst>
                  <a:path w="834588" h="860400" extrusionOk="0">
                    <a:moveTo>
                      <a:pt x="0" y="0"/>
                    </a:moveTo>
                    <a:lnTo>
                      <a:pt x="834587" y="0"/>
                    </a:lnTo>
                    <a:lnTo>
                      <a:pt x="834587" y="860400"/>
                    </a:lnTo>
                    <a:lnTo>
                      <a:pt x="0" y="860400"/>
                    </a:lnTo>
                    <a:lnTo>
                      <a:pt x="0" y="0"/>
                    </a:lnTo>
                    <a:close/>
                  </a:path>
                </a:pathLst>
              </a:custGeom>
              <a:blipFill rotWithShape="1">
                <a:blip r:embed="rId10">
                  <a:alphaModFix/>
                </a:blip>
                <a:stretch>
                  <a:fillRect/>
                </a:stretch>
              </a:blipFill>
              <a:ln>
                <a:noFill/>
              </a:ln>
            </p:spPr>
          </p:sp>
          <p:sp>
            <p:nvSpPr>
              <p:cNvPr id="179" name="Google Shape;179;p14"/>
              <p:cNvSpPr/>
              <p:nvPr/>
            </p:nvSpPr>
            <p:spPr>
              <a:xfrm>
                <a:off x="1535659" y="4401316"/>
                <a:ext cx="699736" cy="656877"/>
              </a:xfrm>
              <a:custGeom>
                <a:avLst/>
                <a:gdLst/>
                <a:ahLst/>
                <a:cxnLst/>
                <a:rect l="l" t="t" r="r" b="b"/>
                <a:pathLst>
                  <a:path w="699736" h="656877" extrusionOk="0">
                    <a:moveTo>
                      <a:pt x="0" y="0"/>
                    </a:moveTo>
                    <a:lnTo>
                      <a:pt x="699737" y="0"/>
                    </a:lnTo>
                    <a:lnTo>
                      <a:pt x="699737" y="656877"/>
                    </a:lnTo>
                    <a:lnTo>
                      <a:pt x="0" y="656877"/>
                    </a:lnTo>
                    <a:lnTo>
                      <a:pt x="0" y="0"/>
                    </a:lnTo>
                    <a:close/>
                  </a:path>
                </a:pathLst>
              </a:custGeom>
              <a:blipFill rotWithShape="1">
                <a:blip r:embed="rId11">
                  <a:alphaModFix/>
                </a:blip>
                <a:stretch>
                  <a:fillRect/>
                </a:stretch>
              </a:blipFill>
              <a:ln>
                <a:noFill/>
              </a:ln>
            </p:spPr>
          </p:sp>
          <p:sp>
            <p:nvSpPr>
              <p:cNvPr id="180" name="Google Shape;180;p14"/>
              <p:cNvSpPr/>
              <p:nvPr/>
            </p:nvSpPr>
            <p:spPr>
              <a:xfrm>
                <a:off x="3023287" y="3535081"/>
                <a:ext cx="795651" cy="1087077"/>
              </a:xfrm>
              <a:custGeom>
                <a:avLst/>
                <a:gdLst/>
                <a:ahLst/>
                <a:cxnLst/>
                <a:rect l="l" t="t" r="r" b="b"/>
                <a:pathLst>
                  <a:path w="795651" h="1087077" extrusionOk="0">
                    <a:moveTo>
                      <a:pt x="0" y="0"/>
                    </a:moveTo>
                    <a:lnTo>
                      <a:pt x="795651" y="0"/>
                    </a:lnTo>
                    <a:lnTo>
                      <a:pt x="795651" y="1087078"/>
                    </a:lnTo>
                    <a:lnTo>
                      <a:pt x="0" y="1087078"/>
                    </a:lnTo>
                    <a:lnTo>
                      <a:pt x="0" y="0"/>
                    </a:lnTo>
                    <a:close/>
                  </a:path>
                </a:pathLst>
              </a:custGeom>
              <a:blipFill rotWithShape="1">
                <a:blip r:embed="rId12">
                  <a:alphaModFix/>
                </a:blip>
                <a:stretch>
                  <a:fillRect l="-50494" r="-33819"/>
                </a:stretch>
              </a:blipFill>
              <a:ln>
                <a:noFill/>
              </a:ln>
            </p:spPr>
          </p:sp>
          <p:sp>
            <p:nvSpPr>
              <p:cNvPr id="181" name="Google Shape;181;p14"/>
              <p:cNvSpPr/>
              <p:nvPr/>
            </p:nvSpPr>
            <p:spPr>
              <a:xfrm>
                <a:off x="2523647" y="4622159"/>
                <a:ext cx="1052799" cy="752751"/>
              </a:xfrm>
              <a:custGeom>
                <a:avLst/>
                <a:gdLst/>
                <a:ahLst/>
                <a:cxnLst/>
                <a:rect l="l" t="t" r="r" b="b"/>
                <a:pathLst>
                  <a:path w="1052799" h="752751" extrusionOk="0">
                    <a:moveTo>
                      <a:pt x="0" y="0"/>
                    </a:moveTo>
                    <a:lnTo>
                      <a:pt x="1052798" y="0"/>
                    </a:lnTo>
                    <a:lnTo>
                      <a:pt x="1052798" y="752751"/>
                    </a:lnTo>
                    <a:lnTo>
                      <a:pt x="0" y="752751"/>
                    </a:lnTo>
                    <a:lnTo>
                      <a:pt x="0" y="0"/>
                    </a:lnTo>
                    <a:close/>
                  </a:path>
                </a:pathLst>
              </a:custGeom>
              <a:blipFill rotWithShape="1">
                <a:blip r:embed="rId13">
                  <a:alphaModFix/>
                </a:blip>
                <a:stretch>
                  <a:fillRect/>
                </a:stretch>
              </a:blipFill>
              <a:ln>
                <a:noFill/>
              </a:ln>
            </p:spPr>
          </p:sp>
          <p:sp>
            <p:nvSpPr>
              <p:cNvPr id="182" name="Google Shape;182;p14"/>
              <p:cNvSpPr/>
              <p:nvPr/>
            </p:nvSpPr>
            <p:spPr>
              <a:xfrm>
                <a:off x="2736363" y="5297092"/>
                <a:ext cx="840083" cy="654882"/>
              </a:xfrm>
              <a:custGeom>
                <a:avLst/>
                <a:gdLst/>
                <a:ahLst/>
                <a:cxnLst/>
                <a:rect l="l" t="t" r="r" b="b"/>
                <a:pathLst>
                  <a:path w="840083" h="654882" extrusionOk="0">
                    <a:moveTo>
                      <a:pt x="0" y="0"/>
                    </a:moveTo>
                    <a:lnTo>
                      <a:pt x="840082" y="0"/>
                    </a:lnTo>
                    <a:lnTo>
                      <a:pt x="840082" y="654882"/>
                    </a:lnTo>
                    <a:lnTo>
                      <a:pt x="0" y="654882"/>
                    </a:lnTo>
                    <a:lnTo>
                      <a:pt x="0" y="0"/>
                    </a:lnTo>
                    <a:close/>
                  </a:path>
                </a:pathLst>
              </a:custGeom>
              <a:blipFill rotWithShape="1">
                <a:blip r:embed="rId14">
                  <a:alphaModFix/>
                </a:blip>
                <a:stretch>
                  <a:fillRect l="-17002"/>
                </a:stretch>
              </a:blipFill>
              <a:ln>
                <a:noFill/>
              </a:ln>
            </p:spPr>
          </p:sp>
          <p:sp>
            <p:nvSpPr>
              <p:cNvPr id="183" name="Google Shape;183;p14"/>
              <p:cNvSpPr/>
              <p:nvPr/>
            </p:nvSpPr>
            <p:spPr>
              <a:xfrm>
                <a:off x="3836072" y="3608910"/>
                <a:ext cx="835029" cy="1120844"/>
              </a:xfrm>
              <a:custGeom>
                <a:avLst/>
                <a:gdLst/>
                <a:ahLst/>
                <a:cxnLst/>
                <a:rect l="l" t="t" r="r" b="b"/>
                <a:pathLst>
                  <a:path w="835029" h="1120844" extrusionOk="0">
                    <a:moveTo>
                      <a:pt x="0" y="0"/>
                    </a:moveTo>
                    <a:lnTo>
                      <a:pt x="835029" y="0"/>
                    </a:lnTo>
                    <a:lnTo>
                      <a:pt x="835029" y="1120844"/>
                    </a:lnTo>
                    <a:lnTo>
                      <a:pt x="0" y="1120844"/>
                    </a:lnTo>
                    <a:lnTo>
                      <a:pt x="0" y="0"/>
                    </a:lnTo>
                    <a:close/>
                  </a:path>
                </a:pathLst>
              </a:custGeom>
              <a:blipFill rotWithShape="1">
                <a:blip r:embed="rId15">
                  <a:alphaModFix/>
                </a:blip>
                <a:stretch>
                  <a:fillRect/>
                </a:stretch>
              </a:blipFill>
              <a:ln>
                <a:noFill/>
              </a:ln>
            </p:spPr>
          </p:sp>
          <p:sp>
            <p:nvSpPr>
              <p:cNvPr id="184" name="Google Shape;184;p14"/>
              <p:cNvSpPr/>
              <p:nvPr/>
            </p:nvSpPr>
            <p:spPr>
              <a:xfrm>
                <a:off x="3526492" y="4765265"/>
                <a:ext cx="1264040" cy="1123416"/>
              </a:xfrm>
              <a:custGeom>
                <a:avLst/>
                <a:gdLst/>
                <a:ahLst/>
                <a:cxnLst/>
                <a:rect l="l" t="t" r="r" b="b"/>
                <a:pathLst>
                  <a:path w="1264040" h="1123416" extrusionOk="0">
                    <a:moveTo>
                      <a:pt x="0" y="0"/>
                    </a:moveTo>
                    <a:lnTo>
                      <a:pt x="1264040" y="0"/>
                    </a:lnTo>
                    <a:lnTo>
                      <a:pt x="1264040" y="1123416"/>
                    </a:lnTo>
                    <a:lnTo>
                      <a:pt x="0" y="1123416"/>
                    </a:lnTo>
                    <a:lnTo>
                      <a:pt x="0" y="0"/>
                    </a:lnTo>
                    <a:close/>
                  </a:path>
                </a:pathLst>
              </a:custGeom>
              <a:blipFill rotWithShape="1">
                <a:blip r:embed="rId16">
                  <a:alphaModFix/>
                </a:blip>
                <a:stretch>
                  <a:fillRect/>
                </a:stretch>
              </a:blipFill>
              <a:ln>
                <a:noFill/>
              </a:ln>
            </p:spPr>
          </p:sp>
          <p:sp>
            <p:nvSpPr>
              <p:cNvPr id="185" name="Google Shape;185;p14"/>
              <p:cNvSpPr/>
              <p:nvPr/>
            </p:nvSpPr>
            <p:spPr>
              <a:xfrm>
                <a:off x="3559882" y="4670095"/>
                <a:ext cx="518112" cy="656877"/>
              </a:xfrm>
              <a:custGeom>
                <a:avLst/>
                <a:gdLst/>
                <a:ahLst/>
                <a:cxnLst/>
                <a:rect l="l" t="t" r="r" b="b"/>
                <a:pathLst>
                  <a:path w="518112" h="656877" extrusionOk="0">
                    <a:moveTo>
                      <a:pt x="0" y="0"/>
                    </a:moveTo>
                    <a:lnTo>
                      <a:pt x="518112" y="0"/>
                    </a:lnTo>
                    <a:lnTo>
                      <a:pt x="518112" y="656878"/>
                    </a:lnTo>
                    <a:lnTo>
                      <a:pt x="0" y="656878"/>
                    </a:lnTo>
                    <a:lnTo>
                      <a:pt x="0" y="0"/>
                    </a:lnTo>
                    <a:close/>
                  </a:path>
                </a:pathLst>
              </a:custGeom>
              <a:blipFill rotWithShape="1">
                <a:blip r:embed="rId17">
                  <a:alphaModFix/>
                </a:blip>
                <a:stretch>
                  <a:fillRect/>
                </a:stretch>
              </a:blipFill>
              <a:ln>
                <a:noFill/>
              </a:ln>
            </p:spPr>
          </p:sp>
          <p:sp>
            <p:nvSpPr>
              <p:cNvPr id="186" name="Google Shape;186;p14"/>
              <p:cNvSpPr txBox="1"/>
              <p:nvPr/>
            </p:nvSpPr>
            <p:spPr>
              <a:xfrm>
                <a:off x="284818" y="2380184"/>
                <a:ext cx="3339139" cy="457575"/>
              </a:xfrm>
              <a:prstGeom prst="rect">
                <a:avLst/>
              </a:prstGeom>
              <a:noFill/>
              <a:ln>
                <a:noFill/>
              </a:ln>
            </p:spPr>
            <p:txBody>
              <a:bodyPr spcFirstLastPara="1" wrap="square" lIns="0" tIns="0" rIns="0" bIns="0" anchor="t" anchorCtr="0">
                <a:spAutoFit/>
              </a:bodyPr>
              <a:lstStyle/>
              <a:p>
                <a:pPr marL="0" marR="0" lvl="0" indent="0" algn="ctr" rtl="0">
                  <a:lnSpc>
                    <a:spcPct val="144562"/>
                  </a:lnSpc>
                  <a:spcBef>
                    <a:spcPts val="0"/>
                  </a:spcBef>
                  <a:spcAft>
                    <a:spcPts val="0"/>
                  </a:spcAft>
                  <a:buNone/>
                </a:pPr>
                <a:r>
                  <a:rPr lang="en-US" sz="1600" b="1" i="0" u="none" strike="noStrike" cap="none">
                    <a:solidFill>
                      <a:schemeClr val="dk1"/>
                    </a:solidFill>
                    <a:latin typeface="Open Sans"/>
                    <a:ea typeface="Open Sans"/>
                    <a:cs typeface="Open Sans"/>
                    <a:sym typeface="Open Sans"/>
                  </a:rPr>
                  <a:t>Contoh data latih :</a:t>
                </a:r>
                <a:endParaRPr/>
              </a:p>
            </p:txBody>
          </p:sp>
          <p:sp>
            <p:nvSpPr>
              <p:cNvPr id="187" name="Google Shape;187;p14"/>
              <p:cNvSpPr txBox="1"/>
              <p:nvPr/>
            </p:nvSpPr>
            <p:spPr>
              <a:xfrm>
                <a:off x="561320" y="2843919"/>
                <a:ext cx="1164134" cy="446450"/>
              </a:xfrm>
              <a:prstGeom prst="rect">
                <a:avLst/>
              </a:prstGeom>
              <a:noFill/>
              <a:ln>
                <a:noFill/>
              </a:ln>
            </p:spPr>
            <p:txBody>
              <a:bodyPr spcFirstLastPara="1" wrap="square" lIns="0" tIns="0" rIns="0" bIns="0" anchor="t" anchorCtr="0">
                <a:spAutoFit/>
              </a:bodyPr>
              <a:lstStyle/>
              <a:p>
                <a:pPr marL="0" marR="0" lvl="0" indent="0" algn="ctr" rtl="0">
                  <a:lnSpc>
                    <a:spcPct val="165214"/>
                  </a:lnSpc>
                  <a:spcBef>
                    <a:spcPts val="0"/>
                  </a:spcBef>
                  <a:spcAft>
                    <a:spcPts val="0"/>
                  </a:spcAft>
                  <a:buNone/>
                </a:pPr>
                <a:r>
                  <a:rPr lang="en-US" sz="1400" b="1" i="0" u="none" strike="noStrike" cap="none">
                    <a:solidFill>
                      <a:schemeClr val="dk1"/>
                    </a:solidFill>
                    <a:latin typeface="Open Sans"/>
                    <a:ea typeface="Open Sans"/>
                    <a:cs typeface="Open Sans"/>
                    <a:sym typeface="Open Sans"/>
                  </a:rPr>
                  <a:t>Kucing</a:t>
                </a:r>
                <a:endParaRPr/>
              </a:p>
            </p:txBody>
          </p:sp>
          <p:sp>
            <p:nvSpPr>
              <p:cNvPr id="188" name="Google Shape;188;p14"/>
              <p:cNvSpPr txBox="1"/>
              <p:nvPr/>
            </p:nvSpPr>
            <p:spPr>
              <a:xfrm>
                <a:off x="2977815" y="2868815"/>
                <a:ext cx="1164134" cy="446450"/>
              </a:xfrm>
              <a:prstGeom prst="rect">
                <a:avLst/>
              </a:prstGeom>
              <a:noFill/>
              <a:ln>
                <a:noFill/>
              </a:ln>
            </p:spPr>
            <p:txBody>
              <a:bodyPr spcFirstLastPara="1" wrap="square" lIns="0" tIns="0" rIns="0" bIns="0" anchor="t" anchorCtr="0">
                <a:spAutoFit/>
              </a:bodyPr>
              <a:lstStyle/>
              <a:p>
                <a:pPr marL="0" marR="0" lvl="0" indent="0" algn="ctr" rtl="0">
                  <a:lnSpc>
                    <a:spcPct val="165214"/>
                  </a:lnSpc>
                  <a:spcBef>
                    <a:spcPts val="0"/>
                  </a:spcBef>
                  <a:spcAft>
                    <a:spcPts val="0"/>
                  </a:spcAft>
                  <a:buNone/>
                </a:pPr>
                <a:r>
                  <a:rPr lang="en-US" sz="1400" b="1" i="0" u="none" strike="noStrike" cap="none">
                    <a:solidFill>
                      <a:schemeClr val="dk1"/>
                    </a:solidFill>
                    <a:latin typeface="Open Sans"/>
                    <a:ea typeface="Open Sans"/>
                    <a:cs typeface="Open Sans"/>
                    <a:sym typeface="Open Sans"/>
                  </a:rPr>
                  <a:t>Anjing</a:t>
                </a:r>
                <a:endParaRPr/>
              </a:p>
            </p:txBody>
          </p:sp>
          <p:sp>
            <p:nvSpPr>
              <p:cNvPr id="189" name="Google Shape;189;p14"/>
              <p:cNvSpPr txBox="1"/>
              <p:nvPr/>
            </p:nvSpPr>
            <p:spPr>
              <a:xfrm>
                <a:off x="8666786" y="2376366"/>
                <a:ext cx="3171974" cy="457575"/>
              </a:xfrm>
              <a:prstGeom prst="rect">
                <a:avLst/>
              </a:prstGeom>
              <a:noFill/>
              <a:ln>
                <a:noFill/>
              </a:ln>
            </p:spPr>
            <p:txBody>
              <a:bodyPr spcFirstLastPara="1" wrap="square" lIns="0" tIns="0" rIns="0" bIns="0" anchor="t" anchorCtr="0">
                <a:spAutoFit/>
              </a:bodyPr>
              <a:lstStyle/>
              <a:p>
                <a:pPr marL="0" marR="0" lvl="0" indent="0" algn="ctr" rtl="0">
                  <a:lnSpc>
                    <a:spcPct val="144562"/>
                  </a:lnSpc>
                  <a:spcBef>
                    <a:spcPts val="0"/>
                  </a:spcBef>
                  <a:spcAft>
                    <a:spcPts val="0"/>
                  </a:spcAft>
                  <a:buNone/>
                </a:pPr>
                <a:r>
                  <a:rPr lang="en-US" sz="1600" b="1" i="0" u="none" strike="noStrike" cap="none">
                    <a:solidFill>
                      <a:schemeClr val="dk1"/>
                    </a:solidFill>
                    <a:latin typeface="Open Sans"/>
                    <a:ea typeface="Open Sans"/>
                    <a:cs typeface="Open Sans"/>
                    <a:sym typeface="Open Sans"/>
                  </a:rPr>
                  <a:t>Contoh model KA : </a:t>
                </a:r>
                <a:endParaRPr/>
              </a:p>
            </p:txBody>
          </p:sp>
          <p:sp>
            <p:nvSpPr>
              <p:cNvPr id="190" name="Google Shape;190;p14"/>
              <p:cNvSpPr txBox="1"/>
              <p:nvPr/>
            </p:nvSpPr>
            <p:spPr>
              <a:xfrm>
                <a:off x="8666786" y="2972910"/>
                <a:ext cx="3339139" cy="82164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600" b="1" i="0" u="none" strike="noStrike" cap="none">
                    <a:solidFill>
                      <a:schemeClr val="dk1"/>
                    </a:solidFill>
                    <a:latin typeface="Open Sans"/>
                    <a:ea typeface="Open Sans"/>
                    <a:cs typeface="Open Sans"/>
                    <a:sym typeface="Open Sans"/>
                  </a:rPr>
                  <a:t>Pengenalan Binatang</a:t>
                </a:r>
                <a:endParaRPr/>
              </a:p>
            </p:txBody>
          </p:sp>
          <p:sp>
            <p:nvSpPr>
              <p:cNvPr id="191" name="Google Shape;191;p14"/>
              <p:cNvSpPr/>
              <p:nvPr/>
            </p:nvSpPr>
            <p:spPr>
              <a:xfrm>
                <a:off x="3173259" y="481715"/>
                <a:ext cx="1103372" cy="1192928"/>
              </a:xfrm>
              <a:custGeom>
                <a:avLst/>
                <a:gdLst/>
                <a:ahLst/>
                <a:cxnLst/>
                <a:rect l="l" t="t" r="r" b="b"/>
                <a:pathLst>
                  <a:path w="1103372" h="1192928" extrusionOk="0">
                    <a:moveTo>
                      <a:pt x="0" y="0"/>
                    </a:moveTo>
                    <a:lnTo>
                      <a:pt x="1103372" y="0"/>
                    </a:lnTo>
                    <a:lnTo>
                      <a:pt x="1103372" y="1192928"/>
                    </a:lnTo>
                    <a:lnTo>
                      <a:pt x="0" y="1192928"/>
                    </a:lnTo>
                    <a:lnTo>
                      <a:pt x="0" y="0"/>
                    </a:lnTo>
                    <a:close/>
                  </a:path>
                </a:pathLst>
              </a:custGeom>
              <a:blipFill rotWithShape="1">
                <a:blip r:embed="rId18">
                  <a:alphaModFix/>
                </a:blip>
                <a:stretch>
                  <a:fillRect l="-257598" t="-78502" r="-55590" b="-94274"/>
                </a:stretch>
              </a:blipFill>
              <a:ln>
                <a:noFill/>
              </a:ln>
            </p:spPr>
          </p:sp>
          <p:sp>
            <p:nvSpPr>
              <p:cNvPr id="192" name="Google Shape;192;p14"/>
              <p:cNvSpPr/>
              <p:nvPr/>
            </p:nvSpPr>
            <p:spPr>
              <a:xfrm>
                <a:off x="7803945" y="481715"/>
                <a:ext cx="1103372" cy="1192928"/>
              </a:xfrm>
              <a:custGeom>
                <a:avLst/>
                <a:gdLst/>
                <a:ahLst/>
                <a:cxnLst/>
                <a:rect l="l" t="t" r="r" b="b"/>
                <a:pathLst>
                  <a:path w="1103372" h="1192928" extrusionOk="0">
                    <a:moveTo>
                      <a:pt x="0" y="0"/>
                    </a:moveTo>
                    <a:lnTo>
                      <a:pt x="1103372" y="0"/>
                    </a:lnTo>
                    <a:lnTo>
                      <a:pt x="1103372" y="1192928"/>
                    </a:lnTo>
                    <a:lnTo>
                      <a:pt x="0" y="1192928"/>
                    </a:lnTo>
                    <a:lnTo>
                      <a:pt x="0" y="0"/>
                    </a:lnTo>
                    <a:close/>
                  </a:path>
                </a:pathLst>
              </a:custGeom>
              <a:blipFill rotWithShape="1">
                <a:blip r:embed="rId18">
                  <a:alphaModFix/>
                </a:blip>
                <a:stretch>
                  <a:fillRect l="-257598" t="-78502" r="-55590" b="-94274"/>
                </a:stretch>
              </a:blipFill>
              <a:ln>
                <a:noFill/>
              </a:ln>
            </p:spPr>
          </p:sp>
        </p:grpSp>
      </p:grpSp>
      <p:sp>
        <p:nvSpPr>
          <p:cNvPr id="193" name="Google Shape;193;p14"/>
          <p:cNvSpPr txBox="1"/>
          <p:nvPr/>
        </p:nvSpPr>
        <p:spPr>
          <a:xfrm>
            <a:off x="7314440" y="840142"/>
            <a:ext cx="4449858" cy="2585323"/>
          </a:xfrm>
          <a:prstGeom prst="rect">
            <a:avLst/>
          </a:prstGeom>
          <a:noFill/>
          <a:ln>
            <a:noFill/>
          </a:ln>
        </p:spPr>
        <p:txBody>
          <a:bodyPr spcFirstLastPara="1" wrap="square" lIns="0" tIns="0" rIns="0" bIns="0" anchor="t" anchorCtr="0">
            <a:spAutoFit/>
          </a:bodyPr>
          <a:lstStyle/>
          <a:p>
            <a:pPr marL="539749" marR="0" lvl="1" indent="-269874" algn="just" rtl="0">
              <a:lnSpc>
                <a:spcPct val="100000"/>
              </a:lnSpc>
              <a:spcBef>
                <a:spcPts val="0"/>
              </a:spcBef>
              <a:spcAft>
                <a:spcPts val="0"/>
              </a:spcAft>
              <a:buClr>
                <a:srgbClr val="000000"/>
              </a:buClr>
              <a:buSzPts val="2400"/>
              <a:buFont typeface="Arial"/>
              <a:buChar char="•"/>
            </a:pPr>
            <a:r>
              <a:rPr lang="en-US" sz="2400" b="0" i="0" u="none" strike="noStrike" cap="none">
                <a:solidFill>
                  <a:srgbClr val="1E4E79"/>
                </a:solidFill>
                <a:latin typeface="Calibri"/>
                <a:ea typeface="Calibri"/>
                <a:cs typeface="Calibri"/>
                <a:sym typeface="Calibri"/>
              </a:rPr>
              <a:t>Pada teknologi KA yang berbasis pembelajaran mesin, file model KA dihasilkan oleh algoritma pembelajaran mesin dengan berdasar pada masukan </a:t>
            </a:r>
            <a:r>
              <a:rPr lang="en-US" sz="2400" b="1" i="0" u="none" strike="noStrike" cap="none">
                <a:solidFill>
                  <a:srgbClr val="1E4E79"/>
                </a:solidFill>
                <a:latin typeface="Calibri"/>
                <a:ea typeface="Calibri"/>
                <a:cs typeface="Calibri"/>
                <a:sym typeface="Calibri"/>
              </a:rPr>
              <a:t>data latih</a:t>
            </a:r>
            <a:r>
              <a:rPr lang="en-US" sz="2400" b="0" i="0" u="none" strike="noStrike" cap="none">
                <a:solidFill>
                  <a:srgbClr val="1E4E79"/>
                </a:solidFill>
                <a:latin typeface="Calibri"/>
                <a:ea typeface="Calibri"/>
                <a:cs typeface="Calibri"/>
                <a:sym typeface="Calibri"/>
              </a:rPr>
              <a:t> (dapat dilihat pada Gambar).</a:t>
            </a:r>
            <a:endParaRPr/>
          </a:p>
        </p:txBody>
      </p:sp>
      <p:sp>
        <p:nvSpPr>
          <p:cNvPr id="194" name="Google Shape;194;p14"/>
          <p:cNvSpPr txBox="1"/>
          <p:nvPr/>
        </p:nvSpPr>
        <p:spPr>
          <a:xfrm>
            <a:off x="390657" y="321155"/>
            <a:ext cx="5803196" cy="518988"/>
          </a:xfrm>
          <a:prstGeom prst="rect">
            <a:avLst/>
          </a:prstGeom>
          <a:noFill/>
          <a:ln>
            <a:noFill/>
          </a:ln>
        </p:spPr>
        <p:txBody>
          <a:bodyPr spcFirstLastPara="1" wrap="square" lIns="0" tIns="0" rIns="0" bIns="0" anchor="t" anchorCtr="0">
            <a:spAutoFit/>
          </a:bodyPr>
          <a:lstStyle/>
          <a:p>
            <a:pPr marL="0" marR="0" lvl="0" indent="0" algn="l" rtl="0">
              <a:lnSpc>
                <a:spcPct val="187458"/>
              </a:lnSpc>
              <a:spcBef>
                <a:spcPts val="0"/>
              </a:spcBef>
              <a:spcAft>
                <a:spcPts val="0"/>
              </a:spcAft>
              <a:buNone/>
            </a:pPr>
            <a:r>
              <a:rPr lang="en-US" sz="2400" b="1" i="0" u="none" strike="noStrike" cap="none">
                <a:solidFill>
                  <a:srgbClr val="2E75B5"/>
                </a:solidFill>
                <a:latin typeface="Poppins"/>
                <a:ea typeface="Poppins"/>
                <a:cs typeface="Poppins"/>
                <a:sym typeface="Poppins"/>
              </a:rPr>
              <a:t>Tahapan Pelatihan Model (Training)</a:t>
            </a:r>
            <a:endParaRPr/>
          </a:p>
        </p:txBody>
      </p:sp>
      <p:sp>
        <p:nvSpPr>
          <p:cNvPr id="195" name="Google Shape;195;p14"/>
          <p:cNvSpPr txBox="1"/>
          <p:nvPr/>
        </p:nvSpPr>
        <p:spPr>
          <a:xfrm>
            <a:off x="107745" y="4942539"/>
            <a:ext cx="11639024" cy="1107996"/>
          </a:xfrm>
          <a:prstGeom prst="rect">
            <a:avLst/>
          </a:prstGeom>
          <a:noFill/>
          <a:ln>
            <a:noFill/>
          </a:ln>
        </p:spPr>
        <p:txBody>
          <a:bodyPr spcFirstLastPara="1" wrap="square" lIns="0" tIns="0" rIns="0" bIns="0" anchor="t" anchorCtr="0">
            <a:spAutoFit/>
          </a:bodyPr>
          <a:lstStyle/>
          <a:p>
            <a:pPr marL="539749" marR="0" lvl="1" indent="-269874" algn="just" rtl="0">
              <a:lnSpc>
                <a:spcPct val="100000"/>
              </a:lnSpc>
              <a:spcBef>
                <a:spcPts val="0"/>
              </a:spcBef>
              <a:spcAft>
                <a:spcPts val="0"/>
              </a:spcAft>
              <a:buClr>
                <a:srgbClr val="000000"/>
              </a:buClr>
              <a:buSzPts val="2400"/>
              <a:buFont typeface="Arial"/>
              <a:buChar char="•"/>
            </a:pPr>
            <a:r>
              <a:rPr lang="en-US" sz="2400" b="0" i="0" u="none" strike="noStrike" cap="none">
                <a:solidFill>
                  <a:srgbClr val="1E4E79"/>
                </a:solidFill>
                <a:latin typeface="Calibri"/>
                <a:ea typeface="Calibri"/>
                <a:cs typeface="Calibri"/>
                <a:sym typeface="Calibri"/>
              </a:rPr>
              <a:t>Model KA generatif dilatih menggunakan dataset besar yang berisi berbagai jenis data, seperti teks, gambar, suara, atau video. Proses pelatihan ini bertujuan untuk mengenali pola, struktur, dan hubungan antar elemen dalam data.</a:t>
            </a:r>
            <a:endParaRPr/>
          </a:p>
        </p:txBody>
      </p:sp>
      <p:sp>
        <p:nvSpPr>
          <p:cNvPr id="196" name="Google Shape;196;p14"/>
          <p:cNvSpPr/>
          <p:nvPr/>
        </p:nvSpPr>
        <p:spPr>
          <a:xfrm rot="608104">
            <a:off x="6314747" y="3985251"/>
            <a:ext cx="2465955" cy="602827"/>
          </a:xfrm>
          <a:custGeom>
            <a:avLst/>
            <a:gdLst/>
            <a:ahLst/>
            <a:cxnLst/>
            <a:rect l="l" t="t" r="r" b="b"/>
            <a:pathLst>
              <a:path w="1552128" h="663535" extrusionOk="0">
                <a:moveTo>
                  <a:pt x="0" y="663535"/>
                </a:moveTo>
                <a:lnTo>
                  <a:pt x="1552127" y="663535"/>
                </a:lnTo>
                <a:lnTo>
                  <a:pt x="1552127" y="0"/>
                </a:lnTo>
                <a:lnTo>
                  <a:pt x="0" y="0"/>
                </a:lnTo>
                <a:lnTo>
                  <a:pt x="0" y="663535"/>
                </a:lnTo>
                <a:close/>
              </a:path>
            </a:pathLst>
          </a:custGeom>
          <a:blipFill rotWithShape="1">
            <a:blip r:embed="rId19">
              <a:alphaModFix/>
            </a:blip>
            <a:stretch>
              <a:fillRect/>
            </a:stretch>
          </a:blipFill>
          <a:ln>
            <a:no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5"/>
          <p:cNvSpPr txBox="1"/>
          <p:nvPr/>
        </p:nvSpPr>
        <p:spPr>
          <a:xfrm>
            <a:off x="544282" y="155084"/>
            <a:ext cx="10169225" cy="639149"/>
          </a:xfrm>
          <a:prstGeom prst="rect">
            <a:avLst/>
          </a:prstGeom>
          <a:noFill/>
          <a:ln>
            <a:noFill/>
          </a:ln>
        </p:spPr>
        <p:txBody>
          <a:bodyPr spcFirstLastPara="1" wrap="square" lIns="0" tIns="0" rIns="0" bIns="0" anchor="t" anchorCtr="0">
            <a:spAutoFit/>
          </a:bodyPr>
          <a:lstStyle/>
          <a:p>
            <a:pPr marL="0" marR="0" lvl="0" indent="0" algn="l" rtl="0">
              <a:lnSpc>
                <a:spcPct val="199964"/>
              </a:lnSpc>
              <a:spcBef>
                <a:spcPts val="0"/>
              </a:spcBef>
              <a:spcAft>
                <a:spcPts val="0"/>
              </a:spcAft>
              <a:buNone/>
            </a:pPr>
            <a:r>
              <a:rPr lang="en-US" sz="2800" b="1" i="0" u="none" strike="noStrike" cap="none">
                <a:solidFill>
                  <a:srgbClr val="2E75B5"/>
                </a:solidFill>
                <a:latin typeface="Poppins"/>
                <a:ea typeface="Poppins"/>
                <a:cs typeface="Poppins"/>
                <a:sym typeface="Poppins"/>
              </a:rPr>
              <a:t>B. Implementasi Pembelajaran Mesin</a:t>
            </a:r>
            <a:endParaRPr/>
          </a:p>
        </p:txBody>
      </p:sp>
      <p:sp>
        <p:nvSpPr>
          <p:cNvPr id="202" name="Google Shape;202;p15"/>
          <p:cNvSpPr txBox="1"/>
          <p:nvPr/>
        </p:nvSpPr>
        <p:spPr>
          <a:xfrm>
            <a:off x="620819" y="1105670"/>
            <a:ext cx="3111745" cy="3323987"/>
          </a:xfrm>
          <a:prstGeom prst="rect">
            <a:avLst/>
          </a:prstGeom>
          <a:noFill/>
          <a:ln>
            <a:noFill/>
          </a:ln>
        </p:spPr>
        <p:txBody>
          <a:bodyPr spcFirstLastPara="1" wrap="square" lIns="0" tIns="0" rIns="0" bIns="0" anchor="t" anchorCtr="0">
            <a:spAutoFit/>
          </a:bodyPr>
          <a:lstStyle/>
          <a:p>
            <a:pPr marL="269874" marR="0" lvl="1" indent="0" algn="l" rtl="0">
              <a:lnSpc>
                <a:spcPct val="100000"/>
              </a:lnSpc>
              <a:spcBef>
                <a:spcPts val="0"/>
              </a:spcBef>
              <a:spcAft>
                <a:spcPts val="0"/>
              </a:spcAft>
              <a:buNone/>
            </a:pPr>
            <a:r>
              <a:rPr lang="en-US" sz="2400" b="0" i="0" u="none" strike="noStrike" cap="none">
                <a:solidFill>
                  <a:srgbClr val="1E4E79"/>
                </a:solidFill>
                <a:latin typeface="Calibri"/>
                <a:ea typeface="Calibri"/>
                <a:cs typeface="Calibri"/>
                <a:sym typeface="Calibri"/>
              </a:rPr>
              <a:t>Model KA yang telah dibangun dari data latih, selanjutnya digunakan untuk menghasilkan keputusan atau keluaran teknologi KA berdasar masukan pengguna. </a:t>
            </a:r>
            <a:endParaRPr sz="2400" b="0" i="0" u="none" strike="noStrike" cap="none">
              <a:solidFill>
                <a:srgbClr val="1E4E79"/>
              </a:solidFill>
              <a:latin typeface="Calibri"/>
              <a:ea typeface="Calibri"/>
              <a:cs typeface="Calibri"/>
              <a:sym typeface="Calibri"/>
            </a:endParaRPr>
          </a:p>
        </p:txBody>
      </p:sp>
      <p:grpSp>
        <p:nvGrpSpPr>
          <p:cNvPr id="203" name="Google Shape;203;p15"/>
          <p:cNvGrpSpPr/>
          <p:nvPr/>
        </p:nvGrpSpPr>
        <p:grpSpPr>
          <a:xfrm>
            <a:off x="3855060" y="924199"/>
            <a:ext cx="7993668" cy="4750979"/>
            <a:chOff x="0" y="-289322"/>
            <a:chExt cx="13769816" cy="8183993"/>
          </a:xfrm>
        </p:grpSpPr>
        <p:grpSp>
          <p:nvGrpSpPr>
            <p:cNvPr id="204" name="Google Shape;204;p15"/>
            <p:cNvGrpSpPr/>
            <p:nvPr/>
          </p:nvGrpSpPr>
          <p:grpSpPr>
            <a:xfrm>
              <a:off x="0" y="-289322"/>
              <a:ext cx="13769816" cy="8183993"/>
              <a:chOff x="0" y="-57150"/>
              <a:chExt cx="2719964" cy="1616591"/>
            </a:xfrm>
          </p:grpSpPr>
          <p:sp>
            <p:nvSpPr>
              <p:cNvPr id="205" name="Google Shape;205;p15"/>
              <p:cNvSpPr/>
              <p:nvPr/>
            </p:nvSpPr>
            <p:spPr>
              <a:xfrm>
                <a:off x="0" y="0"/>
                <a:ext cx="2719964" cy="1559441"/>
              </a:xfrm>
              <a:custGeom>
                <a:avLst/>
                <a:gdLst/>
                <a:ahLst/>
                <a:cxnLst/>
                <a:rect l="l" t="t" r="r" b="b"/>
                <a:pathLst>
                  <a:path w="2719964" h="1559441" extrusionOk="0">
                    <a:moveTo>
                      <a:pt x="29236" y="0"/>
                    </a:moveTo>
                    <a:lnTo>
                      <a:pt x="2690727" y="0"/>
                    </a:lnTo>
                    <a:cubicBezTo>
                      <a:pt x="2706874" y="0"/>
                      <a:pt x="2719964" y="13090"/>
                      <a:pt x="2719964" y="29236"/>
                    </a:cubicBezTo>
                    <a:lnTo>
                      <a:pt x="2719964" y="1530205"/>
                    </a:lnTo>
                    <a:cubicBezTo>
                      <a:pt x="2719964" y="1546352"/>
                      <a:pt x="2706874" y="1559441"/>
                      <a:pt x="2690727" y="1559441"/>
                    </a:cubicBezTo>
                    <a:lnTo>
                      <a:pt x="29236" y="1559441"/>
                    </a:lnTo>
                    <a:cubicBezTo>
                      <a:pt x="13090" y="1559441"/>
                      <a:pt x="0" y="1546352"/>
                      <a:pt x="0" y="1530205"/>
                    </a:cubicBezTo>
                    <a:lnTo>
                      <a:pt x="0" y="29236"/>
                    </a:lnTo>
                    <a:cubicBezTo>
                      <a:pt x="0" y="13090"/>
                      <a:pt x="13090" y="0"/>
                      <a:pt x="29236" y="0"/>
                    </a:cubicBez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5"/>
              <p:cNvSpPr txBox="1"/>
              <p:nvPr/>
            </p:nvSpPr>
            <p:spPr>
              <a:xfrm>
                <a:off x="0" y="-57150"/>
                <a:ext cx="2719964" cy="1616591"/>
              </a:xfrm>
              <a:prstGeom prst="rect">
                <a:avLst/>
              </a:prstGeom>
              <a:noFill/>
              <a:ln>
                <a:noFill/>
              </a:ln>
            </p:spPr>
            <p:txBody>
              <a:bodyPr spcFirstLastPara="1" wrap="square" lIns="50800" tIns="50800" rIns="50800" bIns="50800" anchor="ctr" anchorCtr="0">
                <a:noAutofit/>
              </a:bodyPr>
              <a:lstStyle/>
              <a:p>
                <a:pPr marL="0" marR="0" lvl="0" indent="0" algn="ctr" rtl="0">
                  <a:lnSpc>
                    <a:spcPct val="198333"/>
                  </a:lnSpc>
                  <a:spcBef>
                    <a:spcPts val="0"/>
                  </a:spcBef>
                  <a:spcAft>
                    <a:spcPts val="0"/>
                  </a:spcAft>
                  <a:buNone/>
                </a:pPr>
                <a:endParaRPr sz="1200" b="0" i="0" u="none" strike="noStrike" cap="none">
                  <a:solidFill>
                    <a:srgbClr val="000000"/>
                  </a:solidFill>
                  <a:latin typeface="Arial"/>
                  <a:ea typeface="Arial"/>
                  <a:cs typeface="Arial"/>
                  <a:sym typeface="Arial"/>
                </a:endParaRPr>
              </a:p>
            </p:txBody>
          </p:sp>
        </p:grpSp>
        <p:grpSp>
          <p:nvGrpSpPr>
            <p:cNvPr id="207" name="Google Shape;207;p15"/>
            <p:cNvGrpSpPr/>
            <p:nvPr/>
          </p:nvGrpSpPr>
          <p:grpSpPr>
            <a:xfrm>
              <a:off x="2057400" y="252547"/>
              <a:ext cx="3606772" cy="1146034"/>
              <a:chOff x="0" y="-38100"/>
              <a:chExt cx="1211536" cy="384959"/>
            </a:xfrm>
          </p:grpSpPr>
          <p:sp>
            <p:nvSpPr>
              <p:cNvPr id="208" name="Google Shape;208;p15"/>
              <p:cNvSpPr/>
              <p:nvPr/>
            </p:nvSpPr>
            <p:spPr>
              <a:xfrm>
                <a:off x="0" y="0"/>
                <a:ext cx="1211536" cy="346859"/>
              </a:xfrm>
              <a:custGeom>
                <a:avLst/>
                <a:gdLst/>
                <a:ahLst/>
                <a:cxnLst/>
                <a:rect l="l" t="t" r="r" b="b"/>
                <a:pathLst>
                  <a:path w="1211536" h="346859" extrusionOk="0">
                    <a:moveTo>
                      <a:pt x="0" y="0"/>
                    </a:moveTo>
                    <a:lnTo>
                      <a:pt x="1008336" y="0"/>
                    </a:lnTo>
                    <a:lnTo>
                      <a:pt x="1211536" y="173430"/>
                    </a:lnTo>
                    <a:lnTo>
                      <a:pt x="1008336" y="346859"/>
                    </a:lnTo>
                    <a:lnTo>
                      <a:pt x="0" y="346859"/>
                    </a:lnTo>
                    <a:lnTo>
                      <a:pt x="203200" y="173430"/>
                    </a:lnTo>
                    <a:lnTo>
                      <a:pt x="0" y="0"/>
                    </a:lnTo>
                    <a:close/>
                  </a:path>
                </a:pathLst>
              </a:custGeom>
              <a:solidFill>
                <a:srgbClr val="6A98DF"/>
              </a:solidFill>
              <a:ln>
                <a:noFill/>
              </a:ln>
            </p:spPr>
          </p:sp>
          <p:sp>
            <p:nvSpPr>
              <p:cNvPr id="209" name="Google Shape;209;p15"/>
              <p:cNvSpPr txBox="1"/>
              <p:nvPr/>
            </p:nvSpPr>
            <p:spPr>
              <a:xfrm>
                <a:off x="177800" y="-38100"/>
                <a:ext cx="957536" cy="384959"/>
              </a:xfrm>
              <a:prstGeom prst="rect">
                <a:avLst/>
              </a:prstGeom>
              <a:noFill/>
              <a:ln>
                <a:noFill/>
              </a:ln>
            </p:spPr>
            <p:txBody>
              <a:bodyPr spcFirstLastPara="1" wrap="square" lIns="29850" tIns="29850" rIns="29850" bIns="29850" anchor="ctr" anchorCtr="0">
                <a:noAutofit/>
              </a:bodyPr>
              <a:lstStyle/>
              <a:p>
                <a:pPr marL="0" marR="0" lvl="0" indent="0" algn="ctr" rtl="0">
                  <a:lnSpc>
                    <a:spcPct val="233250"/>
                  </a:lnSpc>
                  <a:spcBef>
                    <a:spcPts val="0"/>
                  </a:spcBef>
                  <a:spcAft>
                    <a:spcPts val="0"/>
                  </a:spcAft>
                  <a:buNone/>
                </a:pPr>
                <a:endParaRPr sz="1200" b="0" i="0" u="none" strike="noStrike" cap="none">
                  <a:solidFill>
                    <a:srgbClr val="000000"/>
                  </a:solidFill>
                  <a:latin typeface="Arial"/>
                  <a:ea typeface="Arial"/>
                  <a:cs typeface="Arial"/>
                  <a:sym typeface="Arial"/>
                </a:endParaRPr>
              </a:p>
            </p:txBody>
          </p:sp>
        </p:grpSp>
        <p:sp>
          <p:nvSpPr>
            <p:cNvPr id="210" name="Google Shape;210;p15"/>
            <p:cNvSpPr/>
            <p:nvPr/>
          </p:nvSpPr>
          <p:spPr>
            <a:xfrm>
              <a:off x="2821327" y="618276"/>
              <a:ext cx="636770" cy="604931"/>
            </a:xfrm>
            <a:custGeom>
              <a:avLst/>
              <a:gdLst/>
              <a:ahLst/>
              <a:cxnLst/>
              <a:rect l="l" t="t" r="r" b="b"/>
              <a:pathLst>
                <a:path w="636770" h="604931" extrusionOk="0">
                  <a:moveTo>
                    <a:pt x="0" y="0"/>
                  </a:moveTo>
                  <a:lnTo>
                    <a:pt x="636769" y="0"/>
                  </a:lnTo>
                  <a:lnTo>
                    <a:pt x="636769" y="604931"/>
                  </a:lnTo>
                  <a:lnTo>
                    <a:pt x="0" y="604931"/>
                  </a:lnTo>
                  <a:lnTo>
                    <a:pt x="0" y="0"/>
                  </a:lnTo>
                  <a:close/>
                </a:path>
              </a:pathLst>
            </a:custGeom>
            <a:blipFill rotWithShape="1">
              <a:blip r:embed="rId3">
                <a:alphaModFix/>
              </a:blip>
              <a:stretch>
                <a:fillRect/>
              </a:stretch>
            </a:blipFill>
            <a:ln>
              <a:noFill/>
            </a:ln>
          </p:spPr>
        </p:sp>
        <p:grpSp>
          <p:nvGrpSpPr>
            <p:cNvPr id="211" name="Google Shape;211;p15"/>
            <p:cNvGrpSpPr/>
            <p:nvPr/>
          </p:nvGrpSpPr>
          <p:grpSpPr>
            <a:xfrm>
              <a:off x="9690385" y="252547"/>
              <a:ext cx="3606772" cy="1146034"/>
              <a:chOff x="0" y="-38100"/>
              <a:chExt cx="1211536" cy="384959"/>
            </a:xfrm>
          </p:grpSpPr>
          <p:sp>
            <p:nvSpPr>
              <p:cNvPr id="212" name="Google Shape;212;p15"/>
              <p:cNvSpPr/>
              <p:nvPr/>
            </p:nvSpPr>
            <p:spPr>
              <a:xfrm>
                <a:off x="0" y="0"/>
                <a:ext cx="1211536" cy="346859"/>
              </a:xfrm>
              <a:custGeom>
                <a:avLst/>
                <a:gdLst/>
                <a:ahLst/>
                <a:cxnLst/>
                <a:rect l="l" t="t" r="r" b="b"/>
                <a:pathLst>
                  <a:path w="1211536" h="346859" extrusionOk="0">
                    <a:moveTo>
                      <a:pt x="0" y="0"/>
                    </a:moveTo>
                    <a:lnTo>
                      <a:pt x="1008336" y="0"/>
                    </a:lnTo>
                    <a:lnTo>
                      <a:pt x="1211536" y="173430"/>
                    </a:lnTo>
                    <a:lnTo>
                      <a:pt x="1008336" y="346859"/>
                    </a:lnTo>
                    <a:lnTo>
                      <a:pt x="0" y="346859"/>
                    </a:lnTo>
                    <a:lnTo>
                      <a:pt x="203200" y="173430"/>
                    </a:lnTo>
                    <a:lnTo>
                      <a:pt x="0" y="0"/>
                    </a:lnTo>
                    <a:close/>
                  </a:path>
                </a:pathLst>
              </a:custGeom>
              <a:solidFill>
                <a:srgbClr val="003586"/>
              </a:solidFill>
              <a:ln>
                <a:noFill/>
              </a:ln>
            </p:spPr>
          </p:sp>
          <p:sp>
            <p:nvSpPr>
              <p:cNvPr id="213" name="Google Shape;213;p15"/>
              <p:cNvSpPr txBox="1"/>
              <p:nvPr/>
            </p:nvSpPr>
            <p:spPr>
              <a:xfrm>
                <a:off x="177800" y="-38100"/>
                <a:ext cx="957536" cy="384959"/>
              </a:xfrm>
              <a:prstGeom prst="rect">
                <a:avLst/>
              </a:prstGeom>
              <a:noFill/>
              <a:ln>
                <a:noFill/>
              </a:ln>
            </p:spPr>
            <p:txBody>
              <a:bodyPr spcFirstLastPara="1" wrap="square" lIns="29850" tIns="29850" rIns="29850" bIns="29850" anchor="ctr" anchorCtr="0">
                <a:noAutofit/>
              </a:bodyPr>
              <a:lstStyle/>
              <a:p>
                <a:pPr marL="0" marR="0" lvl="0" indent="0" algn="ctr" rtl="0">
                  <a:lnSpc>
                    <a:spcPct val="233250"/>
                  </a:lnSpc>
                  <a:spcBef>
                    <a:spcPts val="0"/>
                  </a:spcBef>
                  <a:spcAft>
                    <a:spcPts val="0"/>
                  </a:spcAft>
                  <a:buNone/>
                </a:pPr>
                <a:endParaRPr sz="1200" b="0" i="0" u="none" strike="noStrike" cap="none">
                  <a:solidFill>
                    <a:srgbClr val="000000"/>
                  </a:solidFill>
                  <a:latin typeface="Arial"/>
                  <a:ea typeface="Arial"/>
                  <a:cs typeface="Arial"/>
                  <a:sym typeface="Arial"/>
                </a:endParaRPr>
              </a:p>
            </p:txBody>
          </p:sp>
        </p:grpSp>
        <p:sp>
          <p:nvSpPr>
            <p:cNvPr id="214" name="Google Shape;214;p15"/>
            <p:cNvSpPr/>
            <p:nvPr/>
          </p:nvSpPr>
          <p:spPr>
            <a:xfrm>
              <a:off x="10550250" y="568041"/>
              <a:ext cx="628471" cy="628471"/>
            </a:xfrm>
            <a:custGeom>
              <a:avLst/>
              <a:gdLst/>
              <a:ahLst/>
              <a:cxnLst/>
              <a:rect l="l" t="t" r="r" b="b"/>
              <a:pathLst>
                <a:path w="628471" h="628471" extrusionOk="0">
                  <a:moveTo>
                    <a:pt x="0" y="0"/>
                  </a:moveTo>
                  <a:lnTo>
                    <a:pt x="628471" y="0"/>
                  </a:lnTo>
                  <a:lnTo>
                    <a:pt x="628471" y="628471"/>
                  </a:lnTo>
                  <a:lnTo>
                    <a:pt x="0" y="628471"/>
                  </a:lnTo>
                  <a:lnTo>
                    <a:pt x="0" y="0"/>
                  </a:lnTo>
                  <a:close/>
                </a:path>
              </a:pathLst>
            </a:custGeom>
            <a:blipFill rotWithShape="1">
              <a:blip r:embed="rId4">
                <a:alphaModFix/>
              </a:blip>
              <a:stretch>
                <a:fillRect/>
              </a:stretch>
            </a:blipFill>
            <a:ln>
              <a:noFill/>
            </a:ln>
          </p:spPr>
        </p:sp>
        <p:grpSp>
          <p:nvGrpSpPr>
            <p:cNvPr id="215" name="Google Shape;215;p15"/>
            <p:cNvGrpSpPr/>
            <p:nvPr/>
          </p:nvGrpSpPr>
          <p:grpSpPr>
            <a:xfrm>
              <a:off x="5873893" y="252547"/>
              <a:ext cx="3606772" cy="1146034"/>
              <a:chOff x="0" y="-38100"/>
              <a:chExt cx="1211536" cy="384959"/>
            </a:xfrm>
          </p:grpSpPr>
          <p:sp>
            <p:nvSpPr>
              <p:cNvPr id="216" name="Google Shape;216;p15"/>
              <p:cNvSpPr/>
              <p:nvPr/>
            </p:nvSpPr>
            <p:spPr>
              <a:xfrm>
                <a:off x="0" y="0"/>
                <a:ext cx="1211536" cy="346859"/>
              </a:xfrm>
              <a:custGeom>
                <a:avLst/>
                <a:gdLst/>
                <a:ahLst/>
                <a:cxnLst/>
                <a:rect l="l" t="t" r="r" b="b"/>
                <a:pathLst>
                  <a:path w="1211536" h="346859" extrusionOk="0">
                    <a:moveTo>
                      <a:pt x="0" y="0"/>
                    </a:moveTo>
                    <a:lnTo>
                      <a:pt x="1008336" y="0"/>
                    </a:lnTo>
                    <a:lnTo>
                      <a:pt x="1211536" y="173430"/>
                    </a:lnTo>
                    <a:lnTo>
                      <a:pt x="1008336" y="346859"/>
                    </a:lnTo>
                    <a:lnTo>
                      <a:pt x="0" y="346859"/>
                    </a:lnTo>
                    <a:lnTo>
                      <a:pt x="203200" y="173430"/>
                    </a:lnTo>
                    <a:lnTo>
                      <a:pt x="0" y="0"/>
                    </a:lnTo>
                    <a:close/>
                  </a:path>
                </a:pathLst>
              </a:custGeom>
              <a:solidFill>
                <a:srgbClr val="306BC6"/>
              </a:solidFill>
              <a:ln>
                <a:noFill/>
              </a:ln>
            </p:spPr>
          </p:sp>
          <p:sp>
            <p:nvSpPr>
              <p:cNvPr id="217" name="Google Shape;217;p15"/>
              <p:cNvSpPr txBox="1"/>
              <p:nvPr/>
            </p:nvSpPr>
            <p:spPr>
              <a:xfrm>
                <a:off x="177800" y="-38100"/>
                <a:ext cx="957536" cy="384959"/>
              </a:xfrm>
              <a:prstGeom prst="rect">
                <a:avLst/>
              </a:prstGeom>
              <a:noFill/>
              <a:ln>
                <a:noFill/>
              </a:ln>
            </p:spPr>
            <p:txBody>
              <a:bodyPr spcFirstLastPara="1" wrap="square" lIns="29850" tIns="29850" rIns="29850" bIns="29850" anchor="ctr" anchorCtr="0">
                <a:noAutofit/>
              </a:bodyPr>
              <a:lstStyle/>
              <a:p>
                <a:pPr marL="0" marR="0" lvl="0" indent="0" algn="ctr" rtl="0">
                  <a:lnSpc>
                    <a:spcPct val="233250"/>
                  </a:lnSpc>
                  <a:spcBef>
                    <a:spcPts val="0"/>
                  </a:spcBef>
                  <a:spcAft>
                    <a:spcPts val="0"/>
                  </a:spcAft>
                  <a:buNone/>
                </a:pPr>
                <a:endParaRPr sz="1200" b="0" i="0" u="none" strike="noStrike" cap="none">
                  <a:solidFill>
                    <a:srgbClr val="000000"/>
                  </a:solidFill>
                  <a:latin typeface="Arial"/>
                  <a:ea typeface="Arial"/>
                  <a:cs typeface="Arial"/>
                  <a:sym typeface="Arial"/>
                </a:endParaRPr>
              </a:p>
            </p:txBody>
          </p:sp>
        </p:grpSp>
        <p:sp>
          <p:nvSpPr>
            <p:cNvPr id="218" name="Google Shape;218;p15"/>
            <p:cNvSpPr/>
            <p:nvPr/>
          </p:nvSpPr>
          <p:spPr>
            <a:xfrm>
              <a:off x="6571898" y="487111"/>
              <a:ext cx="790331" cy="790331"/>
            </a:xfrm>
            <a:custGeom>
              <a:avLst/>
              <a:gdLst/>
              <a:ahLst/>
              <a:cxnLst/>
              <a:rect l="l" t="t" r="r" b="b"/>
              <a:pathLst>
                <a:path w="790331" h="790331" extrusionOk="0">
                  <a:moveTo>
                    <a:pt x="0" y="0"/>
                  </a:moveTo>
                  <a:lnTo>
                    <a:pt x="790331" y="0"/>
                  </a:lnTo>
                  <a:lnTo>
                    <a:pt x="790331" y="790331"/>
                  </a:lnTo>
                  <a:lnTo>
                    <a:pt x="0" y="790331"/>
                  </a:lnTo>
                  <a:lnTo>
                    <a:pt x="0" y="0"/>
                  </a:lnTo>
                  <a:close/>
                </a:path>
              </a:pathLst>
            </a:custGeom>
            <a:blipFill rotWithShape="1">
              <a:blip r:embed="rId5">
                <a:alphaModFix/>
              </a:blip>
              <a:stretch>
                <a:fillRect/>
              </a:stretch>
            </a:blipFill>
            <a:ln>
              <a:noFill/>
            </a:ln>
          </p:spPr>
        </p:sp>
        <p:sp>
          <p:nvSpPr>
            <p:cNvPr id="219" name="Google Shape;219;p15"/>
            <p:cNvSpPr/>
            <p:nvPr/>
          </p:nvSpPr>
          <p:spPr>
            <a:xfrm>
              <a:off x="2661886" y="2631579"/>
              <a:ext cx="2129086" cy="2129084"/>
            </a:xfrm>
            <a:custGeom>
              <a:avLst/>
              <a:gdLst/>
              <a:ahLst/>
              <a:cxnLst/>
              <a:rect l="l" t="t" r="r" b="b"/>
              <a:pathLst>
                <a:path w="2129085" h="2129085" extrusionOk="0">
                  <a:moveTo>
                    <a:pt x="0" y="0"/>
                  </a:moveTo>
                  <a:lnTo>
                    <a:pt x="2129085" y="0"/>
                  </a:lnTo>
                  <a:lnTo>
                    <a:pt x="2129085" y="2129085"/>
                  </a:lnTo>
                  <a:lnTo>
                    <a:pt x="0" y="2129085"/>
                  </a:lnTo>
                  <a:lnTo>
                    <a:pt x="0" y="0"/>
                  </a:lnTo>
                  <a:close/>
                </a:path>
              </a:pathLst>
            </a:custGeom>
            <a:blipFill rotWithShape="1">
              <a:blip r:embed="rId6">
                <a:alphaModFix/>
              </a:blip>
              <a:stretch>
                <a:fillRect/>
              </a:stretch>
            </a:blipFill>
            <a:ln>
              <a:noFill/>
            </a:ln>
          </p:spPr>
        </p:sp>
        <p:grpSp>
          <p:nvGrpSpPr>
            <p:cNvPr id="220" name="Google Shape;220;p15"/>
            <p:cNvGrpSpPr/>
            <p:nvPr/>
          </p:nvGrpSpPr>
          <p:grpSpPr>
            <a:xfrm>
              <a:off x="10418266" y="2357334"/>
              <a:ext cx="2419725" cy="1096240"/>
              <a:chOff x="0" y="-38100"/>
              <a:chExt cx="812800" cy="368234"/>
            </a:xfrm>
          </p:grpSpPr>
          <p:sp>
            <p:nvSpPr>
              <p:cNvPr id="221" name="Google Shape;221;p15"/>
              <p:cNvSpPr/>
              <p:nvPr/>
            </p:nvSpPr>
            <p:spPr>
              <a:xfrm>
                <a:off x="0" y="64859"/>
                <a:ext cx="812800" cy="265275"/>
              </a:xfrm>
              <a:custGeom>
                <a:avLst/>
                <a:gdLst/>
                <a:ahLst/>
                <a:cxnLst/>
                <a:rect l="l" t="t" r="r" b="b"/>
                <a:pathLst>
                  <a:path w="812800" h="265275" extrusionOk="0">
                    <a:moveTo>
                      <a:pt x="0" y="0"/>
                    </a:moveTo>
                    <a:lnTo>
                      <a:pt x="812800" y="0"/>
                    </a:lnTo>
                    <a:lnTo>
                      <a:pt x="812800" y="265275"/>
                    </a:lnTo>
                    <a:lnTo>
                      <a:pt x="0" y="265275"/>
                    </a:lnTo>
                    <a:close/>
                  </a:path>
                </a:pathLst>
              </a:custGeom>
              <a:solidFill>
                <a:srgbClr val="306BC6"/>
              </a:solidFill>
              <a:ln>
                <a:noFill/>
              </a:ln>
            </p:spPr>
          </p:sp>
          <p:sp>
            <p:nvSpPr>
              <p:cNvPr id="222" name="Google Shape;222;p15"/>
              <p:cNvSpPr txBox="1"/>
              <p:nvPr/>
            </p:nvSpPr>
            <p:spPr>
              <a:xfrm>
                <a:off x="0" y="-38100"/>
                <a:ext cx="812800" cy="303375"/>
              </a:xfrm>
              <a:prstGeom prst="rect">
                <a:avLst/>
              </a:prstGeom>
              <a:noFill/>
              <a:ln>
                <a:noFill/>
              </a:ln>
            </p:spPr>
            <p:txBody>
              <a:bodyPr spcFirstLastPara="1" wrap="square" lIns="50800" tIns="50800" rIns="50800" bIns="50800" anchor="ctr" anchorCtr="0">
                <a:noAutofit/>
              </a:bodyPr>
              <a:lstStyle/>
              <a:p>
                <a:pPr marL="0" marR="0" lvl="0" indent="0" algn="ctr" rtl="0">
                  <a:lnSpc>
                    <a:spcPct val="233250"/>
                  </a:lnSpc>
                  <a:spcBef>
                    <a:spcPts val="0"/>
                  </a:spcBef>
                  <a:spcAft>
                    <a:spcPts val="0"/>
                  </a:spcAft>
                  <a:buNone/>
                </a:pPr>
                <a:endParaRPr sz="1200" b="0" i="0" u="none" strike="noStrike" cap="none">
                  <a:solidFill>
                    <a:srgbClr val="000000"/>
                  </a:solidFill>
                  <a:latin typeface="Arial"/>
                  <a:ea typeface="Arial"/>
                  <a:cs typeface="Arial"/>
                  <a:sym typeface="Arial"/>
                </a:endParaRPr>
              </a:p>
            </p:txBody>
          </p:sp>
        </p:grpSp>
        <p:sp>
          <p:nvSpPr>
            <p:cNvPr id="223" name="Google Shape;223;p15"/>
            <p:cNvSpPr/>
            <p:nvPr/>
          </p:nvSpPr>
          <p:spPr>
            <a:xfrm>
              <a:off x="401782" y="159023"/>
              <a:ext cx="1446506" cy="1446506"/>
            </a:xfrm>
            <a:custGeom>
              <a:avLst/>
              <a:gdLst/>
              <a:ahLst/>
              <a:cxnLst/>
              <a:rect l="l" t="t" r="r" b="b"/>
              <a:pathLst>
                <a:path w="1446506" h="1446506" extrusionOk="0">
                  <a:moveTo>
                    <a:pt x="0" y="0"/>
                  </a:moveTo>
                  <a:lnTo>
                    <a:pt x="1446506" y="0"/>
                  </a:lnTo>
                  <a:lnTo>
                    <a:pt x="1446506" y="1446506"/>
                  </a:lnTo>
                  <a:lnTo>
                    <a:pt x="0" y="1446506"/>
                  </a:lnTo>
                  <a:lnTo>
                    <a:pt x="0" y="0"/>
                  </a:lnTo>
                  <a:close/>
                </a:path>
              </a:pathLst>
            </a:custGeom>
            <a:blipFill rotWithShape="1">
              <a:blip r:embed="rId7">
                <a:alphaModFix/>
              </a:blip>
              <a:stretch>
                <a:fillRect/>
              </a:stretch>
            </a:blipFill>
            <a:ln>
              <a:noFill/>
            </a:ln>
          </p:spPr>
        </p:sp>
        <p:cxnSp>
          <p:nvCxnSpPr>
            <p:cNvPr id="224" name="Google Shape;224;p15"/>
            <p:cNvCxnSpPr/>
            <p:nvPr/>
          </p:nvCxnSpPr>
          <p:spPr>
            <a:xfrm>
              <a:off x="2139709" y="1727990"/>
              <a:ext cx="11157448" cy="0"/>
            </a:xfrm>
            <a:prstGeom prst="straightConnector1">
              <a:avLst/>
            </a:prstGeom>
            <a:noFill/>
            <a:ln w="38100" cap="flat" cmpd="sng">
              <a:solidFill>
                <a:srgbClr val="D6C6BE"/>
              </a:solidFill>
              <a:prstDash val="solid"/>
              <a:round/>
              <a:headEnd type="none" w="sm" len="sm"/>
              <a:tailEnd type="none" w="sm" len="sm"/>
            </a:ln>
          </p:spPr>
        </p:cxnSp>
        <p:grpSp>
          <p:nvGrpSpPr>
            <p:cNvPr id="225" name="Google Shape;225;p15"/>
            <p:cNvGrpSpPr/>
            <p:nvPr/>
          </p:nvGrpSpPr>
          <p:grpSpPr>
            <a:xfrm>
              <a:off x="3512625" y="1553910"/>
              <a:ext cx="348161" cy="348161"/>
              <a:chOff x="0" y="0"/>
              <a:chExt cx="812800" cy="812800"/>
            </a:xfrm>
          </p:grpSpPr>
          <p:sp>
            <p:nvSpPr>
              <p:cNvPr id="226" name="Google Shape;226;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497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5"/>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233250"/>
                  </a:lnSpc>
                  <a:spcBef>
                    <a:spcPts val="0"/>
                  </a:spcBef>
                  <a:spcAft>
                    <a:spcPts val="0"/>
                  </a:spcAft>
                  <a:buNone/>
                </a:pPr>
                <a:endParaRPr sz="1200" b="0" i="0" u="none" strike="noStrike" cap="none">
                  <a:solidFill>
                    <a:srgbClr val="000000"/>
                  </a:solidFill>
                  <a:latin typeface="Arial"/>
                  <a:ea typeface="Arial"/>
                  <a:cs typeface="Arial"/>
                  <a:sym typeface="Arial"/>
                </a:endParaRPr>
              </a:p>
            </p:txBody>
          </p:sp>
        </p:grpSp>
        <p:grpSp>
          <p:nvGrpSpPr>
            <p:cNvPr id="228" name="Google Shape;228;p15"/>
            <p:cNvGrpSpPr/>
            <p:nvPr/>
          </p:nvGrpSpPr>
          <p:grpSpPr>
            <a:xfrm>
              <a:off x="7503198" y="1544937"/>
              <a:ext cx="348161" cy="348161"/>
              <a:chOff x="0" y="0"/>
              <a:chExt cx="812800" cy="812800"/>
            </a:xfrm>
          </p:grpSpPr>
          <p:sp>
            <p:nvSpPr>
              <p:cNvPr id="229" name="Google Shape;229;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F6A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5"/>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233250"/>
                  </a:lnSpc>
                  <a:spcBef>
                    <a:spcPts val="0"/>
                  </a:spcBef>
                  <a:spcAft>
                    <a:spcPts val="0"/>
                  </a:spcAft>
                  <a:buNone/>
                </a:pPr>
                <a:endParaRPr sz="1200" b="0" i="0" u="none" strike="noStrike" cap="none">
                  <a:solidFill>
                    <a:srgbClr val="000000"/>
                  </a:solidFill>
                  <a:latin typeface="Arial"/>
                  <a:ea typeface="Arial"/>
                  <a:cs typeface="Arial"/>
                  <a:sym typeface="Arial"/>
                </a:endParaRPr>
              </a:p>
            </p:txBody>
          </p:sp>
        </p:grpSp>
        <p:grpSp>
          <p:nvGrpSpPr>
            <p:cNvPr id="231" name="Google Shape;231;p15"/>
            <p:cNvGrpSpPr/>
            <p:nvPr/>
          </p:nvGrpSpPr>
          <p:grpSpPr>
            <a:xfrm>
              <a:off x="11493771" y="1535963"/>
              <a:ext cx="348161" cy="348161"/>
              <a:chOff x="0" y="0"/>
              <a:chExt cx="812800" cy="812800"/>
            </a:xfrm>
          </p:grpSpPr>
          <p:sp>
            <p:nvSpPr>
              <p:cNvPr id="232" name="Google Shape;232;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334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5"/>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233250"/>
                  </a:lnSpc>
                  <a:spcBef>
                    <a:spcPts val="0"/>
                  </a:spcBef>
                  <a:spcAft>
                    <a:spcPts val="0"/>
                  </a:spcAft>
                  <a:buNone/>
                </a:pPr>
                <a:endParaRPr sz="1200" b="0" i="0" u="none" strike="noStrike" cap="none">
                  <a:solidFill>
                    <a:srgbClr val="000000"/>
                  </a:solidFill>
                  <a:latin typeface="Arial"/>
                  <a:ea typeface="Arial"/>
                  <a:cs typeface="Arial"/>
                  <a:sym typeface="Arial"/>
                </a:endParaRPr>
              </a:p>
            </p:txBody>
          </p:sp>
        </p:grpSp>
        <p:grpSp>
          <p:nvGrpSpPr>
            <p:cNvPr id="234" name="Google Shape;234;p15"/>
            <p:cNvGrpSpPr/>
            <p:nvPr/>
          </p:nvGrpSpPr>
          <p:grpSpPr>
            <a:xfrm>
              <a:off x="10500575" y="5200252"/>
              <a:ext cx="2419725" cy="1065733"/>
              <a:chOff x="0" y="-38100"/>
              <a:chExt cx="812800" cy="357984"/>
            </a:xfrm>
          </p:grpSpPr>
          <p:sp>
            <p:nvSpPr>
              <p:cNvPr id="235" name="Google Shape;235;p15"/>
              <p:cNvSpPr/>
              <p:nvPr/>
            </p:nvSpPr>
            <p:spPr>
              <a:xfrm>
                <a:off x="0" y="54609"/>
                <a:ext cx="812800" cy="265275"/>
              </a:xfrm>
              <a:custGeom>
                <a:avLst/>
                <a:gdLst/>
                <a:ahLst/>
                <a:cxnLst/>
                <a:rect l="l" t="t" r="r" b="b"/>
                <a:pathLst>
                  <a:path w="812800" h="265275" extrusionOk="0">
                    <a:moveTo>
                      <a:pt x="0" y="0"/>
                    </a:moveTo>
                    <a:lnTo>
                      <a:pt x="812800" y="0"/>
                    </a:lnTo>
                    <a:lnTo>
                      <a:pt x="812800" y="265275"/>
                    </a:lnTo>
                    <a:lnTo>
                      <a:pt x="0" y="265275"/>
                    </a:lnTo>
                    <a:close/>
                  </a:path>
                </a:pathLst>
              </a:custGeom>
              <a:solidFill>
                <a:srgbClr val="306BC6"/>
              </a:solidFill>
              <a:ln>
                <a:noFill/>
              </a:ln>
            </p:spPr>
          </p:sp>
          <p:sp>
            <p:nvSpPr>
              <p:cNvPr id="236" name="Google Shape;236;p15"/>
              <p:cNvSpPr txBox="1"/>
              <p:nvPr/>
            </p:nvSpPr>
            <p:spPr>
              <a:xfrm>
                <a:off x="0" y="-38100"/>
                <a:ext cx="812800" cy="303375"/>
              </a:xfrm>
              <a:prstGeom prst="rect">
                <a:avLst/>
              </a:prstGeom>
              <a:noFill/>
              <a:ln>
                <a:noFill/>
              </a:ln>
            </p:spPr>
            <p:txBody>
              <a:bodyPr spcFirstLastPara="1" wrap="square" lIns="50800" tIns="50800" rIns="50800" bIns="50800" anchor="ctr" anchorCtr="0">
                <a:noAutofit/>
              </a:bodyPr>
              <a:lstStyle/>
              <a:p>
                <a:pPr marL="0" marR="0" lvl="0" indent="0" algn="ctr" rtl="0">
                  <a:lnSpc>
                    <a:spcPct val="233250"/>
                  </a:lnSpc>
                  <a:spcBef>
                    <a:spcPts val="0"/>
                  </a:spcBef>
                  <a:spcAft>
                    <a:spcPts val="0"/>
                  </a:spcAft>
                  <a:buNone/>
                </a:pPr>
                <a:endParaRPr sz="1200" b="0" i="0" u="none" strike="noStrike" cap="none">
                  <a:solidFill>
                    <a:srgbClr val="000000"/>
                  </a:solidFill>
                  <a:latin typeface="Arial"/>
                  <a:ea typeface="Arial"/>
                  <a:cs typeface="Arial"/>
                  <a:sym typeface="Arial"/>
                </a:endParaRPr>
              </a:p>
            </p:txBody>
          </p:sp>
        </p:grpSp>
        <p:grpSp>
          <p:nvGrpSpPr>
            <p:cNvPr id="237" name="Google Shape;237;p15"/>
            <p:cNvGrpSpPr/>
            <p:nvPr/>
          </p:nvGrpSpPr>
          <p:grpSpPr>
            <a:xfrm>
              <a:off x="2661886" y="5120796"/>
              <a:ext cx="2129085" cy="2628877"/>
              <a:chOff x="0" y="-38100"/>
              <a:chExt cx="420560" cy="519285"/>
            </a:xfrm>
          </p:grpSpPr>
          <p:sp>
            <p:nvSpPr>
              <p:cNvPr id="238" name="Google Shape;238;p15"/>
              <p:cNvSpPr/>
              <p:nvPr/>
            </p:nvSpPr>
            <p:spPr>
              <a:xfrm>
                <a:off x="0" y="30105"/>
                <a:ext cx="420560" cy="451080"/>
              </a:xfrm>
              <a:custGeom>
                <a:avLst/>
                <a:gdLst/>
                <a:ahLst/>
                <a:cxnLst/>
                <a:rect l="l" t="t" r="r" b="b"/>
                <a:pathLst>
                  <a:path w="420560" h="451080" extrusionOk="0">
                    <a:moveTo>
                      <a:pt x="0" y="0"/>
                    </a:moveTo>
                    <a:lnTo>
                      <a:pt x="420560" y="0"/>
                    </a:lnTo>
                    <a:lnTo>
                      <a:pt x="420560" y="451080"/>
                    </a:lnTo>
                    <a:lnTo>
                      <a:pt x="0" y="451080"/>
                    </a:lnTo>
                    <a:close/>
                  </a:path>
                </a:pathLst>
              </a:custGeom>
              <a:solidFill>
                <a:srgbClr val="7497D9"/>
              </a:solidFill>
              <a:ln>
                <a:noFill/>
              </a:ln>
            </p:spPr>
          </p:sp>
          <p:sp>
            <p:nvSpPr>
              <p:cNvPr id="239" name="Google Shape;239;p15"/>
              <p:cNvSpPr txBox="1"/>
              <p:nvPr/>
            </p:nvSpPr>
            <p:spPr>
              <a:xfrm>
                <a:off x="0" y="-38100"/>
                <a:ext cx="420560" cy="489180"/>
              </a:xfrm>
              <a:prstGeom prst="rect">
                <a:avLst/>
              </a:prstGeom>
              <a:noFill/>
              <a:ln>
                <a:noFill/>
              </a:ln>
            </p:spPr>
            <p:txBody>
              <a:bodyPr spcFirstLastPara="1" wrap="square" lIns="50800" tIns="50800" rIns="50800" bIns="50800" anchor="ctr" anchorCtr="0">
                <a:noAutofit/>
              </a:bodyPr>
              <a:lstStyle/>
              <a:p>
                <a:pPr marL="0" marR="0" lvl="0" indent="0" algn="ctr" rtl="0">
                  <a:lnSpc>
                    <a:spcPct val="233250"/>
                  </a:lnSpc>
                  <a:spcBef>
                    <a:spcPts val="0"/>
                  </a:spcBef>
                  <a:spcAft>
                    <a:spcPts val="0"/>
                  </a:spcAft>
                  <a:buNone/>
                </a:pPr>
                <a:endParaRPr sz="1200" b="0" i="0" u="none" strike="noStrike" cap="none">
                  <a:solidFill>
                    <a:srgbClr val="000000"/>
                  </a:solidFill>
                  <a:latin typeface="Arial"/>
                  <a:ea typeface="Arial"/>
                  <a:cs typeface="Arial"/>
                  <a:sym typeface="Arial"/>
                </a:endParaRPr>
              </a:p>
            </p:txBody>
          </p:sp>
        </p:grpSp>
        <p:sp>
          <p:nvSpPr>
            <p:cNvPr id="240" name="Google Shape;240;p15"/>
            <p:cNvSpPr/>
            <p:nvPr/>
          </p:nvSpPr>
          <p:spPr>
            <a:xfrm>
              <a:off x="2821328" y="5545872"/>
              <a:ext cx="1730251" cy="2193661"/>
            </a:xfrm>
            <a:custGeom>
              <a:avLst/>
              <a:gdLst/>
              <a:ahLst/>
              <a:cxnLst/>
              <a:rect l="l" t="t" r="r" b="b"/>
              <a:pathLst>
                <a:path w="1730250" h="2193660" extrusionOk="0">
                  <a:moveTo>
                    <a:pt x="0" y="0"/>
                  </a:moveTo>
                  <a:lnTo>
                    <a:pt x="1730249" y="0"/>
                  </a:lnTo>
                  <a:lnTo>
                    <a:pt x="1730249" y="2193660"/>
                  </a:lnTo>
                  <a:lnTo>
                    <a:pt x="0" y="2193660"/>
                  </a:lnTo>
                  <a:lnTo>
                    <a:pt x="0" y="0"/>
                  </a:lnTo>
                  <a:close/>
                </a:path>
              </a:pathLst>
            </a:custGeom>
            <a:blipFill rotWithShape="1">
              <a:blip r:embed="rId8">
                <a:alphaModFix/>
              </a:blip>
              <a:stretch>
                <a:fillRect/>
              </a:stretch>
            </a:blipFill>
            <a:ln>
              <a:noFill/>
            </a:ln>
          </p:spPr>
        </p:sp>
        <p:sp>
          <p:nvSpPr>
            <p:cNvPr id="241" name="Google Shape;241;p15"/>
            <p:cNvSpPr txBox="1"/>
            <p:nvPr/>
          </p:nvSpPr>
          <p:spPr>
            <a:xfrm>
              <a:off x="3578230" y="538981"/>
              <a:ext cx="1728192" cy="566622"/>
            </a:xfrm>
            <a:prstGeom prst="rect">
              <a:avLst/>
            </a:prstGeom>
            <a:noFill/>
            <a:ln>
              <a:noFill/>
            </a:ln>
          </p:spPr>
          <p:txBody>
            <a:bodyPr spcFirstLastPara="1" wrap="square" lIns="0" tIns="0" rIns="0" bIns="0" anchor="t" anchorCtr="0">
              <a:spAutoFit/>
            </a:bodyPr>
            <a:lstStyle/>
            <a:p>
              <a:pPr marL="0" marR="0" lvl="0" indent="0" algn="ctr" rtl="0">
                <a:lnSpc>
                  <a:spcPct val="155500"/>
                </a:lnSpc>
                <a:spcBef>
                  <a:spcPts val="0"/>
                </a:spcBef>
                <a:spcAft>
                  <a:spcPts val="0"/>
                </a:spcAft>
                <a:buNone/>
              </a:pPr>
              <a:r>
                <a:rPr lang="en-US" sz="1800" b="0" i="0" u="none" strike="noStrike" cap="none">
                  <a:solidFill>
                    <a:srgbClr val="FFFFFF"/>
                  </a:solidFill>
                  <a:latin typeface="Open Sans"/>
                  <a:ea typeface="Open Sans"/>
                  <a:cs typeface="Open Sans"/>
                  <a:sym typeface="Open Sans"/>
                </a:rPr>
                <a:t>Masukan</a:t>
              </a:r>
              <a:endParaRPr/>
            </a:p>
          </p:txBody>
        </p:sp>
        <p:sp>
          <p:nvSpPr>
            <p:cNvPr id="242" name="Google Shape;242;p15"/>
            <p:cNvSpPr txBox="1"/>
            <p:nvPr/>
          </p:nvSpPr>
          <p:spPr>
            <a:xfrm>
              <a:off x="11178720" y="571650"/>
              <a:ext cx="1741579" cy="566622"/>
            </a:xfrm>
            <a:prstGeom prst="rect">
              <a:avLst/>
            </a:prstGeom>
            <a:noFill/>
            <a:ln>
              <a:noFill/>
            </a:ln>
          </p:spPr>
          <p:txBody>
            <a:bodyPr spcFirstLastPara="1" wrap="square" lIns="0" tIns="0" rIns="0" bIns="0" anchor="t" anchorCtr="0">
              <a:spAutoFit/>
            </a:bodyPr>
            <a:lstStyle/>
            <a:p>
              <a:pPr marL="0" marR="0" lvl="0" indent="0" algn="ctr" rtl="0">
                <a:lnSpc>
                  <a:spcPct val="155500"/>
                </a:lnSpc>
                <a:spcBef>
                  <a:spcPts val="0"/>
                </a:spcBef>
                <a:spcAft>
                  <a:spcPts val="0"/>
                </a:spcAft>
                <a:buNone/>
              </a:pPr>
              <a:r>
                <a:rPr lang="en-US" sz="1800" b="0" i="0" u="none" strike="noStrike" cap="none">
                  <a:solidFill>
                    <a:srgbClr val="F6E8B6"/>
                  </a:solidFill>
                  <a:latin typeface="Open Sans"/>
                  <a:ea typeface="Open Sans"/>
                  <a:cs typeface="Open Sans"/>
                  <a:sym typeface="Open Sans"/>
                </a:rPr>
                <a:t>Keluaran</a:t>
              </a:r>
              <a:endParaRPr/>
            </a:p>
          </p:txBody>
        </p:sp>
        <p:sp>
          <p:nvSpPr>
            <p:cNvPr id="243" name="Google Shape;243;p15"/>
            <p:cNvSpPr txBox="1"/>
            <p:nvPr/>
          </p:nvSpPr>
          <p:spPr>
            <a:xfrm>
              <a:off x="7362229" y="429378"/>
              <a:ext cx="1728192" cy="954312"/>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800" b="0" i="0" u="none" strike="noStrike" cap="none">
                  <a:solidFill>
                    <a:srgbClr val="F6E8B6"/>
                  </a:solidFill>
                  <a:latin typeface="Open Sans"/>
                  <a:ea typeface="Open Sans"/>
                  <a:cs typeface="Open Sans"/>
                  <a:sym typeface="Open Sans"/>
                </a:rPr>
                <a:t>Model KA</a:t>
              </a:r>
              <a:endParaRPr/>
            </a:p>
          </p:txBody>
        </p:sp>
        <p:sp>
          <p:nvSpPr>
            <p:cNvPr id="244" name="Google Shape;244;p15"/>
            <p:cNvSpPr txBox="1"/>
            <p:nvPr/>
          </p:nvSpPr>
          <p:spPr>
            <a:xfrm>
              <a:off x="2057400" y="2028824"/>
              <a:ext cx="3338058" cy="488975"/>
            </a:xfrm>
            <a:prstGeom prst="rect">
              <a:avLst/>
            </a:prstGeom>
            <a:noFill/>
            <a:ln>
              <a:noFill/>
            </a:ln>
          </p:spPr>
          <p:txBody>
            <a:bodyPr spcFirstLastPara="1" wrap="square" lIns="0" tIns="0" rIns="0" bIns="0" anchor="t" anchorCtr="0">
              <a:spAutoFit/>
            </a:bodyPr>
            <a:lstStyle/>
            <a:p>
              <a:pPr marL="0" marR="0" lvl="0" indent="0" algn="ctr" rtl="0">
                <a:lnSpc>
                  <a:spcPct val="149187"/>
                </a:lnSpc>
                <a:spcBef>
                  <a:spcPts val="0"/>
                </a:spcBef>
                <a:spcAft>
                  <a:spcPts val="0"/>
                </a:spcAft>
                <a:buNone/>
              </a:pPr>
              <a:r>
                <a:rPr lang="en-US" sz="1600" b="0" i="0" u="none" strike="noStrike" cap="none">
                  <a:solidFill>
                    <a:srgbClr val="000000"/>
                  </a:solidFill>
                  <a:latin typeface="Open Sans"/>
                  <a:ea typeface="Open Sans"/>
                  <a:cs typeface="Open Sans"/>
                  <a:sym typeface="Open Sans"/>
                </a:rPr>
                <a:t>Contoh masukan :</a:t>
              </a:r>
              <a:endParaRPr/>
            </a:p>
          </p:txBody>
        </p:sp>
        <p:sp>
          <p:nvSpPr>
            <p:cNvPr id="245" name="Google Shape;245;p15"/>
            <p:cNvSpPr txBox="1"/>
            <p:nvPr/>
          </p:nvSpPr>
          <p:spPr>
            <a:xfrm>
              <a:off x="6008251" y="2028824"/>
              <a:ext cx="3338058" cy="488975"/>
            </a:xfrm>
            <a:prstGeom prst="rect">
              <a:avLst/>
            </a:prstGeom>
            <a:noFill/>
            <a:ln>
              <a:noFill/>
            </a:ln>
          </p:spPr>
          <p:txBody>
            <a:bodyPr spcFirstLastPara="1" wrap="square" lIns="0" tIns="0" rIns="0" bIns="0" anchor="t" anchorCtr="0">
              <a:spAutoFit/>
            </a:bodyPr>
            <a:lstStyle/>
            <a:p>
              <a:pPr marL="0" marR="0" lvl="0" indent="0" algn="ctr" rtl="0">
                <a:lnSpc>
                  <a:spcPct val="149187"/>
                </a:lnSpc>
                <a:spcBef>
                  <a:spcPts val="0"/>
                </a:spcBef>
                <a:spcAft>
                  <a:spcPts val="0"/>
                </a:spcAft>
                <a:buNone/>
              </a:pPr>
              <a:r>
                <a:rPr lang="en-US" sz="1600" b="0" i="0" u="none" strike="noStrike" cap="none">
                  <a:solidFill>
                    <a:srgbClr val="000000"/>
                  </a:solidFill>
                  <a:latin typeface="Open Sans"/>
                  <a:ea typeface="Open Sans"/>
                  <a:cs typeface="Open Sans"/>
                  <a:sym typeface="Open Sans"/>
                </a:rPr>
                <a:t>Contoh model KA :</a:t>
              </a:r>
              <a:endParaRPr/>
            </a:p>
          </p:txBody>
        </p:sp>
        <p:sp>
          <p:nvSpPr>
            <p:cNvPr id="246" name="Google Shape;246;p15"/>
            <p:cNvSpPr txBox="1"/>
            <p:nvPr/>
          </p:nvSpPr>
          <p:spPr>
            <a:xfrm>
              <a:off x="9959100" y="2028824"/>
              <a:ext cx="3338058" cy="488975"/>
            </a:xfrm>
            <a:prstGeom prst="rect">
              <a:avLst/>
            </a:prstGeom>
            <a:noFill/>
            <a:ln>
              <a:noFill/>
            </a:ln>
          </p:spPr>
          <p:txBody>
            <a:bodyPr spcFirstLastPara="1" wrap="square" lIns="0" tIns="0" rIns="0" bIns="0" anchor="t" anchorCtr="0">
              <a:spAutoFit/>
            </a:bodyPr>
            <a:lstStyle/>
            <a:p>
              <a:pPr marL="0" marR="0" lvl="0" indent="0" algn="ctr" rtl="0">
                <a:lnSpc>
                  <a:spcPct val="149187"/>
                </a:lnSpc>
                <a:spcBef>
                  <a:spcPts val="0"/>
                </a:spcBef>
                <a:spcAft>
                  <a:spcPts val="0"/>
                </a:spcAft>
                <a:buNone/>
              </a:pPr>
              <a:r>
                <a:rPr lang="en-US" sz="1600" b="0" i="0" u="none" strike="noStrike" cap="none">
                  <a:solidFill>
                    <a:srgbClr val="000000"/>
                  </a:solidFill>
                  <a:latin typeface="Open Sans"/>
                  <a:ea typeface="Open Sans"/>
                  <a:cs typeface="Open Sans"/>
                  <a:sym typeface="Open Sans"/>
                </a:rPr>
                <a:t>Contoh keluaran :</a:t>
              </a:r>
              <a:endParaRPr/>
            </a:p>
          </p:txBody>
        </p:sp>
        <p:sp>
          <p:nvSpPr>
            <p:cNvPr id="247" name="Google Shape;247;p15"/>
            <p:cNvSpPr txBox="1"/>
            <p:nvPr/>
          </p:nvSpPr>
          <p:spPr>
            <a:xfrm>
              <a:off x="5873894" y="2530889"/>
              <a:ext cx="3606772" cy="954312"/>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800" b="1" i="0" u="none" strike="noStrike" cap="none">
                  <a:solidFill>
                    <a:srgbClr val="000000"/>
                  </a:solidFill>
                  <a:latin typeface="Open Sans"/>
                  <a:ea typeface="Open Sans"/>
                  <a:cs typeface="Open Sans"/>
                  <a:sym typeface="Open Sans"/>
                </a:rPr>
                <a:t>Pengenalan Binatang</a:t>
              </a:r>
              <a:endParaRPr/>
            </a:p>
          </p:txBody>
        </p:sp>
        <p:sp>
          <p:nvSpPr>
            <p:cNvPr id="248" name="Google Shape;248;p15"/>
            <p:cNvSpPr txBox="1"/>
            <p:nvPr/>
          </p:nvSpPr>
          <p:spPr>
            <a:xfrm>
              <a:off x="9824743" y="2682491"/>
              <a:ext cx="3606772" cy="660839"/>
            </a:xfrm>
            <a:prstGeom prst="rect">
              <a:avLst/>
            </a:prstGeom>
            <a:noFill/>
            <a:ln>
              <a:noFill/>
            </a:ln>
          </p:spPr>
          <p:txBody>
            <a:bodyPr spcFirstLastPara="1" wrap="square" lIns="0" tIns="0" rIns="0" bIns="0" anchor="t" anchorCtr="0">
              <a:spAutoFit/>
            </a:bodyPr>
            <a:lstStyle/>
            <a:p>
              <a:pPr marL="0" marR="0" lvl="0" indent="0" algn="ctr" rtl="0">
                <a:lnSpc>
                  <a:spcPct val="164650"/>
                </a:lnSpc>
                <a:spcBef>
                  <a:spcPts val="0"/>
                </a:spcBef>
                <a:spcAft>
                  <a:spcPts val="0"/>
                </a:spcAft>
                <a:buNone/>
              </a:pPr>
              <a:r>
                <a:rPr lang="en-US" sz="2000" b="1" i="0" u="none" strike="noStrike" cap="none">
                  <a:solidFill>
                    <a:srgbClr val="FFFFFF"/>
                  </a:solidFill>
                  <a:latin typeface="Open Sans"/>
                  <a:ea typeface="Open Sans"/>
                  <a:cs typeface="Open Sans"/>
                  <a:sym typeface="Open Sans"/>
                </a:rPr>
                <a:t>Kucing</a:t>
              </a:r>
              <a:endParaRPr/>
            </a:p>
          </p:txBody>
        </p:sp>
        <p:sp>
          <p:nvSpPr>
            <p:cNvPr id="249" name="Google Shape;249;p15"/>
            <p:cNvSpPr txBox="1"/>
            <p:nvPr/>
          </p:nvSpPr>
          <p:spPr>
            <a:xfrm>
              <a:off x="2139709" y="4859042"/>
              <a:ext cx="3338058" cy="488975"/>
            </a:xfrm>
            <a:prstGeom prst="rect">
              <a:avLst/>
            </a:prstGeom>
            <a:noFill/>
            <a:ln>
              <a:noFill/>
            </a:ln>
          </p:spPr>
          <p:txBody>
            <a:bodyPr spcFirstLastPara="1" wrap="square" lIns="0" tIns="0" rIns="0" bIns="0" anchor="t" anchorCtr="0">
              <a:spAutoFit/>
            </a:bodyPr>
            <a:lstStyle/>
            <a:p>
              <a:pPr marL="0" marR="0" lvl="0" indent="0" algn="ctr" rtl="0">
                <a:lnSpc>
                  <a:spcPct val="149187"/>
                </a:lnSpc>
                <a:spcBef>
                  <a:spcPts val="0"/>
                </a:spcBef>
                <a:spcAft>
                  <a:spcPts val="0"/>
                </a:spcAft>
                <a:buNone/>
              </a:pPr>
              <a:r>
                <a:rPr lang="en-US" sz="1600" b="0" i="0" u="none" strike="noStrike" cap="none">
                  <a:solidFill>
                    <a:srgbClr val="000000"/>
                  </a:solidFill>
                  <a:latin typeface="Open Sans"/>
                  <a:ea typeface="Open Sans"/>
                  <a:cs typeface="Open Sans"/>
                  <a:sym typeface="Open Sans"/>
                </a:rPr>
                <a:t>Contoh masukan :</a:t>
              </a:r>
              <a:endParaRPr/>
            </a:p>
          </p:txBody>
        </p:sp>
        <p:sp>
          <p:nvSpPr>
            <p:cNvPr id="250" name="Google Shape;250;p15"/>
            <p:cNvSpPr txBox="1"/>
            <p:nvPr/>
          </p:nvSpPr>
          <p:spPr>
            <a:xfrm>
              <a:off x="10041409" y="4871743"/>
              <a:ext cx="3338058" cy="488975"/>
            </a:xfrm>
            <a:prstGeom prst="rect">
              <a:avLst/>
            </a:prstGeom>
            <a:noFill/>
            <a:ln>
              <a:noFill/>
            </a:ln>
          </p:spPr>
          <p:txBody>
            <a:bodyPr spcFirstLastPara="1" wrap="square" lIns="0" tIns="0" rIns="0" bIns="0" anchor="t" anchorCtr="0">
              <a:spAutoFit/>
            </a:bodyPr>
            <a:lstStyle/>
            <a:p>
              <a:pPr marL="0" marR="0" lvl="0" indent="0" algn="ctr" rtl="0">
                <a:lnSpc>
                  <a:spcPct val="149187"/>
                </a:lnSpc>
                <a:spcBef>
                  <a:spcPts val="0"/>
                </a:spcBef>
                <a:spcAft>
                  <a:spcPts val="0"/>
                </a:spcAft>
                <a:buNone/>
              </a:pPr>
              <a:r>
                <a:rPr lang="en-US" sz="1600" b="0" i="0" u="none" strike="noStrike" cap="none">
                  <a:solidFill>
                    <a:srgbClr val="000000"/>
                  </a:solidFill>
                  <a:latin typeface="Open Sans"/>
                  <a:ea typeface="Open Sans"/>
                  <a:cs typeface="Open Sans"/>
                  <a:sym typeface="Open Sans"/>
                </a:rPr>
                <a:t>Contoh keluaran :</a:t>
              </a:r>
              <a:endParaRPr/>
            </a:p>
          </p:txBody>
        </p:sp>
        <p:sp>
          <p:nvSpPr>
            <p:cNvPr id="251" name="Google Shape;251;p15"/>
            <p:cNvSpPr txBox="1"/>
            <p:nvPr/>
          </p:nvSpPr>
          <p:spPr>
            <a:xfrm>
              <a:off x="9907052" y="5454266"/>
              <a:ext cx="3606772" cy="660839"/>
            </a:xfrm>
            <a:prstGeom prst="rect">
              <a:avLst/>
            </a:prstGeom>
            <a:noFill/>
            <a:ln>
              <a:noFill/>
            </a:ln>
          </p:spPr>
          <p:txBody>
            <a:bodyPr spcFirstLastPara="1" wrap="square" lIns="0" tIns="0" rIns="0" bIns="0" anchor="t" anchorCtr="0">
              <a:spAutoFit/>
            </a:bodyPr>
            <a:lstStyle/>
            <a:p>
              <a:pPr marL="0" marR="0" lvl="0" indent="0" algn="ctr" rtl="0">
                <a:lnSpc>
                  <a:spcPct val="164650"/>
                </a:lnSpc>
                <a:spcBef>
                  <a:spcPts val="0"/>
                </a:spcBef>
                <a:spcAft>
                  <a:spcPts val="0"/>
                </a:spcAft>
                <a:buNone/>
              </a:pPr>
              <a:r>
                <a:rPr lang="en-US" sz="2000" b="1" i="0" u="none" strike="noStrike" cap="none">
                  <a:solidFill>
                    <a:srgbClr val="FFFFFF"/>
                  </a:solidFill>
                  <a:latin typeface="Open Sans"/>
                  <a:ea typeface="Open Sans"/>
                  <a:cs typeface="Open Sans"/>
                  <a:sym typeface="Open Sans"/>
                </a:rPr>
                <a:t>Anjing</a:t>
              </a:r>
              <a:endParaRPr/>
            </a:p>
          </p:txBody>
        </p:sp>
      </p:grpSp>
      <p:sp>
        <p:nvSpPr>
          <p:cNvPr id="252" name="Google Shape;252;p15"/>
          <p:cNvSpPr txBox="1"/>
          <p:nvPr/>
        </p:nvSpPr>
        <p:spPr>
          <a:xfrm>
            <a:off x="5268128" y="5692101"/>
            <a:ext cx="5721721" cy="322332"/>
          </a:xfrm>
          <a:prstGeom prst="rect">
            <a:avLst/>
          </a:prstGeom>
          <a:noFill/>
          <a:ln>
            <a:noFill/>
          </a:ln>
        </p:spPr>
        <p:txBody>
          <a:bodyPr spcFirstLastPara="1" wrap="square" lIns="0" tIns="0" rIns="0" bIns="0" anchor="t" anchorCtr="0">
            <a:spAutoFit/>
          </a:bodyPr>
          <a:lstStyle/>
          <a:p>
            <a:pPr marL="0" marR="0" lvl="0" indent="0" algn="ctr" rtl="0">
              <a:lnSpc>
                <a:spcPct val="174937"/>
              </a:lnSpc>
              <a:spcBef>
                <a:spcPts val="0"/>
              </a:spcBef>
              <a:spcAft>
                <a:spcPts val="0"/>
              </a:spcAft>
              <a:buNone/>
            </a:pPr>
            <a:r>
              <a:rPr lang="en-US" sz="1600" b="1" i="0" u="none" strike="noStrike" cap="none">
                <a:solidFill>
                  <a:srgbClr val="1E4E79"/>
                </a:solidFill>
                <a:latin typeface="Open Sans"/>
                <a:ea typeface="Open Sans"/>
                <a:cs typeface="Open Sans"/>
                <a:sym typeface="Open Sans"/>
              </a:rPr>
              <a:t>Contoh Alur Penggunaan model KA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16"/>
          <p:cNvSpPr txBox="1"/>
          <p:nvPr/>
        </p:nvSpPr>
        <p:spPr>
          <a:xfrm>
            <a:off x="544282" y="155084"/>
            <a:ext cx="11909256" cy="617605"/>
          </a:xfrm>
          <a:prstGeom prst="rect">
            <a:avLst/>
          </a:prstGeom>
          <a:noFill/>
          <a:ln>
            <a:noFill/>
          </a:ln>
        </p:spPr>
        <p:txBody>
          <a:bodyPr spcFirstLastPara="1" wrap="square" lIns="0" tIns="0" rIns="0" bIns="0" anchor="t" anchorCtr="0">
            <a:spAutoFit/>
          </a:bodyPr>
          <a:lstStyle/>
          <a:p>
            <a:pPr marL="0" marR="0" lvl="0" indent="0" algn="l" rtl="0">
              <a:lnSpc>
                <a:spcPct val="254500"/>
              </a:lnSpc>
              <a:spcBef>
                <a:spcPts val="0"/>
              </a:spcBef>
              <a:spcAft>
                <a:spcPts val="0"/>
              </a:spcAft>
              <a:buNone/>
            </a:pPr>
            <a:r>
              <a:rPr lang="en-US" sz="2200" b="1" i="0" u="none" strike="noStrike" cap="none">
                <a:solidFill>
                  <a:srgbClr val="2E75B5"/>
                </a:solidFill>
                <a:latin typeface="Poppins"/>
                <a:ea typeface="Poppins"/>
                <a:cs typeface="Poppins"/>
                <a:sym typeface="Poppins"/>
              </a:rPr>
              <a:t>Contoh Alur Penggunaan model KA Generatif untuk Menghasilkan Gambar</a:t>
            </a:r>
            <a:endParaRPr/>
          </a:p>
        </p:txBody>
      </p:sp>
      <p:sp>
        <p:nvSpPr>
          <p:cNvPr id="258" name="Google Shape;258;p16"/>
          <p:cNvSpPr txBox="1"/>
          <p:nvPr/>
        </p:nvSpPr>
        <p:spPr>
          <a:xfrm>
            <a:off x="620819" y="1105670"/>
            <a:ext cx="2449100" cy="2585323"/>
          </a:xfrm>
          <a:prstGeom prst="rect">
            <a:avLst/>
          </a:prstGeom>
          <a:noFill/>
          <a:ln>
            <a:noFill/>
          </a:ln>
        </p:spPr>
        <p:txBody>
          <a:bodyPr spcFirstLastPara="1" wrap="square" lIns="0" tIns="0" rIns="0" bIns="0" anchor="t" anchorCtr="0">
            <a:spAutoFit/>
          </a:bodyPr>
          <a:lstStyle/>
          <a:p>
            <a:pPr marL="269874" marR="0" lvl="1" indent="0" algn="l" rtl="0">
              <a:lnSpc>
                <a:spcPct val="100000"/>
              </a:lnSpc>
              <a:spcBef>
                <a:spcPts val="0"/>
              </a:spcBef>
              <a:spcAft>
                <a:spcPts val="0"/>
              </a:spcAft>
              <a:buNone/>
            </a:pPr>
            <a:r>
              <a:rPr lang="en-US" sz="2400" b="0" i="0" u="none" strike="noStrike" cap="none">
                <a:solidFill>
                  <a:srgbClr val="1E4E79"/>
                </a:solidFill>
                <a:latin typeface="Calibri"/>
                <a:ea typeface="Calibri"/>
                <a:cs typeface="Calibri"/>
                <a:sym typeface="Calibri"/>
              </a:rPr>
              <a:t>Teknologi KA Generatif juga dapat menghasilkan rangkaian atau sekelompok nilai atau konten.</a:t>
            </a:r>
            <a:endParaRPr sz="2400" b="0" i="0" u="none" strike="noStrike" cap="none">
              <a:solidFill>
                <a:srgbClr val="1E4E79"/>
              </a:solidFill>
              <a:latin typeface="Calibri"/>
              <a:ea typeface="Calibri"/>
              <a:cs typeface="Calibri"/>
              <a:sym typeface="Calibri"/>
            </a:endParaRPr>
          </a:p>
        </p:txBody>
      </p:sp>
      <p:sp>
        <p:nvSpPr>
          <p:cNvPr id="259" name="Google Shape;259;p16"/>
          <p:cNvSpPr txBox="1"/>
          <p:nvPr/>
        </p:nvSpPr>
        <p:spPr>
          <a:xfrm>
            <a:off x="1364554" y="5163459"/>
            <a:ext cx="10493566" cy="923330"/>
          </a:xfrm>
          <a:prstGeom prst="rect">
            <a:avLst/>
          </a:prstGeom>
          <a:noFill/>
          <a:ln>
            <a:noFill/>
          </a:ln>
        </p:spPr>
        <p:txBody>
          <a:bodyPr spcFirstLastPara="1" wrap="square" lIns="0" tIns="0" rIns="0" bIns="0" anchor="t" anchorCtr="0">
            <a:spAutoFit/>
          </a:bodyPr>
          <a:lstStyle/>
          <a:p>
            <a:pPr marL="269874" marR="0" lvl="1" indent="0" algn="ctr" rtl="0">
              <a:lnSpc>
                <a:spcPct val="100000"/>
              </a:lnSpc>
              <a:spcBef>
                <a:spcPts val="0"/>
              </a:spcBef>
              <a:spcAft>
                <a:spcPts val="0"/>
              </a:spcAft>
              <a:buNone/>
            </a:pPr>
            <a:r>
              <a:rPr lang="en-US" sz="2000" b="0" i="0" u="none" strike="noStrike" cap="none">
                <a:solidFill>
                  <a:srgbClr val="1E4E79"/>
                </a:solidFill>
                <a:latin typeface="Calibri"/>
                <a:ea typeface="Calibri"/>
                <a:cs typeface="Calibri"/>
                <a:sym typeface="Calibri"/>
              </a:rPr>
              <a:t>Contoh masukan dan keluaran sebuah model KA Generatif (model pembuat gambar) yang berupa rangkaian konten dapat dilihat pada gambar diatas, dimana gambar kucing (sebagai keluaran model KA Generatif) merupakan rangkaian titik gambar.</a:t>
            </a:r>
            <a:endParaRPr sz="2000" b="0" i="0" u="none" strike="noStrike" cap="none">
              <a:solidFill>
                <a:srgbClr val="1E4E79"/>
              </a:solidFill>
              <a:latin typeface="Calibri"/>
              <a:ea typeface="Calibri"/>
              <a:cs typeface="Calibri"/>
              <a:sym typeface="Calibri"/>
            </a:endParaRPr>
          </a:p>
        </p:txBody>
      </p:sp>
      <p:grpSp>
        <p:nvGrpSpPr>
          <p:cNvPr id="260" name="Google Shape;260;p16"/>
          <p:cNvGrpSpPr/>
          <p:nvPr/>
        </p:nvGrpSpPr>
        <p:grpSpPr>
          <a:xfrm>
            <a:off x="3343194" y="999574"/>
            <a:ext cx="8574690" cy="3751702"/>
            <a:chOff x="0" y="-57150"/>
            <a:chExt cx="3049335" cy="1252445"/>
          </a:xfrm>
        </p:grpSpPr>
        <p:sp>
          <p:nvSpPr>
            <p:cNvPr id="261" name="Google Shape;261;p16"/>
            <p:cNvSpPr/>
            <p:nvPr/>
          </p:nvSpPr>
          <p:spPr>
            <a:xfrm>
              <a:off x="0" y="0"/>
              <a:ext cx="3049335" cy="1195295"/>
            </a:xfrm>
            <a:custGeom>
              <a:avLst/>
              <a:gdLst/>
              <a:ahLst/>
              <a:cxnLst/>
              <a:rect l="l" t="t" r="r" b="b"/>
              <a:pathLst>
                <a:path w="3049335" h="1195295" extrusionOk="0">
                  <a:moveTo>
                    <a:pt x="26078" y="0"/>
                  </a:moveTo>
                  <a:lnTo>
                    <a:pt x="3023256" y="0"/>
                  </a:lnTo>
                  <a:cubicBezTo>
                    <a:pt x="3030173" y="0"/>
                    <a:pt x="3036806" y="2748"/>
                    <a:pt x="3041696" y="7638"/>
                  </a:cubicBezTo>
                  <a:cubicBezTo>
                    <a:pt x="3046587" y="12529"/>
                    <a:pt x="3049335" y="19162"/>
                    <a:pt x="3049335" y="26078"/>
                  </a:cubicBezTo>
                  <a:lnTo>
                    <a:pt x="3049335" y="1169217"/>
                  </a:lnTo>
                  <a:cubicBezTo>
                    <a:pt x="3049335" y="1176133"/>
                    <a:pt x="3046587" y="1182766"/>
                    <a:pt x="3041696" y="1187657"/>
                  </a:cubicBezTo>
                  <a:cubicBezTo>
                    <a:pt x="3036806" y="1192548"/>
                    <a:pt x="3030173" y="1195295"/>
                    <a:pt x="3023256" y="1195295"/>
                  </a:cubicBezTo>
                  <a:lnTo>
                    <a:pt x="26078" y="1195295"/>
                  </a:lnTo>
                  <a:cubicBezTo>
                    <a:pt x="19162" y="1195295"/>
                    <a:pt x="12529" y="1192548"/>
                    <a:pt x="7638" y="1187657"/>
                  </a:cubicBezTo>
                  <a:cubicBezTo>
                    <a:pt x="2748" y="1182766"/>
                    <a:pt x="0" y="1176133"/>
                    <a:pt x="0" y="1169217"/>
                  </a:cubicBezTo>
                  <a:lnTo>
                    <a:pt x="0" y="26078"/>
                  </a:lnTo>
                  <a:cubicBezTo>
                    <a:pt x="0" y="19162"/>
                    <a:pt x="2748" y="12529"/>
                    <a:pt x="7638" y="7638"/>
                  </a:cubicBezTo>
                  <a:cubicBezTo>
                    <a:pt x="12529" y="2748"/>
                    <a:pt x="19162" y="0"/>
                    <a:pt x="26078" y="0"/>
                  </a:cubicBez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6"/>
            <p:cNvSpPr txBox="1"/>
            <p:nvPr/>
          </p:nvSpPr>
          <p:spPr>
            <a:xfrm>
              <a:off x="0" y="-57150"/>
              <a:ext cx="3049335" cy="1252445"/>
            </a:xfrm>
            <a:prstGeom prst="rect">
              <a:avLst/>
            </a:prstGeom>
            <a:noFill/>
            <a:ln>
              <a:noFill/>
            </a:ln>
          </p:spPr>
          <p:txBody>
            <a:bodyPr spcFirstLastPara="1" wrap="square" lIns="50800" tIns="50800" rIns="50800" bIns="50800" anchor="ctr" anchorCtr="0">
              <a:noAutofit/>
            </a:bodyPr>
            <a:lstStyle/>
            <a:p>
              <a:pPr marL="0" marR="0" lvl="0" indent="0" algn="ctr" rtl="0">
                <a:lnSpc>
                  <a:spcPct val="226666"/>
                </a:lnSpc>
                <a:spcBef>
                  <a:spcPts val="0"/>
                </a:spcBef>
                <a:spcAft>
                  <a:spcPts val="0"/>
                </a:spcAft>
                <a:buNone/>
              </a:pPr>
              <a:endParaRPr sz="1050" b="0" i="0" u="none" strike="noStrike" cap="none">
                <a:solidFill>
                  <a:srgbClr val="000000"/>
                </a:solidFill>
                <a:latin typeface="Arial"/>
                <a:ea typeface="Arial"/>
                <a:cs typeface="Arial"/>
                <a:sym typeface="Arial"/>
              </a:endParaRPr>
            </a:p>
          </p:txBody>
        </p:sp>
      </p:grpSp>
      <p:grpSp>
        <p:nvGrpSpPr>
          <p:cNvPr id="263" name="Google Shape;263;p16"/>
          <p:cNvGrpSpPr/>
          <p:nvPr/>
        </p:nvGrpSpPr>
        <p:grpSpPr>
          <a:xfrm>
            <a:off x="3541235" y="1468824"/>
            <a:ext cx="8071969" cy="3138375"/>
            <a:chOff x="0" y="0"/>
            <a:chExt cx="14532194" cy="5650105"/>
          </a:xfrm>
        </p:grpSpPr>
        <p:grpSp>
          <p:nvGrpSpPr>
            <p:cNvPr id="264" name="Google Shape;264;p16"/>
            <p:cNvGrpSpPr/>
            <p:nvPr/>
          </p:nvGrpSpPr>
          <p:grpSpPr>
            <a:xfrm>
              <a:off x="1865767" y="105395"/>
              <a:ext cx="4064582" cy="1291500"/>
              <a:chOff x="0" y="-38100"/>
              <a:chExt cx="1211536" cy="384959"/>
            </a:xfrm>
          </p:grpSpPr>
          <p:sp>
            <p:nvSpPr>
              <p:cNvPr id="265" name="Google Shape;265;p16"/>
              <p:cNvSpPr/>
              <p:nvPr/>
            </p:nvSpPr>
            <p:spPr>
              <a:xfrm>
                <a:off x="0" y="0"/>
                <a:ext cx="1211536" cy="346859"/>
              </a:xfrm>
              <a:custGeom>
                <a:avLst/>
                <a:gdLst/>
                <a:ahLst/>
                <a:cxnLst/>
                <a:rect l="l" t="t" r="r" b="b"/>
                <a:pathLst>
                  <a:path w="1211536" h="346859" extrusionOk="0">
                    <a:moveTo>
                      <a:pt x="0" y="0"/>
                    </a:moveTo>
                    <a:lnTo>
                      <a:pt x="1008336" y="0"/>
                    </a:lnTo>
                    <a:lnTo>
                      <a:pt x="1211536" y="173430"/>
                    </a:lnTo>
                    <a:lnTo>
                      <a:pt x="1008336" y="346859"/>
                    </a:lnTo>
                    <a:lnTo>
                      <a:pt x="0" y="346859"/>
                    </a:lnTo>
                    <a:lnTo>
                      <a:pt x="203200" y="173430"/>
                    </a:lnTo>
                    <a:lnTo>
                      <a:pt x="0" y="0"/>
                    </a:lnTo>
                    <a:close/>
                  </a:path>
                </a:pathLst>
              </a:custGeom>
              <a:solidFill>
                <a:srgbClr val="6A98DF"/>
              </a:solidFill>
              <a:ln>
                <a:noFill/>
              </a:ln>
            </p:spPr>
          </p:sp>
          <p:sp>
            <p:nvSpPr>
              <p:cNvPr id="266" name="Google Shape;266;p16"/>
              <p:cNvSpPr txBox="1"/>
              <p:nvPr/>
            </p:nvSpPr>
            <p:spPr>
              <a:xfrm>
                <a:off x="177800" y="-38100"/>
                <a:ext cx="957536" cy="384959"/>
              </a:xfrm>
              <a:prstGeom prst="rect">
                <a:avLst/>
              </a:prstGeom>
              <a:noFill/>
              <a:ln>
                <a:noFill/>
              </a:ln>
            </p:spPr>
            <p:txBody>
              <a:bodyPr spcFirstLastPara="1" wrap="square" lIns="50800" tIns="50800" rIns="50800" bIns="50800" anchor="ctr" anchorCtr="0">
                <a:noAutofit/>
              </a:bodyPr>
              <a:lstStyle/>
              <a:p>
                <a:pPr marL="0" marR="0" lvl="0" indent="0" algn="ctr" rtl="0">
                  <a:lnSpc>
                    <a:spcPct val="266571"/>
                  </a:lnSpc>
                  <a:spcBef>
                    <a:spcPts val="0"/>
                  </a:spcBef>
                  <a:spcAft>
                    <a:spcPts val="0"/>
                  </a:spcAft>
                  <a:buNone/>
                </a:pPr>
                <a:endParaRPr sz="1050" b="0" i="0" u="none" strike="noStrike" cap="none">
                  <a:solidFill>
                    <a:srgbClr val="000000"/>
                  </a:solidFill>
                  <a:latin typeface="Arial"/>
                  <a:ea typeface="Arial"/>
                  <a:cs typeface="Arial"/>
                  <a:sym typeface="Arial"/>
                </a:endParaRPr>
              </a:p>
            </p:txBody>
          </p:sp>
        </p:grpSp>
        <p:sp>
          <p:nvSpPr>
            <p:cNvPr id="267" name="Google Shape;267;p16"/>
            <p:cNvSpPr/>
            <p:nvPr/>
          </p:nvSpPr>
          <p:spPr>
            <a:xfrm>
              <a:off x="2726659" y="517545"/>
              <a:ext cx="717595" cy="681716"/>
            </a:xfrm>
            <a:custGeom>
              <a:avLst/>
              <a:gdLst/>
              <a:ahLst/>
              <a:cxnLst/>
              <a:rect l="l" t="t" r="r" b="b"/>
              <a:pathLst>
                <a:path w="717595" h="681716" extrusionOk="0">
                  <a:moveTo>
                    <a:pt x="0" y="0"/>
                  </a:moveTo>
                  <a:lnTo>
                    <a:pt x="717595" y="0"/>
                  </a:lnTo>
                  <a:lnTo>
                    <a:pt x="717595" y="681716"/>
                  </a:lnTo>
                  <a:lnTo>
                    <a:pt x="0" y="681716"/>
                  </a:lnTo>
                  <a:lnTo>
                    <a:pt x="0" y="0"/>
                  </a:lnTo>
                  <a:close/>
                </a:path>
              </a:pathLst>
            </a:custGeom>
            <a:blipFill rotWithShape="1">
              <a:blip r:embed="rId3">
                <a:alphaModFix/>
              </a:blip>
              <a:stretch>
                <a:fillRect/>
              </a:stretch>
            </a:blipFill>
            <a:ln>
              <a:noFill/>
            </a:ln>
          </p:spPr>
        </p:sp>
        <p:sp>
          <p:nvSpPr>
            <p:cNvPr id="268" name="Google Shape;268;p16"/>
            <p:cNvSpPr txBox="1"/>
            <p:nvPr/>
          </p:nvSpPr>
          <p:spPr>
            <a:xfrm>
              <a:off x="3579638" y="394470"/>
              <a:ext cx="1947554" cy="498684"/>
            </a:xfrm>
            <a:prstGeom prst="rect">
              <a:avLst/>
            </a:prstGeom>
            <a:noFill/>
            <a:ln>
              <a:noFill/>
            </a:ln>
          </p:spPr>
          <p:txBody>
            <a:bodyPr spcFirstLastPara="1" wrap="square" lIns="0" tIns="0" rIns="0" bIns="0" anchor="t" anchorCtr="0">
              <a:spAutoFit/>
            </a:bodyPr>
            <a:lstStyle/>
            <a:p>
              <a:pPr marL="0" marR="0" lvl="0" indent="0" algn="ctr" rtl="0">
                <a:lnSpc>
                  <a:spcPct val="197125"/>
                </a:lnSpc>
                <a:spcBef>
                  <a:spcPts val="0"/>
                </a:spcBef>
                <a:spcAft>
                  <a:spcPts val="0"/>
                </a:spcAft>
                <a:buNone/>
              </a:pPr>
              <a:r>
                <a:rPr lang="en-US" sz="1600" b="0" i="0" u="none" strike="noStrike" cap="none">
                  <a:solidFill>
                    <a:srgbClr val="FFFFFF"/>
                  </a:solidFill>
                  <a:latin typeface="Open Sans"/>
                  <a:ea typeface="Open Sans"/>
                  <a:cs typeface="Open Sans"/>
                  <a:sym typeface="Open Sans"/>
                </a:rPr>
                <a:t>Masukan</a:t>
              </a:r>
              <a:endParaRPr/>
            </a:p>
          </p:txBody>
        </p:sp>
        <p:grpSp>
          <p:nvGrpSpPr>
            <p:cNvPr id="269" name="Google Shape;269;p16"/>
            <p:cNvGrpSpPr/>
            <p:nvPr/>
          </p:nvGrpSpPr>
          <p:grpSpPr>
            <a:xfrm>
              <a:off x="10467612" y="105395"/>
              <a:ext cx="4064582" cy="1291500"/>
              <a:chOff x="0" y="-38100"/>
              <a:chExt cx="1211536" cy="384959"/>
            </a:xfrm>
          </p:grpSpPr>
          <p:sp>
            <p:nvSpPr>
              <p:cNvPr id="270" name="Google Shape;270;p16"/>
              <p:cNvSpPr/>
              <p:nvPr/>
            </p:nvSpPr>
            <p:spPr>
              <a:xfrm>
                <a:off x="0" y="0"/>
                <a:ext cx="1211536" cy="346859"/>
              </a:xfrm>
              <a:custGeom>
                <a:avLst/>
                <a:gdLst/>
                <a:ahLst/>
                <a:cxnLst/>
                <a:rect l="l" t="t" r="r" b="b"/>
                <a:pathLst>
                  <a:path w="1211536" h="346859" extrusionOk="0">
                    <a:moveTo>
                      <a:pt x="0" y="0"/>
                    </a:moveTo>
                    <a:lnTo>
                      <a:pt x="1008336" y="0"/>
                    </a:lnTo>
                    <a:lnTo>
                      <a:pt x="1211536" y="173430"/>
                    </a:lnTo>
                    <a:lnTo>
                      <a:pt x="1008336" y="346859"/>
                    </a:lnTo>
                    <a:lnTo>
                      <a:pt x="0" y="346859"/>
                    </a:lnTo>
                    <a:lnTo>
                      <a:pt x="203200" y="173430"/>
                    </a:lnTo>
                    <a:lnTo>
                      <a:pt x="0" y="0"/>
                    </a:lnTo>
                    <a:close/>
                  </a:path>
                </a:pathLst>
              </a:custGeom>
              <a:solidFill>
                <a:srgbClr val="003586"/>
              </a:solidFill>
              <a:ln>
                <a:noFill/>
              </a:ln>
            </p:spPr>
          </p:sp>
          <p:sp>
            <p:nvSpPr>
              <p:cNvPr id="271" name="Google Shape;271;p16"/>
              <p:cNvSpPr txBox="1"/>
              <p:nvPr/>
            </p:nvSpPr>
            <p:spPr>
              <a:xfrm>
                <a:off x="177800" y="-38100"/>
                <a:ext cx="957536" cy="384959"/>
              </a:xfrm>
              <a:prstGeom prst="rect">
                <a:avLst/>
              </a:prstGeom>
              <a:noFill/>
              <a:ln>
                <a:noFill/>
              </a:ln>
            </p:spPr>
            <p:txBody>
              <a:bodyPr spcFirstLastPara="1" wrap="square" lIns="50800" tIns="50800" rIns="50800" bIns="50800" anchor="ctr" anchorCtr="0">
                <a:noAutofit/>
              </a:bodyPr>
              <a:lstStyle/>
              <a:p>
                <a:pPr marL="0" marR="0" lvl="0" indent="0" algn="ctr" rtl="0">
                  <a:lnSpc>
                    <a:spcPct val="266571"/>
                  </a:lnSpc>
                  <a:spcBef>
                    <a:spcPts val="0"/>
                  </a:spcBef>
                  <a:spcAft>
                    <a:spcPts val="0"/>
                  </a:spcAft>
                  <a:buNone/>
                </a:pPr>
                <a:endParaRPr sz="1050" b="0" i="0" u="none" strike="noStrike" cap="none">
                  <a:solidFill>
                    <a:srgbClr val="000000"/>
                  </a:solidFill>
                  <a:latin typeface="Arial"/>
                  <a:ea typeface="Arial"/>
                  <a:cs typeface="Arial"/>
                  <a:sym typeface="Arial"/>
                </a:endParaRPr>
              </a:p>
            </p:txBody>
          </p:sp>
        </p:grpSp>
        <p:sp>
          <p:nvSpPr>
            <p:cNvPr id="272" name="Google Shape;272;p16"/>
            <p:cNvSpPr txBox="1"/>
            <p:nvPr/>
          </p:nvSpPr>
          <p:spPr>
            <a:xfrm>
              <a:off x="12144863" y="406365"/>
              <a:ext cx="1947554" cy="498684"/>
            </a:xfrm>
            <a:prstGeom prst="rect">
              <a:avLst/>
            </a:prstGeom>
            <a:noFill/>
            <a:ln>
              <a:noFill/>
            </a:ln>
          </p:spPr>
          <p:txBody>
            <a:bodyPr spcFirstLastPara="1" wrap="square" lIns="0" tIns="0" rIns="0" bIns="0" anchor="t" anchorCtr="0">
              <a:spAutoFit/>
            </a:bodyPr>
            <a:lstStyle/>
            <a:p>
              <a:pPr marL="0" marR="0" lvl="0" indent="0" algn="ctr" rtl="0">
                <a:lnSpc>
                  <a:spcPct val="197125"/>
                </a:lnSpc>
                <a:spcBef>
                  <a:spcPts val="0"/>
                </a:spcBef>
                <a:spcAft>
                  <a:spcPts val="0"/>
                </a:spcAft>
                <a:buNone/>
              </a:pPr>
              <a:r>
                <a:rPr lang="en-US" sz="1600" b="0" i="0" u="none" strike="noStrike" cap="none">
                  <a:solidFill>
                    <a:srgbClr val="F6E8B6"/>
                  </a:solidFill>
                  <a:latin typeface="Open Sans"/>
                  <a:ea typeface="Open Sans"/>
                  <a:cs typeface="Open Sans"/>
                  <a:sym typeface="Open Sans"/>
                </a:rPr>
                <a:t>Keluaran</a:t>
              </a:r>
              <a:endParaRPr/>
            </a:p>
          </p:txBody>
        </p:sp>
        <p:sp>
          <p:nvSpPr>
            <p:cNvPr id="273" name="Google Shape;273;p16"/>
            <p:cNvSpPr/>
            <p:nvPr/>
          </p:nvSpPr>
          <p:spPr>
            <a:xfrm>
              <a:off x="11436620" y="460934"/>
              <a:ext cx="708244" cy="708244"/>
            </a:xfrm>
            <a:custGeom>
              <a:avLst/>
              <a:gdLst/>
              <a:ahLst/>
              <a:cxnLst/>
              <a:rect l="l" t="t" r="r" b="b"/>
              <a:pathLst>
                <a:path w="708244" h="708244" extrusionOk="0">
                  <a:moveTo>
                    <a:pt x="0" y="0"/>
                  </a:moveTo>
                  <a:lnTo>
                    <a:pt x="708243" y="0"/>
                  </a:lnTo>
                  <a:lnTo>
                    <a:pt x="708243" y="708244"/>
                  </a:lnTo>
                  <a:lnTo>
                    <a:pt x="0" y="708244"/>
                  </a:lnTo>
                  <a:lnTo>
                    <a:pt x="0" y="0"/>
                  </a:lnTo>
                  <a:close/>
                </a:path>
              </a:pathLst>
            </a:custGeom>
            <a:blipFill rotWithShape="1">
              <a:blip r:embed="rId4">
                <a:alphaModFix/>
              </a:blip>
              <a:stretch>
                <a:fillRect/>
              </a:stretch>
            </a:blipFill>
            <a:ln>
              <a:noFill/>
            </a:ln>
          </p:spPr>
        </p:sp>
        <p:grpSp>
          <p:nvGrpSpPr>
            <p:cNvPr id="274" name="Google Shape;274;p16"/>
            <p:cNvGrpSpPr/>
            <p:nvPr/>
          </p:nvGrpSpPr>
          <p:grpSpPr>
            <a:xfrm>
              <a:off x="6166689" y="105395"/>
              <a:ext cx="4064582" cy="1291500"/>
              <a:chOff x="0" y="-38100"/>
              <a:chExt cx="1211536" cy="384959"/>
            </a:xfrm>
          </p:grpSpPr>
          <p:sp>
            <p:nvSpPr>
              <p:cNvPr id="275" name="Google Shape;275;p16"/>
              <p:cNvSpPr/>
              <p:nvPr/>
            </p:nvSpPr>
            <p:spPr>
              <a:xfrm>
                <a:off x="0" y="0"/>
                <a:ext cx="1211536" cy="346859"/>
              </a:xfrm>
              <a:custGeom>
                <a:avLst/>
                <a:gdLst/>
                <a:ahLst/>
                <a:cxnLst/>
                <a:rect l="l" t="t" r="r" b="b"/>
                <a:pathLst>
                  <a:path w="1211536" h="346859" extrusionOk="0">
                    <a:moveTo>
                      <a:pt x="0" y="0"/>
                    </a:moveTo>
                    <a:lnTo>
                      <a:pt x="1008336" y="0"/>
                    </a:lnTo>
                    <a:lnTo>
                      <a:pt x="1211536" y="173430"/>
                    </a:lnTo>
                    <a:lnTo>
                      <a:pt x="1008336" y="346859"/>
                    </a:lnTo>
                    <a:lnTo>
                      <a:pt x="0" y="346859"/>
                    </a:lnTo>
                    <a:lnTo>
                      <a:pt x="203200" y="173430"/>
                    </a:lnTo>
                    <a:lnTo>
                      <a:pt x="0" y="0"/>
                    </a:lnTo>
                    <a:close/>
                  </a:path>
                </a:pathLst>
              </a:custGeom>
              <a:solidFill>
                <a:srgbClr val="306BC6"/>
              </a:solidFill>
              <a:ln>
                <a:noFill/>
              </a:ln>
            </p:spPr>
          </p:sp>
          <p:sp>
            <p:nvSpPr>
              <p:cNvPr id="276" name="Google Shape;276;p16"/>
              <p:cNvSpPr txBox="1"/>
              <p:nvPr/>
            </p:nvSpPr>
            <p:spPr>
              <a:xfrm>
                <a:off x="177800" y="-38100"/>
                <a:ext cx="957536" cy="384959"/>
              </a:xfrm>
              <a:prstGeom prst="rect">
                <a:avLst/>
              </a:prstGeom>
              <a:noFill/>
              <a:ln>
                <a:noFill/>
              </a:ln>
            </p:spPr>
            <p:txBody>
              <a:bodyPr spcFirstLastPara="1" wrap="square" lIns="50800" tIns="50800" rIns="50800" bIns="50800" anchor="ctr" anchorCtr="0">
                <a:noAutofit/>
              </a:bodyPr>
              <a:lstStyle/>
              <a:p>
                <a:pPr marL="0" marR="0" lvl="0" indent="0" algn="ctr" rtl="0">
                  <a:lnSpc>
                    <a:spcPct val="266571"/>
                  </a:lnSpc>
                  <a:spcBef>
                    <a:spcPts val="0"/>
                  </a:spcBef>
                  <a:spcAft>
                    <a:spcPts val="0"/>
                  </a:spcAft>
                  <a:buNone/>
                </a:pPr>
                <a:endParaRPr sz="1050" b="0" i="0" u="none" strike="noStrike" cap="none">
                  <a:solidFill>
                    <a:srgbClr val="000000"/>
                  </a:solidFill>
                  <a:latin typeface="Arial"/>
                  <a:ea typeface="Arial"/>
                  <a:cs typeface="Arial"/>
                  <a:sym typeface="Arial"/>
                </a:endParaRPr>
              </a:p>
            </p:txBody>
          </p:sp>
        </p:grpSp>
        <p:sp>
          <p:nvSpPr>
            <p:cNvPr id="277" name="Google Shape;277;p16"/>
            <p:cNvSpPr/>
            <p:nvPr/>
          </p:nvSpPr>
          <p:spPr>
            <a:xfrm>
              <a:off x="6953293" y="369732"/>
              <a:ext cx="890648" cy="890648"/>
            </a:xfrm>
            <a:custGeom>
              <a:avLst/>
              <a:gdLst/>
              <a:ahLst/>
              <a:cxnLst/>
              <a:rect l="l" t="t" r="r" b="b"/>
              <a:pathLst>
                <a:path w="890648" h="890648" extrusionOk="0">
                  <a:moveTo>
                    <a:pt x="0" y="0"/>
                  </a:moveTo>
                  <a:lnTo>
                    <a:pt x="890648" y="0"/>
                  </a:lnTo>
                  <a:lnTo>
                    <a:pt x="890648" y="890648"/>
                  </a:lnTo>
                  <a:lnTo>
                    <a:pt x="0" y="890648"/>
                  </a:lnTo>
                  <a:lnTo>
                    <a:pt x="0" y="0"/>
                  </a:lnTo>
                  <a:close/>
                </a:path>
              </a:pathLst>
            </a:custGeom>
            <a:blipFill rotWithShape="1">
              <a:blip r:embed="rId5">
                <a:alphaModFix/>
              </a:blip>
              <a:stretch>
                <a:fillRect/>
              </a:stretch>
            </a:blipFill>
            <a:ln>
              <a:noFill/>
            </a:ln>
          </p:spPr>
        </p:sp>
        <p:sp>
          <p:nvSpPr>
            <p:cNvPr id="278" name="Google Shape;278;p16"/>
            <p:cNvSpPr txBox="1"/>
            <p:nvPr/>
          </p:nvSpPr>
          <p:spPr>
            <a:xfrm>
              <a:off x="7843940" y="439511"/>
              <a:ext cx="1947554" cy="498684"/>
            </a:xfrm>
            <a:prstGeom prst="rect">
              <a:avLst/>
            </a:prstGeom>
            <a:noFill/>
            <a:ln>
              <a:noFill/>
            </a:ln>
          </p:spPr>
          <p:txBody>
            <a:bodyPr spcFirstLastPara="1" wrap="square" lIns="0" tIns="0" rIns="0" bIns="0" anchor="t" anchorCtr="0">
              <a:spAutoFit/>
            </a:bodyPr>
            <a:lstStyle/>
            <a:p>
              <a:pPr marL="0" marR="0" lvl="0" indent="0" algn="ctr" rtl="0">
                <a:lnSpc>
                  <a:spcPct val="197125"/>
                </a:lnSpc>
                <a:spcBef>
                  <a:spcPts val="0"/>
                </a:spcBef>
                <a:spcAft>
                  <a:spcPts val="0"/>
                </a:spcAft>
                <a:buNone/>
              </a:pPr>
              <a:r>
                <a:rPr lang="en-US" sz="1600" b="0" i="0" u="none" strike="noStrike" cap="none">
                  <a:solidFill>
                    <a:srgbClr val="F6E8B6"/>
                  </a:solidFill>
                  <a:latin typeface="Open Sans"/>
                  <a:ea typeface="Open Sans"/>
                  <a:cs typeface="Open Sans"/>
                  <a:sym typeface="Open Sans"/>
                </a:rPr>
                <a:t>Model KA</a:t>
              </a:r>
              <a:endParaRPr/>
            </a:p>
          </p:txBody>
        </p:sp>
        <p:grpSp>
          <p:nvGrpSpPr>
            <p:cNvPr id="279" name="Google Shape;279;p16"/>
            <p:cNvGrpSpPr/>
            <p:nvPr/>
          </p:nvGrpSpPr>
          <p:grpSpPr>
            <a:xfrm>
              <a:off x="2217502" y="2577649"/>
              <a:ext cx="3009072" cy="2052243"/>
              <a:chOff x="0" y="-38100"/>
              <a:chExt cx="896919" cy="611714"/>
            </a:xfrm>
          </p:grpSpPr>
          <p:sp>
            <p:nvSpPr>
              <p:cNvPr id="280" name="Google Shape;280;p16"/>
              <p:cNvSpPr/>
              <p:nvPr/>
            </p:nvSpPr>
            <p:spPr>
              <a:xfrm>
                <a:off x="0" y="55983"/>
                <a:ext cx="896919" cy="517631"/>
              </a:xfrm>
              <a:custGeom>
                <a:avLst/>
                <a:gdLst/>
                <a:ahLst/>
                <a:cxnLst/>
                <a:rect l="l" t="t" r="r" b="b"/>
                <a:pathLst>
                  <a:path w="896919" h="517631" extrusionOk="0">
                    <a:moveTo>
                      <a:pt x="0" y="0"/>
                    </a:moveTo>
                    <a:lnTo>
                      <a:pt x="896919" y="0"/>
                    </a:lnTo>
                    <a:lnTo>
                      <a:pt x="896919" y="517631"/>
                    </a:lnTo>
                    <a:lnTo>
                      <a:pt x="0" y="517631"/>
                    </a:lnTo>
                    <a:close/>
                  </a:path>
                </a:pathLst>
              </a:custGeom>
              <a:solidFill>
                <a:srgbClr val="DEDBEF"/>
              </a:solidFill>
              <a:ln>
                <a:noFill/>
              </a:ln>
            </p:spPr>
          </p:sp>
          <p:sp>
            <p:nvSpPr>
              <p:cNvPr id="281" name="Google Shape;281;p16"/>
              <p:cNvSpPr txBox="1"/>
              <p:nvPr/>
            </p:nvSpPr>
            <p:spPr>
              <a:xfrm>
                <a:off x="0" y="-38100"/>
                <a:ext cx="896919" cy="555731"/>
              </a:xfrm>
              <a:prstGeom prst="rect">
                <a:avLst/>
              </a:prstGeom>
              <a:noFill/>
              <a:ln>
                <a:noFill/>
              </a:ln>
            </p:spPr>
            <p:txBody>
              <a:bodyPr spcFirstLastPara="1" wrap="square" lIns="50800" tIns="50800" rIns="50800" bIns="50800" anchor="ctr" anchorCtr="0">
                <a:noAutofit/>
              </a:bodyPr>
              <a:lstStyle/>
              <a:p>
                <a:pPr marL="0" marR="0" lvl="0" indent="0" algn="ctr" rtl="0">
                  <a:lnSpc>
                    <a:spcPct val="266571"/>
                  </a:lnSpc>
                  <a:spcBef>
                    <a:spcPts val="0"/>
                  </a:spcBef>
                  <a:spcAft>
                    <a:spcPts val="0"/>
                  </a:spcAft>
                  <a:buNone/>
                </a:pPr>
                <a:endParaRPr sz="1050" b="0" i="0" u="none" strike="noStrike" cap="none">
                  <a:solidFill>
                    <a:srgbClr val="000000"/>
                  </a:solidFill>
                  <a:latin typeface="Arial"/>
                  <a:ea typeface="Arial"/>
                  <a:cs typeface="Arial"/>
                  <a:sym typeface="Arial"/>
                </a:endParaRPr>
              </a:p>
            </p:txBody>
          </p:sp>
        </p:grpSp>
        <p:sp>
          <p:nvSpPr>
            <p:cNvPr id="282" name="Google Shape;282;p16"/>
            <p:cNvSpPr/>
            <p:nvPr/>
          </p:nvSpPr>
          <p:spPr>
            <a:xfrm>
              <a:off x="0" y="0"/>
              <a:ext cx="1630112" cy="1630112"/>
            </a:xfrm>
            <a:custGeom>
              <a:avLst/>
              <a:gdLst/>
              <a:ahLst/>
              <a:cxnLst/>
              <a:rect l="l" t="t" r="r" b="b"/>
              <a:pathLst>
                <a:path w="1630112" h="1630112" extrusionOk="0">
                  <a:moveTo>
                    <a:pt x="0" y="0"/>
                  </a:moveTo>
                  <a:lnTo>
                    <a:pt x="1630112" y="0"/>
                  </a:lnTo>
                  <a:lnTo>
                    <a:pt x="1630112" y="1630112"/>
                  </a:lnTo>
                  <a:lnTo>
                    <a:pt x="0" y="1630112"/>
                  </a:lnTo>
                  <a:lnTo>
                    <a:pt x="0" y="0"/>
                  </a:lnTo>
                  <a:close/>
                </a:path>
              </a:pathLst>
            </a:custGeom>
            <a:blipFill rotWithShape="1">
              <a:blip r:embed="rId6">
                <a:alphaModFix/>
              </a:blip>
              <a:stretch>
                <a:fillRect/>
              </a:stretch>
            </a:blipFill>
            <a:ln>
              <a:noFill/>
            </a:ln>
          </p:spPr>
        </p:sp>
        <p:cxnSp>
          <p:nvCxnSpPr>
            <p:cNvPr id="283" name="Google Shape;283;p16"/>
            <p:cNvCxnSpPr/>
            <p:nvPr/>
          </p:nvCxnSpPr>
          <p:spPr>
            <a:xfrm>
              <a:off x="1958523" y="1768117"/>
              <a:ext cx="12573671" cy="0"/>
            </a:xfrm>
            <a:prstGeom prst="straightConnector1">
              <a:avLst/>
            </a:prstGeom>
            <a:noFill/>
            <a:ln w="33650" cap="flat" cmpd="sng">
              <a:solidFill>
                <a:srgbClr val="D6C6BE"/>
              </a:solidFill>
              <a:prstDash val="solid"/>
              <a:round/>
              <a:headEnd type="none" w="sm" len="sm"/>
              <a:tailEnd type="none" w="sm" len="sm"/>
            </a:ln>
          </p:spPr>
        </p:cxnSp>
        <p:grpSp>
          <p:nvGrpSpPr>
            <p:cNvPr id="284" name="Google Shape;284;p16"/>
            <p:cNvGrpSpPr/>
            <p:nvPr/>
          </p:nvGrpSpPr>
          <p:grpSpPr>
            <a:xfrm>
              <a:off x="3505704" y="1571940"/>
              <a:ext cx="392353" cy="392353"/>
              <a:chOff x="0" y="0"/>
              <a:chExt cx="812800" cy="812800"/>
            </a:xfrm>
          </p:grpSpPr>
          <p:sp>
            <p:nvSpPr>
              <p:cNvPr id="285" name="Google Shape;285;p1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497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6"/>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266571"/>
                  </a:lnSpc>
                  <a:spcBef>
                    <a:spcPts val="0"/>
                  </a:spcBef>
                  <a:spcAft>
                    <a:spcPts val="0"/>
                  </a:spcAft>
                  <a:buNone/>
                </a:pPr>
                <a:endParaRPr sz="1050" b="0" i="0" u="none" strike="noStrike" cap="none">
                  <a:solidFill>
                    <a:srgbClr val="000000"/>
                  </a:solidFill>
                  <a:latin typeface="Arial"/>
                  <a:ea typeface="Arial"/>
                  <a:cs typeface="Arial"/>
                  <a:sym typeface="Arial"/>
                </a:endParaRPr>
              </a:p>
            </p:txBody>
          </p:sp>
        </p:grpSp>
        <p:grpSp>
          <p:nvGrpSpPr>
            <p:cNvPr id="287" name="Google Shape;287;p16"/>
            <p:cNvGrpSpPr/>
            <p:nvPr/>
          </p:nvGrpSpPr>
          <p:grpSpPr>
            <a:xfrm>
              <a:off x="8002803" y="1561828"/>
              <a:ext cx="392353" cy="392353"/>
              <a:chOff x="0" y="0"/>
              <a:chExt cx="812800" cy="812800"/>
            </a:xfrm>
          </p:grpSpPr>
          <p:sp>
            <p:nvSpPr>
              <p:cNvPr id="288" name="Google Shape;288;p1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F6A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6"/>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266571"/>
                  </a:lnSpc>
                  <a:spcBef>
                    <a:spcPts val="0"/>
                  </a:spcBef>
                  <a:spcAft>
                    <a:spcPts val="0"/>
                  </a:spcAft>
                  <a:buNone/>
                </a:pPr>
                <a:endParaRPr sz="1050" b="0" i="0" u="none" strike="noStrike" cap="none">
                  <a:solidFill>
                    <a:srgbClr val="000000"/>
                  </a:solidFill>
                  <a:latin typeface="Arial"/>
                  <a:ea typeface="Arial"/>
                  <a:cs typeface="Arial"/>
                  <a:sym typeface="Arial"/>
                </a:endParaRPr>
              </a:p>
            </p:txBody>
          </p:sp>
        </p:grpSp>
        <p:grpSp>
          <p:nvGrpSpPr>
            <p:cNvPr id="290" name="Google Shape;290;p16"/>
            <p:cNvGrpSpPr/>
            <p:nvPr/>
          </p:nvGrpSpPr>
          <p:grpSpPr>
            <a:xfrm>
              <a:off x="12499903" y="1551716"/>
              <a:ext cx="392353" cy="392353"/>
              <a:chOff x="0" y="0"/>
              <a:chExt cx="812800" cy="812800"/>
            </a:xfrm>
          </p:grpSpPr>
          <p:sp>
            <p:nvSpPr>
              <p:cNvPr id="291" name="Google Shape;291;p1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334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6"/>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266571"/>
                  </a:lnSpc>
                  <a:spcBef>
                    <a:spcPts val="0"/>
                  </a:spcBef>
                  <a:spcAft>
                    <a:spcPts val="0"/>
                  </a:spcAft>
                  <a:buNone/>
                </a:pPr>
                <a:endParaRPr sz="1050" b="0" i="0" u="none" strike="noStrike" cap="none">
                  <a:solidFill>
                    <a:srgbClr val="000000"/>
                  </a:solidFill>
                  <a:latin typeface="Arial"/>
                  <a:ea typeface="Arial"/>
                  <a:cs typeface="Arial"/>
                  <a:sym typeface="Arial"/>
                </a:endParaRPr>
              </a:p>
            </p:txBody>
          </p:sp>
        </p:grpSp>
        <p:sp>
          <p:nvSpPr>
            <p:cNvPr id="293" name="Google Shape;293;p16"/>
            <p:cNvSpPr/>
            <p:nvPr/>
          </p:nvSpPr>
          <p:spPr>
            <a:xfrm>
              <a:off x="10992470" y="2978535"/>
              <a:ext cx="3539724" cy="2671570"/>
            </a:xfrm>
            <a:custGeom>
              <a:avLst/>
              <a:gdLst/>
              <a:ahLst/>
              <a:cxnLst/>
              <a:rect l="l" t="t" r="r" b="b"/>
              <a:pathLst>
                <a:path w="3539724" h="2671571" extrusionOk="0">
                  <a:moveTo>
                    <a:pt x="0" y="0"/>
                  </a:moveTo>
                  <a:lnTo>
                    <a:pt x="3539724" y="0"/>
                  </a:lnTo>
                  <a:lnTo>
                    <a:pt x="3539724" y="2671572"/>
                  </a:lnTo>
                  <a:lnTo>
                    <a:pt x="0" y="2671572"/>
                  </a:lnTo>
                  <a:lnTo>
                    <a:pt x="0" y="0"/>
                  </a:lnTo>
                  <a:close/>
                </a:path>
              </a:pathLst>
            </a:custGeom>
            <a:blipFill rotWithShape="1">
              <a:blip r:embed="rId7">
                <a:alphaModFix/>
              </a:blip>
              <a:stretch>
                <a:fillRect l="-2596" t="-11717" r="-9419" b="-36696"/>
              </a:stretch>
            </a:blipFill>
            <a:ln>
              <a:noFill/>
            </a:ln>
          </p:spPr>
        </p:sp>
        <p:sp>
          <p:nvSpPr>
            <p:cNvPr id="294" name="Google Shape;294;p16"/>
            <p:cNvSpPr txBox="1"/>
            <p:nvPr/>
          </p:nvSpPr>
          <p:spPr>
            <a:xfrm>
              <a:off x="1865767" y="2101239"/>
              <a:ext cx="3761760" cy="408061"/>
            </a:xfrm>
            <a:prstGeom prst="rect">
              <a:avLst/>
            </a:prstGeom>
            <a:noFill/>
            <a:ln>
              <a:noFill/>
            </a:ln>
          </p:spPr>
          <p:txBody>
            <a:bodyPr spcFirstLastPara="1" wrap="square" lIns="0" tIns="0" rIns="0" bIns="0" anchor="t" anchorCtr="0">
              <a:spAutoFit/>
            </a:bodyPr>
            <a:lstStyle/>
            <a:p>
              <a:pPr marL="0" marR="0" lvl="0" indent="0" algn="ctr" rtl="0">
                <a:lnSpc>
                  <a:spcPct val="192142"/>
                </a:lnSpc>
                <a:spcBef>
                  <a:spcPts val="0"/>
                </a:spcBef>
                <a:spcAft>
                  <a:spcPts val="0"/>
                </a:spcAft>
                <a:buNone/>
              </a:pPr>
              <a:r>
                <a:rPr lang="en-US" sz="1400" b="0" i="0" u="none" strike="noStrike" cap="none">
                  <a:solidFill>
                    <a:srgbClr val="000000"/>
                  </a:solidFill>
                  <a:latin typeface="Open Sans"/>
                  <a:ea typeface="Open Sans"/>
                  <a:cs typeface="Open Sans"/>
                  <a:sym typeface="Open Sans"/>
                </a:rPr>
                <a:t>Contoh masukan :</a:t>
              </a:r>
              <a:endParaRPr/>
            </a:p>
          </p:txBody>
        </p:sp>
        <p:sp>
          <p:nvSpPr>
            <p:cNvPr id="295" name="Google Shape;295;p16"/>
            <p:cNvSpPr txBox="1"/>
            <p:nvPr/>
          </p:nvSpPr>
          <p:spPr>
            <a:xfrm>
              <a:off x="6318100" y="2101239"/>
              <a:ext cx="3761760" cy="408061"/>
            </a:xfrm>
            <a:prstGeom prst="rect">
              <a:avLst/>
            </a:prstGeom>
            <a:noFill/>
            <a:ln>
              <a:noFill/>
            </a:ln>
          </p:spPr>
          <p:txBody>
            <a:bodyPr spcFirstLastPara="1" wrap="square" lIns="0" tIns="0" rIns="0" bIns="0" anchor="t" anchorCtr="0">
              <a:spAutoFit/>
            </a:bodyPr>
            <a:lstStyle/>
            <a:p>
              <a:pPr marL="0" marR="0" lvl="0" indent="0" algn="ctr" rtl="0">
                <a:lnSpc>
                  <a:spcPct val="192142"/>
                </a:lnSpc>
                <a:spcBef>
                  <a:spcPts val="0"/>
                </a:spcBef>
                <a:spcAft>
                  <a:spcPts val="0"/>
                </a:spcAft>
                <a:buNone/>
              </a:pPr>
              <a:r>
                <a:rPr lang="en-US" sz="1400" b="0" i="0" u="none" strike="noStrike" cap="none">
                  <a:solidFill>
                    <a:srgbClr val="000000"/>
                  </a:solidFill>
                  <a:latin typeface="Open Sans"/>
                  <a:ea typeface="Open Sans"/>
                  <a:cs typeface="Open Sans"/>
                  <a:sym typeface="Open Sans"/>
                </a:rPr>
                <a:t>Contoh model KA :</a:t>
              </a:r>
              <a:endParaRPr/>
            </a:p>
          </p:txBody>
        </p:sp>
        <p:sp>
          <p:nvSpPr>
            <p:cNvPr id="296" name="Google Shape;296;p16"/>
            <p:cNvSpPr txBox="1"/>
            <p:nvPr/>
          </p:nvSpPr>
          <p:spPr>
            <a:xfrm>
              <a:off x="10770434" y="2101239"/>
              <a:ext cx="3761760" cy="408061"/>
            </a:xfrm>
            <a:prstGeom prst="rect">
              <a:avLst/>
            </a:prstGeom>
            <a:noFill/>
            <a:ln>
              <a:noFill/>
            </a:ln>
          </p:spPr>
          <p:txBody>
            <a:bodyPr spcFirstLastPara="1" wrap="square" lIns="0" tIns="0" rIns="0" bIns="0" anchor="t" anchorCtr="0">
              <a:spAutoFit/>
            </a:bodyPr>
            <a:lstStyle/>
            <a:p>
              <a:pPr marL="0" marR="0" lvl="0" indent="0" algn="ctr" rtl="0">
                <a:lnSpc>
                  <a:spcPct val="192142"/>
                </a:lnSpc>
                <a:spcBef>
                  <a:spcPts val="0"/>
                </a:spcBef>
                <a:spcAft>
                  <a:spcPts val="0"/>
                </a:spcAft>
                <a:buNone/>
              </a:pPr>
              <a:r>
                <a:rPr lang="en-US" sz="1400" b="0" i="0" u="none" strike="noStrike" cap="none">
                  <a:solidFill>
                    <a:srgbClr val="000000"/>
                  </a:solidFill>
                  <a:latin typeface="Open Sans"/>
                  <a:ea typeface="Open Sans"/>
                  <a:cs typeface="Open Sans"/>
                  <a:sym typeface="Open Sans"/>
                </a:rPr>
                <a:t>Contoh keluaran :</a:t>
              </a:r>
              <a:endParaRPr/>
            </a:p>
          </p:txBody>
        </p:sp>
        <p:sp>
          <p:nvSpPr>
            <p:cNvPr id="297" name="Google Shape;297;p16"/>
            <p:cNvSpPr txBox="1"/>
            <p:nvPr/>
          </p:nvSpPr>
          <p:spPr>
            <a:xfrm>
              <a:off x="6166690" y="2677763"/>
              <a:ext cx="4064582" cy="473036"/>
            </a:xfrm>
            <a:prstGeom prst="rect">
              <a:avLst/>
            </a:prstGeom>
            <a:noFill/>
            <a:ln>
              <a:noFill/>
            </a:ln>
          </p:spPr>
          <p:txBody>
            <a:bodyPr spcFirstLastPara="1" wrap="square" lIns="0" tIns="0" rIns="0" bIns="0" anchor="t" anchorCtr="0">
              <a:spAutoFit/>
            </a:bodyPr>
            <a:lstStyle/>
            <a:p>
              <a:pPr marL="0" marR="0" lvl="0" indent="0" algn="ctr" rtl="0">
                <a:lnSpc>
                  <a:spcPct val="185500"/>
                </a:lnSpc>
                <a:spcBef>
                  <a:spcPts val="0"/>
                </a:spcBef>
                <a:spcAft>
                  <a:spcPts val="0"/>
                </a:spcAft>
                <a:buNone/>
              </a:pPr>
              <a:r>
                <a:rPr lang="en-US" sz="1600" b="1" i="0" u="none" strike="noStrike" cap="none">
                  <a:solidFill>
                    <a:srgbClr val="000000"/>
                  </a:solidFill>
                  <a:latin typeface="Open Sans"/>
                  <a:ea typeface="Open Sans"/>
                  <a:cs typeface="Open Sans"/>
                  <a:sym typeface="Open Sans"/>
                </a:rPr>
                <a:t>Pembuat Gambar</a:t>
              </a:r>
              <a:endParaRPr/>
            </a:p>
          </p:txBody>
        </p:sp>
        <p:sp>
          <p:nvSpPr>
            <p:cNvPr id="298" name="Google Shape;298;p16"/>
            <p:cNvSpPr txBox="1"/>
            <p:nvPr/>
          </p:nvSpPr>
          <p:spPr>
            <a:xfrm>
              <a:off x="2358606" y="3076741"/>
              <a:ext cx="2726864" cy="1551476"/>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400" b="1" i="0" u="none" strike="noStrike" cap="none">
                  <a:solidFill>
                    <a:srgbClr val="000000"/>
                  </a:solidFill>
                  <a:latin typeface="Open Sans"/>
                  <a:ea typeface="Open Sans"/>
                  <a:cs typeface="Open Sans"/>
                  <a:sym typeface="Open Sans"/>
                </a:rPr>
                <a:t>Gambarkan kucing berbulu merah sedang marah</a:t>
              </a:r>
              <a:endParaRPr/>
            </a:p>
          </p:txBody>
        </p:sp>
      </p:grpSp>
      <p:sp>
        <p:nvSpPr>
          <p:cNvPr id="299" name="Google Shape;299;p16"/>
          <p:cNvSpPr/>
          <p:nvPr/>
        </p:nvSpPr>
        <p:spPr>
          <a:xfrm rot="10800000" flipH="1">
            <a:off x="3033781" y="3430891"/>
            <a:ext cx="813816" cy="868680"/>
          </a:xfrm>
          <a:prstGeom prst="bentArrow">
            <a:avLst>
              <a:gd name="adj1" fmla="val 25000"/>
              <a:gd name="adj2" fmla="val 25000"/>
              <a:gd name="adj3" fmla="val 25000"/>
              <a:gd name="adj4" fmla="val 43750"/>
            </a:avLst>
          </a:prstGeom>
          <a:solidFill>
            <a:schemeClr val="accent1"/>
          </a:solidFill>
          <a:ln w="25400" cap="flat" cmpd="sng">
            <a:solidFill>
              <a:srgbClr val="1C305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17"/>
          <p:cNvSpPr/>
          <p:nvPr/>
        </p:nvSpPr>
        <p:spPr>
          <a:xfrm>
            <a:off x="595086" y="966787"/>
            <a:ext cx="8360228" cy="5317899"/>
          </a:xfrm>
          <a:prstGeom prst="rect">
            <a:avLst/>
          </a:prstGeom>
          <a:solidFill>
            <a:schemeClr val="lt1"/>
          </a:solidFill>
          <a:ln w="25400" cap="flat" cmpd="sng">
            <a:solidFill>
              <a:srgbClr val="1C305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05" name="Google Shape;305;p17"/>
          <p:cNvSpPr txBox="1"/>
          <p:nvPr/>
        </p:nvSpPr>
        <p:spPr>
          <a:xfrm>
            <a:off x="544282" y="155084"/>
            <a:ext cx="11909256" cy="617605"/>
          </a:xfrm>
          <a:prstGeom prst="rect">
            <a:avLst/>
          </a:prstGeom>
          <a:noFill/>
          <a:ln>
            <a:noFill/>
          </a:ln>
        </p:spPr>
        <p:txBody>
          <a:bodyPr spcFirstLastPara="1" wrap="square" lIns="0" tIns="0" rIns="0" bIns="0" anchor="t" anchorCtr="0">
            <a:spAutoFit/>
          </a:bodyPr>
          <a:lstStyle/>
          <a:p>
            <a:pPr marL="0" marR="0" lvl="0" indent="0" algn="l" rtl="0">
              <a:lnSpc>
                <a:spcPct val="254500"/>
              </a:lnSpc>
              <a:spcBef>
                <a:spcPts val="0"/>
              </a:spcBef>
              <a:spcAft>
                <a:spcPts val="0"/>
              </a:spcAft>
              <a:buNone/>
            </a:pPr>
            <a:r>
              <a:rPr lang="en-US" sz="2200" b="1" i="0" u="none" strike="noStrike" cap="none">
                <a:solidFill>
                  <a:srgbClr val="2E75B5"/>
                </a:solidFill>
                <a:latin typeface="Poppins"/>
                <a:ea typeface="Poppins"/>
                <a:cs typeface="Poppins"/>
                <a:sym typeface="Poppins"/>
              </a:rPr>
              <a:t>Contoh Alur Penggunaan model KA Generatif untuk Menghasilkan Teks</a:t>
            </a:r>
            <a:endParaRPr/>
          </a:p>
        </p:txBody>
      </p:sp>
      <p:sp>
        <p:nvSpPr>
          <p:cNvPr id="306" name="Google Shape;306;p17"/>
          <p:cNvSpPr txBox="1"/>
          <p:nvPr/>
        </p:nvSpPr>
        <p:spPr>
          <a:xfrm>
            <a:off x="8864997" y="966787"/>
            <a:ext cx="3023641" cy="3693319"/>
          </a:xfrm>
          <a:prstGeom prst="rect">
            <a:avLst/>
          </a:prstGeom>
          <a:noFill/>
          <a:ln>
            <a:noFill/>
          </a:ln>
        </p:spPr>
        <p:txBody>
          <a:bodyPr spcFirstLastPara="1" wrap="square" lIns="0" tIns="0" rIns="0" bIns="0" anchor="t" anchorCtr="0">
            <a:spAutoFit/>
          </a:bodyPr>
          <a:lstStyle/>
          <a:p>
            <a:pPr marL="269874" marR="0" lvl="1" indent="0" algn="l" rtl="0">
              <a:lnSpc>
                <a:spcPct val="100000"/>
              </a:lnSpc>
              <a:spcBef>
                <a:spcPts val="0"/>
              </a:spcBef>
              <a:spcAft>
                <a:spcPts val="0"/>
              </a:spcAft>
              <a:buNone/>
            </a:pPr>
            <a:r>
              <a:rPr lang="en-US" sz="2000" b="0" i="0" u="none" strike="noStrike" cap="none">
                <a:solidFill>
                  <a:srgbClr val="1E4E79"/>
                </a:solidFill>
                <a:latin typeface="Calibri"/>
                <a:ea typeface="Calibri"/>
                <a:cs typeface="Calibri"/>
                <a:sym typeface="Calibri"/>
              </a:rPr>
              <a:t>model KA Generatif bekerja dengan cara “menebak/ memprediksi” keluaran berdasar nilai probabilitas yang telah dipelajari dari data latih. Karena keluaran dihasilkan berdasar tebakan atau prediksi, maka keluaran dari KA Generatif </a:t>
            </a:r>
            <a:r>
              <a:rPr lang="en-US" sz="2000" b="1" i="0" u="none" strike="noStrike" cap="none">
                <a:solidFill>
                  <a:srgbClr val="1E4E79"/>
                </a:solidFill>
                <a:latin typeface="Calibri"/>
                <a:ea typeface="Calibri"/>
                <a:cs typeface="Calibri"/>
                <a:sym typeface="Calibri"/>
              </a:rPr>
              <a:t>berpotensi mengandung kesalahan</a:t>
            </a:r>
            <a:r>
              <a:rPr lang="en-US" sz="2000" b="0" i="0" u="none" strike="noStrike" cap="none">
                <a:solidFill>
                  <a:srgbClr val="1E4E79"/>
                </a:solidFill>
                <a:latin typeface="Calibri"/>
                <a:ea typeface="Calibri"/>
                <a:cs typeface="Calibri"/>
                <a:sym typeface="Calibri"/>
              </a:rPr>
              <a:t>.</a:t>
            </a:r>
            <a:endParaRPr sz="2000" b="0" i="0" u="none" strike="noStrike" cap="none">
              <a:solidFill>
                <a:srgbClr val="1E4E79"/>
              </a:solidFill>
              <a:latin typeface="Calibri"/>
              <a:ea typeface="Calibri"/>
              <a:cs typeface="Calibri"/>
              <a:sym typeface="Calibri"/>
            </a:endParaRPr>
          </a:p>
        </p:txBody>
      </p:sp>
      <p:pic>
        <p:nvPicPr>
          <p:cNvPr id="307" name="Google Shape;307;p17"/>
          <p:cNvPicPr preferRelativeResize="0"/>
          <p:nvPr/>
        </p:nvPicPr>
        <p:blipFill rotWithShape="1">
          <a:blip r:embed="rId3">
            <a:alphaModFix/>
          </a:blip>
          <a:srcRect/>
          <a:stretch/>
        </p:blipFill>
        <p:spPr>
          <a:xfrm>
            <a:off x="720633" y="1131933"/>
            <a:ext cx="7719423" cy="3519896"/>
          </a:xfrm>
          <a:prstGeom prst="rect">
            <a:avLst/>
          </a:prstGeom>
          <a:noFill/>
          <a:ln>
            <a:noFill/>
          </a:ln>
        </p:spPr>
      </p:pic>
      <p:sp>
        <p:nvSpPr>
          <p:cNvPr id="308" name="Google Shape;308;p17"/>
          <p:cNvSpPr txBox="1"/>
          <p:nvPr/>
        </p:nvSpPr>
        <p:spPr>
          <a:xfrm>
            <a:off x="1337146" y="4651829"/>
            <a:ext cx="2643373" cy="286810"/>
          </a:xfrm>
          <a:prstGeom prst="rect">
            <a:avLst/>
          </a:prstGeom>
          <a:noFill/>
          <a:ln>
            <a:noFill/>
          </a:ln>
        </p:spPr>
        <p:txBody>
          <a:bodyPr spcFirstLastPara="1" wrap="square" lIns="0" tIns="0" rIns="0" bIns="0" anchor="t" anchorCtr="0">
            <a:spAutoFit/>
          </a:bodyPr>
          <a:lstStyle/>
          <a:p>
            <a:pPr marL="0" marR="0" lvl="0" indent="0" algn="ctr" rtl="0">
              <a:lnSpc>
                <a:spcPct val="180000"/>
              </a:lnSpc>
              <a:spcBef>
                <a:spcPts val="0"/>
              </a:spcBef>
              <a:spcAft>
                <a:spcPts val="0"/>
              </a:spcAft>
              <a:buNone/>
            </a:pPr>
            <a:r>
              <a:rPr lang="en-US" sz="1400" b="1" i="0" u="none" strike="noStrike" cap="none">
                <a:solidFill>
                  <a:srgbClr val="000000"/>
                </a:solidFill>
                <a:latin typeface="Open Sans"/>
                <a:ea typeface="Open Sans"/>
                <a:cs typeface="Open Sans"/>
                <a:sym typeface="Open Sans"/>
              </a:rPr>
              <a:t>Contoh masukan :</a:t>
            </a:r>
            <a:endParaRPr/>
          </a:p>
        </p:txBody>
      </p:sp>
      <p:sp>
        <p:nvSpPr>
          <p:cNvPr id="309" name="Google Shape;309;p17"/>
          <p:cNvSpPr txBox="1"/>
          <p:nvPr/>
        </p:nvSpPr>
        <p:spPr>
          <a:xfrm>
            <a:off x="5822480" y="4717006"/>
            <a:ext cx="2643373" cy="286810"/>
          </a:xfrm>
          <a:prstGeom prst="rect">
            <a:avLst/>
          </a:prstGeom>
          <a:noFill/>
          <a:ln>
            <a:noFill/>
          </a:ln>
        </p:spPr>
        <p:txBody>
          <a:bodyPr spcFirstLastPara="1" wrap="square" lIns="0" tIns="0" rIns="0" bIns="0" anchor="t" anchorCtr="0">
            <a:spAutoFit/>
          </a:bodyPr>
          <a:lstStyle/>
          <a:p>
            <a:pPr marL="0" marR="0" lvl="0" indent="0" algn="ctr" rtl="0">
              <a:lnSpc>
                <a:spcPct val="180000"/>
              </a:lnSpc>
              <a:spcBef>
                <a:spcPts val="0"/>
              </a:spcBef>
              <a:spcAft>
                <a:spcPts val="0"/>
              </a:spcAft>
              <a:buNone/>
            </a:pPr>
            <a:r>
              <a:rPr lang="en-US" sz="1400" b="1" i="0" u="none" strike="noStrike" cap="none">
                <a:solidFill>
                  <a:srgbClr val="000000"/>
                </a:solidFill>
                <a:latin typeface="Open Sans"/>
                <a:ea typeface="Open Sans"/>
                <a:cs typeface="Open Sans"/>
                <a:sym typeface="Open Sans"/>
              </a:rPr>
              <a:t>Contoh keluaran :</a:t>
            </a:r>
            <a:endParaRPr/>
          </a:p>
        </p:txBody>
      </p:sp>
      <p:sp>
        <p:nvSpPr>
          <p:cNvPr id="310" name="Google Shape;310;p17"/>
          <p:cNvSpPr txBox="1"/>
          <p:nvPr/>
        </p:nvSpPr>
        <p:spPr>
          <a:xfrm>
            <a:off x="1687310" y="4985219"/>
            <a:ext cx="2142793" cy="271445"/>
          </a:xfrm>
          <a:prstGeom prst="rect">
            <a:avLst/>
          </a:prstGeom>
          <a:noFill/>
          <a:ln>
            <a:noFill/>
          </a:ln>
        </p:spPr>
        <p:txBody>
          <a:bodyPr spcFirstLastPara="1" wrap="square" lIns="0" tIns="0" rIns="0" bIns="0" anchor="t" anchorCtr="0">
            <a:spAutoFit/>
          </a:bodyPr>
          <a:lstStyle/>
          <a:p>
            <a:pPr marL="0" marR="0" lvl="0" indent="0" algn="ctr" rtl="0">
              <a:lnSpc>
                <a:spcPct val="161428"/>
              </a:lnSpc>
              <a:spcBef>
                <a:spcPts val="0"/>
              </a:spcBef>
              <a:spcAft>
                <a:spcPts val="0"/>
              </a:spcAft>
              <a:buNone/>
            </a:pPr>
            <a:r>
              <a:rPr lang="en-US" sz="1400" b="0" i="0" u="none" strike="noStrike" cap="none">
                <a:solidFill>
                  <a:srgbClr val="000000"/>
                </a:solidFill>
                <a:latin typeface="Open Sans"/>
                <a:ea typeface="Open Sans"/>
                <a:cs typeface="Open Sans"/>
                <a:sym typeface="Open Sans"/>
              </a:rPr>
              <a:t>Hari ini aku merasa ....</a:t>
            </a:r>
            <a:endParaRPr/>
          </a:p>
        </p:txBody>
      </p:sp>
      <p:sp>
        <p:nvSpPr>
          <p:cNvPr id="311" name="Google Shape;311;p17"/>
          <p:cNvSpPr txBox="1"/>
          <p:nvPr/>
        </p:nvSpPr>
        <p:spPr>
          <a:xfrm>
            <a:off x="5356565" y="5061403"/>
            <a:ext cx="3365169" cy="107721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400" b="0" i="0" u="none" strike="noStrike" cap="none">
                <a:solidFill>
                  <a:srgbClr val="000000"/>
                </a:solidFill>
                <a:latin typeface="Open Sans"/>
                <a:ea typeface="Open Sans"/>
                <a:cs typeface="Open Sans"/>
                <a:sym typeface="Open Sans"/>
              </a:rPr>
              <a:t>...sedih? senang? bingung? capek?</a:t>
            </a:r>
            <a:endParaRPr/>
          </a:p>
          <a:p>
            <a:pPr marL="0" marR="0" lvl="0" indent="0" algn="ctr" rtl="0">
              <a:lnSpc>
                <a:spcPct val="100000"/>
              </a:lnSpc>
              <a:spcBef>
                <a:spcPts val="0"/>
              </a:spcBef>
              <a:spcAft>
                <a:spcPts val="0"/>
              </a:spcAft>
              <a:buNone/>
            </a:pPr>
            <a:r>
              <a:rPr lang="en-US" sz="1400" b="0" i="0" u="none" strike="noStrike" cap="none">
                <a:solidFill>
                  <a:srgbClr val="000000"/>
                </a:solidFill>
                <a:latin typeface="Open Sans"/>
                <a:ea typeface="Open Sans"/>
                <a:cs typeface="Open Sans"/>
                <a:sym typeface="Open Sans"/>
              </a:rPr>
              <a:t> Apa pun yang kamu rasakan hari ini, boleh banget kamu ceritain ke aku. Aku di sini siap dengerin 😊</a:t>
            </a:r>
            <a:endParaRPr/>
          </a:p>
          <a:p>
            <a:pPr marL="0" marR="0" lvl="0" indent="0" algn="ctr" rtl="0">
              <a:lnSpc>
                <a:spcPct val="100000"/>
              </a:lnSpc>
              <a:spcBef>
                <a:spcPts val="0"/>
              </a:spcBef>
              <a:spcAft>
                <a:spcPts val="0"/>
              </a:spcAft>
              <a:buNone/>
            </a:pPr>
            <a:r>
              <a:rPr lang="en-US" sz="1400" b="0" i="0" u="none" strike="noStrike" cap="none">
                <a:solidFill>
                  <a:srgbClr val="000000"/>
                </a:solidFill>
                <a:latin typeface="Open Sans"/>
                <a:ea typeface="Open Sans"/>
                <a:cs typeface="Open Sans"/>
                <a:sym typeface="Open Sans"/>
              </a:rPr>
              <a:t> Mau ngobrol santai aja?</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E75B5"/>
              </a:buClr>
              <a:buSzPts val="4400"/>
              <a:buFont typeface="Calibri"/>
              <a:buNone/>
            </a:pPr>
            <a:r>
              <a:rPr lang="en-US"/>
              <a:t>Kualitas Data dalam KA</a:t>
            </a:r>
            <a:endParaRPr/>
          </a:p>
        </p:txBody>
      </p:sp>
      <p:sp>
        <p:nvSpPr>
          <p:cNvPr id="317" name="Google Shape;317;p18"/>
          <p:cNvSpPr txBox="1">
            <a:spLocks noGrp="1"/>
          </p:cNvSpPr>
          <p:nvPr>
            <p:ph type="body" idx="1"/>
          </p:nvPr>
        </p:nvSpPr>
        <p:spPr>
          <a:xfrm>
            <a:off x="556985" y="2141537"/>
            <a:ext cx="11078029" cy="4351338"/>
          </a:xfrm>
          <a:prstGeom prst="rect">
            <a:avLst/>
          </a:prstGeom>
          <a:noFill/>
          <a:ln>
            <a:noFill/>
          </a:ln>
        </p:spPr>
        <p:txBody>
          <a:bodyPr spcFirstLastPara="1" wrap="square" lIns="91425" tIns="45700" rIns="91425" bIns="45700" anchor="t" anchorCtr="0">
            <a:noAutofit/>
          </a:bodyPr>
          <a:lstStyle/>
          <a:p>
            <a:pPr marL="457200" lvl="0" indent="-406400" algn="l" rtl="0">
              <a:lnSpc>
                <a:spcPct val="100000"/>
              </a:lnSpc>
              <a:spcBef>
                <a:spcPts val="1000"/>
              </a:spcBef>
              <a:spcAft>
                <a:spcPts val="0"/>
              </a:spcAft>
              <a:buSzPts val="2800"/>
              <a:buChar char="•"/>
            </a:pPr>
            <a:r>
              <a:rPr lang="en-US" sz="2400">
                <a:solidFill>
                  <a:srgbClr val="1E4E79"/>
                </a:solidFill>
                <a:latin typeface="Calibri"/>
                <a:ea typeface="Calibri"/>
                <a:cs typeface="Calibri"/>
                <a:sym typeface="Calibri"/>
              </a:rPr>
              <a:t>Dalam pengembangan sistem KA, kualitas data memiliki peran yang sangat penting. Data berfungsi sebagai fondasi utama dalam pelatihan model KA, sehingga model yang canggih sekalipun tidak akan memberikan hasil yang optimal tanpa dukungan data yang akurat, relevan, dan representatif. </a:t>
            </a:r>
            <a:endParaRPr/>
          </a:p>
          <a:p>
            <a:pPr marL="457200" lvl="0" indent="-406400" algn="l" rtl="0">
              <a:lnSpc>
                <a:spcPct val="100000"/>
              </a:lnSpc>
              <a:spcBef>
                <a:spcPts val="1000"/>
              </a:spcBef>
              <a:spcAft>
                <a:spcPts val="0"/>
              </a:spcAft>
              <a:buSzPts val="2800"/>
              <a:buChar char="•"/>
            </a:pPr>
            <a:r>
              <a:rPr lang="en-US" sz="2400">
                <a:solidFill>
                  <a:srgbClr val="1E4E79"/>
                </a:solidFill>
                <a:latin typeface="Calibri"/>
                <a:ea typeface="Calibri"/>
                <a:cs typeface="Calibri"/>
                <a:sym typeface="Calibri"/>
              </a:rPr>
              <a:t>Dataset merupakan kumpulan data yang digunakan untuk melatih, menguji, dan memvalidasi model KA, dan dapat terdiri atas berbagai jenis seperti teks, gambar, angka, hingga suara.</a:t>
            </a:r>
            <a:endParaRPr/>
          </a:p>
          <a:p>
            <a:pPr marL="457200" lvl="0" indent="-406400" algn="l" rtl="0">
              <a:lnSpc>
                <a:spcPct val="100000"/>
              </a:lnSpc>
              <a:spcBef>
                <a:spcPts val="1000"/>
              </a:spcBef>
              <a:spcAft>
                <a:spcPts val="0"/>
              </a:spcAft>
              <a:buSzPts val="2800"/>
              <a:buChar char="•"/>
            </a:pPr>
            <a:r>
              <a:rPr lang="en-US" sz="2400">
                <a:solidFill>
                  <a:srgbClr val="1E4E79"/>
                </a:solidFill>
                <a:latin typeface="Calibri"/>
                <a:ea typeface="Calibri"/>
                <a:cs typeface="Calibri"/>
                <a:sym typeface="Calibri"/>
              </a:rPr>
              <a:t>Dataset yang berkualitas buruk dapat menyebabkan model memberikan hasil yang tidak akurat atau bias, sementara dataset yang berkualitas baik dapat meningkatkan performa dan generalisasi model.</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E75B5"/>
              </a:buClr>
              <a:buSzPts val="4400"/>
              <a:buFont typeface="Calibri"/>
              <a:buNone/>
            </a:pPr>
            <a:r>
              <a:rPr lang="en-US"/>
              <a:t>Faktor-Faktor Penentu Kualitas Dataset</a:t>
            </a:r>
            <a:endParaRPr/>
          </a:p>
        </p:txBody>
      </p:sp>
      <p:sp>
        <p:nvSpPr>
          <p:cNvPr id="323" name="Google Shape;323;p19"/>
          <p:cNvSpPr txBox="1">
            <a:spLocks noGrp="1"/>
          </p:cNvSpPr>
          <p:nvPr>
            <p:ph type="body" idx="1"/>
          </p:nvPr>
        </p:nvSpPr>
        <p:spPr>
          <a:xfrm>
            <a:off x="838200" y="1615168"/>
            <a:ext cx="10918371" cy="4351338"/>
          </a:xfrm>
          <a:prstGeom prst="rect">
            <a:avLst/>
          </a:prstGeom>
          <a:noFill/>
          <a:ln>
            <a:noFill/>
          </a:ln>
        </p:spPr>
        <p:txBody>
          <a:bodyPr spcFirstLastPara="1" wrap="square" lIns="91425" tIns="45700" rIns="91425" bIns="45700" anchor="t" anchorCtr="0">
            <a:noAutofit/>
          </a:bodyPr>
          <a:lstStyle/>
          <a:p>
            <a:pPr marL="457200" lvl="0" indent="-406400" algn="l" rtl="0">
              <a:lnSpc>
                <a:spcPct val="100000"/>
              </a:lnSpc>
              <a:spcBef>
                <a:spcPts val="1000"/>
              </a:spcBef>
              <a:spcAft>
                <a:spcPts val="0"/>
              </a:spcAft>
              <a:buSzPts val="2800"/>
              <a:buChar char="•"/>
            </a:pPr>
            <a:r>
              <a:rPr lang="en-US" sz="2400" b="1">
                <a:solidFill>
                  <a:srgbClr val="1E4E79"/>
                </a:solidFill>
                <a:latin typeface="Calibri"/>
                <a:ea typeface="Calibri"/>
                <a:cs typeface="Calibri"/>
                <a:sym typeface="Calibri"/>
              </a:rPr>
              <a:t>Keakuratan</a:t>
            </a:r>
            <a:r>
              <a:rPr lang="en-US" sz="2400">
                <a:solidFill>
                  <a:srgbClr val="1E4E79"/>
                </a:solidFill>
                <a:latin typeface="Calibri"/>
                <a:ea typeface="Calibri"/>
                <a:cs typeface="Calibri"/>
                <a:sym typeface="Calibri"/>
              </a:rPr>
              <a:t> : mencerminkan realitas atau kondisi sebenarnya.</a:t>
            </a:r>
            <a:endParaRPr/>
          </a:p>
          <a:p>
            <a:pPr marL="457200" lvl="0" indent="-406400" algn="l" rtl="0">
              <a:lnSpc>
                <a:spcPct val="100000"/>
              </a:lnSpc>
              <a:spcBef>
                <a:spcPts val="1000"/>
              </a:spcBef>
              <a:spcAft>
                <a:spcPts val="0"/>
              </a:spcAft>
              <a:buSzPts val="2800"/>
              <a:buChar char="•"/>
            </a:pPr>
            <a:r>
              <a:rPr lang="en-US" sz="2400" b="1">
                <a:solidFill>
                  <a:srgbClr val="1E4E79"/>
                </a:solidFill>
                <a:latin typeface="Calibri"/>
                <a:ea typeface="Calibri"/>
                <a:cs typeface="Calibri"/>
                <a:sym typeface="Calibri"/>
              </a:rPr>
              <a:t>Kelengkapan</a:t>
            </a:r>
            <a:r>
              <a:rPr lang="en-US" sz="2400">
                <a:solidFill>
                  <a:srgbClr val="1E4E79"/>
                </a:solidFill>
                <a:latin typeface="Calibri"/>
                <a:ea typeface="Calibri"/>
                <a:cs typeface="Calibri"/>
                <a:sym typeface="Calibri"/>
              </a:rPr>
              <a:t> : seberapa banyak data yang tersedia sesuai dengan konteks penelitian.</a:t>
            </a:r>
            <a:endParaRPr/>
          </a:p>
          <a:p>
            <a:pPr marL="457200" lvl="0" indent="-406400" algn="l" rtl="0">
              <a:lnSpc>
                <a:spcPct val="100000"/>
              </a:lnSpc>
              <a:spcBef>
                <a:spcPts val="1000"/>
              </a:spcBef>
              <a:spcAft>
                <a:spcPts val="0"/>
              </a:spcAft>
              <a:buSzPts val="2800"/>
              <a:buChar char="•"/>
            </a:pPr>
            <a:r>
              <a:rPr lang="en-US" sz="2400" b="1">
                <a:solidFill>
                  <a:srgbClr val="1E4E79"/>
                </a:solidFill>
                <a:latin typeface="Calibri"/>
                <a:ea typeface="Calibri"/>
                <a:cs typeface="Calibri"/>
                <a:sym typeface="Calibri"/>
              </a:rPr>
              <a:t>Konsistensi</a:t>
            </a:r>
            <a:r>
              <a:rPr lang="en-US" sz="2400">
                <a:solidFill>
                  <a:srgbClr val="1E4E79"/>
                </a:solidFill>
                <a:latin typeface="Calibri"/>
                <a:ea typeface="Calibri"/>
                <a:cs typeface="Calibri"/>
                <a:sym typeface="Calibri"/>
              </a:rPr>
              <a:t> : data yang tidak memiliki kontradiksi atau ketidaksesuaian internal.</a:t>
            </a:r>
            <a:endParaRPr/>
          </a:p>
          <a:p>
            <a:pPr marL="457200" lvl="0" indent="-406400" algn="l" rtl="0">
              <a:lnSpc>
                <a:spcPct val="100000"/>
              </a:lnSpc>
              <a:spcBef>
                <a:spcPts val="1000"/>
              </a:spcBef>
              <a:spcAft>
                <a:spcPts val="0"/>
              </a:spcAft>
              <a:buSzPts val="2800"/>
              <a:buChar char="•"/>
            </a:pPr>
            <a:r>
              <a:rPr lang="en-US" sz="2400" b="1">
                <a:solidFill>
                  <a:srgbClr val="1E4E79"/>
                </a:solidFill>
                <a:latin typeface="Calibri"/>
                <a:ea typeface="Calibri"/>
                <a:cs typeface="Calibri"/>
                <a:sym typeface="Calibri"/>
              </a:rPr>
              <a:t>Relevansi</a:t>
            </a:r>
            <a:r>
              <a:rPr lang="en-US" sz="2400">
                <a:solidFill>
                  <a:srgbClr val="1E4E79"/>
                </a:solidFill>
                <a:latin typeface="Calibri"/>
                <a:ea typeface="Calibri"/>
                <a:cs typeface="Calibri"/>
                <a:sym typeface="Calibri"/>
              </a:rPr>
              <a:t> : mengacu pada apakah dataset sesuai dengan tujuan penelitian dan apakah variabel yang ada memiliki hubungan signifikan dengan masalah yang ingin diselesaikan.</a:t>
            </a:r>
            <a:endParaRPr/>
          </a:p>
          <a:p>
            <a:pPr marL="457200" lvl="0" indent="-406400" algn="l" rtl="0">
              <a:lnSpc>
                <a:spcPct val="100000"/>
              </a:lnSpc>
              <a:spcBef>
                <a:spcPts val="1000"/>
              </a:spcBef>
              <a:spcAft>
                <a:spcPts val="0"/>
              </a:spcAft>
              <a:buSzPts val="2800"/>
              <a:buChar char="•"/>
            </a:pPr>
            <a:r>
              <a:rPr lang="en-US" sz="2400" b="1">
                <a:solidFill>
                  <a:srgbClr val="1E4E79"/>
                </a:solidFill>
                <a:latin typeface="Calibri"/>
                <a:ea typeface="Calibri"/>
                <a:cs typeface="Calibri"/>
                <a:sym typeface="Calibri"/>
              </a:rPr>
              <a:t>Ketepatan Waktu </a:t>
            </a:r>
            <a:r>
              <a:rPr lang="en-US" sz="2400">
                <a:solidFill>
                  <a:srgbClr val="1E4E79"/>
                </a:solidFill>
                <a:latin typeface="Calibri"/>
                <a:ea typeface="Calibri"/>
                <a:cs typeface="Calibri"/>
                <a:sym typeface="Calibri"/>
              </a:rPr>
              <a:t>: dataset yang digunakan harus relevan dengan waktu penelitian</a:t>
            </a:r>
            <a:endParaRPr/>
          </a:p>
          <a:p>
            <a:pPr marL="457200" lvl="0" indent="-406400" algn="l" rtl="0">
              <a:lnSpc>
                <a:spcPct val="100000"/>
              </a:lnSpc>
              <a:spcBef>
                <a:spcPts val="1000"/>
              </a:spcBef>
              <a:spcAft>
                <a:spcPts val="0"/>
              </a:spcAft>
              <a:buSzPts val="2800"/>
              <a:buChar char="•"/>
            </a:pPr>
            <a:r>
              <a:rPr lang="en-US" sz="2400" b="1">
                <a:solidFill>
                  <a:srgbClr val="1E4E79"/>
                </a:solidFill>
                <a:latin typeface="Calibri"/>
                <a:ea typeface="Calibri"/>
                <a:cs typeface="Calibri"/>
                <a:sym typeface="Calibri"/>
              </a:rPr>
              <a:t>Kebersihan (</a:t>
            </a:r>
            <a:r>
              <a:rPr lang="en-US" sz="2400" b="1" i="1">
                <a:solidFill>
                  <a:srgbClr val="1E4E79"/>
                </a:solidFill>
                <a:latin typeface="Calibri"/>
                <a:ea typeface="Calibri"/>
                <a:cs typeface="Calibri"/>
                <a:sym typeface="Calibri"/>
              </a:rPr>
              <a:t>Data Cleaning</a:t>
            </a:r>
            <a:r>
              <a:rPr lang="en-US" sz="2400" b="1">
                <a:solidFill>
                  <a:srgbClr val="1E4E79"/>
                </a:solidFill>
                <a:latin typeface="Calibri"/>
                <a:ea typeface="Calibri"/>
                <a:cs typeface="Calibri"/>
                <a:sym typeface="Calibri"/>
              </a:rPr>
              <a:t>) </a:t>
            </a:r>
            <a:r>
              <a:rPr lang="en-US" sz="2400">
                <a:solidFill>
                  <a:srgbClr val="1E4E79"/>
                </a:solidFill>
                <a:latin typeface="Calibri"/>
                <a:ea typeface="Calibri"/>
                <a:cs typeface="Calibri"/>
                <a:sym typeface="Calibri"/>
              </a:rPr>
              <a:t>: proses pembersihan dataset</a:t>
            </a:r>
            <a:endParaRPr/>
          </a:p>
          <a:p>
            <a:pPr marL="457200" lvl="0" indent="-406400" algn="l" rtl="0">
              <a:lnSpc>
                <a:spcPct val="100000"/>
              </a:lnSpc>
              <a:spcBef>
                <a:spcPts val="1000"/>
              </a:spcBef>
              <a:spcAft>
                <a:spcPts val="0"/>
              </a:spcAft>
              <a:buSzPts val="2800"/>
              <a:buChar char="•"/>
            </a:pPr>
            <a:r>
              <a:rPr lang="en-US" sz="2400" b="1">
                <a:solidFill>
                  <a:srgbClr val="1E4E79"/>
                </a:solidFill>
                <a:latin typeface="Calibri"/>
                <a:ea typeface="Calibri"/>
                <a:cs typeface="Calibri"/>
                <a:sym typeface="Calibri"/>
              </a:rPr>
              <a:t>Keamanan dan Privasi </a:t>
            </a:r>
            <a:r>
              <a:rPr lang="en-US" sz="2400">
                <a:solidFill>
                  <a:srgbClr val="1E4E79"/>
                </a:solidFill>
                <a:latin typeface="Calibri"/>
                <a:ea typeface="Calibri"/>
                <a:cs typeface="Calibri"/>
                <a:sym typeface="Calibri"/>
              </a:rPr>
              <a:t>: data yang digunakan harus sesuai dengan regulasi dan standar privasi</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20"/>
          <p:cNvSpPr txBox="1"/>
          <p:nvPr/>
        </p:nvSpPr>
        <p:spPr>
          <a:xfrm>
            <a:off x="544282" y="155084"/>
            <a:ext cx="11909256" cy="639149"/>
          </a:xfrm>
          <a:prstGeom prst="rect">
            <a:avLst/>
          </a:prstGeom>
          <a:noFill/>
          <a:ln>
            <a:noFill/>
          </a:ln>
        </p:spPr>
        <p:txBody>
          <a:bodyPr spcFirstLastPara="1" wrap="square" lIns="0" tIns="0" rIns="0" bIns="0" anchor="t" anchorCtr="0">
            <a:spAutoFit/>
          </a:bodyPr>
          <a:lstStyle/>
          <a:p>
            <a:pPr marL="0" marR="0" lvl="0" indent="0" algn="l" rtl="0">
              <a:lnSpc>
                <a:spcPct val="199964"/>
              </a:lnSpc>
              <a:spcBef>
                <a:spcPts val="0"/>
              </a:spcBef>
              <a:spcAft>
                <a:spcPts val="0"/>
              </a:spcAft>
              <a:buNone/>
            </a:pPr>
            <a:r>
              <a:rPr lang="en-US" sz="2800" b="1" i="0" u="none" strike="noStrike" cap="none">
                <a:solidFill>
                  <a:srgbClr val="2E75B5"/>
                </a:solidFill>
                <a:latin typeface="Poppins"/>
                <a:ea typeface="Poppins"/>
                <a:cs typeface="Poppins"/>
                <a:sym typeface="Poppins"/>
              </a:rPr>
              <a:t>Platform Penyedia Dataset</a:t>
            </a:r>
            <a:endParaRPr/>
          </a:p>
        </p:txBody>
      </p:sp>
      <p:grpSp>
        <p:nvGrpSpPr>
          <p:cNvPr id="329" name="Google Shape;329;p20"/>
          <p:cNvGrpSpPr/>
          <p:nvPr/>
        </p:nvGrpSpPr>
        <p:grpSpPr>
          <a:xfrm>
            <a:off x="261255" y="818206"/>
            <a:ext cx="8178804" cy="5415681"/>
            <a:chOff x="0" y="-38100"/>
            <a:chExt cx="2652644" cy="1647765"/>
          </a:xfrm>
        </p:grpSpPr>
        <p:sp>
          <p:nvSpPr>
            <p:cNvPr id="330" name="Google Shape;330;p20"/>
            <p:cNvSpPr/>
            <p:nvPr/>
          </p:nvSpPr>
          <p:spPr>
            <a:xfrm>
              <a:off x="0" y="0"/>
              <a:ext cx="2652644" cy="1609665"/>
            </a:xfrm>
            <a:custGeom>
              <a:avLst/>
              <a:gdLst/>
              <a:ahLst/>
              <a:cxnLst/>
              <a:rect l="l" t="t" r="r" b="b"/>
              <a:pathLst>
                <a:path w="2652644" h="1609665" extrusionOk="0">
                  <a:moveTo>
                    <a:pt x="22292" y="0"/>
                  </a:moveTo>
                  <a:lnTo>
                    <a:pt x="2630352" y="0"/>
                  </a:lnTo>
                  <a:cubicBezTo>
                    <a:pt x="2636265" y="0"/>
                    <a:pt x="2641934" y="2349"/>
                    <a:pt x="2646115" y="6529"/>
                  </a:cubicBezTo>
                  <a:cubicBezTo>
                    <a:pt x="2650296" y="10710"/>
                    <a:pt x="2652644" y="16380"/>
                    <a:pt x="2652644" y="22292"/>
                  </a:cubicBezTo>
                  <a:lnTo>
                    <a:pt x="2652644" y="1587373"/>
                  </a:lnTo>
                  <a:cubicBezTo>
                    <a:pt x="2652644" y="1593285"/>
                    <a:pt x="2650296" y="1598956"/>
                    <a:pt x="2646115" y="1603136"/>
                  </a:cubicBezTo>
                  <a:cubicBezTo>
                    <a:pt x="2641934" y="1607316"/>
                    <a:pt x="2636265" y="1609665"/>
                    <a:pt x="2630352" y="1609665"/>
                  </a:cubicBezTo>
                  <a:lnTo>
                    <a:pt x="22292" y="1609665"/>
                  </a:lnTo>
                  <a:cubicBezTo>
                    <a:pt x="16380" y="1609665"/>
                    <a:pt x="10710" y="1607316"/>
                    <a:pt x="6529" y="1603136"/>
                  </a:cubicBezTo>
                  <a:cubicBezTo>
                    <a:pt x="2349" y="1598956"/>
                    <a:pt x="0" y="1593285"/>
                    <a:pt x="0" y="1587373"/>
                  </a:cubicBezTo>
                  <a:lnTo>
                    <a:pt x="0" y="22292"/>
                  </a:lnTo>
                  <a:cubicBezTo>
                    <a:pt x="0" y="16380"/>
                    <a:pt x="2349" y="10710"/>
                    <a:pt x="6529" y="6529"/>
                  </a:cubicBezTo>
                  <a:cubicBezTo>
                    <a:pt x="10710" y="2349"/>
                    <a:pt x="16380" y="0"/>
                    <a:pt x="22292" y="0"/>
                  </a:cubicBez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0"/>
            <p:cNvSpPr txBox="1"/>
            <p:nvPr/>
          </p:nvSpPr>
          <p:spPr>
            <a:xfrm>
              <a:off x="0" y="-38100"/>
              <a:ext cx="2652644" cy="1647765"/>
            </a:xfrm>
            <a:prstGeom prst="rect">
              <a:avLst/>
            </a:prstGeom>
            <a:noFill/>
            <a:ln>
              <a:noFill/>
            </a:ln>
          </p:spPr>
          <p:txBody>
            <a:bodyPr spcFirstLastPara="1" wrap="square" lIns="50800" tIns="50800" rIns="50800" bIns="50800" anchor="ctr" anchorCtr="0">
              <a:noAutofit/>
            </a:bodyPr>
            <a:lstStyle/>
            <a:p>
              <a:pPr marL="0" marR="0" lvl="0" indent="0" algn="ctr" rtl="0">
                <a:lnSpc>
                  <a:spcPct val="211071"/>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
        <p:nvSpPr>
          <p:cNvPr id="332" name="Google Shape;332;p20"/>
          <p:cNvSpPr/>
          <p:nvPr/>
        </p:nvSpPr>
        <p:spPr>
          <a:xfrm>
            <a:off x="420913" y="1058132"/>
            <a:ext cx="7838136" cy="4718554"/>
          </a:xfrm>
          <a:custGeom>
            <a:avLst/>
            <a:gdLst/>
            <a:ahLst/>
            <a:cxnLst/>
            <a:rect l="l" t="t" r="r" b="b"/>
            <a:pathLst>
              <a:path w="9613576" h="5632954" extrusionOk="0">
                <a:moveTo>
                  <a:pt x="0" y="0"/>
                </a:moveTo>
                <a:lnTo>
                  <a:pt x="9613575" y="0"/>
                </a:lnTo>
                <a:lnTo>
                  <a:pt x="9613575" y="5632954"/>
                </a:lnTo>
                <a:lnTo>
                  <a:pt x="0" y="5632954"/>
                </a:lnTo>
                <a:lnTo>
                  <a:pt x="0" y="0"/>
                </a:lnTo>
                <a:close/>
              </a:path>
            </a:pathLst>
          </a:custGeom>
          <a:blipFill rotWithShape="1">
            <a:blip r:embed="rId3">
              <a:alphaModFix/>
            </a:blip>
            <a:stretch>
              <a:fillRect/>
            </a:stretch>
          </a:blipFill>
          <a:ln>
            <a:noFill/>
          </a:ln>
        </p:spPr>
      </p:sp>
      <p:sp>
        <p:nvSpPr>
          <p:cNvPr id="333" name="Google Shape;333;p20"/>
          <p:cNvSpPr txBox="1"/>
          <p:nvPr/>
        </p:nvSpPr>
        <p:spPr>
          <a:xfrm>
            <a:off x="8099391" y="1023639"/>
            <a:ext cx="3831354" cy="3046988"/>
          </a:xfrm>
          <a:prstGeom prst="rect">
            <a:avLst/>
          </a:prstGeom>
          <a:noFill/>
          <a:ln>
            <a:noFill/>
          </a:ln>
        </p:spPr>
        <p:txBody>
          <a:bodyPr spcFirstLastPara="1" wrap="square" lIns="0" tIns="0" rIns="0" bIns="0" anchor="t" anchorCtr="0">
            <a:spAutoFit/>
          </a:bodyPr>
          <a:lstStyle/>
          <a:p>
            <a:pPr marL="269874" marR="0" lvl="1" indent="0" algn="l" rtl="0">
              <a:lnSpc>
                <a:spcPct val="100000"/>
              </a:lnSpc>
              <a:spcBef>
                <a:spcPts val="0"/>
              </a:spcBef>
              <a:spcAft>
                <a:spcPts val="0"/>
              </a:spcAft>
              <a:buNone/>
            </a:pPr>
            <a:r>
              <a:rPr lang="en-US" sz="2200" b="0" i="0" u="none" strike="noStrike" cap="none">
                <a:solidFill>
                  <a:srgbClr val="1E4E79"/>
                </a:solidFill>
                <a:latin typeface="Calibri"/>
                <a:ea typeface="Calibri"/>
                <a:cs typeface="Calibri"/>
                <a:sym typeface="Calibri"/>
              </a:rPr>
              <a:t>Beberapa platform yang menyediakan dataset terbuka dari berbagai bidang, termasuk pengenalan gambar, pemrosesan teks, dan data tabular yang bisa dimanfaatkan untuk penelitian KA dan pembelajaran mesin, antara lain :</a:t>
            </a:r>
            <a:endParaRPr sz="2200" b="0" i="0" u="none" strike="noStrike" cap="none">
              <a:solidFill>
                <a:srgbClr val="1E4E79"/>
              </a:solidFill>
              <a:latin typeface="Calibri"/>
              <a:ea typeface="Calibri"/>
              <a:cs typeface="Calibri"/>
              <a:sym typeface="Calibri"/>
            </a:endParaRPr>
          </a:p>
        </p:txBody>
      </p:sp>
      <p:sp>
        <p:nvSpPr>
          <p:cNvPr id="334" name="Google Shape;334;p20"/>
          <p:cNvSpPr txBox="1"/>
          <p:nvPr/>
        </p:nvSpPr>
        <p:spPr>
          <a:xfrm>
            <a:off x="362853" y="5853738"/>
            <a:ext cx="8019565" cy="296428"/>
          </a:xfrm>
          <a:prstGeom prst="rect">
            <a:avLst/>
          </a:prstGeom>
          <a:noFill/>
          <a:ln>
            <a:noFill/>
          </a:ln>
        </p:spPr>
        <p:txBody>
          <a:bodyPr spcFirstLastPara="1" wrap="square" lIns="0" tIns="0" rIns="0" bIns="0" anchor="t" anchorCtr="0">
            <a:spAutoFit/>
          </a:bodyPr>
          <a:lstStyle/>
          <a:p>
            <a:pPr marL="0" marR="0" lvl="0" indent="0" algn="ctr" rtl="0">
              <a:lnSpc>
                <a:spcPct val="184785"/>
              </a:lnSpc>
              <a:spcBef>
                <a:spcPts val="0"/>
              </a:spcBef>
              <a:spcAft>
                <a:spcPts val="0"/>
              </a:spcAft>
              <a:buNone/>
            </a:pPr>
            <a:r>
              <a:rPr lang="en-US" sz="1400" b="0" i="0" u="none" strike="noStrike" cap="none">
                <a:solidFill>
                  <a:srgbClr val="000000"/>
                </a:solidFill>
                <a:highlight>
                  <a:srgbClr val="FFFF00"/>
                </a:highlight>
                <a:latin typeface="Open Sans"/>
                <a:ea typeface="Open Sans"/>
                <a:cs typeface="Open Sans"/>
                <a:sym typeface="Open Sans"/>
              </a:rPr>
              <a:t>Contoh kumpulan dataset dengan berbagai kategori yang bisa diunduh melalui kaggle.com</a:t>
            </a:r>
            <a:endParaRPr/>
          </a:p>
        </p:txBody>
      </p:sp>
      <p:sp>
        <p:nvSpPr>
          <p:cNvPr id="335" name="Google Shape;335;p20"/>
          <p:cNvSpPr txBox="1"/>
          <p:nvPr/>
        </p:nvSpPr>
        <p:spPr>
          <a:xfrm>
            <a:off x="8382418" y="4219823"/>
            <a:ext cx="3657182" cy="196977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600" b="1" i="0" u="none" strike="noStrike" cap="none">
                <a:solidFill>
                  <a:schemeClr val="dk1"/>
                </a:solidFill>
                <a:latin typeface="Poppins"/>
                <a:ea typeface="Poppins"/>
                <a:cs typeface="Poppins"/>
                <a:sym typeface="Poppins"/>
              </a:rPr>
              <a:t>Kaggle </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https://www.kaggle.com/datasets </a:t>
            </a:r>
            <a:endParaRPr/>
          </a:p>
          <a:p>
            <a:pPr marL="0" marR="0" lvl="0" indent="0" algn="l" rtl="0">
              <a:lnSpc>
                <a:spcPct val="100000"/>
              </a:lnSpc>
              <a:spcBef>
                <a:spcPts val="0"/>
              </a:spcBef>
              <a:spcAft>
                <a:spcPts val="0"/>
              </a:spcAft>
              <a:buNone/>
            </a:pPr>
            <a:r>
              <a:rPr lang="en-US" sz="1600" b="1" i="0" u="none" strike="noStrike" cap="none">
                <a:solidFill>
                  <a:schemeClr val="dk1"/>
                </a:solidFill>
                <a:latin typeface="Poppins"/>
                <a:ea typeface="Poppins"/>
                <a:cs typeface="Poppins"/>
                <a:sym typeface="Poppins"/>
              </a:rPr>
              <a:t>Hugging Face Datasets </a:t>
            </a:r>
            <a:endParaRPr/>
          </a:p>
          <a:p>
            <a:pPr marL="0" marR="0" lvl="0" indent="0" algn="l" rtl="0">
              <a:lnSpc>
                <a:spcPct val="100000"/>
              </a:lnSpc>
              <a:spcBef>
                <a:spcPts val="0"/>
              </a:spcBef>
              <a:spcAft>
                <a:spcPts val="0"/>
              </a:spcAft>
              <a:buNone/>
            </a:pPr>
            <a:r>
              <a:rPr lang="en-US" sz="1600" b="0" i="0" u="sng" strike="noStrike" cap="none">
                <a:solidFill>
                  <a:schemeClr val="dk1"/>
                </a:solidFill>
                <a:highlight>
                  <a:srgbClr val="FFFF00"/>
                </a:highlight>
                <a:latin typeface="Poppins"/>
                <a:ea typeface="Poppins"/>
                <a:cs typeface="Poppins"/>
                <a:sym typeface="Poppins"/>
                <a:hlinkClick r:id="rId4">
                  <a:extLst>
                    <a:ext uri="{A12FA001-AC4F-418D-AE19-62706E023703}">
                      <ahyp:hlinkClr xmlns:ahyp="http://schemas.microsoft.com/office/drawing/2018/hyperlinkcolor" val="tx"/>
                    </a:ext>
                  </a:extLst>
                </a:hlinkClick>
              </a:rPr>
              <a:t>https://huggingface.co/datasets</a:t>
            </a:r>
            <a:r>
              <a:rPr lang="en-US" sz="1600" b="0" i="0" u="none" strike="noStrike" cap="none">
                <a:solidFill>
                  <a:schemeClr val="dk1"/>
                </a:solidFill>
                <a:highlight>
                  <a:srgbClr val="FFFF00"/>
                </a:highlight>
                <a:latin typeface="Poppins"/>
                <a:ea typeface="Poppins"/>
                <a:cs typeface="Poppins"/>
                <a:sym typeface="Poppins"/>
              </a:rPr>
              <a:t> </a:t>
            </a:r>
            <a:endParaRPr/>
          </a:p>
          <a:p>
            <a:pPr marL="0" marR="0" lvl="0" indent="0" algn="l" rtl="0">
              <a:lnSpc>
                <a:spcPct val="100000"/>
              </a:lnSpc>
              <a:spcBef>
                <a:spcPts val="0"/>
              </a:spcBef>
              <a:spcAft>
                <a:spcPts val="0"/>
              </a:spcAft>
              <a:buNone/>
            </a:pPr>
            <a:r>
              <a:rPr lang="en-US" sz="1600" b="1" i="0" u="none" strike="noStrike" cap="none">
                <a:solidFill>
                  <a:schemeClr val="dk1"/>
                </a:solidFill>
                <a:latin typeface="Poppins"/>
                <a:ea typeface="Poppins"/>
                <a:cs typeface="Poppins"/>
                <a:sym typeface="Poppins"/>
              </a:rPr>
              <a:t>UCI Machine Learning Repository </a:t>
            </a:r>
            <a:endParaRPr/>
          </a:p>
          <a:p>
            <a:pPr marL="0" marR="0" lvl="0" indent="0" algn="l" rtl="0">
              <a:lnSpc>
                <a:spcPct val="100000"/>
              </a:lnSpc>
              <a:spcBef>
                <a:spcPts val="0"/>
              </a:spcBef>
              <a:spcAft>
                <a:spcPts val="0"/>
              </a:spcAft>
              <a:buNone/>
            </a:pPr>
            <a:r>
              <a:rPr lang="en-US" sz="1600" b="0" i="0" u="sng" strike="noStrike" cap="none">
                <a:solidFill>
                  <a:schemeClr val="dk1"/>
                </a:solidFill>
                <a:highlight>
                  <a:srgbClr val="FFFF00"/>
                </a:highlight>
                <a:latin typeface="Poppins"/>
                <a:ea typeface="Poppins"/>
                <a:cs typeface="Poppins"/>
                <a:sym typeface="Poppins"/>
                <a:hlinkClick r:id="rId5">
                  <a:extLst>
                    <a:ext uri="{A12FA001-AC4F-418D-AE19-62706E023703}">
                      <ahyp:hlinkClr xmlns:ahyp="http://schemas.microsoft.com/office/drawing/2018/hyperlinkcolor" val="tx"/>
                    </a:ext>
                  </a:extLst>
                </a:hlinkClick>
              </a:rPr>
              <a:t>https://archive.ics.uci.edu/</a:t>
            </a:r>
            <a:endParaRPr/>
          </a:p>
          <a:p>
            <a:pPr marL="0" marR="0" lvl="0" indent="0" algn="l" rtl="0">
              <a:lnSpc>
                <a:spcPct val="100000"/>
              </a:lnSpc>
              <a:spcBef>
                <a:spcPts val="0"/>
              </a:spcBef>
              <a:spcAft>
                <a:spcPts val="0"/>
              </a:spcAft>
              <a:buNone/>
            </a:pPr>
            <a:r>
              <a:rPr lang="en-US" sz="1600" b="1" i="0" u="none" strike="noStrike" cap="none">
                <a:solidFill>
                  <a:schemeClr val="dk1"/>
                </a:solidFill>
                <a:latin typeface="Poppins"/>
                <a:ea typeface="Poppins"/>
                <a:cs typeface="Poppins"/>
                <a:sym typeface="Poppins"/>
              </a:rPr>
              <a:t>Open Data Portal </a:t>
            </a:r>
            <a:endParaRPr/>
          </a:p>
          <a:p>
            <a:pPr marL="0" marR="0" lvl="0" indent="0" algn="l" rtl="0">
              <a:lnSpc>
                <a:spcPct val="100000"/>
              </a:lnSpc>
              <a:spcBef>
                <a:spcPts val="0"/>
              </a:spcBef>
              <a:spcAft>
                <a:spcPts val="0"/>
              </a:spcAft>
              <a:buNone/>
            </a:pPr>
            <a:r>
              <a:rPr lang="en-US" sz="1600" b="0" i="0" u="sng" strike="noStrike" cap="none">
                <a:solidFill>
                  <a:schemeClr val="dk1"/>
                </a:solidFill>
                <a:highlight>
                  <a:srgbClr val="FFFF00"/>
                </a:highlight>
                <a:latin typeface="Poppins"/>
                <a:ea typeface="Poppins"/>
                <a:cs typeface="Poppins"/>
                <a:sym typeface="Poppins"/>
                <a:hlinkClick r:id="rId6">
                  <a:extLst>
                    <a:ext uri="{A12FA001-AC4F-418D-AE19-62706E023703}">
                      <ahyp:hlinkClr xmlns:ahyp="http://schemas.microsoft.com/office/drawing/2018/hyperlinkcolor" val="tx"/>
                    </a:ext>
                  </a:extLst>
                </a:hlinkClick>
              </a:rPr>
              <a:t>https://data.go.id/</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21"/>
          <p:cNvSpPr txBox="1"/>
          <p:nvPr/>
        </p:nvSpPr>
        <p:spPr>
          <a:xfrm>
            <a:off x="544282" y="155084"/>
            <a:ext cx="11909256" cy="639149"/>
          </a:xfrm>
          <a:prstGeom prst="rect">
            <a:avLst/>
          </a:prstGeom>
          <a:noFill/>
          <a:ln>
            <a:noFill/>
          </a:ln>
        </p:spPr>
        <p:txBody>
          <a:bodyPr spcFirstLastPara="1" wrap="square" lIns="0" tIns="0" rIns="0" bIns="0" anchor="t" anchorCtr="0">
            <a:spAutoFit/>
          </a:bodyPr>
          <a:lstStyle/>
          <a:p>
            <a:pPr marL="0" marR="0" lvl="0" indent="0" algn="l" rtl="0">
              <a:lnSpc>
                <a:spcPct val="199964"/>
              </a:lnSpc>
              <a:spcBef>
                <a:spcPts val="0"/>
              </a:spcBef>
              <a:spcAft>
                <a:spcPts val="0"/>
              </a:spcAft>
              <a:buNone/>
            </a:pPr>
            <a:r>
              <a:rPr lang="en-US" sz="2800" b="1" i="0" u="none" strike="noStrike" cap="none">
                <a:solidFill>
                  <a:srgbClr val="2E75B5"/>
                </a:solidFill>
                <a:latin typeface="Poppins"/>
                <a:ea typeface="Poppins"/>
                <a:cs typeface="Poppins"/>
                <a:sym typeface="Poppins"/>
              </a:rPr>
              <a:t>Latihan : menguji kualitas data</a:t>
            </a:r>
            <a:endParaRPr/>
          </a:p>
        </p:txBody>
      </p:sp>
      <p:sp>
        <p:nvSpPr>
          <p:cNvPr id="341" name="Google Shape;341;p21"/>
          <p:cNvSpPr txBox="1"/>
          <p:nvPr/>
        </p:nvSpPr>
        <p:spPr>
          <a:xfrm>
            <a:off x="6885772" y="5090731"/>
            <a:ext cx="4626799" cy="923330"/>
          </a:xfrm>
          <a:prstGeom prst="rect">
            <a:avLst/>
          </a:prstGeom>
          <a:noFill/>
          <a:ln>
            <a:noFill/>
          </a:ln>
        </p:spPr>
        <p:txBody>
          <a:bodyPr spcFirstLastPara="1" wrap="square" lIns="0" tIns="0" rIns="0" bIns="0" anchor="t" anchorCtr="0">
            <a:spAutoFit/>
          </a:bodyPr>
          <a:lstStyle/>
          <a:p>
            <a:pPr marL="269874" marR="0" lvl="1" indent="0" algn="l" rtl="0">
              <a:lnSpc>
                <a:spcPct val="100000"/>
              </a:lnSpc>
              <a:spcBef>
                <a:spcPts val="0"/>
              </a:spcBef>
              <a:spcAft>
                <a:spcPts val="0"/>
              </a:spcAft>
              <a:buNone/>
            </a:pPr>
            <a:r>
              <a:rPr lang="en-US" sz="2000" b="0" i="0" u="none" strike="noStrike" cap="none">
                <a:solidFill>
                  <a:srgbClr val="1E4E79"/>
                </a:solidFill>
                <a:latin typeface="Calibri"/>
                <a:ea typeface="Calibri"/>
                <a:cs typeface="Calibri"/>
                <a:sym typeface="Calibri"/>
              </a:rPr>
              <a:t>Mengapa sistem tersebut bisa memprediksi hasil coretan gambar yang belum sempurna dengan cepat?</a:t>
            </a:r>
            <a:endParaRPr sz="2000" b="0" i="0" u="none" strike="noStrike" cap="none">
              <a:solidFill>
                <a:srgbClr val="1E4E79"/>
              </a:solidFill>
              <a:latin typeface="Calibri"/>
              <a:ea typeface="Calibri"/>
              <a:cs typeface="Calibri"/>
              <a:sym typeface="Calibri"/>
            </a:endParaRPr>
          </a:p>
        </p:txBody>
      </p:sp>
      <p:sp>
        <p:nvSpPr>
          <p:cNvPr id="342" name="Google Shape;342;p21"/>
          <p:cNvSpPr txBox="1"/>
          <p:nvPr/>
        </p:nvSpPr>
        <p:spPr>
          <a:xfrm>
            <a:off x="355596" y="5973566"/>
            <a:ext cx="6306461" cy="430887"/>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400" b="0" i="0" u="none" strike="noStrike" cap="none">
                <a:solidFill>
                  <a:srgbClr val="000000"/>
                </a:solidFill>
                <a:highlight>
                  <a:srgbClr val="FFFF00"/>
                </a:highlight>
                <a:latin typeface="Open Sans"/>
                <a:ea typeface="Open Sans"/>
                <a:cs typeface="Open Sans"/>
                <a:sym typeface="Open Sans"/>
              </a:rPr>
              <a:t>Gambaran aktivitas memprediksi sebuah gambar untuk menguji dataset yang sudah dikumpulkan melalui “Quick,Draw!</a:t>
            </a:r>
            <a:endParaRPr/>
          </a:p>
        </p:txBody>
      </p:sp>
      <p:sp>
        <p:nvSpPr>
          <p:cNvPr id="343" name="Google Shape;343;p21"/>
          <p:cNvSpPr/>
          <p:nvPr/>
        </p:nvSpPr>
        <p:spPr>
          <a:xfrm>
            <a:off x="522092" y="1941548"/>
            <a:ext cx="5777108" cy="3855418"/>
          </a:xfrm>
          <a:custGeom>
            <a:avLst/>
            <a:gdLst/>
            <a:ahLst/>
            <a:cxnLst/>
            <a:rect l="l" t="t" r="r" b="b"/>
            <a:pathLst>
              <a:path w="6847490" h="4873948" extrusionOk="0">
                <a:moveTo>
                  <a:pt x="0" y="0"/>
                </a:moveTo>
                <a:lnTo>
                  <a:pt x="6847490" y="0"/>
                </a:lnTo>
                <a:lnTo>
                  <a:pt x="6847490" y="4873949"/>
                </a:lnTo>
                <a:lnTo>
                  <a:pt x="0" y="4873949"/>
                </a:lnTo>
                <a:lnTo>
                  <a:pt x="0" y="0"/>
                </a:lnTo>
                <a:close/>
              </a:path>
            </a:pathLst>
          </a:custGeom>
          <a:blipFill rotWithShape="1">
            <a:blip r:embed="rId3">
              <a:alphaModFix/>
            </a:blip>
            <a:stretch>
              <a:fillRect r="-100036" b="-13468"/>
            </a:stretch>
          </a:blipFill>
          <a:ln>
            <a:noFill/>
          </a:ln>
        </p:spPr>
      </p:sp>
      <p:sp>
        <p:nvSpPr>
          <p:cNvPr id="344" name="Google Shape;344;p21"/>
          <p:cNvSpPr txBox="1"/>
          <p:nvPr/>
        </p:nvSpPr>
        <p:spPr>
          <a:xfrm>
            <a:off x="276189" y="893025"/>
            <a:ext cx="4694954" cy="276999"/>
          </a:xfrm>
          <a:prstGeom prst="rect">
            <a:avLst/>
          </a:prstGeom>
          <a:noFill/>
          <a:ln>
            <a:noFill/>
          </a:ln>
        </p:spPr>
        <p:txBody>
          <a:bodyPr spcFirstLastPara="1" wrap="square" lIns="0" tIns="0" rIns="0" bIns="0" anchor="t" anchorCtr="0">
            <a:spAutoFit/>
          </a:bodyPr>
          <a:lstStyle/>
          <a:p>
            <a:pPr marL="269874" marR="0" lvl="1" indent="0" algn="l" rtl="0">
              <a:lnSpc>
                <a:spcPct val="100000"/>
              </a:lnSpc>
              <a:spcBef>
                <a:spcPts val="0"/>
              </a:spcBef>
              <a:spcAft>
                <a:spcPts val="0"/>
              </a:spcAft>
              <a:buNone/>
            </a:pPr>
            <a:r>
              <a:rPr lang="en-US" sz="1800" b="0" i="0" u="none" strike="noStrike" cap="none">
                <a:solidFill>
                  <a:srgbClr val="1E4E79"/>
                </a:solidFill>
                <a:latin typeface="Calibri"/>
                <a:ea typeface="Calibri"/>
                <a:cs typeface="Calibri"/>
                <a:sym typeface="Calibri"/>
              </a:rPr>
              <a:t>Silahkan buka laman berikut</a:t>
            </a:r>
            <a:endParaRPr sz="1800" b="0" i="0" u="none" strike="noStrike" cap="none">
              <a:solidFill>
                <a:srgbClr val="1E4E79"/>
              </a:solidFill>
              <a:latin typeface="Calibri"/>
              <a:ea typeface="Calibri"/>
              <a:cs typeface="Calibri"/>
              <a:sym typeface="Calibri"/>
            </a:endParaRPr>
          </a:p>
        </p:txBody>
      </p:sp>
      <p:sp>
        <p:nvSpPr>
          <p:cNvPr id="345" name="Google Shape;345;p21"/>
          <p:cNvSpPr txBox="1"/>
          <p:nvPr/>
        </p:nvSpPr>
        <p:spPr>
          <a:xfrm>
            <a:off x="298377" y="1664549"/>
            <a:ext cx="5471051" cy="276999"/>
          </a:xfrm>
          <a:prstGeom prst="rect">
            <a:avLst/>
          </a:prstGeom>
          <a:noFill/>
          <a:ln>
            <a:noFill/>
          </a:ln>
        </p:spPr>
        <p:txBody>
          <a:bodyPr spcFirstLastPara="1" wrap="square" lIns="0" tIns="0" rIns="0" bIns="0" anchor="t" anchorCtr="0">
            <a:spAutoFit/>
          </a:bodyPr>
          <a:lstStyle/>
          <a:p>
            <a:pPr marL="269874" marR="0" lvl="1" indent="0" algn="l" rtl="0">
              <a:lnSpc>
                <a:spcPct val="100000"/>
              </a:lnSpc>
              <a:spcBef>
                <a:spcPts val="0"/>
              </a:spcBef>
              <a:spcAft>
                <a:spcPts val="0"/>
              </a:spcAft>
              <a:buNone/>
            </a:pPr>
            <a:r>
              <a:rPr lang="en-US" sz="1800" b="0" i="0" u="none" strike="noStrike" cap="none">
                <a:solidFill>
                  <a:srgbClr val="1E4E79"/>
                </a:solidFill>
                <a:latin typeface="Calibri"/>
                <a:ea typeface="Calibri"/>
                <a:cs typeface="Calibri"/>
                <a:sym typeface="Calibri"/>
              </a:rPr>
              <a:t>Gambarlah sesuai petunjuk yang tersedia:</a:t>
            </a:r>
            <a:endParaRPr sz="1800" b="0" i="0" u="none" strike="noStrike" cap="none">
              <a:solidFill>
                <a:srgbClr val="1E4E79"/>
              </a:solidFill>
              <a:latin typeface="Calibri"/>
              <a:ea typeface="Calibri"/>
              <a:cs typeface="Calibri"/>
              <a:sym typeface="Calibri"/>
            </a:endParaRPr>
          </a:p>
        </p:txBody>
      </p:sp>
      <p:sp>
        <p:nvSpPr>
          <p:cNvPr id="346" name="Google Shape;346;p21"/>
          <p:cNvSpPr txBox="1"/>
          <p:nvPr/>
        </p:nvSpPr>
        <p:spPr>
          <a:xfrm>
            <a:off x="298378" y="1247835"/>
            <a:ext cx="4694954" cy="276999"/>
          </a:xfrm>
          <a:prstGeom prst="rect">
            <a:avLst/>
          </a:prstGeom>
          <a:noFill/>
          <a:ln>
            <a:noFill/>
          </a:ln>
        </p:spPr>
        <p:txBody>
          <a:bodyPr spcFirstLastPara="1" wrap="square" lIns="0" tIns="0" rIns="0" bIns="0" anchor="t" anchorCtr="0">
            <a:spAutoFit/>
          </a:bodyPr>
          <a:lstStyle/>
          <a:p>
            <a:pPr marL="269874" marR="0" lvl="1" indent="0" algn="l" rtl="0">
              <a:lnSpc>
                <a:spcPct val="100000"/>
              </a:lnSpc>
              <a:spcBef>
                <a:spcPts val="0"/>
              </a:spcBef>
              <a:spcAft>
                <a:spcPts val="0"/>
              </a:spcAft>
              <a:buNone/>
            </a:pPr>
            <a:r>
              <a:rPr lang="en-US" sz="1800" b="0" i="0" u="none" strike="noStrike" cap="none" dirty="0">
                <a:solidFill>
                  <a:schemeClr val="dk1"/>
                </a:solidFill>
                <a:highlight>
                  <a:srgbClr val="FFFF00"/>
                </a:highlight>
                <a:latin typeface="Poppins"/>
                <a:ea typeface="Poppins"/>
                <a:cs typeface="Poppins"/>
                <a:sym typeface="Poppins"/>
              </a:rPr>
              <a:t>https://quickdraw.withgoogle.com </a:t>
            </a:r>
            <a:endParaRPr sz="1800" b="0" i="0" u="none" strike="noStrike" cap="none" dirty="0">
              <a:solidFill>
                <a:schemeClr val="dk1"/>
              </a:solidFill>
              <a:highlight>
                <a:srgbClr val="FFFF00"/>
              </a:highlight>
              <a:latin typeface="Poppins"/>
              <a:ea typeface="Poppins"/>
              <a:cs typeface="Poppins"/>
              <a:sym typeface="Poppins"/>
            </a:endParaRPr>
          </a:p>
        </p:txBody>
      </p:sp>
      <p:grpSp>
        <p:nvGrpSpPr>
          <p:cNvPr id="347" name="Google Shape;347;p21"/>
          <p:cNvGrpSpPr/>
          <p:nvPr/>
        </p:nvGrpSpPr>
        <p:grpSpPr>
          <a:xfrm>
            <a:off x="6363714" y="944440"/>
            <a:ext cx="6526191" cy="4082576"/>
            <a:chOff x="0" y="0"/>
            <a:chExt cx="10526134" cy="6817726"/>
          </a:xfrm>
        </p:grpSpPr>
        <p:sp>
          <p:nvSpPr>
            <p:cNvPr id="348" name="Google Shape;348;p21"/>
            <p:cNvSpPr/>
            <p:nvPr/>
          </p:nvSpPr>
          <p:spPr>
            <a:xfrm>
              <a:off x="0" y="0"/>
              <a:ext cx="8386984" cy="6817726"/>
            </a:xfrm>
            <a:custGeom>
              <a:avLst/>
              <a:gdLst/>
              <a:ahLst/>
              <a:cxnLst/>
              <a:rect l="l" t="t" r="r" b="b"/>
              <a:pathLst>
                <a:path w="8386984" h="6817726" extrusionOk="0">
                  <a:moveTo>
                    <a:pt x="0" y="0"/>
                  </a:moveTo>
                  <a:lnTo>
                    <a:pt x="8386984" y="0"/>
                  </a:lnTo>
                  <a:lnTo>
                    <a:pt x="8386984" y="6817726"/>
                  </a:lnTo>
                  <a:lnTo>
                    <a:pt x="0" y="6817726"/>
                  </a:lnTo>
                  <a:lnTo>
                    <a:pt x="0" y="0"/>
                  </a:lnTo>
                  <a:close/>
                </a:path>
              </a:pathLst>
            </a:custGeom>
            <a:blipFill rotWithShape="1">
              <a:blip r:embed="rId3">
                <a:alphaModFix/>
              </a:blip>
              <a:stretch>
                <a:fillRect l="-101332"/>
              </a:stretch>
            </a:blipFill>
            <a:ln>
              <a:noFill/>
            </a:ln>
          </p:spPr>
        </p:sp>
        <p:grpSp>
          <p:nvGrpSpPr>
            <p:cNvPr id="349" name="Google Shape;349;p21"/>
            <p:cNvGrpSpPr/>
            <p:nvPr/>
          </p:nvGrpSpPr>
          <p:grpSpPr>
            <a:xfrm>
              <a:off x="2571902" y="535742"/>
              <a:ext cx="3243180" cy="1603946"/>
              <a:chOff x="0" y="-21478"/>
              <a:chExt cx="812800" cy="401978"/>
            </a:xfrm>
          </p:grpSpPr>
          <p:sp>
            <p:nvSpPr>
              <p:cNvPr id="350" name="Google Shape;350;p21"/>
              <p:cNvSpPr/>
              <p:nvPr/>
            </p:nvSpPr>
            <p:spPr>
              <a:xfrm>
                <a:off x="0" y="0"/>
                <a:ext cx="812800" cy="380500"/>
              </a:xfrm>
              <a:custGeom>
                <a:avLst/>
                <a:gdLst/>
                <a:ahLst/>
                <a:cxnLst/>
                <a:rect l="l" t="t" r="r" b="b"/>
                <a:pathLst>
                  <a:path w="812800" h="380500" extrusionOk="0">
                    <a:moveTo>
                      <a:pt x="406400" y="0"/>
                    </a:moveTo>
                    <a:cubicBezTo>
                      <a:pt x="181951" y="0"/>
                      <a:pt x="0" y="85178"/>
                      <a:pt x="0" y="190250"/>
                    </a:cubicBezTo>
                    <a:cubicBezTo>
                      <a:pt x="0" y="295322"/>
                      <a:pt x="181951" y="380500"/>
                      <a:pt x="406400" y="380500"/>
                    </a:cubicBezTo>
                    <a:cubicBezTo>
                      <a:pt x="630849" y="380500"/>
                      <a:pt x="812800" y="295322"/>
                      <a:pt x="812800" y="190250"/>
                    </a:cubicBezTo>
                    <a:cubicBezTo>
                      <a:pt x="812800" y="85178"/>
                      <a:pt x="630849" y="0"/>
                      <a:pt x="406400" y="0"/>
                    </a:cubicBezTo>
                    <a:close/>
                  </a:path>
                </a:pathLst>
              </a:custGeom>
              <a:solidFill>
                <a:srgbClr val="000000">
                  <a:alpha val="0"/>
                </a:srgbClr>
              </a:solidFill>
              <a:ln w="38100" cap="sq" cmpd="sng">
                <a:solidFill>
                  <a:srgbClr val="00000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1"/>
              <p:cNvSpPr txBox="1"/>
              <p:nvPr/>
            </p:nvSpPr>
            <p:spPr>
              <a:xfrm>
                <a:off x="76200" y="-21478"/>
                <a:ext cx="660400" cy="366306"/>
              </a:xfrm>
              <a:prstGeom prst="rect">
                <a:avLst/>
              </a:prstGeom>
              <a:noFill/>
              <a:ln>
                <a:noFill/>
              </a:ln>
            </p:spPr>
            <p:txBody>
              <a:bodyPr spcFirstLastPara="1" wrap="square" lIns="50800" tIns="50800" rIns="50800" bIns="50800" anchor="ctr" anchorCtr="0">
                <a:noAutofit/>
              </a:bodyPr>
              <a:lstStyle/>
              <a:p>
                <a:pPr marL="0" marR="0" lvl="0" indent="0" algn="ctr" rtl="0">
                  <a:lnSpc>
                    <a:spcPct val="17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
          <p:nvSpPr>
            <p:cNvPr id="352" name="Google Shape;352;p21"/>
            <p:cNvSpPr txBox="1"/>
            <p:nvPr/>
          </p:nvSpPr>
          <p:spPr>
            <a:xfrm>
              <a:off x="5322699" y="2590207"/>
              <a:ext cx="5203435" cy="718279"/>
            </a:xfrm>
            <a:prstGeom prst="rect">
              <a:avLst/>
            </a:prstGeom>
            <a:noFill/>
            <a:ln>
              <a:noFill/>
            </a:ln>
          </p:spPr>
          <p:txBody>
            <a:bodyPr spcFirstLastPara="1" wrap="square" lIns="0" tIns="0" rIns="0" bIns="0" anchor="t" anchorCtr="0">
              <a:spAutoFit/>
            </a:bodyPr>
            <a:lstStyle/>
            <a:p>
              <a:pPr marL="0" marR="0" lvl="0" indent="0" algn="l" rtl="0">
                <a:lnSpc>
                  <a:spcPct val="213055"/>
                </a:lnSpc>
                <a:spcBef>
                  <a:spcPts val="0"/>
                </a:spcBef>
                <a:spcAft>
                  <a:spcPts val="0"/>
                </a:spcAft>
                <a:buNone/>
              </a:pPr>
              <a:r>
                <a:rPr lang="en-US" sz="1800" b="0" i="0" u="none" strike="noStrike" cap="none">
                  <a:solidFill>
                    <a:srgbClr val="000000"/>
                  </a:solidFill>
                  <a:latin typeface="Poppins"/>
                  <a:ea typeface="Poppins"/>
                  <a:cs typeface="Poppins"/>
                  <a:sym typeface="Poppins"/>
                </a:rPr>
                <a:t>Perhatikan waktunya</a:t>
              </a:r>
              <a:endParaRPr/>
            </a:p>
          </p:txBody>
        </p:sp>
        <p:sp>
          <p:nvSpPr>
            <p:cNvPr id="353" name="Google Shape;353;p21"/>
            <p:cNvSpPr/>
            <p:nvPr/>
          </p:nvSpPr>
          <p:spPr>
            <a:xfrm>
              <a:off x="5815082" y="3414887"/>
              <a:ext cx="3237769" cy="2142511"/>
            </a:xfrm>
            <a:custGeom>
              <a:avLst/>
              <a:gdLst/>
              <a:ahLst/>
              <a:cxnLst/>
              <a:rect l="l" t="t" r="r" b="b"/>
              <a:pathLst>
                <a:path w="3237769" h="2142511" extrusionOk="0">
                  <a:moveTo>
                    <a:pt x="0" y="0"/>
                  </a:moveTo>
                  <a:lnTo>
                    <a:pt x="3237770" y="0"/>
                  </a:lnTo>
                  <a:lnTo>
                    <a:pt x="3237770" y="2142511"/>
                  </a:lnTo>
                  <a:lnTo>
                    <a:pt x="0" y="2142511"/>
                  </a:lnTo>
                  <a:lnTo>
                    <a:pt x="0" y="0"/>
                  </a:lnTo>
                  <a:close/>
                </a:path>
              </a:pathLst>
            </a:custGeom>
            <a:blipFill rotWithShape="1">
              <a:blip r:embed="rId3">
                <a:alphaModFix/>
              </a:blip>
              <a:stretch>
                <a:fillRect l="-651616" t="-64337" r="-182439" b="-405625"/>
              </a:stretch>
            </a:blipFill>
            <a:ln>
              <a:noFill/>
            </a:ln>
          </p:spPr>
        </p:sp>
      </p:grpSp>
      <p:grpSp>
        <p:nvGrpSpPr>
          <p:cNvPr id="354" name="Google Shape;354;p21"/>
          <p:cNvGrpSpPr/>
          <p:nvPr/>
        </p:nvGrpSpPr>
        <p:grpSpPr>
          <a:xfrm>
            <a:off x="1995714" y="3498086"/>
            <a:ext cx="2721429" cy="1306621"/>
            <a:chOff x="0" y="-3153"/>
            <a:chExt cx="1325053" cy="579118"/>
          </a:xfrm>
        </p:grpSpPr>
        <p:sp>
          <p:nvSpPr>
            <p:cNvPr id="355" name="Google Shape;355;p21"/>
            <p:cNvSpPr/>
            <p:nvPr/>
          </p:nvSpPr>
          <p:spPr>
            <a:xfrm>
              <a:off x="0" y="0"/>
              <a:ext cx="1325053" cy="575965"/>
            </a:xfrm>
            <a:custGeom>
              <a:avLst/>
              <a:gdLst/>
              <a:ahLst/>
              <a:cxnLst/>
              <a:rect l="l" t="t" r="r" b="b"/>
              <a:pathLst>
                <a:path w="1325053" h="575965" extrusionOk="0">
                  <a:moveTo>
                    <a:pt x="662527" y="0"/>
                  </a:moveTo>
                  <a:cubicBezTo>
                    <a:pt x="296623" y="0"/>
                    <a:pt x="0" y="128934"/>
                    <a:pt x="0" y="287983"/>
                  </a:cubicBezTo>
                  <a:cubicBezTo>
                    <a:pt x="0" y="447031"/>
                    <a:pt x="296623" y="575965"/>
                    <a:pt x="662527" y="575965"/>
                  </a:cubicBezTo>
                  <a:cubicBezTo>
                    <a:pt x="1028430" y="575965"/>
                    <a:pt x="1325053" y="447031"/>
                    <a:pt x="1325053" y="287983"/>
                  </a:cubicBezTo>
                  <a:cubicBezTo>
                    <a:pt x="1325053" y="128934"/>
                    <a:pt x="1028430" y="0"/>
                    <a:pt x="662527" y="0"/>
                  </a:cubicBezTo>
                  <a:close/>
                </a:path>
              </a:pathLst>
            </a:custGeom>
            <a:solidFill>
              <a:srgbClr val="000000">
                <a:alpha val="0"/>
              </a:srgbClr>
            </a:solidFill>
            <a:ln w="38100" cap="sq" cmpd="sng">
              <a:solidFill>
                <a:srgbClr val="000000"/>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1"/>
            <p:cNvSpPr txBox="1"/>
            <p:nvPr/>
          </p:nvSpPr>
          <p:spPr>
            <a:xfrm>
              <a:off x="124224" y="-3153"/>
              <a:ext cx="1076606" cy="525122"/>
            </a:xfrm>
            <a:prstGeom prst="rect">
              <a:avLst/>
            </a:prstGeom>
            <a:noFill/>
            <a:ln>
              <a:noFill/>
            </a:ln>
          </p:spPr>
          <p:txBody>
            <a:bodyPr spcFirstLastPara="1" wrap="square" lIns="50800" tIns="50800" rIns="50800" bIns="50800" anchor="ctr" anchorCtr="0">
              <a:noAutofit/>
            </a:bodyPr>
            <a:lstStyle/>
            <a:p>
              <a:pPr marL="0" marR="0" lvl="0" indent="0" algn="ctr" rtl="0">
                <a:lnSpc>
                  <a:spcPct val="17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
        <p:nvSpPr>
          <p:cNvPr id="357" name="Google Shape;357;p21"/>
          <p:cNvSpPr/>
          <p:nvPr/>
        </p:nvSpPr>
        <p:spPr>
          <a:xfrm>
            <a:off x="4754568" y="3786410"/>
            <a:ext cx="1892975" cy="617605"/>
          </a:xfrm>
          <a:custGeom>
            <a:avLst/>
            <a:gdLst/>
            <a:ahLst/>
            <a:cxnLst/>
            <a:rect l="l" t="t" r="r" b="b"/>
            <a:pathLst>
              <a:path w="2365875" h="736379" extrusionOk="0">
                <a:moveTo>
                  <a:pt x="0" y="0"/>
                </a:moveTo>
                <a:lnTo>
                  <a:pt x="2365875" y="0"/>
                </a:lnTo>
                <a:lnTo>
                  <a:pt x="2365875" y="736379"/>
                </a:lnTo>
                <a:lnTo>
                  <a:pt x="0" y="736379"/>
                </a:lnTo>
                <a:lnTo>
                  <a:pt x="0" y="0"/>
                </a:lnTo>
                <a:close/>
              </a:path>
            </a:pathLst>
          </a:custGeom>
          <a:blipFill rotWithShape="1">
            <a:blip r:embed="rId4">
              <a:alphaModFix/>
            </a:blip>
            <a:stretch>
              <a:fillRect/>
            </a:stretch>
          </a:blipFill>
          <a:ln>
            <a:noFill/>
          </a:ln>
        </p:spPr>
      </p:sp>
      <p:sp>
        <p:nvSpPr>
          <p:cNvPr id="358" name="Google Shape;358;p21"/>
          <p:cNvSpPr txBox="1"/>
          <p:nvPr/>
        </p:nvSpPr>
        <p:spPr>
          <a:xfrm>
            <a:off x="1234683" y="5338721"/>
            <a:ext cx="4663133" cy="501523"/>
          </a:xfrm>
          <a:prstGeom prst="rect">
            <a:avLst/>
          </a:prstGeom>
          <a:noFill/>
          <a:ln>
            <a:noFill/>
          </a:ln>
        </p:spPr>
        <p:txBody>
          <a:bodyPr spcFirstLastPara="1" wrap="square" lIns="0" tIns="0" rIns="0" bIns="0" anchor="t" anchorCtr="0">
            <a:spAutoFit/>
          </a:bodyPr>
          <a:lstStyle/>
          <a:p>
            <a:pPr marL="0" marR="0" lvl="0" indent="0" algn="l" rtl="0">
              <a:lnSpc>
                <a:spcPct val="137013"/>
              </a:lnSpc>
              <a:spcBef>
                <a:spcPts val="0"/>
              </a:spcBef>
              <a:spcAft>
                <a:spcPts val="0"/>
              </a:spcAft>
              <a:buNone/>
            </a:pPr>
            <a:r>
              <a:rPr lang="en-US" sz="2799" b="0" i="0" u="none" strike="noStrike" cap="none">
                <a:solidFill>
                  <a:srgbClr val="000000"/>
                </a:solidFill>
                <a:latin typeface="Poppins"/>
                <a:ea typeface="Poppins"/>
                <a:cs typeface="Poppins"/>
                <a:sym typeface="Poppins"/>
              </a:rPr>
              <a:t>Waktu Prediksi : 20 detik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22"/>
          <p:cNvSpPr txBox="1"/>
          <p:nvPr/>
        </p:nvSpPr>
        <p:spPr>
          <a:xfrm>
            <a:off x="544282" y="155084"/>
            <a:ext cx="11176004" cy="639149"/>
          </a:xfrm>
          <a:prstGeom prst="rect">
            <a:avLst/>
          </a:prstGeom>
          <a:noFill/>
          <a:ln>
            <a:noFill/>
          </a:ln>
        </p:spPr>
        <p:txBody>
          <a:bodyPr spcFirstLastPara="1" wrap="square" lIns="0" tIns="0" rIns="0" bIns="0" anchor="t" anchorCtr="0">
            <a:spAutoFit/>
          </a:bodyPr>
          <a:lstStyle/>
          <a:p>
            <a:pPr marL="0" marR="0" lvl="0" indent="0" algn="l" rtl="0">
              <a:lnSpc>
                <a:spcPct val="199964"/>
              </a:lnSpc>
              <a:spcBef>
                <a:spcPts val="0"/>
              </a:spcBef>
              <a:spcAft>
                <a:spcPts val="0"/>
              </a:spcAft>
              <a:buNone/>
            </a:pPr>
            <a:r>
              <a:rPr lang="en-US" sz="2800" b="1" i="0" u="none" strike="noStrike" cap="none">
                <a:solidFill>
                  <a:srgbClr val="2E75B5"/>
                </a:solidFill>
                <a:latin typeface="Poppins"/>
                <a:ea typeface="Poppins"/>
                <a:cs typeface="Poppins"/>
                <a:sym typeface="Poppins"/>
              </a:rPr>
              <a:t>Kesimpulan</a:t>
            </a:r>
            <a:endParaRPr/>
          </a:p>
        </p:txBody>
      </p:sp>
      <p:sp>
        <p:nvSpPr>
          <p:cNvPr id="364" name="Google Shape;364;p22"/>
          <p:cNvSpPr txBox="1"/>
          <p:nvPr/>
        </p:nvSpPr>
        <p:spPr>
          <a:xfrm>
            <a:off x="257681" y="1092046"/>
            <a:ext cx="2862892" cy="3693319"/>
          </a:xfrm>
          <a:prstGeom prst="rect">
            <a:avLst/>
          </a:prstGeom>
          <a:noFill/>
          <a:ln>
            <a:noFill/>
          </a:ln>
        </p:spPr>
        <p:txBody>
          <a:bodyPr spcFirstLastPara="1" wrap="square" lIns="0" tIns="0" rIns="0" bIns="0" anchor="t" anchorCtr="0">
            <a:spAutoFit/>
          </a:bodyPr>
          <a:lstStyle/>
          <a:p>
            <a:pPr marL="269874" marR="0" lvl="1" indent="0" algn="l" rtl="0">
              <a:lnSpc>
                <a:spcPct val="100000"/>
              </a:lnSpc>
              <a:spcBef>
                <a:spcPts val="0"/>
              </a:spcBef>
              <a:spcAft>
                <a:spcPts val="0"/>
              </a:spcAft>
              <a:buNone/>
            </a:pPr>
            <a:r>
              <a:rPr lang="en-US" sz="2400" b="0" i="0" u="none" strike="noStrike" cap="none">
                <a:solidFill>
                  <a:srgbClr val="1E4E79"/>
                </a:solidFill>
                <a:latin typeface="Calibri"/>
                <a:ea typeface="Calibri"/>
                <a:cs typeface="Calibri"/>
                <a:sym typeface="Calibri"/>
              </a:rPr>
              <a:t>Kecepatan dalam memprediksi hasil gambar tersebut tidak lepas dari </a:t>
            </a:r>
            <a:r>
              <a:rPr lang="en-US" sz="2400" b="1" i="0" u="none" strike="noStrike" cap="none">
                <a:solidFill>
                  <a:srgbClr val="1E4E79"/>
                </a:solidFill>
                <a:latin typeface="Calibri"/>
                <a:ea typeface="Calibri"/>
                <a:cs typeface="Calibri"/>
                <a:sym typeface="Calibri"/>
              </a:rPr>
              <a:t>jumlah dataset objek gambar katak yang tersimpan di </a:t>
            </a:r>
            <a:r>
              <a:rPr lang="en-US" sz="2400" b="1" i="1" u="none" strike="noStrike" cap="none">
                <a:solidFill>
                  <a:srgbClr val="1E4E79"/>
                </a:solidFill>
                <a:latin typeface="Calibri"/>
                <a:ea typeface="Calibri"/>
                <a:cs typeface="Calibri"/>
                <a:sym typeface="Calibri"/>
              </a:rPr>
              <a:t>Quick, Draw!</a:t>
            </a:r>
            <a:r>
              <a:rPr lang="en-US" sz="2400" b="1" i="0" u="none" strike="noStrike" cap="none">
                <a:solidFill>
                  <a:srgbClr val="1E4E79"/>
                </a:solidFill>
                <a:latin typeface="Calibri"/>
                <a:ea typeface="Calibri"/>
                <a:cs typeface="Calibri"/>
                <a:sym typeface="Calibri"/>
              </a:rPr>
              <a:t> yang berjumlah ratusan ribu</a:t>
            </a:r>
            <a:r>
              <a:rPr lang="en-US" sz="2400" b="0" i="0" u="none" strike="noStrike" cap="none">
                <a:solidFill>
                  <a:srgbClr val="1E4E79"/>
                </a:solidFill>
                <a:latin typeface="Calibri"/>
                <a:ea typeface="Calibri"/>
                <a:cs typeface="Calibri"/>
                <a:sym typeface="Calibri"/>
              </a:rPr>
              <a:t>.</a:t>
            </a:r>
            <a:endParaRPr/>
          </a:p>
        </p:txBody>
      </p:sp>
      <p:sp>
        <p:nvSpPr>
          <p:cNvPr id="365" name="Google Shape;365;p22"/>
          <p:cNvSpPr txBox="1"/>
          <p:nvPr/>
        </p:nvSpPr>
        <p:spPr>
          <a:xfrm>
            <a:off x="3269030" y="5813012"/>
            <a:ext cx="8451256" cy="5539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800" b="0" i="0" u="none" strike="noStrike" cap="none">
                <a:solidFill>
                  <a:srgbClr val="000000"/>
                </a:solidFill>
                <a:highlight>
                  <a:srgbClr val="FFFF00"/>
                </a:highlight>
                <a:latin typeface="Calibri"/>
                <a:ea typeface="Calibri"/>
                <a:cs typeface="Calibri"/>
                <a:sym typeface="Calibri"/>
              </a:rPr>
              <a:t>Contoh dataset gambar katak yang dikumpulkan melalui “Quick, Draw!”, untuk melatih dan meningkatkan algoritme pembelajaran mesin</a:t>
            </a:r>
            <a:endParaRPr/>
          </a:p>
        </p:txBody>
      </p:sp>
      <p:sp>
        <p:nvSpPr>
          <p:cNvPr id="366" name="Google Shape;366;p22"/>
          <p:cNvSpPr/>
          <p:nvPr/>
        </p:nvSpPr>
        <p:spPr>
          <a:xfrm>
            <a:off x="3269029" y="917873"/>
            <a:ext cx="8451257" cy="4749955"/>
          </a:xfrm>
          <a:custGeom>
            <a:avLst/>
            <a:gdLst/>
            <a:ahLst/>
            <a:cxnLst/>
            <a:rect l="l" t="t" r="r" b="b"/>
            <a:pathLst>
              <a:path w="11215360" h="6296852" extrusionOk="0">
                <a:moveTo>
                  <a:pt x="0" y="0"/>
                </a:moveTo>
                <a:lnTo>
                  <a:pt x="11215360" y="0"/>
                </a:lnTo>
                <a:lnTo>
                  <a:pt x="11215360" y="6296852"/>
                </a:lnTo>
                <a:lnTo>
                  <a:pt x="0" y="6296852"/>
                </a:lnTo>
                <a:lnTo>
                  <a:pt x="0" y="0"/>
                </a:lnTo>
                <a:close/>
              </a:path>
            </a:pathLst>
          </a:custGeom>
          <a:blipFill rotWithShape="1">
            <a:blip r:embed="rId3">
              <a:alphaModFix/>
            </a:blip>
            <a:stretch>
              <a:fillRect/>
            </a:stretch>
          </a:blipFill>
          <a:ln>
            <a:noFill/>
          </a:ln>
        </p:spPr>
      </p:sp>
      <p:sp>
        <p:nvSpPr>
          <p:cNvPr id="367" name="Google Shape;367;p22"/>
          <p:cNvSpPr txBox="1"/>
          <p:nvPr/>
        </p:nvSpPr>
        <p:spPr>
          <a:xfrm>
            <a:off x="5450114" y="6367010"/>
            <a:ext cx="6270172" cy="386644"/>
          </a:xfrm>
          <a:prstGeom prst="rect">
            <a:avLst/>
          </a:prstGeom>
          <a:noFill/>
          <a:ln>
            <a:noFill/>
          </a:ln>
        </p:spPr>
        <p:txBody>
          <a:bodyPr spcFirstLastPara="1" wrap="square" lIns="0" tIns="0" rIns="0" bIns="0" anchor="t" anchorCtr="0">
            <a:spAutoFit/>
          </a:bodyPr>
          <a:lstStyle/>
          <a:p>
            <a:pPr marL="0" marR="0" lvl="0" indent="0" algn="r" rtl="0">
              <a:lnSpc>
                <a:spcPct val="213625"/>
              </a:lnSpc>
              <a:spcBef>
                <a:spcPts val="0"/>
              </a:spcBef>
              <a:spcAft>
                <a:spcPts val="0"/>
              </a:spcAft>
              <a:buNone/>
            </a:pPr>
            <a:r>
              <a:rPr lang="en-US" sz="1600" b="0" i="0" u="none" strike="noStrike" cap="none">
                <a:solidFill>
                  <a:schemeClr val="dk1"/>
                </a:solidFill>
                <a:latin typeface="Open Sans"/>
                <a:ea typeface="Open Sans"/>
                <a:cs typeface="Open Sans"/>
                <a:sym typeface="Open Sans"/>
              </a:rPr>
              <a:t>sumber : </a:t>
            </a:r>
            <a:r>
              <a:rPr lang="en-US" sz="1600" b="1" i="0" u="sng" strike="noStrike" cap="none">
                <a:solidFill>
                  <a:schemeClr val="dk1"/>
                </a:solidFill>
                <a:highlight>
                  <a:srgbClr val="FFFF00"/>
                </a:highlight>
                <a:latin typeface="Open Sans"/>
                <a:ea typeface="Open Sans"/>
                <a:cs typeface="Open Sans"/>
                <a:sym typeface="Open Sans"/>
                <a:hlinkClick r:id="rId4">
                  <a:extLst>
                    <a:ext uri="{A12FA001-AC4F-418D-AE19-62706E023703}">
                      <ahyp:hlinkClr xmlns:ahyp="http://schemas.microsoft.com/office/drawing/2018/hyperlinkcolor" val="tx"/>
                    </a:ext>
                  </a:extLst>
                </a:hlinkClick>
              </a:rPr>
              <a:t>https://quickdraw.withgoogle.com</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E75B5"/>
              </a:buClr>
              <a:buSzPts val="4400"/>
              <a:buFont typeface="Calibri"/>
              <a:buNone/>
            </a:pPr>
            <a:r>
              <a:rPr lang="en-US"/>
              <a:t>Implementasi KA Generatif</a:t>
            </a:r>
            <a:endParaRPr/>
          </a:p>
        </p:txBody>
      </p:sp>
      <p:sp>
        <p:nvSpPr>
          <p:cNvPr id="373" name="Google Shape;373;p23"/>
          <p:cNvSpPr txBox="1">
            <a:spLocks noGrp="1"/>
          </p:cNvSpPr>
          <p:nvPr>
            <p:ph type="body" idx="1"/>
          </p:nvPr>
        </p:nvSpPr>
        <p:spPr>
          <a:xfrm>
            <a:off x="725714" y="1603603"/>
            <a:ext cx="10740571" cy="4394851"/>
          </a:xfrm>
          <a:prstGeom prst="rect">
            <a:avLst/>
          </a:prstGeom>
          <a:noFill/>
          <a:ln>
            <a:noFill/>
          </a:ln>
        </p:spPr>
        <p:txBody>
          <a:bodyPr spcFirstLastPara="1" wrap="square" lIns="91425" tIns="45700" rIns="91425" bIns="45700" anchor="t" anchorCtr="0">
            <a:noAutofit/>
          </a:bodyPr>
          <a:lstStyle/>
          <a:p>
            <a:pPr marL="457200" lvl="0" indent="-406400" algn="just" rtl="0">
              <a:lnSpc>
                <a:spcPct val="100000"/>
              </a:lnSpc>
              <a:spcBef>
                <a:spcPts val="400"/>
              </a:spcBef>
              <a:spcAft>
                <a:spcPts val="0"/>
              </a:spcAft>
              <a:buSzPts val="2800"/>
              <a:buChar char="•"/>
            </a:pPr>
            <a:r>
              <a:rPr lang="en-US" sz="2100" b="1">
                <a:solidFill>
                  <a:srgbClr val="1E4E79"/>
                </a:solidFill>
                <a:latin typeface="Calibri"/>
                <a:ea typeface="Calibri"/>
                <a:cs typeface="Calibri"/>
                <a:sym typeface="Calibri"/>
              </a:rPr>
              <a:t>Industri Kreatif dan Desain </a:t>
            </a:r>
            <a:r>
              <a:rPr lang="en-US" sz="2100">
                <a:solidFill>
                  <a:srgbClr val="1E4E79"/>
                </a:solidFill>
                <a:latin typeface="Calibri"/>
                <a:ea typeface="Calibri"/>
                <a:cs typeface="Calibri"/>
                <a:sym typeface="Calibri"/>
              </a:rPr>
              <a:t>: ex. menggunakan AI seperti DALL·E atau Midjourney untuk membuat desain visual (logo, poster, ilustrasi karakter), dsb.</a:t>
            </a:r>
            <a:endParaRPr/>
          </a:p>
          <a:p>
            <a:pPr marL="457200" lvl="0" indent="-406400" algn="just" rtl="0">
              <a:lnSpc>
                <a:spcPct val="100000"/>
              </a:lnSpc>
              <a:spcBef>
                <a:spcPts val="400"/>
              </a:spcBef>
              <a:spcAft>
                <a:spcPts val="0"/>
              </a:spcAft>
              <a:buSzPts val="2800"/>
              <a:buChar char="•"/>
            </a:pPr>
            <a:r>
              <a:rPr lang="en-US" sz="2100" b="1">
                <a:solidFill>
                  <a:srgbClr val="1E4E79"/>
                </a:solidFill>
                <a:latin typeface="Calibri"/>
                <a:ea typeface="Calibri"/>
                <a:cs typeface="Calibri"/>
                <a:sym typeface="Calibri"/>
              </a:rPr>
              <a:t>Industri Teks dan Jurnalistik </a:t>
            </a:r>
            <a:r>
              <a:rPr lang="en-US" sz="2100">
                <a:solidFill>
                  <a:srgbClr val="1E4E79"/>
                </a:solidFill>
                <a:latin typeface="Calibri"/>
                <a:ea typeface="Calibri"/>
                <a:cs typeface="Calibri"/>
                <a:sym typeface="Calibri"/>
              </a:rPr>
              <a:t>: ex. Menggunakan Chat GPT untuk menulis artikel, ringkasan berita, atau konten blog, dsb.</a:t>
            </a:r>
            <a:endParaRPr/>
          </a:p>
          <a:p>
            <a:pPr marL="457200" lvl="0" indent="-406400" algn="just" rtl="0">
              <a:lnSpc>
                <a:spcPct val="100000"/>
              </a:lnSpc>
              <a:spcBef>
                <a:spcPts val="400"/>
              </a:spcBef>
              <a:spcAft>
                <a:spcPts val="0"/>
              </a:spcAft>
              <a:buSzPts val="2800"/>
              <a:buChar char="•"/>
            </a:pPr>
            <a:r>
              <a:rPr lang="en-US" sz="2100" b="1">
                <a:solidFill>
                  <a:srgbClr val="1E4E79"/>
                </a:solidFill>
                <a:latin typeface="Calibri"/>
                <a:ea typeface="Calibri"/>
                <a:cs typeface="Calibri"/>
                <a:sym typeface="Calibri"/>
              </a:rPr>
              <a:t>Industri Musik </a:t>
            </a:r>
            <a:r>
              <a:rPr lang="en-US" sz="2100">
                <a:solidFill>
                  <a:srgbClr val="1E4E79"/>
                </a:solidFill>
                <a:latin typeface="Calibri"/>
                <a:ea typeface="Calibri"/>
                <a:cs typeface="Calibri"/>
                <a:sym typeface="Calibri"/>
              </a:rPr>
              <a:t>: ex. membuat musik latar (background music) untuk video atau iklan, menciptakan melodi, harmoni, atau aransemen musik yang unik, dsb.</a:t>
            </a:r>
            <a:endParaRPr/>
          </a:p>
          <a:p>
            <a:pPr marL="457200" lvl="0" indent="-406400" algn="just" rtl="0">
              <a:lnSpc>
                <a:spcPct val="100000"/>
              </a:lnSpc>
              <a:spcBef>
                <a:spcPts val="400"/>
              </a:spcBef>
              <a:spcAft>
                <a:spcPts val="0"/>
              </a:spcAft>
              <a:buSzPts val="2800"/>
              <a:buChar char="•"/>
            </a:pPr>
            <a:r>
              <a:rPr lang="en-US" sz="2100" b="1">
                <a:solidFill>
                  <a:srgbClr val="1E4E79"/>
                </a:solidFill>
                <a:latin typeface="Calibri"/>
                <a:ea typeface="Calibri"/>
                <a:cs typeface="Calibri"/>
                <a:sym typeface="Calibri"/>
              </a:rPr>
              <a:t>Pengembangan Gim (Game) </a:t>
            </a:r>
            <a:r>
              <a:rPr lang="en-US" sz="2100">
                <a:solidFill>
                  <a:srgbClr val="1E4E79"/>
                </a:solidFill>
                <a:latin typeface="Calibri"/>
                <a:ea typeface="Calibri"/>
                <a:cs typeface="Calibri"/>
                <a:sym typeface="Calibri"/>
              </a:rPr>
              <a:t>: ex. membuat cerita (storyline) dinamis, mendesain karakter dan dunia game secara otomatis, dsb.</a:t>
            </a:r>
            <a:endParaRPr/>
          </a:p>
          <a:p>
            <a:pPr marL="457200" lvl="0" indent="-406400" algn="just" rtl="0">
              <a:lnSpc>
                <a:spcPct val="100000"/>
              </a:lnSpc>
              <a:spcBef>
                <a:spcPts val="400"/>
              </a:spcBef>
              <a:spcAft>
                <a:spcPts val="0"/>
              </a:spcAft>
              <a:buSzPts val="2800"/>
              <a:buChar char="•"/>
            </a:pPr>
            <a:r>
              <a:rPr lang="en-US" sz="2100" b="1">
                <a:solidFill>
                  <a:srgbClr val="1E4E79"/>
                </a:solidFill>
                <a:latin typeface="Calibri"/>
                <a:ea typeface="Calibri"/>
                <a:cs typeface="Calibri"/>
                <a:sym typeface="Calibri"/>
              </a:rPr>
              <a:t>Pengembangan Produk dan Riset </a:t>
            </a:r>
            <a:r>
              <a:rPr lang="en-US" sz="2100">
                <a:solidFill>
                  <a:srgbClr val="1E4E79"/>
                </a:solidFill>
                <a:latin typeface="Calibri"/>
                <a:ea typeface="Calibri"/>
                <a:cs typeface="Calibri"/>
                <a:sym typeface="Calibri"/>
              </a:rPr>
              <a:t>: ex. Simulasi eksperimen atau prediksi hasil berdasarkan data sebelumnya, membantu menulis laporan riset atau dokumentasi teknis, dsb.</a:t>
            </a:r>
            <a:endParaRPr/>
          </a:p>
          <a:p>
            <a:pPr marL="457200" lvl="0" indent="-406400" algn="just" rtl="0">
              <a:lnSpc>
                <a:spcPct val="100000"/>
              </a:lnSpc>
              <a:spcBef>
                <a:spcPts val="400"/>
              </a:spcBef>
              <a:spcAft>
                <a:spcPts val="0"/>
              </a:spcAft>
              <a:buSzPts val="2800"/>
              <a:buChar char="•"/>
            </a:pPr>
            <a:r>
              <a:rPr lang="en-US" sz="2100" b="1">
                <a:solidFill>
                  <a:srgbClr val="1E4E79"/>
                </a:solidFill>
                <a:latin typeface="Calibri"/>
                <a:ea typeface="Calibri"/>
                <a:cs typeface="Calibri"/>
                <a:sym typeface="Calibri"/>
              </a:rPr>
              <a:t>E-commerce dan Periklanan </a:t>
            </a:r>
            <a:r>
              <a:rPr lang="en-US" sz="2100">
                <a:solidFill>
                  <a:srgbClr val="1E4E79"/>
                </a:solidFill>
                <a:latin typeface="Calibri"/>
                <a:ea typeface="Calibri"/>
                <a:cs typeface="Calibri"/>
                <a:sym typeface="Calibri"/>
              </a:rPr>
              <a:t>: ex. Iklan digital (banner/video ads) dihasilkan secara otomatis dari data produk, dsb.</a:t>
            </a:r>
            <a:endParaRPr/>
          </a:p>
          <a:p>
            <a:pPr marL="457200" lvl="0" indent="-406400" algn="just" rtl="0">
              <a:lnSpc>
                <a:spcPct val="100000"/>
              </a:lnSpc>
              <a:spcBef>
                <a:spcPts val="400"/>
              </a:spcBef>
              <a:spcAft>
                <a:spcPts val="0"/>
              </a:spcAft>
              <a:buSzPts val="2800"/>
              <a:buChar char="•"/>
            </a:pPr>
            <a:r>
              <a:rPr lang="en-US" sz="2100" b="1">
                <a:solidFill>
                  <a:srgbClr val="1E4E79"/>
                </a:solidFill>
                <a:latin typeface="Calibri"/>
                <a:ea typeface="Calibri"/>
                <a:cs typeface="Calibri"/>
                <a:sym typeface="Calibri"/>
              </a:rPr>
              <a:t>Pendidikan</a:t>
            </a:r>
            <a:r>
              <a:rPr lang="en-US" sz="2100">
                <a:solidFill>
                  <a:srgbClr val="1E4E79"/>
                </a:solidFill>
                <a:latin typeface="Calibri"/>
                <a:ea typeface="Calibri"/>
                <a:cs typeface="Calibri"/>
                <a:sym typeface="Calibri"/>
              </a:rPr>
              <a:t> : ex. KA sebagai asisten guru, membuat soal latihan, ringkasan materi, atau penjelasan ulang, dsb.</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E75B5"/>
              </a:buClr>
              <a:buSzPts val="4400"/>
              <a:buFont typeface="Calibri"/>
              <a:buNone/>
            </a:pPr>
            <a:r>
              <a:rPr lang="en-US"/>
              <a:t>Aktivitas 1</a:t>
            </a:r>
            <a:endParaRPr/>
          </a:p>
        </p:txBody>
      </p:sp>
      <p:sp>
        <p:nvSpPr>
          <p:cNvPr id="379" name="Google Shape;379;p24"/>
          <p:cNvSpPr txBox="1"/>
          <p:nvPr/>
        </p:nvSpPr>
        <p:spPr>
          <a:xfrm>
            <a:off x="921751" y="2157483"/>
            <a:ext cx="4729795" cy="317005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dirty="0" err="1">
                <a:solidFill>
                  <a:srgbClr val="1E4E79"/>
                </a:solidFill>
                <a:latin typeface="Calibri"/>
                <a:ea typeface="Calibri"/>
                <a:cs typeface="Calibri"/>
                <a:sym typeface="Calibri"/>
              </a:rPr>
              <a:t>Lakukan</a:t>
            </a:r>
            <a:r>
              <a:rPr lang="en-US" sz="2200" b="0" i="0" u="none" strike="noStrike" cap="none" dirty="0">
                <a:solidFill>
                  <a:srgbClr val="1E4E79"/>
                </a:solidFill>
                <a:latin typeface="Calibri"/>
                <a:ea typeface="Calibri"/>
                <a:cs typeface="Calibri"/>
                <a:sym typeface="Calibri"/>
              </a:rPr>
              <a:t> </a:t>
            </a:r>
            <a:r>
              <a:rPr lang="en-US" sz="2200" b="0" i="0" u="none" strike="noStrike" cap="none" dirty="0" err="1">
                <a:solidFill>
                  <a:srgbClr val="1E4E79"/>
                </a:solidFill>
                <a:latin typeface="Calibri"/>
                <a:ea typeface="Calibri"/>
                <a:cs typeface="Calibri"/>
                <a:sym typeface="Calibri"/>
              </a:rPr>
              <a:t>kegiatan</a:t>
            </a:r>
            <a:r>
              <a:rPr lang="en-US" sz="2200" b="0" i="0" u="none" strike="noStrike" cap="none" dirty="0">
                <a:solidFill>
                  <a:srgbClr val="1E4E79"/>
                </a:solidFill>
                <a:latin typeface="Calibri"/>
                <a:ea typeface="Calibri"/>
                <a:cs typeface="Calibri"/>
                <a:sym typeface="Calibri"/>
              </a:rPr>
              <a:t> </a:t>
            </a:r>
            <a:r>
              <a:rPr lang="en-US" sz="2200" b="0" i="0" u="none" strike="noStrike" cap="none" dirty="0" err="1">
                <a:solidFill>
                  <a:srgbClr val="1E4E79"/>
                </a:solidFill>
                <a:latin typeface="Calibri"/>
                <a:ea typeface="Calibri"/>
                <a:cs typeface="Calibri"/>
                <a:sym typeface="Calibri"/>
              </a:rPr>
              <a:t>dibawah</a:t>
            </a:r>
            <a:r>
              <a:rPr lang="en-US" sz="2200" b="0" i="0" u="none" strike="noStrike" cap="none" dirty="0">
                <a:solidFill>
                  <a:srgbClr val="1E4E79"/>
                </a:solidFill>
                <a:latin typeface="Calibri"/>
                <a:ea typeface="Calibri"/>
                <a:cs typeface="Calibri"/>
                <a:sym typeface="Calibri"/>
              </a:rPr>
              <a:t> !</a:t>
            </a:r>
            <a:endParaRPr sz="2200" b="0" i="0" u="none" strike="noStrike" cap="none" dirty="0">
              <a:solidFill>
                <a:srgbClr val="1E4E79"/>
              </a:solidFill>
              <a:latin typeface="Calibri"/>
              <a:ea typeface="Calibri"/>
              <a:cs typeface="Calibri"/>
              <a:sym typeface="Calibri"/>
            </a:endParaRPr>
          </a:p>
          <a:p>
            <a:pPr marL="457200" marR="0" lvl="0" indent="-457200" algn="l" rtl="0">
              <a:lnSpc>
                <a:spcPct val="100000"/>
              </a:lnSpc>
              <a:spcBef>
                <a:spcPts val="0"/>
              </a:spcBef>
              <a:spcAft>
                <a:spcPts val="0"/>
              </a:spcAft>
              <a:buClr>
                <a:srgbClr val="000000"/>
              </a:buClr>
              <a:buSzPts val="2200"/>
              <a:buFont typeface="Arial"/>
              <a:buAutoNum type="alphaLcPeriod"/>
            </a:pPr>
            <a:r>
              <a:rPr lang="en-US" sz="2200" b="0" i="0" u="none" strike="noStrike" cap="none" dirty="0" err="1">
                <a:solidFill>
                  <a:srgbClr val="1E4E79"/>
                </a:solidFill>
                <a:latin typeface="Calibri"/>
                <a:ea typeface="Calibri"/>
                <a:cs typeface="Calibri"/>
                <a:sym typeface="Calibri"/>
              </a:rPr>
              <a:t>Buatlah</a:t>
            </a:r>
            <a:r>
              <a:rPr lang="en-US" sz="2200" b="0" i="0" u="none" strike="noStrike" cap="none" dirty="0">
                <a:solidFill>
                  <a:srgbClr val="1E4E79"/>
                </a:solidFill>
                <a:latin typeface="Calibri"/>
                <a:ea typeface="Calibri"/>
                <a:cs typeface="Calibri"/>
                <a:sym typeface="Calibri"/>
              </a:rPr>
              <a:t> </a:t>
            </a:r>
            <a:r>
              <a:rPr lang="en-US" sz="2200" b="0" i="0" u="none" strike="noStrike" cap="none" dirty="0" err="1">
                <a:solidFill>
                  <a:srgbClr val="1E4E79"/>
                </a:solidFill>
                <a:latin typeface="Calibri"/>
                <a:ea typeface="Calibri"/>
                <a:cs typeface="Calibri"/>
                <a:sym typeface="Calibri"/>
              </a:rPr>
              <a:t>konten</a:t>
            </a:r>
            <a:r>
              <a:rPr lang="en-US" sz="2200" b="0" i="0" u="none" strike="noStrike" cap="none" dirty="0">
                <a:solidFill>
                  <a:srgbClr val="1E4E79"/>
                </a:solidFill>
                <a:latin typeface="Calibri"/>
                <a:ea typeface="Calibri"/>
                <a:cs typeface="Calibri"/>
                <a:sym typeface="Calibri"/>
              </a:rPr>
              <a:t> </a:t>
            </a:r>
            <a:r>
              <a:rPr lang="en-US" sz="2200" b="0" i="0" u="none" strike="noStrike" cap="none" dirty="0" err="1">
                <a:solidFill>
                  <a:srgbClr val="1E4E79"/>
                </a:solidFill>
                <a:latin typeface="Calibri"/>
                <a:ea typeface="Calibri"/>
                <a:cs typeface="Calibri"/>
                <a:sym typeface="Calibri"/>
              </a:rPr>
              <a:t>promosi</a:t>
            </a:r>
            <a:r>
              <a:rPr lang="en-US" sz="2200" b="0" i="0" u="none" strike="noStrike" cap="none" dirty="0">
                <a:solidFill>
                  <a:srgbClr val="1E4E79"/>
                </a:solidFill>
                <a:latin typeface="Calibri"/>
                <a:ea typeface="Calibri"/>
                <a:cs typeface="Calibri"/>
                <a:sym typeface="Calibri"/>
              </a:rPr>
              <a:t> </a:t>
            </a:r>
            <a:r>
              <a:rPr lang="en-US" sz="2200" b="0" i="0" u="none" strike="noStrike" cap="none" dirty="0" err="1">
                <a:solidFill>
                  <a:srgbClr val="1E4E79"/>
                </a:solidFill>
                <a:latin typeface="Calibri"/>
                <a:ea typeface="Calibri"/>
                <a:cs typeface="Calibri"/>
                <a:sym typeface="Calibri"/>
              </a:rPr>
              <a:t>dengan</a:t>
            </a:r>
            <a:r>
              <a:rPr lang="en-US" sz="2200" b="0" i="0" u="none" strike="noStrike" cap="none" dirty="0">
                <a:solidFill>
                  <a:srgbClr val="1E4E79"/>
                </a:solidFill>
                <a:latin typeface="Calibri"/>
                <a:ea typeface="Calibri"/>
                <a:cs typeface="Calibri"/>
                <a:sym typeface="Calibri"/>
              </a:rPr>
              <a:t> KA generator </a:t>
            </a:r>
            <a:r>
              <a:rPr lang="en-US" sz="2200" b="0" i="0" u="none" strike="noStrike" cap="none" dirty="0" err="1">
                <a:solidFill>
                  <a:srgbClr val="1E4E79"/>
                </a:solidFill>
                <a:latin typeface="Calibri"/>
                <a:ea typeface="Calibri"/>
                <a:cs typeface="Calibri"/>
                <a:sym typeface="Calibri"/>
              </a:rPr>
              <a:t>teks</a:t>
            </a:r>
            <a:r>
              <a:rPr lang="en-US" sz="2200" b="0" i="0" u="none" strike="noStrike" cap="none" dirty="0">
                <a:solidFill>
                  <a:srgbClr val="1E4E79"/>
                </a:solidFill>
                <a:latin typeface="Calibri"/>
                <a:ea typeface="Calibri"/>
                <a:cs typeface="Calibri"/>
                <a:sym typeface="Calibri"/>
              </a:rPr>
              <a:t>.</a:t>
            </a:r>
            <a:endParaRPr dirty="0"/>
          </a:p>
          <a:p>
            <a:pPr marL="457200" marR="0" lvl="0" indent="-457200" algn="l" rtl="0">
              <a:lnSpc>
                <a:spcPct val="100000"/>
              </a:lnSpc>
              <a:spcBef>
                <a:spcPts val="0"/>
              </a:spcBef>
              <a:spcAft>
                <a:spcPts val="0"/>
              </a:spcAft>
              <a:buClr>
                <a:srgbClr val="000000"/>
              </a:buClr>
              <a:buSzPts val="2200"/>
              <a:buFont typeface="Arial"/>
              <a:buAutoNum type="alphaLcPeriod"/>
            </a:pPr>
            <a:r>
              <a:rPr lang="en-US" sz="2200" b="0" i="0" u="none" strike="noStrike" cap="none" dirty="0" err="1">
                <a:solidFill>
                  <a:srgbClr val="1E4E79"/>
                </a:solidFill>
                <a:latin typeface="Calibri"/>
                <a:ea typeface="Calibri"/>
                <a:cs typeface="Calibri"/>
                <a:sym typeface="Calibri"/>
              </a:rPr>
              <a:t>Buatlah</a:t>
            </a:r>
            <a:r>
              <a:rPr lang="en-US" sz="2200" b="0" i="0" u="none" strike="noStrike" cap="none" dirty="0">
                <a:solidFill>
                  <a:srgbClr val="1E4E79"/>
                </a:solidFill>
                <a:latin typeface="Calibri"/>
                <a:ea typeface="Calibri"/>
                <a:cs typeface="Calibri"/>
                <a:sym typeface="Calibri"/>
              </a:rPr>
              <a:t> </a:t>
            </a:r>
            <a:r>
              <a:rPr lang="en-US" sz="2200" b="0" i="0" u="none" strike="noStrike" cap="none" dirty="0" err="1">
                <a:solidFill>
                  <a:srgbClr val="1E4E79"/>
                </a:solidFill>
                <a:latin typeface="Calibri"/>
                <a:ea typeface="Calibri"/>
                <a:cs typeface="Calibri"/>
                <a:sym typeface="Calibri"/>
              </a:rPr>
              <a:t>desain</a:t>
            </a:r>
            <a:r>
              <a:rPr lang="en-US" sz="2200" b="0" i="0" u="none" strike="noStrike" cap="none" dirty="0">
                <a:solidFill>
                  <a:srgbClr val="1E4E79"/>
                </a:solidFill>
                <a:latin typeface="Calibri"/>
                <a:ea typeface="Calibri"/>
                <a:cs typeface="Calibri"/>
                <a:sym typeface="Calibri"/>
              </a:rPr>
              <a:t> </a:t>
            </a:r>
            <a:r>
              <a:rPr lang="en-US" sz="2200" b="0" i="0" u="none" strike="noStrike" cap="none" dirty="0" err="1">
                <a:solidFill>
                  <a:srgbClr val="1E4E79"/>
                </a:solidFill>
                <a:latin typeface="Calibri"/>
                <a:ea typeface="Calibri"/>
                <a:cs typeface="Calibri"/>
                <a:sym typeface="Calibri"/>
              </a:rPr>
              <a:t>kemasan</a:t>
            </a:r>
            <a:r>
              <a:rPr lang="en-US" sz="2200" b="0" i="0" u="none" strike="noStrike" cap="none" dirty="0">
                <a:solidFill>
                  <a:srgbClr val="1E4E79"/>
                </a:solidFill>
                <a:latin typeface="Calibri"/>
                <a:ea typeface="Calibri"/>
                <a:cs typeface="Calibri"/>
                <a:sym typeface="Calibri"/>
              </a:rPr>
              <a:t> dan poster </a:t>
            </a:r>
            <a:r>
              <a:rPr lang="en-US" sz="2200" b="0" i="0" u="none" strike="noStrike" cap="none" dirty="0" err="1">
                <a:solidFill>
                  <a:srgbClr val="1E4E79"/>
                </a:solidFill>
                <a:latin typeface="Calibri"/>
                <a:ea typeface="Calibri"/>
                <a:cs typeface="Calibri"/>
                <a:sym typeface="Calibri"/>
              </a:rPr>
              <a:t>dengan</a:t>
            </a:r>
            <a:r>
              <a:rPr lang="en-US" sz="2200" b="0" i="0" u="none" strike="noStrike" cap="none" dirty="0">
                <a:solidFill>
                  <a:srgbClr val="1E4E79"/>
                </a:solidFill>
                <a:latin typeface="Calibri"/>
                <a:ea typeface="Calibri"/>
                <a:cs typeface="Calibri"/>
                <a:sym typeface="Calibri"/>
              </a:rPr>
              <a:t> KA generator </a:t>
            </a:r>
            <a:r>
              <a:rPr lang="en-US" sz="2200" b="0" i="0" u="none" strike="noStrike" cap="none" dirty="0" err="1">
                <a:solidFill>
                  <a:srgbClr val="1E4E79"/>
                </a:solidFill>
                <a:latin typeface="Calibri"/>
                <a:ea typeface="Calibri"/>
                <a:cs typeface="Calibri"/>
                <a:sym typeface="Calibri"/>
              </a:rPr>
              <a:t>gambar</a:t>
            </a:r>
            <a:r>
              <a:rPr lang="en-US" sz="2200" b="0" i="0" u="none" strike="noStrike" cap="none" dirty="0">
                <a:solidFill>
                  <a:srgbClr val="1E4E79"/>
                </a:solidFill>
                <a:latin typeface="Calibri"/>
                <a:ea typeface="Calibri"/>
                <a:cs typeface="Calibri"/>
                <a:sym typeface="Calibri"/>
              </a:rPr>
              <a:t>.</a:t>
            </a:r>
            <a:endParaRPr dirty="0"/>
          </a:p>
          <a:p>
            <a:pPr marL="457200" lvl="0" indent="-457200">
              <a:buSzPts val="2200"/>
              <a:buFont typeface="Arial"/>
              <a:buAutoNum type="alphaLcPeriod"/>
            </a:pPr>
            <a:r>
              <a:rPr lang="en-US" sz="2200" b="0" i="0" u="none" strike="noStrike" cap="none" dirty="0" err="1">
                <a:solidFill>
                  <a:srgbClr val="1E4E79"/>
                </a:solidFill>
                <a:latin typeface="Calibri"/>
                <a:ea typeface="Calibri"/>
                <a:cs typeface="Calibri"/>
                <a:sym typeface="Calibri"/>
              </a:rPr>
              <a:t>Buatlah</a:t>
            </a:r>
            <a:r>
              <a:rPr lang="en-US" sz="2200" b="0" i="0" u="none" strike="noStrike" cap="none" dirty="0">
                <a:solidFill>
                  <a:srgbClr val="1E4E79"/>
                </a:solidFill>
                <a:latin typeface="Calibri"/>
                <a:ea typeface="Calibri"/>
                <a:cs typeface="Calibri"/>
                <a:sym typeface="Calibri"/>
              </a:rPr>
              <a:t> video </a:t>
            </a:r>
            <a:r>
              <a:rPr lang="en-US" sz="2200" b="0" i="0" u="none" strike="noStrike" cap="none" dirty="0" err="1">
                <a:solidFill>
                  <a:srgbClr val="1E4E79"/>
                </a:solidFill>
                <a:latin typeface="Calibri"/>
                <a:ea typeface="Calibri"/>
                <a:cs typeface="Calibri"/>
                <a:sym typeface="Calibri"/>
              </a:rPr>
              <a:t>promosi</a:t>
            </a:r>
            <a:r>
              <a:rPr lang="en-US" sz="2200" b="0" i="0" u="none" strike="noStrike" cap="none" dirty="0">
                <a:solidFill>
                  <a:srgbClr val="1E4E79"/>
                </a:solidFill>
                <a:latin typeface="Calibri"/>
                <a:ea typeface="Calibri"/>
                <a:cs typeface="Calibri"/>
                <a:sym typeface="Calibri"/>
              </a:rPr>
              <a:t> </a:t>
            </a:r>
            <a:r>
              <a:rPr lang="en-US" sz="2200" b="0" i="0" u="none" strike="noStrike" cap="none" dirty="0" err="1">
                <a:solidFill>
                  <a:srgbClr val="1E4E79"/>
                </a:solidFill>
                <a:latin typeface="Calibri"/>
                <a:ea typeface="Calibri"/>
                <a:cs typeface="Calibri"/>
                <a:sym typeface="Calibri"/>
              </a:rPr>
              <a:t>dengan</a:t>
            </a:r>
            <a:r>
              <a:rPr lang="en-US" sz="2200" b="0" i="0" u="none" strike="noStrike" cap="none" dirty="0">
                <a:solidFill>
                  <a:srgbClr val="1E4E79"/>
                </a:solidFill>
                <a:latin typeface="Calibri"/>
                <a:ea typeface="Calibri"/>
                <a:cs typeface="Calibri"/>
                <a:sym typeface="Calibri"/>
              </a:rPr>
              <a:t> KA generator video(</a:t>
            </a:r>
            <a:r>
              <a:rPr lang="en-US" sz="1200" dirty="0" err="1"/>
              <a:t>RunwayML</a:t>
            </a:r>
            <a:r>
              <a:rPr lang="en-US" sz="1200" dirty="0"/>
              <a:t>,)</a:t>
            </a:r>
            <a:r>
              <a:rPr lang="en-US" sz="2200" b="0" i="0" u="none" strike="noStrike" cap="none" dirty="0">
                <a:solidFill>
                  <a:srgbClr val="1E4E79"/>
                </a:solidFill>
                <a:latin typeface="Calibri"/>
                <a:ea typeface="Calibri"/>
                <a:cs typeface="Calibri"/>
                <a:sym typeface="Calibri"/>
              </a:rPr>
              <a:t>.</a:t>
            </a:r>
            <a:endParaRPr dirty="0"/>
          </a:p>
          <a:p>
            <a:pPr marL="457200" lvl="0" indent="-457200">
              <a:buSzPts val="2200"/>
              <a:buFont typeface="Arial"/>
              <a:buAutoNum type="alphaLcPeriod"/>
            </a:pPr>
            <a:r>
              <a:rPr lang="en-US" sz="2200" b="0" i="0" u="none" strike="noStrike" cap="none" dirty="0" err="1">
                <a:solidFill>
                  <a:srgbClr val="1E4E79"/>
                </a:solidFill>
                <a:latin typeface="Calibri"/>
                <a:ea typeface="Calibri"/>
                <a:cs typeface="Calibri"/>
                <a:sym typeface="Calibri"/>
              </a:rPr>
              <a:t>Buatlah</a:t>
            </a:r>
            <a:r>
              <a:rPr lang="en-US" sz="2200" b="0" i="0" u="none" strike="noStrike" cap="none" dirty="0">
                <a:solidFill>
                  <a:srgbClr val="1E4E79"/>
                </a:solidFill>
                <a:latin typeface="Calibri"/>
                <a:ea typeface="Calibri"/>
                <a:cs typeface="Calibri"/>
                <a:sym typeface="Calibri"/>
              </a:rPr>
              <a:t> </a:t>
            </a:r>
            <a:r>
              <a:rPr lang="en-US" sz="2200" b="0" i="0" u="none" strike="noStrike" cap="none" dirty="0" err="1">
                <a:solidFill>
                  <a:srgbClr val="1E4E79"/>
                </a:solidFill>
                <a:latin typeface="Calibri"/>
                <a:ea typeface="Calibri"/>
                <a:cs typeface="Calibri"/>
                <a:sym typeface="Calibri"/>
              </a:rPr>
              <a:t>musik</a:t>
            </a:r>
            <a:r>
              <a:rPr lang="en-US" sz="2200" b="0" i="0" u="none" strike="noStrike" cap="none" dirty="0">
                <a:solidFill>
                  <a:srgbClr val="1E4E79"/>
                </a:solidFill>
                <a:latin typeface="Calibri"/>
                <a:ea typeface="Calibri"/>
                <a:cs typeface="Calibri"/>
                <a:sym typeface="Calibri"/>
              </a:rPr>
              <a:t> </a:t>
            </a:r>
            <a:r>
              <a:rPr lang="en-US" sz="2200" b="0" i="0" u="none" strike="noStrike" cap="none" dirty="0" err="1">
                <a:solidFill>
                  <a:srgbClr val="1E4E79"/>
                </a:solidFill>
                <a:latin typeface="Calibri"/>
                <a:ea typeface="Calibri"/>
                <a:cs typeface="Calibri"/>
                <a:sym typeface="Calibri"/>
              </a:rPr>
              <a:t>latar</a:t>
            </a:r>
            <a:r>
              <a:rPr lang="en-US" sz="2200" b="0" i="0" u="none" strike="noStrike" cap="none" dirty="0">
                <a:solidFill>
                  <a:srgbClr val="1E4E79"/>
                </a:solidFill>
                <a:latin typeface="Calibri"/>
                <a:ea typeface="Calibri"/>
                <a:cs typeface="Calibri"/>
                <a:sym typeface="Calibri"/>
              </a:rPr>
              <a:t> </a:t>
            </a:r>
            <a:r>
              <a:rPr lang="en-US" sz="2200" b="0" i="0" u="none" strike="noStrike" cap="none" dirty="0" err="1">
                <a:solidFill>
                  <a:srgbClr val="1E4E79"/>
                </a:solidFill>
                <a:latin typeface="Calibri"/>
                <a:ea typeface="Calibri"/>
                <a:cs typeface="Calibri"/>
                <a:sym typeface="Calibri"/>
              </a:rPr>
              <a:t>dengan</a:t>
            </a:r>
            <a:r>
              <a:rPr lang="en-US" sz="2200" b="0" i="0" u="none" strike="noStrike" cap="none" dirty="0">
                <a:solidFill>
                  <a:srgbClr val="1E4E79"/>
                </a:solidFill>
                <a:latin typeface="Calibri"/>
                <a:ea typeface="Calibri"/>
                <a:cs typeface="Calibri"/>
                <a:sym typeface="Calibri"/>
              </a:rPr>
              <a:t> KA generator music(</a:t>
            </a:r>
            <a:r>
              <a:rPr lang="en-US" dirty="0"/>
              <a:t>Soundraw.io</a:t>
            </a:r>
            <a:r>
              <a:rPr lang="en-US" sz="2400" dirty="0"/>
              <a:t>)</a:t>
            </a:r>
            <a:r>
              <a:rPr lang="en-US" sz="2200" b="0" i="0" u="none" strike="noStrike" cap="none" dirty="0">
                <a:solidFill>
                  <a:srgbClr val="1E4E79"/>
                </a:solidFill>
                <a:latin typeface="Calibri"/>
                <a:ea typeface="Calibri"/>
                <a:cs typeface="Calibri"/>
                <a:sym typeface="Calibri"/>
              </a:rPr>
              <a:t>.</a:t>
            </a:r>
            <a:endParaRPr sz="2200" b="0" i="0" u="none" strike="noStrike" cap="none" dirty="0">
              <a:solidFill>
                <a:srgbClr val="1E4E79"/>
              </a:solidFill>
              <a:latin typeface="Calibri"/>
              <a:ea typeface="Calibri"/>
              <a:cs typeface="Calibri"/>
              <a:sym typeface="Calibri"/>
            </a:endParaRPr>
          </a:p>
        </p:txBody>
      </p:sp>
      <p:pic>
        <p:nvPicPr>
          <p:cNvPr id="380" name="Google Shape;380;p24" descr="Group brainstorm with solid fill"/>
          <p:cNvPicPr preferRelativeResize="0"/>
          <p:nvPr/>
        </p:nvPicPr>
        <p:blipFill rotWithShape="1">
          <a:blip r:embed="rId3">
            <a:alphaModFix/>
          </a:blip>
          <a:srcRect/>
          <a:stretch/>
        </p:blipFill>
        <p:spPr>
          <a:xfrm>
            <a:off x="9961565" y="282477"/>
            <a:ext cx="1386840" cy="1386840"/>
          </a:xfrm>
          <a:prstGeom prst="rect">
            <a:avLst/>
          </a:prstGeom>
          <a:noFill/>
          <a:ln>
            <a:noFill/>
          </a:ln>
        </p:spPr>
      </p:pic>
      <p:sp>
        <p:nvSpPr>
          <p:cNvPr id="381" name="Google Shape;381;p24"/>
          <p:cNvSpPr txBox="1"/>
          <p:nvPr/>
        </p:nvSpPr>
        <p:spPr>
          <a:xfrm>
            <a:off x="639116" y="5872112"/>
            <a:ext cx="6741399" cy="43084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0" i="1" u="none" strike="noStrike" cap="none">
                <a:solidFill>
                  <a:srgbClr val="1E4E79"/>
                </a:solidFill>
                <a:highlight>
                  <a:srgbClr val="C0C0C0"/>
                </a:highlight>
                <a:latin typeface="Calibri"/>
                <a:ea typeface="Calibri"/>
                <a:cs typeface="Calibri"/>
                <a:sym typeface="Calibri"/>
              </a:rPr>
              <a:t>Untuk aktivitas selengkapnya bisa dilihat di modul hal 12.</a:t>
            </a:r>
            <a:endParaRPr/>
          </a:p>
        </p:txBody>
      </p:sp>
      <p:sp>
        <p:nvSpPr>
          <p:cNvPr id="382" name="Google Shape;382;p24"/>
          <p:cNvSpPr/>
          <p:nvPr/>
        </p:nvSpPr>
        <p:spPr>
          <a:xfrm>
            <a:off x="6223488" y="2403703"/>
            <a:ext cx="2760855" cy="2893061"/>
          </a:xfrm>
          <a:custGeom>
            <a:avLst/>
            <a:gdLst/>
            <a:ahLst/>
            <a:cxnLst/>
            <a:rect l="l" t="t" r="r" b="b"/>
            <a:pathLst>
              <a:path w="3117938" h="3339143" extrusionOk="0">
                <a:moveTo>
                  <a:pt x="0" y="0"/>
                </a:moveTo>
                <a:lnTo>
                  <a:pt x="3117938" y="0"/>
                </a:lnTo>
                <a:lnTo>
                  <a:pt x="3117938" y="3339144"/>
                </a:lnTo>
                <a:lnTo>
                  <a:pt x="0" y="3339144"/>
                </a:lnTo>
                <a:lnTo>
                  <a:pt x="0" y="0"/>
                </a:lnTo>
                <a:close/>
              </a:path>
            </a:pathLst>
          </a:custGeom>
          <a:blipFill rotWithShape="1">
            <a:blip r:embed="rId4">
              <a:alphaModFix/>
            </a:blip>
            <a:stretch>
              <a:fillRect/>
            </a:stretch>
          </a:blipFill>
          <a:ln>
            <a:noFill/>
          </a:ln>
        </p:spPr>
      </p:sp>
      <p:sp>
        <p:nvSpPr>
          <p:cNvPr id="383" name="Google Shape;383;p24"/>
          <p:cNvSpPr/>
          <p:nvPr/>
        </p:nvSpPr>
        <p:spPr>
          <a:xfrm>
            <a:off x="9127275" y="2403703"/>
            <a:ext cx="2321967" cy="2871690"/>
          </a:xfrm>
          <a:custGeom>
            <a:avLst/>
            <a:gdLst/>
            <a:ahLst/>
            <a:cxnLst/>
            <a:rect l="l" t="t" r="r" b="b"/>
            <a:pathLst>
              <a:path w="2712319" h="3354458" extrusionOk="0">
                <a:moveTo>
                  <a:pt x="0" y="0"/>
                </a:moveTo>
                <a:lnTo>
                  <a:pt x="2712319" y="0"/>
                </a:lnTo>
                <a:lnTo>
                  <a:pt x="2712319" y="3354458"/>
                </a:lnTo>
                <a:lnTo>
                  <a:pt x="0" y="3354458"/>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84" name="Google Shape;384;p24"/>
          <p:cNvSpPr txBox="1"/>
          <p:nvPr/>
        </p:nvSpPr>
        <p:spPr>
          <a:xfrm>
            <a:off x="6618610" y="5296764"/>
            <a:ext cx="4729795" cy="76940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rgbClr val="1E4E79"/>
                </a:solidFill>
                <a:latin typeface="Calibri"/>
                <a:ea typeface="Calibri"/>
                <a:cs typeface="Calibri"/>
                <a:sym typeface="Calibri"/>
              </a:rPr>
              <a:t>Contoh hasil pembuatan desain kemasan dan poster</a:t>
            </a:r>
            <a:endParaRPr/>
          </a:p>
        </p:txBody>
      </p:sp>
      <p:sp>
        <p:nvSpPr>
          <p:cNvPr id="385" name="Google Shape;385;p24"/>
          <p:cNvSpPr txBox="1"/>
          <p:nvPr/>
        </p:nvSpPr>
        <p:spPr>
          <a:xfrm>
            <a:off x="921751" y="1265878"/>
            <a:ext cx="11393700" cy="369300"/>
          </a:xfrm>
          <a:prstGeom prst="rect">
            <a:avLst/>
          </a:prstGeom>
          <a:noFill/>
          <a:ln>
            <a:noFill/>
          </a:ln>
        </p:spPr>
        <p:txBody>
          <a:bodyPr spcFirstLastPara="1" wrap="square" lIns="0" tIns="0" rIns="0" bIns="0" anchor="t" anchorCtr="0">
            <a:spAutoFit/>
          </a:bodyPr>
          <a:lstStyle/>
          <a:p>
            <a:pPr marL="0" marR="0" lvl="0" indent="0" algn="l" rtl="0">
              <a:lnSpc>
                <a:spcPct val="233291"/>
              </a:lnSpc>
              <a:spcBef>
                <a:spcPts val="0"/>
              </a:spcBef>
              <a:spcAft>
                <a:spcPts val="0"/>
              </a:spcAft>
              <a:buNone/>
            </a:pPr>
            <a:r>
              <a:rPr lang="en-US" sz="2400" b="1" i="0" u="none" strike="noStrike" cap="none">
                <a:solidFill>
                  <a:srgbClr val="2E75B5"/>
                </a:solidFill>
                <a:latin typeface="Poppins"/>
                <a:ea typeface="Poppins"/>
                <a:cs typeface="Poppins"/>
                <a:sym typeface="Poppins"/>
              </a:rPr>
              <a:t>Penerapan KA Generatif dalam Bidang Pendidikan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E75B5"/>
              </a:buClr>
              <a:buSzPts val="4400"/>
              <a:buFont typeface="Calibri"/>
              <a:buNone/>
            </a:pPr>
            <a:r>
              <a:rPr lang="en-US"/>
              <a:t>Refleksi Aktivitas 1</a:t>
            </a:r>
            <a:endParaRPr/>
          </a:p>
        </p:txBody>
      </p:sp>
      <p:sp>
        <p:nvSpPr>
          <p:cNvPr id="391" name="Google Shape;391;p25"/>
          <p:cNvSpPr txBox="1"/>
          <p:nvPr/>
        </p:nvSpPr>
        <p:spPr>
          <a:xfrm>
            <a:off x="3508829" y="2445489"/>
            <a:ext cx="8030028" cy="3139281"/>
          </a:xfrm>
          <a:prstGeom prst="rect">
            <a:avLst/>
          </a:prstGeom>
          <a:noFill/>
          <a:ln>
            <a:noFill/>
          </a:ln>
        </p:spPr>
        <p:txBody>
          <a:bodyPr spcFirstLastPara="1" wrap="square" lIns="91425" tIns="45700" rIns="91425" bIns="45700" anchor="t" anchorCtr="0">
            <a:spAutoFit/>
          </a:bodyPr>
          <a:lstStyle/>
          <a:p>
            <a:pPr marL="457200" marR="0" lvl="0" indent="-457200" algn="l" rtl="0">
              <a:lnSpc>
                <a:spcPct val="100000"/>
              </a:lnSpc>
              <a:spcBef>
                <a:spcPts val="0"/>
              </a:spcBef>
              <a:spcAft>
                <a:spcPts val="0"/>
              </a:spcAft>
              <a:buClr>
                <a:srgbClr val="000000"/>
              </a:buClr>
              <a:buSzPts val="2200"/>
              <a:buFont typeface="Arial"/>
              <a:buAutoNum type="alphaLcPeriod"/>
            </a:pPr>
            <a:r>
              <a:rPr lang="en-US" sz="2200" b="0" i="0" u="none" strike="noStrike" cap="none">
                <a:solidFill>
                  <a:srgbClr val="1E4E79"/>
                </a:solidFill>
                <a:latin typeface="Calibri"/>
                <a:ea typeface="Calibri"/>
                <a:cs typeface="Calibri"/>
                <a:sym typeface="Calibri"/>
              </a:rPr>
              <a:t>Bagaimana pengalaman Bapak/Ibu saat menggunakan berbagai alat KA generatif untuk membuat konten promosi pendidikan, seperti teks, desain poster, video, dan musik latar? </a:t>
            </a:r>
            <a:endParaRPr/>
          </a:p>
          <a:p>
            <a:pPr marL="457200" marR="0" lvl="0" indent="-457200" algn="l" rtl="0">
              <a:lnSpc>
                <a:spcPct val="100000"/>
              </a:lnSpc>
              <a:spcBef>
                <a:spcPts val="0"/>
              </a:spcBef>
              <a:spcAft>
                <a:spcPts val="0"/>
              </a:spcAft>
              <a:buClr>
                <a:srgbClr val="000000"/>
              </a:buClr>
              <a:buSzPts val="2200"/>
              <a:buFont typeface="Arial"/>
              <a:buAutoNum type="alphaLcPeriod"/>
            </a:pPr>
            <a:r>
              <a:rPr lang="en-US" sz="2200" b="0" i="0" u="none" strike="noStrike" cap="none">
                <a:solidFill>
                  <a:srgbClr val="1E4E79"/>
                </a:solidFill>
                <a:latin typeface="Calibri"/>
                <a:ea typeface="Calibri"/>
                <a:cs typeface="Calibri"/>
                <a:sym typeface="Calibri"/>
              </a:rPr>
              <a:t>Apa saja tantangan yang Bapak/Ibu hadapi selama proses pembuatan konten dengan KA? Misalnya dalam mengatur kualitas hasil, menjaga orisinalitas, atau memadukan berbagai jenis media?</a:t>
            </a:r>
            <a:endParaRPr/>
          </a:p>
          <a:p>
            <a:pPr marL="457200" marR="0" lvl="0" indent="-457200" algn="l" rtl="0">
              <a:lnSpc>
                <a:spcPct val="100000"/>
              </a:lnSpc>
              <a:spcBef>
                <a:spcPts val="0"/>
              </a:spcBef>
              <a:spcAft>
                <a:spcPts val="0"/>
              </a:spcAft>
              <a:buClr>
                <a:srgbClr val="000000"/>
              </a:buClr>
              <a:buSzPts val="2200"/>
              <a:buFont typeface="Arial"/>
              <a:buAutoNum type="alphaLcPeriod"/>
            </a:pPr>
            <a:r>
              <a:rPr lang="en-US" sz="2200" b="0" i="0" u="none" strike="noStrike" cap="none">
                <a:solidFill>
                  <a:srgbClr val="1E4E79"/>
                </a:solidFill>
                <a:latin typeface="Calibri"/>
                <a:ea typeface="Calibri"/>
                <a:cs typeface="Calibri"/>
                <a:sym typeface="Calibri"/>
              </a:rPr>
              <a:t>Jika Bapak/Ibu diberi kesempatan untuk mengembangkan proyek ini, ide apa yang ingin Bapak/Ibu tambahkan? </a:t>
            </a:r>
            <a:endParaRPr/>
          </a:p>
        </p:txBody>
      </p:sp>
      <p:pic>
        <p:nvPicPr>
          <p:cNvPr id="392" name="Google Shape;392;p25" descr="Group brainstorm with solid fill"/>
          <p:cNvPicPr preferRelativeResize="0"/>
          <p:nvPr/>
        </p:nvPicPr>
        <p:blipFill rotWithShape="1">
          <a:blip r:embed="rId3">
            <a:alphaModFix/>
          </a:blip>
          <a:srcRect/>
          <a:stretch/>
        </p:blipFill>
        <p:spPr>
          <a:xfrm>
            <a:off x="9961565" y="282477"/>
            <a:ext cx="1386840" cy="1386840"/>
          </a:xfrm>
          <a:prstGeom prst="rect">
            <a:avLst/>
          </a:prstGeom>
          <a:noFill/>
          <a:ln>
            <a:noFill/>
          </a:ln>
        </p:spPr>
      </p:pic>
      <p:sp>
        <p:nvSpPr>
          <p:cNvPr id="393" name="Google Shape;393;p25"/>
          <p:cNvSpPr txBox="1"/>
          <p:nvPr/>
        </p:nvSpPr>
        <p:spPr>
          <a:xfrm>
            <a:off x="936171" y="1265878"/>
            <a:ext cx="10769700" cy="369300"/>
          </a:xfrm>
          <a:prstGeom prst="rect">
            <a:avLst/>
          </a:prstGeom>
          <a:noFill/>
          <a:ln>
            <a:noFill/>
          </a:ln>
        </p:spPr>
        <p:txBody>
          <a:bodyPr spcFirstLastPara="1" wrap="square" lIns="0" tIns="0" rIns="0" bIns="0" anchor="t" anchorCtr="0">
            <a:spAutoFit/>
          </a:bodyPr>
          <a:lstStyle/>
          <a:p>
            <a:pPr marL="0" marR="0" lvl="0" indent="0" algn="l" rtl="0">
              <a:lnSpc>
                <a:spcPct val="233291"/>
              </a:lnSpc>
              <a:spcBef>
                <a:spcPts val="0"/>
              </a:spcBef>
              <a:spcAft>
                <a:spcPts val="0"/>
              </a:spcAft>
              <a:buNone/>
            </a:pPr>
            <a:r>
              <a:rPr lang="en-US" sz="2400" b="1" i="0" u="none" strike="noStrike" cap="none">
                <a:solidFill>
                  <a:srgbClr val="2E75B5"/>
                </a:solidFill>
                <a:latin typeface="Poppins"/>
                <a:ea typeface="Poppins"/>
                <a:cs typeface="Poppins"/>
                <a:sym typeface="Poppins"/>
              </a:rPr>
              <a:t>Penerapan KA Generatif dalam Bidang Pendidikan</a:t>
            </a:r>
            <a:endParaRPr/>
          </a:p>
        </p:txBody>
      </p:sp>
      <p:sp>
        <p:nvSpPr>
          <p:cNvPr id="394" name="Google Shape;394;p25"/>
          <p:cNvSpPr/>
          <p:nvPr/>
        </p:nvSpPr>
        <p:spPr>
          <a:xfrm>
            <a:off x="711196" y="2629657"/>
            <a:ext cx="2467432" cy="2704343"/>
          </a:xfrm>
          <a:custGeom>
            <a:avLst/>
            <a:gdLst/>
            <a:ahLst/>
            <a:cxnLst/>
            <a:rect l="l" t="t" r="r" b="b"/>
            <a:pathLst>
              <a:path w="1309886" h="1389799" extrusionOk="0">
                <a:moveTo>
                  <a:pt x="0" y="0"/>
                </a:moveTo>
                <a:lnTo>
                  <a:pt x="1309886" y="0"/>
                </a:lnTo>
                <a:lnTo>
                  <a:pt x="1309886" y="1389800"/>
                </a:lnTo>
                <a:lnTo>
                  <a:pt x="0" y="1389800"/>
                </a:lnTo>
                <a:lnTo>
                  <a:pt x="0" y="0"/>
                </a:lnTo>
                <a:close/>
              </a:path>
            </a:pathLst>
          </a:custGeom>
          <a:blipFill rotWithShape="1">
            <a:blip r:embed="rId4">
              <a:alphaModFix/>
            </a:blip>
            <a:stretch>
              <a:fillRect/>
            </a:stretch>
          </a:blipFill>
          <a:ln>
            <a:noFill/>
          </a:ln>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2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2E75B5"/>
              </a:buClr>
              <a:buSzPts val="6000"/>
              <a:buFont typeface="Calibri"/>
              <a:buNone/>
            </a:pPr>
            <a:r>
              <a:rPr lang="en-US"/>
              <a:t>Etika dan Resiko Penggunaan Kecerdasan Artifisial</a:t>
            </a:r>
            <a:endParaRPr/>
          </a:p>
        </p:txBody>
      </p:sp>
      <p:sp>
        <p:nvSpPr>
          <p:cNvPr id="400" name="Google Shape;400;p2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457200" lvl="0" indent="-228600" algn="l" rtl="0">
              <a:lnSpc>
                <a:spcPct val="90000"/>
              </a:lnSpc>
              <a:spcBef>
                <a:spcPts val="1000"/>
              </a:spcBef>
              <a:spcAft>
                <a:spcPts val="0"/>
              </a:spcAft>
              <a:buClr>
                <a:srgbClr val="2E75B5"/>
              </a:buClr>
              <a:buSzPts val="2400"/>
              <a:buNone/>
            </a:pPr>
            <a:r>
              <a:rPr lang="en-US"/>
              <a:t>Section C</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E75B5"/>
              </a:buClr>
              <a:buSzPts val="4400"/>
              <a:buFont typeface="Calibri"/>
              <a:buNone/>
            </a:pPr>
            <a:r>
              <a:rPr lang="en-US"/>
              <a:t>Etika dalam Penggunaan KA Generatif</a:t>
            </a:r>
            <a:endParaRPr/>
          </a:p>
        </p:txBody>
      </p:sp>
      <p:sp>
        <p:nvSpPr>
          <p:cNvPr id="406" name="Google Shape;406;p2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457200" lvl="0" indent="-406400" algn="l" rtl="0">
              <a:lnSpc>
                <a:spcPct val="90000"/>
              </a:lnSpc>
              <a:spcBef>
                <a:spcPts val="1000"/>
              </a:spcBef>
              <a:spcAft>
                <a:spcPts val="0"/>
              </a:spcAft>
              <a:buClr>
                <a:srgbClr val="1E4E79"/>
              </a:buClr>
              <a:buSzPts val="2800"/>
              <a:buChar char="•"/>
            </a:pPr>
            <a:r>
              <a:rPr lang="en-US"/>
              <a:t>KA Generatif memiliki potensi besar dalam berbagai bidang, mulai dari seni, jurnalisme, bisnis, hingga pendidikan. Namun, penggunaannya harus diiringi dengan kesadaran etika agar tidak menimbulkan dampak negatif bagi individu maupun masyarakat. Salah satu</a:t>
            </a:r>
            <a:r>
              <a:rPr lang="en-US" b="1"/>
              <a:t> aspek utama dalam etika KA generatif </a:t>
            </a:r>
            <a:r>
              <a:rPr lang="en-US"/>
              <a:t>adalah </a:t>
            </a:r>
            <a:r>
              <a:rPr lang="en-US" b="1"/>
              <a:t>memastikan</a:t>
            </a:r>
            <a:r>
              <a:rPr lang="en-US"/>
              <a:t> bahwa </a:t>
            </a:r>
            <a:r>
              <a:rPr lang="en-US" b="1"/>
              <a:t>teknologi ini digunakan secara transparan dan adil, serta menghormati hak cipta dan kepemilikan intelektual</a:t>
            </a:r>
            <a:r>
              <a:rPr lang="en-US"/>
              <a: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28"/>
          <p:cNvSpPr txBox="1"/>
          <p:nvPr/>
        </p:nvSpPr>
        <p:spPr>
          <a:xfrm>
            <a:off x="544282" y="155084"/>
            <a:ext cx="11393718" cy="624786"/>
          </a:xfrm>
          <a:prstGeom prst="rect">
            <a:avLst/>
          </a:prstGeom>
          <a:noFill/>
          <a:ln>
            <a:noFill/>
          </a:ln>
        </p:spPr>
        <p:txBody>
          <a:bodyPr spcFirstLastPara="1" wrap="square" lIns="0" tIns="0" rIns="0" bIns="0" anchor="t" anchorCtr="0">
            <a:spAutoFit/>
          </a:bodyPr>
          <a:lstStyle/>
          <a:p>
            <a:pPr marL="0" marR="0" lvl="0" indent="0" algn="l" rtl="0">
              <a:lnSpc>
                <a:spcPct val="233291"/>
              </a:lnSpc>
              <a:spcBef>
                <a:spcPts val="0"/>
              </a:spcBef>
              <a:spcAft>
                <a:spcPts val="0"/>
              </a:spcAft>
              <a:buNone/>
            </a:pPr>
            <a:r>
              <a:rPr lang="en-US" sz="2400" b="1" i="0" u="none" strike="noStrike" cap="none">
                <a:solidFill>
                  <a:srgbClr val="2E75B5"/>
                </a:solidFill>
                <a:latin typeface="Poppins"/>
                <a:ea typeface="Poppins"/>
                <a:cs typeface="Poppins"/>
                <a:sym typeface="Poppins"/>
              </a:rPr>
              <a:t>Transparansi dan Keadilan</a:t>
            </a:r>
            <a:endParaRPr/>
          </a:p>
        </p:txBody>
      </p:sp>
      <p:sp>
        <p:nvSpPr>
          <p:cNvPr id="412" name="Google Shape;412;p28"/>
          <p:cNvSpPr txBox="1"/>
          <p:nvPr/>
        </p:nvSpPr>
        <p:spPr>
          <a:xfrm>
            <a:off x="544282" y="938742"/>
            <a:ext cx="11306632" cy="2369880"/>
          </a:xfrm>
          <a:prstGeom prst="rect">
            <a:avLst/>
          </a:prstGeom>
          <a:noFill/>
          <a:ln>
            <a:noFill/>
          </a:ln>
        </p:spPr>
        <p:txBody>
          <a:bodyPr spcFirstLastPara="1" wrap="square" lIns="0" tIns="0" rIns="0" bIns="0" anchor="t" anchorCtr="0">
            <a:spAutoFit/>
          </a:bodyPr>
          <a:lstStyle/>
          <a:p>
            <a:pPr marL="647700" marR="0" lvl="1" indent="-323850" algn="just" rtl="0">
              <a:lnSpc>
                <a:spcPct val="100000"/>
              </a:lnSpc>
              <a:spcBef>
                <a:spcPts val="0"/>
              </a:spcBef>
              <a:spcAft>
                <a:spcPts val="0"/>
              </a:spcAft>
              <a:buClr>
                <a:srgbClr val="000000"/>
              </a:buClr>
              <a:buSzPts val="2200"/>
              <a:buFont typeface="Arial"/>
              <a:buChar char="•"/>
            </a:pPr>
            <a:r>
              <a:rPr lang="en-US" sz="2200" b="0" i="0" u="none" strike="noStrike" cap="none" dirty="0" err="1">
                <a:solidFill>
                  <a:srgbClr val="1E4E79"/>
                </a:solidFill>
                <a:latin typeface="Poppins"/>
                <a:ea typeface="Poppins"/>
                <a:cs typeface="Poppins"/>
                <a:sym typeface="Poppins"/>
              </a:rPr>
              <a:t>Transparansi</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dalam</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penggunaan</a:t>
            </a:r>
            <a:r>
              <a:rPr lang="en-US" sz="2200" b="0" i="0" u="none" strike="noStrike" cap="none" dirty="0">
                <a:solidFill>
                  <a:srgbClr val="1E4E79"/>
                </a:solidFill>
                <a:latin typeface="Poppins"/>
                <a:ea typeface="Poppins"/>
                <a:cs typeface="Poppins"/>
                <a:sym typeface="Poppins"/>
              </a:rPr>
              <a:t> KA </a:t>
            </a:r>
            <a:r>
              <a:rPr lang="en-US" sz="2200" b="0" i="0" u="none" strike="noStrike" cap="none" dirty="0" err="1">
                <a:solidFill>
                  <a:srgbClr val="1E4E79"/>
                </a:solidFill>
                <a:latin typeface="Poppins"/>
                <a:ea typeface="Poppins"/>
                <a:cs typeface="Poppins"/>
                <a:sym typeface="Poppins"/>
              </a:rPr>
              <a:t>berarti</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bahwa</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pengguna</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harus</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mengetahui</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cara</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kerja</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sistem</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bagaimana</a:t>
            </a:r>
            <a:r>
              <a:rPr lang="en-US" sz="2200" b="0" i="0" u="none" strike="noStrike" cap="none" dirty="0">
                <a:solidFill>
                  <a:srgbClr val="1E4E79"/>
                </a:solidFill>
                <a:latin typeface="Poppins"/>
                <a:ea typeface="Poppins"/>
                <a:cs typeface="Poppins"/>
                <a:sym typeface="Poppins"/>
              </a:rPr>
              <a:t> data </a:t>
            </a:r>
            <a:r>
              <a:rPr lang="en-US" sz="2200" b="0" i="0" u="none" strike="noStrike" cap="none" dirty="0" err="1">
                <a:solidFill>
                  <a:srgbClr val="1E4E79"/>
                </a:solidFill>
                <a:latin typeface="Poppins"/>
                <a:ea typeface="Poppins"/>
                <a:cs typeface="Poppins"/>
                <a:sym typeface="Poppins"/>
              </a:rPr>
              <a:t>digunakan</a:t>
            </a:r>
            <a:r>
              <a:rPr lang="en-US" sz="2200" b="0" i="0" u="none" strike="noStrike" cap="none" dirty="0">
                <a:solidFill>
                  <a:srgbClr val="1E4E79"/>
                </a:solidFill>
                <a:latin typeface="Poppins"/>
                <a:ea typeface="Poppins"/>
                <a:cs typeface="Poppins"/>
                <a:sym typeface="Poppins"/>
              </a:rPr>
              <a:t>, dan </a:t>
            </a:r>
            <a:r>
              <a:rPr lang="en-US" sz="2200" b="0" i="0" u="none" strike="noStrike" cap="none" dirty="0" err="1">
                <a:solidFill>
                  <a:srgbClr val="1E4E79"/>
                </a:solidFill>
                <a:latin typeface="Poppins"/>
                <a:ea typeface="Poppins"/>
                <a:cs typeface="Poppins"/>
                <a:sym typeface="Poppins"/>
              </a:rPr>
              <a:t>bagaimana</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hasilnya</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dihasilkan</a:t>
            </a:r>
            <a:r>
              <a:rPr lang="en-US" sz="2200" b="0" i="0" u="none" strike="noStrike" cap="none" dirty="0">
                <a:solidFill>
                  <a:srgbClr val="1E4E79"/>
                </a:solidFill>
                <a:latin typeface="Poppins"/>
                <a:ea typeface="Poppins"/>
                <a:cs typeface="Poppins"/>
                <a:sym typeface="Poppins"/>
              </a:rPr>
              <a:t>. Ini </a:t>
            </a:r>
            <a:r>
              <a:rPr lang="en-US" sz="2200" b="0" i="0" u="none" strike="noStrike" cap="none" dirty="0" err="1">
                <a:solidFill>
                  <a:srgbClr val="1E4E79"/>
                </a:solidFill>
                <a:latin typeface="Poppins"/>
                <a:ea typeface="Poppins"/>
                <a:cs typeface="Poppins"/>
                <a:sym typeface="Poppins"/>
              </a:rPr>
              <a:t>penting</a:t>
            </a:r>
            <a:r>
              <a:rPr lang="en-US" sz="2200" b="0" i="0" u="none" strike="noStrike" cap="none" dirty="0">
                <a:solidFill>
                  <a:srgbClr val="1E4E79"/>
                </a:solidFill>
                <a:latin typeface="Poppins"/>
                <a:ea typeface="Poppins"/>
                <a:cs typeface="Poppins"/>
                <a:sym typeface="Poppins"/>
              </a:rPr>
              <a:t> agar </a:t>
            </a:r>
            <a:r>
              <a:rPr lang="en-US" sz="2200" b="0" i="0" u="none" strike="noStrike" cap="none" dirty="0" err="1">
                <a:solidFill>
                  <a:srgbClr val="1E4E79"/>
                </a:solidFill>
                <a:latin typeface="Poppins"/>
                <a:ea typeface="Poppins"/>
                <a:cs typeface="Poppins"/>
                <a:sym typeface="Poppins"/>
              </a:rPr>
              <a:t>pengguna</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tidak</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tertipu</a:t>
            </a:r>
            <a:r>
              <a:rPr lang="en-US" sz="2200" b="0" i="0" u="none" strike="noStrike" cap="none" dirty="0">
                <a:solidFill>
                  <a:srgbClr val="1E4E79"/>
                </a:solidFill>
                <a:latin typeface="Poppins"/>
                <a:ea typeface="Poppins"/>
                <a:cs typeface="Poppins"/>
                <a:sym typeface="Poppins"/>
              </a:rPr>
              <a:t> oleh </a:t>
            </a:r>
            <a:r>
              <a:rPr lang="en-US" sz="2200" b="0" i="0" u="none" strike="noStrike" cap="none" dirty="0" err="1">
                <a:solidFill>
                  <a:srgbClr val="1E4E79"/>
                </a:solidFill>
                <a:latin typeface="Poppins"/>
                <a:ea typeface="Poppins"/>
                <a:cs typeface="Poppins"/>
                <a:sym typeface="Poppins"/>
              </a:rPr>
              <a:t>informasi</a:t>
            </a:r>
            <a:r>
              <a:rPr lang="en-US" sz="2200" b="0" i="0" u="none" strike="noStrike" cap="none" dirty="0">
                <a:solidFill>
                  <a:srgbClr val="1E4E79"/>
                </a:solidFill>
                <a:latin typeface="Poppins"/>
                <a:ea typeface="Poppins"/>
                <a:cs typeface="Poppins"/>
                <a:sym typeface="Poppins"/>
              </a:rPr>
              <a:t> yang </a:t>
            </a:r>
            <a:r>
              <a:rPr lang="en-US" sz="2200" b="0" i="0" u="none" strike="noStrike" cap="none" dirty="0" err="1">
                <a:solidFill>
                  <a:srgbClr val="1E4E79"/>
                </a:solidFill>
                <a:latin typeface="Poppins"/>
                <a:ea typeface="Poppins"/>
                <a:cs typeface="Poppins"/>
                <a:sym typeface="Poppins"/>
              </a:rPr>
              <a:t>dibuat</a:t>
            </a:r>
            <a:r>
              <a:rPr lang="en-US" sz="2200" b="0" i="0" u="none" strike="noStrike" cap="none" dirty="0">
                <a:solidFill>
                  <a:srgbClr val="1E4E79"/>
                </a:solidFill>
                <a:latin typeface="Poppins"/>
                <a:ea typeface="Poppins"/>
                <a:cs typeface="Poppins"/>
                <a:sym typeface="Poppins"/>
              </a:rPr>
              <a:t> oleh KA dan </a:t>
            </a:r>
            <a:r>
              <a:rPr lang="en-US" sz="2200" b="0" i="0" u="none" strike="noStrike" cap="none" dirty="0" err="1">
                <a:solidFill>
                  <a:srgbClr val="1E4E79"/>
                </a:solidFill>
                <a:latin typeface="Poppins"/>
                <a:ea typeface="Poppins"/>
                <a:cs typeface="Poppins"/>
                <a:sym typeface="Poppins"/>
              </a:rPr>
              <a:t>dapat</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memahami</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batasan</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teknologi</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ini</a:t>
            </a:r>
            <a:r>
              <a:rPr lang="en-US" sz="2200" b="0" i="0" u="none" strike="noStrike" cap="none" dirty="0">
                <a:solidFill>
                  <a:srgbClr val="1E4E79"/>
                </a:solidFill>
                <a:latin typeface="Poppins"/>
                <a:ea typeface="Poppins"/>
                <a:cs typeface="Poppins"/>
                <a:sym typeface="Poppins"/>
              </a:rPr>
              <a:t>.</a:t>
            </a:r>
            <a:endParaRPr dirty="0"/>
          </a:p>
          <a:p>
            <a:pPr marL="647700" marR="0" lvl="1" indent="-323850" algn="just" rtl="0">
              <a:lnSpc>
                <a:spcPct val="100000"/>
              </a:lnSpc>
              <a:spcBef>
                <a:spcPts val="0"/>
              </a:spcBef>
              <a:spcAft>
                <a:spcPts val="0"/>
              </a:spcAft>
              <a:buClr>
                <a:srgbClr val="000000"/>
              </a:buClr>
              <a:buSzPts val="2200"/>
              <a:buFont typeface="Arial"/>
              <a:buChar char="•"/>
            </a:pPr>
            <a:r>
              <a:rPr lang="en-US" sz="2200" b="0" i="0" u="none" strike="noStrike" cap="none" dirty="0" err="1">
                <a:solidFill>
                  <a:srgbClr val="1E4E79"/>
                </a:solidFill>
                <a:latin typeface="Poppins"/>
                <a:ea typeface="Poppins"/>
                <a:cs typeface="Poppins"/>
                <a:sym typeface="Poppins"/>
              </a:rPr>
              <a:t>Keadilan</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dalam</a:t>
            </a:r>
            <a:r>
              <a:rPr lang="en-US" sz="2200" b="0" i="0" u="none" strike="noStrike" cap="none" dirty="0">
                <a:solidFill>
                  <a:srgbClr val="1E4E79"/>
                </a:solidFill>
                <a:latin typeface="Poppins"/>
                <a:ea typeface="Poppins"/>
                <a:cs typeface="Poppins"/>
                <a:sym typeface="Poppins"/>
              </a:rPr>
              <a:t> KA </a:t>
            </a:r>
            <a:r>
              <a:rPr lang="en-US" sz="2200" b="0" i="0" u="none" strike="noStrike" cap="none" dirty="0" err="1">
                <a:solidFill>
                  <a:srgbClr val="1E4E79"/>
                </a:solidFill>
                <a:latin typeface="Poppins"/>
                <a:ea typeface="Poppins"/>
                <a:cs typeface="Poppins"/>
                <a:sym typeface="Poppins"/>
              </a:rPr>
              <a:t>berarti</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bahwa</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teknologi</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ini</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harus</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digunakan</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secara</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setara</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tanpa</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memihak</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atau</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merugikan</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kelompok</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tertentu</a:t>
            </a:r>
            <a:r>
              <a:rPr lang="en-US" sz="2200" b="0" i="0" u="none" strike="noStrike" cap="none" dirty="0">
                <a:solidFill>
                  <a:srgbClr val="1E4E79"/>
                </a:solidFill>
                <a:latin typeface="Poppins"/>
                <a:ea typeface="Poppins"/>
                <a:cs typeface="Poppins"/>
                <a:sym typeface="Poppins"/>
              </a:rPr>
              <a:t>.</a:t>
            </a:r>
            <a:endParaRPr dirty="0"/>
          </a:p>
        </p:txBody>
      </p:sp>
      <p:sp>
        <p:nvSpPr>
          <p:cNvPr id="413" name="Google Shape;413;p28"/>
          <p:cNvSpPr txBox="1"/>
          <p:nvPr/>
        </p:nvSpPr>
        <p:spPr>
          <a:xfrm>
            <a:off x="544282" y="3449824"/>
            <a:ext cx="11393718" cy="624786"/>
          </a:xfrm>
          <a:prstGeom prst="rect">
            <a:avLst/>
          </a:prstGeom>
          <a:noFill/>
          <a:ln>
            <a:noFill/>
          </a:ln>
        </p:spPr>
        <p:txBody>
          <a:bodyPr spcFirstLastPara="1" wrap="square" lIns="0" tIns="0" rIns="0" bIns="0" anchor="t" anchorCtr="0">
            <a:spAutoFit/>
          </a:bodyPr>
          <a:lstStyle/>
          <a:p>
            <a:pPr marL="0" marR="0" lvl="0" indent="0" algn="l" rtl="0">
              <a:lnSpc>
                <a:spcPct val="233291"/>
              </a:lnSpc>
              <a:spcBef>
                <a:spcPts val="0"/>
              </a:spcBef>
              <a:spcAft>
                <a:spcPts val="0"/>
              </a:spcAft>
              <a:buNone/>
            </a:pPr>
            <a:r>
              <a:rPr lang="en-US" sz="2400" b="1" i="0" u="none" strike="noStrike" cap="none" dirty="0">
                <a:solidFill>
                  <a:srgbClr val="2E75B5"/>
                </a:solidFill>
                <a:latin typeface="Poppins"/>
                <a:ea typeface="Poppins"/>
                <a:cs typeface="Poppins"/>
                <a:sym typeface="Poppins"/>
              </a:rPr>
              <a:t>Hak Cipta dan </a:t>
            </a:r>
            <a:r>
              <a:rPr lang="en-US" sz="2400" b="1" i="0" u="none" strike="noStrike" cap="none" dirty="0" err="1">
                <a:solidFill>
                  <a:srgbClr val="2E75B5"/>
                </a:solidFill>
                <a:latin typeface="Poppins"/>
                <a:ea typeface="Poppins"/>
                <a:cs typeface="Poppins"/>
                <a:sym typeface="Poppins"/>
              </a:rPr>
              <a:t>Kepemilikan</a:t>
            </a:r>
            <a:endParaRPr dirty="0"/>
          </a:p>
        </p:txBody>
      </p:sp>
      <p:sp>
        <p:nvSpPr>
          <p:cNvPr id="414" name="Google Shape;414;p28"/>
          <p:cNvSpPr txBox="1"/>
          <p:nvPr/>
        </p:nvSpPr>
        <p:spPr>
          <a:xfrm>
            <a:off x="544282" y="4233482"/>
            <a:ext cx="11306632" cy="2031325"/>
          </a:xfrm>
          <a:prstGeom prst="rect">
            <a:avLst/>
          </a:prstGeom>
          <a:noFill/>
          <a:ln>
            <a:noFill/>
          </a:ln>
        </p:spPr>
        <p:txBody>
          <a:bodyPr spcFirstLastPara="1" wrap="square" lIns="0" tIns="0" rIns="0" bIns="0" anchor="t" anchorCtr="0">
            <a:spAutoFit/>
          </a:bodyPr>
          <a:lstStyle/>
          <a:p>
            <a:pPr marL="647700" marR="0" lvl="1" indent="-323850" algn="just" rtl="0">
              <a:lnSpc>
                <a:spcPct val="100000"/>
              </a:lnSpc>
              <a:spcBef>
                <a:spcPts val="0"/>
              </a:spcBef>
              <a:spcAft>
                <a:spcPts val="0"/>
              </a:spcAft>
              <a:buClr>
                <a:srgbClr val="000000"/>
              </a:buClr>
              <a:buSzPts val="2200"/>
              <a:buFont typeface="Arial"/>
              <a:buChar char="•"/>
            </a:pPr>
            <a:r>
              <a:rPr lang="en-US" sz="2200" b="0" i="0" u="none" strike="noStrike" cap="none" dirty="0">
                <a:solidFill>
                  <a:srgbClr val="1E4E79"/>
                </a:solidFill>
                <a:latin typeface="Poppins"/>
                <a:ea typeface="Poppins"/>
                <a:cs typeface="Poppins"/>
                <a:sym typeface="Poppins"/>
              </a:rPr>
              <a:t>KA </a:t>
            </a:r>
            <a:r>
              <a:rPr lang="en-US" sz="2200" b="0" i="0" u="none" strike="noStrike" cap="none" dirty="0" err="1">
                <a:solidFill>
                  <a:srgbClr val="1E4E79"/>
                </a:solidFill>
                <a:latin typeface="Poppins"/>
                <a:ea typeface="Poppins"/>
                <a:cs typeface="Poppins"/>
                <a:sym typeface="Poppins"/>
              </a:rPr>
              <a:t>generatif</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dapat</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menciptakan</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teks</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gambar</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musik</a:t>
            </a:r>
            <a:r>
              <a:rPr lang="en-US" sz="2200" b="0" i="0" u="none" strike="noStrike" cap="none" dirty="0">
                <a:solidFill>
                  <a:srgbClr val="1E4E79"/>
                </a:solidFill>
                <a:latin typeface="Poppins"/>
                <a:ea typeface="Poppins"/>
                <a:cs typeface="Poppins"/>
                <a:sym typeface="Poppins"/>
              </a:rPr>
              <a:t>, dan </a:t>
            </a:r>
            <a:r>
              <a:rPr lang="en-US" sz="2200" b="0" i="0" u="none" strike="noStrike" cap="none" dirty="0" err="1">
                <a:solidFill>
                  <a:srgbClr val="1E4E79"/>
                </a:solidFill>
                <a:latin typeface="Poppins"/>
                <a:ea typeface="Poppins"/>
                <a:cs typeface="Poppins"/>
                <a:sym typeface="Poppins"/>
              </a:rPr>
              <a:t>berbagai</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bentuk</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karya</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lainnya</a:t>
            </a:r>
            <a:r>
              <a:rPr lang="en-US" sz="2200" b="0" i="0" u="none" strike="noStrike" cap="none" dirty="0">
                <a:solidFill>
                  <a:srgbClr val="1E4E79"/>
                </a:solidFill>
                <a:latin typeface="Poppins"/>
                <a:ea typeface="Poppins"/>
                <a:cs typeface="Poppins"/>
                <a:sym typeface="Poppins"/>
              </a:rPr>
              <a:t>. Hal </a:t>
            </a:r>
            <a:r>
              <a:rPr lang="en-US" sz="2200" b="0" i="0" u="none" strike="noStrike" cap="none" dirty="0" err="1">
                <a:solidFill>
                  <a:srgbClr val="1E4E79"/>
                </a:solidFill>
                <a:latin typeface="Poppins"/>
                <a:ea typeface="Poppins"/>
                <a:cs typeface="Poppins"/>
                <a:sym typeface="Poppins"/>
              </a:rPr>
              <a:t>ini</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menimbulkan</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tantangan</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baru</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dalam</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hal</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hak</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cipta</a:t>
            </a:r>
            <a:r>
              <a:rPr lang="en-US" sz="2200" b="0" i="0" u="none" strike="noStrike" cap="none" dirty="0">
                <a:solidFill>
                  <a:srgbClr val="1E4E79"/>
                </a:solidFill>
                <a:latin typeface="Poppins"/>
                <a:ea typeface="Poppins"/>
                <a:cs typeface="Poppins"/>
                <a:sym typeface="Poppins"/>
              </a:rPr>
              <a:t> dan </a:t>
            </a:r>
            <a:r>
              <a:rPr lang="en-US" sz="2200" b="0" i="0" u="none" strike="noStrike" cap="none" dirty="0" err="1">
                <a:solidFill>
                  <a:srgbClr val="1E4E79"/>
                </a:solidFill>
                <a:latin typeface="Poppins"/>
                <a:ea typeface="Poppins"/>
                <a:cs typeface="Poppins"/>
                <a:sym typeface="Poppins"/>
              </a:rPr>
              <a:t>kepemilikan</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intelektual</a:t>
            </a:r>
            <a:r>
              <a:rPr lang="en-US" sz="2200" b="0" i="0" u="none" strike="noStrike" cap="none" dirty="0">
                <a:solidFill>
                  <a:srgbClr val="1E4E79"/>
                </a:solidFill>
                <a:latin typeface="Poppins"/>
                <a:ea typeface="Poppins"/>
                <a:cs typeface="Poppins"/>
                <a:sym typeface="Poppins"/>
              </a:rPr>
              <a:t>.</a:t>
            </a:r>
            <a:endParaRPr dirty="0"/>
          </a:p>
          <a:p>
            <a:pPr marL="647700" marR="0" lvl="1" indent="-323850" algn="just" rtl="0">
              <a:lnSpc>
                <a:spcPct val="100000"/>
              </a:lnSpc>
              <a:spcBef>
                <a:spcPts val="0"/>
              </a:spcBef>
              <a:spcAft>
                <a:spcPts val="0"/>
              </a:spcAft>
              <a:buClr>
                <a:srgbClr val="000000"/>
              </a:buClr>
              <a:buSzPts val="2200"/>
              <a:buFont typeface="Arial"/>
              <a:buChar char="•"/>
            </a:pPr>
            <a:r>
              <a:rPr lang="en-US" sz="2200" b="0" i="0" u="none" strike="noStrike" cap="none" dirty="0">
                <a:solidFill>
                  <a:srgbClr val="1E4E79"/>
                </a:solidFill>
                <a:latin typeface="Poppins"/>
                <a:ea typeface="Poppins"/>
                <a:cs typeface="Poppins"/>
                <a:sym typeface="Poppins"/>
              </a:rPr>
              <a:t>KA </a:t>
            </a:r>
            <a:r>
              <a:rPr lang="en-US" sz="2200" b="0" i="0" u="none" strike="noStrike" cap="none" dirty="0" err="1">
                <a:solidFill>
                  <a:srgbClr val="1E4E79"/>
                </a:solidFill>
                <a:latin typeface="Poppins"/>
                <a:ea typeface="Poppins"/>
                <a:cs typeface="Poppins"/>
                <a:sym typeface="Poppins"/>
              </a:rPr>
              <a:t>generatif</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dilatih</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menggunakan</a:t>
            </a:r>
            <a:r>
              <a:rPr lang="en-US" sz="2200" b="0" i="0" u="none" strike="noStrike" cap="none" dirty="0">
                <a:solidFill>
                  <a:srgbClr val="1E4E79"/>
                </a:solidFill>
                <a:latin typeface="Poppins"/>
                <a:ea typeface="Poppins"/>
                <a:cs typeface="Poppins"/>
                <a:sym typeface="Poppins"/>
              </a:rPr>
              <a:t> data yang </a:t>
            </a:r>
            <a:r>
              <a:rPr lang="en-US" sz="2200" b="0" i="0" u="none" strike="noStrike" cap="none" dirty="0" err="1">
                <a:solidFill>
                  <a:srgbClr val="1E4E79"/>
                </a:solidFill>
                <a:latin typeface="Poppins"/>
                <a:ea typeface="Poppins"/>
                <a:cs typeface="Poppins"/>
                <a:sym typeface="Poppins"/>
              </a:rPr>
              <a:t>diambil</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dari</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berbagai</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sumber</a:t>
            </a:r>
            <a:r>
              <a:rPr lang="en-US" sz="2200" b="0" i="0" u="none" strike="noStrike" cap="none" dirty="0">
                <a:solidFill>
                  <a:srgbClr val="1E4E79"/>
                </a:solidFill>
                <a:latin typeface="Poppins"/>
                <a:ea typeface="Poppins"/>
                <a:cs typeface="Poppins"/>
                <a:sym typeface="Poppins"/>
              </a:rPr>
              <a:t>. Jika data </a:t>
            </a:r>
            <a:r>
              <a:rPr lang="en-US" sz="2200" b="0" i="0" u="none" strike="noStrike" cap="none" dirty="0" err="1">
                <a:solidFill>
                  <a:srgbClr val="1E4E79"/>
                </a:solidFill>
                <a:latin typeface="Poppins"/>
                <a:ea typeface="Poppins"/>
                <a:cs typeface="Poppins"/>
                <a:sym typeface="Poppins"/>
              </a:rPr>
              <a:t>ini</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mencakup</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karya</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berhak</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cipta</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maka</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penggunaannya</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dapat</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menimbulkan</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pelanggaran</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hak</a:t>
            </a:r>
            <a:r>
              <a:rPr lang="en-US" sz="2200" b="0" i="0" u="none" strike="noStrike" cap="none" dirty="0">
                <a:solidFill>
                  <a:srgbClr val="1E4E79"/>
                </a:solidFill>
                <a:latin typeface="Poppins"/>
                <a:ea typeface="Poppins"/>
                <a:cs typeface="Poppins"/>
                <a:sym typeface="Poppins"/>
              </a:rPr>
              <a:t> </a:t>
            </a:r>
            <a:r>
              <a:rPr lang="en-US" sz="2200" b="0" i="0" u="none" strike="noStrike" cap="none" dirty="0" err="1">
                <a:solidFill>
                  <a:srgbClr val="1E4E79"/>
                </a:solidFill>
                <a:latin typeface="Poppins"/>
                <a:ea typeface="Poppins"/>
                <a:cs typeface="Poppins"/>
                <a:sym typeface="Poppins"/>
              </a:rPr>
              <a:t>cipta</a:t>
            </a:r>
            <a:r>
              <a:rPr lang="en-US" sz="2200" b="0" i="0" u="none" strike="noStrike" cap="none" dirty="0">
                <a:solidFill>
                  <a:srgbClr val="1E4E79"/>
                </a:solidFill>
                <a:latin typeface="Poppins"/>
                <a:ea typeface="Poppins"/>
                <a:cs typeface="Poppins"/>
                <a:sym typeface="Poppins"/>
              </a:rPr>
              <a:t>.</a:t>
            </a: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9"/>
          <p:cNvSpPr txBox="1"/>
          <p:nvPr/>
        </p:nvSpPr>
        <p:spPr>
          <a:xfrm>
            <a:off x="544282" y="155084"/>
            <a:ext cx="11393718" cy="624786"/>
          </a:xfrm>
          <a:prstGeom prst="rect">
            <a:avLst/>
          </a:prstGeom>
          <a:noFill/>
          <a:ln>
            <a:noFill/>
          </a:ln>
        </p:spPr>
        <p:txBody>
          <a:bodyPr spcFirstLastPara="1" wrap="square" lIns="0" tIns="0" rIns="0" bIns="0" anchor="t" anchorCtr="0">
            <a:spAutoFit/>
          </a:bodyPr>
          <a:lstStyle/>
          <a:p>
            <a:pPr marL="0" marR="0" lvl="0" indent="0" algn="l" rtl="0">
              <a:lnSpc>
                <a:spcPct val="233291"/>
              </a:lnSpc>
              <a:spcBef>
                <a:spcPts val="0"/>
              </a:spcBef>
              <a:spcAft>
                <a:spcPts val="0"/>
              </a:spcAft>
              <a:buNone/>
            </a:pPr>
            <a:r>
              <a:rPr lang="en-US" sz="2400" b="1" i="0" u="none" strike="noStrike" cap="none">
                <a:solidFill>
                  <a:srgbClr val="2E75B5"/>
                </a:solidFill>
                <a:latin typeface="Poppins"/>
                <a:ea typeface="Poppins"/>
                <a:cs typeface="Poppins"/>
                <a:sym typeface="Poppins"/>
              </a:rPr>
              <a:t>Resiko Penggunaan KA Generatif</a:t>
            </a:r>
            <a:endParaRPr/>
          </a:p>
        </p:txBody>
      </p:sp>
      <p:sp>
        <p:nvSpPr>
          <p:cNvPr id="420" name="Google Shape;420;p29"/>
          <p:cNvSpPr txBox="1"/>
          <p:nvPr/>
        </p:nvSpPr>
        <p:spPr>
          <a:xfrm>
            <a:off x="544282" y="938742"/>
            <a:ext cx="10907489" cy="3385542"/>
          </a:xfrm>
          <a:prstGeom prst="rect">
            <a:avLst/>
          </a:prstGeom>
          <a:noFill/>
          <a:ln>
            <a:noFill/>
          </a:ln>
        </p:spPr>
        <p:txBody>
          <a:bodyPr spcFirstLastPara="1" wrap="square" lIns="0" tIns="0" rIns="0" bIns="0" anchor="t" anchorCtr="0">
            <a:spAutoFit/>
          </a:bodyPr>
          <a:lstStyle/>
          <a:p>
            <a:pPr marL="647700" marR="0" lvl="1" indent="-323850" algn="just" rtl="0">
              <a:lnSpc>
                <a:spcPct val="100000"/>
              </a:lnSpc>
              <a:spcBef>
                <a:spcPts val="0"/>
              </a:spcBef>
              <a:spcAft>
                <a:spcPts val="0"/>
              </a:spcAft>
              <a:buClr>
                <a:srgbClr val="000000"/>
              </a:buClr>
              <a:buSzPts val="2200"/>
              <a:buFont typeface="Arial"/>
              <a:buChar char="•"/>
            </a:pPr>
            <a:r>
              <a:rPr lang="en-US" sz="2200" b="1" i="0" u="none" strike="noStrike" cap="none">
                <a:solidFill>
                  <a:srgbClr val="1E4E79"/>
                </a:solidFill>
                <a:latin typeface="Calibri"/>
                <a:ea typeface="Calibri"/>
                <a:cs typeface="Calibri"/>
                <a:sym typeface="Calibri"/>
              </a:rPr>
              <a:t>Potensi Penyalahgunaan dan Hoaks </a:t>
            </a:r>
            <a:r>
              <a:rPr lang="en-US" sz="2200" b="0" i="0" u="none" strike="noStrike" cap="none">
                <a:solidFill>
                  <a:srgbClr val="1E4E79"/>
                </a:solidFill>
                <a:latin typeface="Calibri"/>
                <a:ea typeface="Calibri"/>
                <a:cs typeface="Calibri"/>
                <a:sym typeface="Calibri"/>
              </a:rPr>
              <a:t>: Dengan kemampuan KA generatif untuk membuat konten yang sangat mirip dengan aslinya, berbagai pihak dapat memanfaatkannya untuk tujuan yang tidak etis, seperti manipulasi informasi, penipuan, dan propaganda</a:t>
            </a:r>
            <a:endParaRPr/>
          </a:p>
          <a:p>
            <a:pPr marL="647700" marR="0" lvl="1" indent="-323850" algn="just" rtl="0">
              <a:lnSpc>
                <a:spcPct val="100000"/>
              </a:lnSpc>
              <a:spcBef>
                <a:spcPts val="0"/>
              </a:spcBef>
              <a:spcAft>
                <a:spcPts val="0"/>
              </a:spcAft>
              <a:buClr>
                <a:srgbClr val="000000"/>
              </a:buClr>
              <a:buSzPts val="2200"/>
              <a:buFont typeface="Arial"/>
              <a:buChar char="•"/>
            </a:pPr>
            <a:r>
              <a:rPr lang="en-US" sz="2200" b="1" i="0" u="none" strike="noStrike" cap="none">
                <a:solidFill>
                  <a:srgbClr val="1E4E79"/>
                </a:solidFill>
                <a:latin typeface="Calibri"/>
                <a:ea typeface="Calibri"/>
                <a:cs typeface="Calibri"/>
                <a:sym typeface="Calibri"/>
              </a:rPr>
              <a:t>Bias dalam Data dan Hasil </a:t>
            </a:r>
            <a:r>
              <a:rPr lang="en-US" sz="2200" b="0" i="0" u="none" strike="noStrike" cap="none">
                <a:solidFill>
                  <a:srgbClr val="1E4E79"/>
                </a:solidFill>
                <a:latin typeface="Calibri"/>
                <a:ea typeface="Calibri"/>
                <a:cs typeface="Calibri"/>
                <a:sym typeface="Calibri"/>
              </a:rPr>
              <a:t>: KA yang dibangun dari data yang tidak lengkap, tidak akurat, tidak relevan, atau tidak adil dapat menghasilkan bias akibat kesalahan dalam pengukuran, pengkodean, sampling, atau interpretasi.</a:t>
            </a:r>
            <a:endParaRPr/>
          </a:p>
          <a:p>
            <a:pPr marL="647700" marR="0" lvl="1" indent="-323850" algn="just" rtl="0">
              <a:lnSpc>
                <a:spcPct val="100000"/>
              </a:lnSpc>
              <a:spcBef>
                <a:spcPts val="0"/>
              </a:spcBef>
              <a:spcAft>
                <a:spcPts val="0"/>
              </a:spcAft>
              <a:buClr>
                <a:srgbClr val="000000"/>
              </a:buClr>
              <a:buSzPts val="2200"/>
              <a:buFont typeface="Arial"/>
              <a:buChar char="•"/>
            </a:pPr>
            <a:r>
              <a:rPr lang="en-US" sz="2200" b="1" i="0" u="none" strike="noStrike" cap="none">
                <a:solidFill>
                  <a:srgbClr val="1E4E79"/>
                </a:solidFill>
                <a:latin typeface="Calibri"/>
                <a:ea typeface="Calibri"/>
                <a:cs typeface="Calibri"/>
                <a:sym typeface="Calibri"/>
              </a:rPr>
              <a:t>Pelanggaran Privasi dan Keamanan Data </a:t>
            </a:r>
            <a:r>
              <a:rPr lang="en-US" sz="2200" b="0" i="0" u="none" strike="noStrike" cap="none">
                <a:solidFill>
                  <a:srgbClr val="1E4E79"/>
                </a:solidFill>
                <a:latin typeface="Calibri"/>
                <a:ea typeface="Calibri"/>
                <a:cs typeface="Calibri"/>
                <a:sym typeface="Calibri"/>
              </a:rPr>
              <a:t>: KA dapat mengumpulkan dan menganalisis data dalam jumlah besar dari berbagai sumber, yang bermanfaat untuk layanan personal, namun juga berisiko mengancam privasi dan keamanan karena potensi penyalahgunaan oleh pihak tak bertanggung jawab.</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30"/>
          <p:cNvSpPr txBox="1"/>
          <p:nvPr/>
        </p:nvSpPr>
        <p:spPr>
          <a:xfrm>
            <a:off x="1015998" y="845963"/>
            <a:ext cx="10160004" cy="73866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400" b="1" i="0" u="none" strike="noStrike" cap="none">
                <a:solidFill>
                  <a:srgbClr val="2E75B5"/>
                </a:solidFill>
                <a:latin typeface="Calibri"/>
                <a:ea typeface="Calibri"/>
                <a:cs typeface="Calibri"/>
                <a:sym typeface="Calibri"/>
              </a:rPr>
              <a:t>Beberapa contoh pelanggaran privasi dan keamanan data yang dapat dilakukan oleh KA adalah sebagai berikut:</a:t>
            </a:r>
            <a:endParaRPr/>
          </a:p>
        </p:txBody>
      </p:sp>
      <p:sp>
        <p:nvSpPr>
          <p:cNvPr id="426" name="Google Shape;426;p30"/>
          <p:cNvSpPr txBox="1"/>
          <p:nvPr/>
        </p:nvSpPr>
        <p:spPr>
          <a:xfrm>
            <a:off x="870853" y="1831370"/>
            <a:ext cx="10036632" cy="2708434"/>
          </a:xfrm>
          <a:prstGeom prst="rect">
            <a:avLst/>
          </a:prstGeom>
          <a:noFill/>
          <a:ln>
            <a:noFill/>
          </a:ln>
        </p:spPr>
        <p:txBody>
          <a:bodyPr spcFirstLastPara="1" wrap="square" lIns="0" tIns="0" rIns="0" bIns="0" anchor="t" anchorCtr="0">
            <a:spAutoFit/>
          </a:bodyPr>
          <a:lstStyle/>
          <a:p>
            <a:pPr marL="781050" marR="0" lvl="1" indent="-457200" algn="just" rtl="0">
              <a:lnSpc>
                <a:spcPct val="100000"/>
              </a:lnSpc>
              <a:spcBef>
                <a:spcPts val="0"/>
              </a:spcBef>
              <a:spcAft>
                <a:spcPts val="0"/>
              </a:spcAft>
              <a:buClr>
                <a:srgbClr val="000000"/>
              </a:buClr>
              <a:buSzPts val="2200"/>
              <a:buFont typeface="Arial"/>
              <a:buAutoNum type="arabicPeriod"/>
            </a:pPr>
            <a:r>
              <a:rPr lang="en-US" sz="2200" b="0" i="0" u="none" strike="noStrike" cap="none">
                <a:solidFill>
                  <a:srgbClr val="1E4E79"/>
                </a:solidFill>
                <a:latin typeface="Calibri"/>
                <a:ea typeface="Calibri"/>
                <a:cs typeface="Calibri"/>
                <a:sym typeface="Calibri"/>
              </a:rPr>
              <a:t>Mengidentifikasi, melacak, atau memantau aktivitas, lokasi, atau perilaku tanpa sepengetahuan atau persetujuan dari mereka para pengguna;</a:t>
            </a:r>
            <a:endParaRPr/>
          </a:p>
          <a:p>
            <a:pPr marL="781050" marR="0" lvl="1" indent="-457200" algn="just" rtl="0">
              <a:lnSpc>
                <a:spcPct val="100000"/>
              </a:lnSpc>
              <a:spcBef>
                <a:spcPts val="0"/>
              </a:spcBef>
              <a:spcAft>
                <a:spcPts val="0"/>
              </a:spcAft>
              <a:buClr>
                <a:srgbClr val="000000"/>
              </a:buClr>
              <a:buSzPts val="2200"/>
              <a:buFont typeface="Arial"/>
              <a:buAutoNum type="arabicPeriod"/>
            </a:pPr>
            <a:r>
              <a:rPr lang="en-US" sz="2200" b="0" i="0" u="none" strike="noStrike" cap="none">
                <a:solidFill>
                  <a:srgbClr val="1E4E79"/>
                </a:solidFill>
                <a:latin typeface="Calibri"/>
                <a:ea typeface="Calibri"/>
                <a:cs typeface="Calibri"/>
                <a:sym typeface="Calibri"/>
              </a:rPr>
              <a:t>Mengubah, menghapus, atau mencuri data yang sifatnya sensitif, rahasia, atau penting, seperti data pribadi, keuangan, kesehatan, atau nasional;</a:t>
            </a:r>
            <a:endParaRPr/>
          </a:p>
          <a:p>
            <a:pPr marL="781050" marR="0" lvl="1" indent="-457200" algn="just" rtl="0">
              <a:lnSpc>
                <a:spcPct val="100000"/>
              </a:lnSpc>
              <a:spcBef>
                <a:spcPts val="0"/>
              </a:spcBef>
              <a:spcAft>
                <a:spcPts val="0"/>
              </a:spcAft>
              <a:buClr>
                <a:srgbClr val="000000"/>
              </a:buClr>
              <a:buSzPts val="2200"/>
              <a:buFont typeface="Arial"/>
              <a:buAutoNum type="arabicPeriod"/>
            </a:pPr>
            <a:r>
              <a:rPr lang="en-US" sz="2200" b="0" i="0" u="none" strike="noStrike" cap="none">
                <a:solidFill>
                  <a:srgbClr val="1E4E79"/>
                </a:solidFill>
                <a:latin typeface="Calibri"/>
                <a:ea typeface="Calibri"/>
                <a:cs typeface="Calibri"/>
                <a:sym typeface="Calibri"/>
              </a:rPr>
              <a:t>Membuat profil, diskriminasi, atau manipulasi berdasarkan data yang diketahui oleh KA, seperti preferensi, kebiasaan, opini, atau emosi; dan</a:t>
            </a:r>
            <a:endParaRPr/>
          </a:p>
          <a:p>
            <a:pPr marL="781050" marR="0" lvl="1" indent="-457200" algn="just" rtl="0">
              <a:lnSpc>
                <a:spcPct val="100000"/>
              </a:lnSpc>
              <a:spcBef>
                <a:spcPts val="0"/>
              </a:spcBef>
              <a:spcAft>
                <a:spcPts val="0"/>
              </a:spcAft>
              <a:buClr>
                <a:srgbClr val="000000"/>
              </a:buClr>
              <a:buSzPts val="2200"/>
              <a:buFont typeface="Arial"/>
              <a:buAutoNum type="arabicPeriod"/>
            </a:pPr>
            <a:r>
              <a:rPr lang="en-US" sz="2200" b="0" i="0" u="none" strike="noStrike" cap="none">
                <a:solidFill>
                  <a:srgbClr val="1E4E79"/>
                </a:solidFill>
                <a:latin typeface="Calibri"/>
                <a:ea typeface="Calibri"/>
                <a:cs typeface="Calibri"/>
                <a:sym typeface="Calibri"/>
              </a:rPr>
              <a:t>Menyebarkan informasi palsu (HOAKS), menyesatkan, atau merusak yang dapat memengaruhi opini, sikap, atau perilaku.</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31"/>
          <p:cNvSpPr/>
          <p:nvPr/>
        </p:nvSpPr>
        <p:spPr>
          <a:xfrm>
            <a:off x="7438570" y="1756001"/>
            <a:ext cx="4601029" cy="4859535"/>
          </a:xfrm>
          <a:prstGeom prst="roundRect">
            <a:avLst>
              <a:gd name="adj" fmla="val 9096"/>
            </a:avLst>
          </a:prstGeom>
          <a:solidFill>
            <a:srgbClr val="F2F2F2"/>
          </a:solidFill>
          <a:ln w="9525" cap="flat" cmpd="sng">
            <a:solidFill>
              <a:srgbClr val="1C305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32" name="Google Shape;432;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E75B5"/>
              </a:buClr>
              <a:buSzPts val="4400"/>
              <a:buFont typeface="Calibri"/>
              <a:buNone/>
            </a:pPr>
            <a:r>
              <a:rPr lang="en-US"/>
              <a:t>Teknologi Deepfake</a:t>
            </a:r>
            <a:endParaRPr/>
          </a:p>
        </p:txBody>
      </p:sp>
      <p:sp>
        <p:nvSpPr>
          <p:cNvPr id="433" name="Google Shape;433;p31"/>
          <p:cNvSpPr txBox="1">
            <a:spLocks noGrp="1"/>
          </p:cNvSpPr>
          <p:nvPr>
            <p:ph type="body" idx="1"/>
          </p:nvPr>
        </p:nvSpPr>
        <p:spPr>
          <a:xfrm>
            <a:off x="341086" y="1825625"/>
            <a:ext cx="7097485" cy="4351338"/>
          </a:xfrm>
          <a:prstGeom prst="rect">
            <a:avLst/>
          </a:prstGeom>
          <a:noFill/>
          <a:ln>
            <a:noFill/>
          </a:ln>
        </p:spPr>
        <p:txBody>
          <a:bodyPr spcFirstLastPara="1" wrap="square" lIns="91425" tIns="45700" rIns="91425" bIns="45700" anchor="t" anchorCtr="0">
            <a:normAutofit lnSpcReduction="10000"/>
          </a:bodyPr>
          <a:lstStyle/>
          <a:p>
            <a:pPr marL="457200" lvl="0" indent="-406400" algn="l" rtl="0">
              <a:lnSpc>
                <a:spcPct val="100000"/>
              </a:lnSpc>
              <a:spcBef>
                <a:spcPts val="1000"/>
              </a:spcBef>
              <a:spcAft>
                <a:spcPts val="0"/>
              </a:spcAft>
              <a:buSzPts val="2800"/>
              <a:buChar char="•"/>
            </a:pPr>
            <a:r>
              <a:rPr lang="en-US" sz="2600"/>
              <a:t>merupakan gabungan dari kata deep learning dan fake (palsu)</a:t>
            </a:r>
            <a:endParaRPr/>
          </a:p>
          <a:p>
            <a:pPr marL="457200" lvl="0" indent="-406400" algn="l" rtl="0">
              <a:lnSpc>
                <a:spcPct val="100000"/>
              </a:lnSpc>
              <a:spcBef>
                <a:spcPts val="1000"/>
              </a:spcBef>
              <a:spcAft>
                <a:spcPts val="0"/>
              </a:spcAft>
              <a:buSzPts val="2800"/>
              <a:buChar char="•"/>
            </a:pPr>
            <a:r>
              <a:rPr lang="en-US" sz="2600"/>
              <a:t>Deepfake adalah teknik memanipulasi gambar, suara, atau video dengan KA sehingga tercipta konten baru yang terlihat asli dan meyakinkan.</a:t>
            </a:r>
            <a:endParaRPr/>
          </a:p>
          <a:p>
            <a:pPr marL="457200" lvl="0" indent="-406400" algn="l" rtl="0">
              <a:lnSpc>
                <a:spcPct val="100000"/>
              </a:lnSpc>
              <a:spcBef>
                <a:spcPts val="1000"/>
              </a:spcBef>
              <a:spcAft>
                <a:spcPts val="0"/>
              </a:spcAft>
              <a:buSzPts val="2800"/>
              <a:buChar char="•"/>
            </a:pPr>
            <a:r>
              <a:rPr lang="en-US" sz="2600"/>
              <a:t>Teknologi ini dapat digunakan untuk berbagai tujuan, mulai dari hiburan dan seni hingga penipuan dan disinformasi</a:t>
            </a:r>
            <a:endParaRPr/>
          </a:p>
          <a:p>
            <a:pPr marL="457200" lvl="0" indent="-406400" algn="l" rtl="0">
              <a:lnSpc>
                <a:spcPct val="100000"/>
              </a:lnSpc>
              <a:spcBef>
                <a:spcPts val="1000"/>
              </a:spcBef>
              <a:spcAft>
                <a:spcPts val="0"/>
              </a:spcAft>
              <a:buSzPts val="2800"/>
              <a:buChar char="•"/>
            </a:pPr>
            <a:r>
              <a:rPr lang="en-US" sz="2600"/>
              <a:t>Deepfake bekerja menggunakan dua algoritma, yaitu </a:t>
            </a:r>
            <a:r>
              <a:rPr lang="en-US" sz="2600" b="1"/>
              <a:t>generator</a:t>
            </a:r>
            <a:r>
              <a:rPr lang="en-US" sz="2600"/>
              <a:t> dan </a:t>
            </a:r>
            <a:r>
              <a:rPr lang="en-US" sz="2600" b="1"/>
              <a:t>diskriminator</a:t>
            </a:r>
            <a:r>
              <a:rPr lang="en-US" sz="2600"/>
              <a:t>.</a:t>
            </a:r>
            <a:endParaRPr/>
          </a:p>
        </p:txBody>
      </p:sp>
      <p:sp>
        <p:nvSpPr>
          <p:cNvPr id="434" name="Google Shape;434;p31"/>
          <p:cNvSpPr txBox="1"/>
          <p:nvPr/>
        </p:nvSpPr>
        <p:spPr>
          <a:xfrm>
            <a:off x="7547428" y="2175868"/>
            <a:ext cx="4158343" cy="4001095"/>
          </a:xfrm>
          <a:prstGeom prst="rect">
            <a:avLst/>
          </a:prstGeom>
          <a:noFill/>
          <a:ln>
            <a:noFill/>
          </a:ln>
        </p:spPr>
        <p:txBody>
          <a:bodyPr spcFirstLastPara="1" wrap="square" lIns="0" tIns="0" rIns="0" bIns="0" anchor="t" anchorCtr="0">
            <a:spAutoFit/>
          </a:bodyPr>
          <a:lstStyle/>
          <a:p>
            <a:pPr marL="269874" marR="0" lvl="1" indent="0" algn="just" rtl="0">
              <a:lnSpc>
                <a:spcPct val="100000"/>
              </a:lnSpc>
              <a:spcBef>
                <a:spcPts val="0"/>
              </a:spcBef>
              <a:spcAft>
                <a:spcPts val="0"/>
              </a:spcAft>
              <a:buNone/>
            </a:pPr>
            <a:r>
              <a:rPr lang="en-US" sz="2000" b="1" i="0" u="none" strike="noStrike" cap="none">
                <a:solidFill>
                  <a:srgbClr val="1E4E79"/>
                </a:solidFill>
                <a:latin typeface="Calibri"/>
                <a:ea typeface="Calibri"/>
                <a:cs typeface="Calibri"/>
                <a:sym typeface="Calibri"/>
              </a:rPr>
              <a:t>Generator</a:t>
            </a:r>
            <a:r>
              <a:rPr lang="en-US" sz="2000" b="0" i="0" u="none" strike="noStrike" cap="none">
                <a:solidFill>
                  <a:srgbClr val="1E4E79"/>
                </a:solidFill>
                <a:latin typeface="Calibri"/>
                <a:ea typeface="Calibri"/>
                <a:cs typeface="Calibri"/>
                <a:sym typeface="Calibri"/>
              </a:rPr>
              <a:t> membuat kumpulan data pelatihan berdasarkan output yang diinginkan dan membuat konten digital palsu awal. Sementara </a:t>
            </a:r>
            <a:r>
              <a:rPr lang="en-US" sz="2000" b="1" i="0" u="none" strike="noStrike" cap="none">
                <a:solidFill>
                  <a:srgbClr val="1E4E79"/>
                </a:solidFill>
                <a:latin typeface="Calibri"/>
                <a:ea typeface="Calibri"/>
                <a:cs typeface="Calibri"/>
                <a:sym typeface="Calibri"/>
              </a:rPr>
              <a:t>diskriminator</a:t>
            </a:r>
            <a:r>
              <a:rPr lang="en-US" sz="2000" b="0" i="0" u="none" strike="noStrike" cap="none">
                <a:solidFill>
                  <a:srgbClr val="1E4E79"/>
                </a:solidFill>
                <a:latin typeface="Calibri"/>
                <a:ea typeface="Calibri"/>
                <a:cs typeface="Calibri"/>
                <a:sym typeface="Calibri"/>
              </a:rPr>
              <a:t> menganalisis seberapa realistis atau palsu versi awal konten tersebut. Proses ini diulang, sehingga generator dapat meningkatkan kemampuan dalam membuat konten yang realistis, dan diskriminator menjadi lebih terampil dalam menemukan kekurangan untuk diperbaiki oleh generator.</a:t>
            </a:r>
            <a:endParaRPr/>
          </a:p>
        </p:txBody>
      </p:sp>
      <p:sp>
        <p:nvSpPr>
          <p:cNvPr id="435" name="Google Shape;435;p31"/>
          <p:cNvSpPr/>
          <p:nvPr/>
        </p:nvSpPr>
        <p:spPr>
          <a:xfrm>
            <a:off x="10168124" y="45581"/>
            <a:ext cx="1871475" cy="1887994"/>
          </a:xfrm>
          <a:custGeom>
            <a:avLst/>
            <a:gdLst/>
            <a:ahLst/>
            <a:cxnLst/>
            <a:rect l="l" t="t" r="r" b="b"/>
            <a:pathLst>
              <a:path w="2427760" h="2449190" extrusionOk="0">
                <a:moveTo>
                  <a:pt x="0" y="0"/>
                </a:moveTo>
                <a:lnTo>
                  <a:pt x="2427760" y="0"/>
                </a:lnTo>
                <a:lnTo>
                  <a:pt x="2427760" y="2449190"/>
                </a:lnTo>
                <a:lnTo>
                  <a:pt x="0" y="2449190"/>
                </a:lnTo>
                <a:lnTo>
                  <a:pt x="0" y="0"/>
                </a:lnTo>
                <a:close/>
              </a:path>
            </a:pathLst>
          </a:custGeom>
          <a:blipFill rotWithShape="1">
            <a:blip r:embed="rId3">
              <a:alphaModFix/>
            </a:blip>
            <a:stretch>
              <a:fillRect/>
            </a:stretch>
          </a:blipFill>
          <a:ln>
            <a:noFill/>
          </a:ln>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32"/>
          <p:cNvSpPr txBox="1"/>
          <p:nvPr/>
        </p:nvSpPr>
        <p:spPr>
          <a:xfrm>
            <a:off x="544282" y="155084"/>
            <a:ext cx="11393718" cy="624786"/>
          </a:xfrm>
          <a:prstGeom prst="rect">
            <a:avLst/>
          </a:prstGeom>
          <a:noFill/>
          <a:ln>
            <a:noFill/>
          </a:ln>
        </p:spPr>
        <p:txBody>
          <a:bodyPr spcFirstLastPara="1" wrap="square" lIns="0" tIns="0" rIns="0" bIns="0" anchor="t" anchorCtr="0">
            <a:spAutoFit/>
          </a:bodyPr>
          <a:lstStyle/>
          <a:p>
            <a:pPr marL="0" marR="0" lvl="0" indent="0" algn="l" rtl="0">
              <a:lnSpc>
                <a:spcPct val="233291"/>
              </a:lnSpc>
              <a:spcBef>
                <a:spcPts val="0"/>
              </a:spcBef>
              <a:spcAft>
                <a:spcPts val="0"/>
              </a:spcAft>
              <a:buNone/>
            </a:pPr>
            <a:r>
              <a:rPr lang="en-US" sz="2400" b="1" i="0" u="none" strike="noStrike" cap="none">
                <a:solidFill>
                  <a:srgbClr val="2E75B5"/>
                </a:solidFill>
                <a:latin typeface="Poppins"/>
                <a:ea typeface="Poppins"/>
                <a:cs typeface="Poppins"/>
                <a:sym typeface="Poppins"/>
              </a:rPr>
              <a:t>Teknik dalam Pembuatan Deepfake</a:t>
            </a:r>
            <a:endParaRPr/>
          </a:p>
        </p:txBody>
      </p:sp>
      <p:sp>
        <p:nvSpPr>
          <p:cNvPr id="441" name="Google Shape;441;p32"/>
          <p:cNvSpPr txBox="1"/>
          <p:nvPr/>
        </p:nvSpPr>
        <p:spPr>
          <a:xfrm>
            <a:off x="319313" y="975028"/>
            <a:ext cx="11081658" cy="677108"/>
          </a:xfrm>
          <a:prstGeom prst="rect">
            <a:avLst/>
          </a:prstGeom>
          <a:noFill/>
          <a:ln>
            <a:noFill/>
          </a:ln>
        </p:spPr>
        <p:txBody>
          <a:bodyPr spcFirstLastPara="1" wrap="square" lIns="0" tIns="0" rIns="0" bIns="0" anchor="t" anchorCtr="0">
            <a:spAutoFit/>
          </a:bodyPr>
          <a:lstStyle/>
          <a:p>
            <a:pPr marL="647700" marR="0" lvl="1" indent="-323850" algn="just" rtl="0">
              <a:lnSpc>
                <a:spcPct val="100000"/>
              </a:lnSpc>
              <a:spcBef>
                <a:spcPts val="0"/>
              </a:spcBef>
              <a:spcAft>
                <a:spcPts val="0"/>
              </a:spcAft>
              <a:buClr>
                <a:srgbClr val="000000"/>
              </a:buClr>
              <a:buSzPts val="2200"/>
              <a:buFont typeface="Arial"/>
              <a:buChar char="•"/>
            </a:pPr>
            <a:r>
              <a:rPr lang="en-US" sz="2200" b="1" i="0" u="none" strike="noStrike" cap="none">
                <a:solidFill>
                  <a:schemeClr val="dk1"/>
                </a:solidFill>
                <a:latin typeface="Poppins"/>
                <a:ea typeface="Poppins"/>
                <a:cs typeface="Poppins"/>
                <a:sym typeface="Poppins"/>
              </a:rPr>
              <a:t>Teknik Face Swapping </a:t>
            </a:r>
            <a:r>
              <a:rPr lang="en-US" sz="2200" b="0" i="0" u="none" strike="noStrike" cap="none">
                <a:solidFill>
                  <a:schemeClr val="dk1"/>
                </a:solidFill>
                <a:latin typeface="Poppins"/>
                <a:ea typeface="Poppins"/>
                <a:cs typeface="Poppins"/>
                <a:sym typeface="Poppins"/>
              </a:rPr>
              <a:t>: Teknik ini melibatkan pertukaran wajah antara dua individu dalam sebuah gambar atau video.</a:t>
            </a:r>
            <a:endParaRPr/>
          </a:p>
        </p:txBody>
      </p:sp>
      <p:grpSp>
        <p:nvGrpSpPr>
          <p:cNvPr id="442" name="Google Shape;442;p32"/>
          <p:cNvGrpSpPr/>
          <p:nvPr/>
        </p:nvGrpSpPr>
        <p:grpSpPr>
          <a:xfrm>
            <a:off x="7579780" y="1892677"/>
            <a:ext cx="4450357" cy="4810239"/>
            <a:chOff x="12972718" y="3755646"/>
            <a:chExt cx="4931534" cy="5330326"/>
          </a:xfrm>
        </p:grpSpPr>
        <p:grpSp>
          <p:nvGrpSpPr>
            <p:cNvPr id="443" name="Google Shape;443;p32"/>
            <p:cNvGrpSpPr/>
            <p:nvPr/>
          </p:nvGrpSpPr>
          <p:grpSpPr>
            <a:xfrm>
              <a:off x="12972718" y="3755646"/>
              <a:ext cx="4931534" cy="2638151"/>
              <a:chOff x="0" y="-57150"/>
              <a:chExt cx="2280289" cy="1219853"/>
            </a:xfrm>
          </p:grpSpPr>
          <p:sp>
            <p:nvSpPr>
              <p:cNvPr id="444" name="Google Shape;444;p32"/>
              <p:cNvSpPr/>
              <p:nvPr/>
            </p:nvSpPr>
            <p:spPr>
              <a:xfrm>
                <a:off x="0" y="0"/>
                <a:ext cx="2280289" cy="1162703"/>
              </a:xfrm>
              <a:custGeom>
                <a:avLst/>
                <a:gdLst/>
                <a:ahLst/>
                <a:cxnLst/>
                <a:rect l="l" t="t" r="r" b="b"/>
                <a:pathLst>
                  <a:path w="2280289" h="1162703" extrusionOk="0">
                    <a:moveTo>
                      <a:pt x="0" y="0"/>
                    </a:moveTo>
                    <a:lnTo>
                      <a:pt x="2280289" y="0"/>
                    </a:lnTo>
                    <a:lnTo>
                      <a:pt x="2280289" y="1162703"/>
                    </a:lnTo>
                    <a:lnTo>
                      <a:pt x="0" y="1162703"/>
                    </a:lnTo>
                    <a:close/>
                  </a:path>
                </a:pathLst>
              </a:custGeom>
              <a:solidFill>
                <a:srgbClr val="F2F2F2"/>
              </a:solidFill>
              <a:ln>
                <a:noFill/>
              </a:ln>
            </p:spPr>
          </p:sp>
          <p:sp>
            <p:nvSpPr>
              <p:cNvPr id="445" name="Google Shape;445;p32"/>
              <p:cNvSpPr txBox="1"/>
              <p:nvPr/>
            </p:nvSpPr>
            <p:spPr>
              <a:xfrm>
                <a:off x="0" y="-57150"/>
                <a:ext cx="2280289" cy="1219853"/>
              </a:xfrm>
              <a:prstGeom prst="rect">
                <a:avLst/>
              </a:prstGeom>
              <a:noFill/>
              <a:ln>
                <a:noFill/>
              </a:ln>
            </p:spPr>
            <p:txBody>
              <a:bodyPr spcFirstLastPara="1" wrap="square" lIns="50800" tIns="50800" rIns="50800" bIns="50800" anchor="ctr" anchorCtr="0">
                <a:noAutofit/>
              </a:bodyPr>
              <a:lstStyle/>
              <a:p>
                <a:pPr marL="0" marR="0" lvl="0" indent="0" algn="ctr" rtl="0">
                  <a:lnSpc>
                    <a:spcPct val="17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
          <p:nvSpPr>
            <p:cNvPr id="446" name="Google Shape;446;p32"/>
            <p:cNvSpPr/>
            <p:nvPr/>
          </p:nvSpPr>
          <p:spPr>
            <a:xfrm>
              <a:off x="13128960" y="4055208"/>
              <a:ext cx="2172979" cy="2172979"/>
            </a:xfrm>
            <a:custGeom>
              <a:avLst/>
              <a:gdLst/>
              <a:ahLst/>
              <a:cxnLst/>
              <a:rect l="l" t="t" r="r" b="b"/>
              <a:pathLst>
                <a:path w="2172979" h="2172979" extrusionOk="0">
                  <a:moveTo>
                    <a:pt x="0" y="0"/>
                  </a:moveTo>
                  <a:lnTo>
                    <a:pt x="2172980" y="0"/>
                  </a:lnTo>
                  <a:lnTo>
                    <a:pt x="2172980" y="2172980"/>
                  </a:lnTo>
                  <a:lnTo>
                    <a:pt x="0" y="2172980"/>
                  </a:lnTo>
                  <a:lnTo>
                    <a:pt x="0" y="0"/>
                  </a:lnTo>
                  <a:close/>
                </a:path>
              </a:pathLst>
            </a:custGeom>
            <a:blipFill rotWithShape="1">
              <a:blip r:embed="rId3">
                <a:alphaModFix/>
              </a:blip>
              <a:stretch>
                <a:fillRect l="-9430" t="-6549" r="-7177" b="-10058"/>
              </a:stretch>
            </a:blipFill>
            <a:ln>
              <a:noFill/>
            </a:ln>
          </p:spPr>
        </p:sp>
        <p:sp>
          <p:nvSpPr>
            <p:cNvPr id="447" name="Google Shape;447;p32"/>
            <p:cNvSpPr/>
            <p:nvPr/>
          </p:nvSpPr>
          <p:spPr>
            <a:xfrm>
              <a:off x="15818265" y="4055208"/>
              <a:ext cx="1870658" cy="2172979"/>
            </a:xfrm>
            <a:custGeom>
              <a:avLst/>
              <a:gdLst/>
              <a:ahLst/>
              <a:cxnLst/>
              <a:rect l="l" t="t" r="r" b="b"/>
              <a:pathLst>
                <a:path w="1870658" h="2172979" extrusionOk="0">
                  <a:moveTo>
                    <a:pt x="0" y="0"/>
                  </a:moveTo>
                  <a:lnTo>
                    <a:pt x="1870659" y="0"/>
                  </a:lnTo>
                  <a:lnTo>
                    <a:pt x="1870659" y="2172980"/>
                  </a:lnTo>
                  <a:lnTo>
                    <a:pt x="0" y="2172980"/>
                  </a:lnTo>
                  <a:lnTo>
                    <a:pt x="0" y="0"/>
                  </a:lnTo>
                  <a:close/>
                </a:path>
              </a:pathLst>
            </a:custGeom>
            <a:blipFill rotWithShape="1">
              <a:blip r:embed="rId4">
                <a:alphaModFix/>
              </a:blip>
              <a:stretch>
                <a:fillRect t="-2190" b="-2547"/>
              </a:stretch>
            </a:blipFill>
            <a:ln>
              <a:noFill/>
            </a:ln>
          </p:spPr>
        </p:sp>
        <p:sp>
          <p:nvSpPr>
            <p:cNvPr id="448" name="Google Shape;448;p32"/>
            <p:cNvSpPr/>
            <p:nvPr/>
          </p:nvSpPr>
          <p:spPr>
            <a:xfrm>
              <a:off x="15125112" y="4881288"/>
              <a:ext cx="805222" cy="793143"/>
            </a:xfrm>
            <a:custGeom>
              <a:avLst/>
              <a:gdLst/>
              <a:ahLst/>
              <a:cxnLst/>
              <a:rect l="l" t="t" r="r" b="b"/>
              <a:pathLst>
                <a:path w="805222" h="793143" extrusionOk="0">
                  <a:moveTo>
                    <a:pt x="0" y="0"/>
                  </a:moveTo>
                  <a:lnTo>
                    <a:pt x="805222" y="0"/>
                  </a:lnTo>
                  <a:lnTo>
                    <a:pt x="805222" y="793143"/>
                  </a:lnTo>
                  <a:lnTo>
                    <a:pt x="0" y="793143"/>
                  </a:lnTo>
                  <a:lnTo>
                    <a:pt x="0" y="0"/>
                  </a:lnTo>
                  <a:close/>
                </a:path>
              </a:pathLst>
            </a:custGeom>
            <a:blipFill rotWithShape="1">
              <a:blip r:embed="rId5">
                <a:alphaModFix/>
              </a:blip>
              <a:stretch>
                <a:fillRect/>
              </a:stretch>
            </a:blipFill>
            <a:ln>
              <a:noFill/>
            </a:ln>
          </p:spPr>
        </p:sp>
        <p:sp>
          <p:nvSpPr>
            <p:cNvPr id="449" name="Google Shape;449;p32"/>
            <p:cNvSpPr/>
            <p:nvPr/>
          </p:nvSpPr>
          <p:spPr>
            <a:xfrm>
              <a:off x="13574149" y="7570773"/>
              <a:ext cx="666680" cy="515843"/>
            </a:xfrm>
            <a:custGeom>
              <a:avLst/>
              <a:gdLst/>
              <a:ahLst/>
              <a:cxnLst/>
              <a:rect l="l" t="t" r="r" b="b"/>
              <a:pathLst>
                <a:path w="666680" h="515843" extrusionOk="0">
                  <a:moveTo>
                    <a:pt x="0" y="0"/>
                  </a:moveTo>
                  <a:lnTo>
                    <a:pt x="666680" y="0"/>
                  </a:lnTo>
                  <a:lnTo>
                    <a:pt x="666680" y="515844"/>
                  </a:lnTo>
                  <a:lnTo>
                    <a:pt x="0" y="515844"/>
                  </a:lnTo>
                  <a:lnTo>
                    <a:pt x="0" y="0"/>
                  </a:lnTo>
                  <a:close/>
                </a:path>
              </a:pathLst>
            </a:custGeom>
            <a:blipFill rotWithShape="1">
              <a:blip r:embed="rId6">
                <a:alphaModFix/>
              </a:blip>
              <a:stretch>
                <a:fillRect/>
              </a:stretch>
            </a:blipFill>
            <a:ln>
              <a:noFill/>
            </a:ln>
          </p:spPr>
        </p:sp>
        <p:grpSp>
          <p:nvGrpSpPr>
            <p:cNvPr id="450" name="Google Shape;450;p32"/>
            <p:cNvGrpSpPr/>
            <p:nvPr/>
          </p:nvGrpSpPr>
          <p:grpSpPr>
            <a:xfrm>
              <a:off x="14445175" y="6447821"/>
              <a:ext cx="2814125" cy="2638151"/>
              <a:chOff x="0" y="-57150"/>
              <a:chExt cx="1301222" cy="1219853"/>
            </a:xfrm>
          </p:grpSpPr>
          <p:sp>
            <p:nvSpPr>
              <p:cNvPr id="451" name="Google Shape;451;p32"/>
              <p:cNvSpPr/>
              <p:nvPr/>
            </p:nvSpPr>
            <p:spPr>
              <a:xfrm>
                <a:off x="0" y="0"/>
                <a:ext cx="1301222" cy="1162703"/>
              </a:xfrm>
              <a:custGeom>
                <a:avLst/>
                <a:gdLst/>
                <a:ahLst/>
                <a:cxnLst/>
                <a:rect l="l" t="t" r="r" b="b"/>
                <a:pathLst>
                  <a:path w="1301222" h="1162703" extrusionOk="0">
                    <a:moveTo>
                      <a:pt x="0" y="0"/>
                    </a:moveTo>
                    <a:lnTo>
                      <a:pt x="1301222" y="0"/>
                    </a:lnTo>
                    <a:lnTo>
                      <a:pt x="1301222" y="1162703"/>
                    </a:lnTo>
                    <a:lnTo>
                      <a:pt x="0" y="1162703"/>
                    </a:lnTo>
                    <a:close/>
                  </a:path>
                </a:pathLst>
              </a:custGeom>
              <a:solidFill>
                <a:srgbClr val="F2F2F2"/>
              </a:solidFill>
              <a:ln>
                <a:noFill/>
              </a:ln>
            </p:spPr>
          </p:sp>
          <p:sp>
            <p:nvSpPr>
              <p:cNvPr id="452" name="Google Shape;452;p32"/>
              <p:cNvSpPr txBox="1"/>
              <p:nvPr/>
            </p:nvSpPr>
            <p:spPr>
              <a:xfrm>
                <a:off x="0" y="-57150"/>
                <a:ext cx="1301222" cy="1219853"/>
              </a:xfrm>
              <a:prstGeom prst="rect">
                <a:avLst/>
              </a:prstGeom>
              <a:noFill/>
              <a:ln>
                <a:noFill/>
              </a:ln>
            </p:spPr>
            <p:txBody>
              <a:bodyPr spcFirstLastPara="1" wrap="square" lIns="50800" tIns="50800" rIns="50800" bIns="50800" anchor="ctr" anchorCtr="0">
                <a:noAutofit/>
              </a:bodyPr>
              <a:lstStyle/>
              <a:p>
                <a:pPr marL="0" marR="0" lvl="0" indent="0" algn="ctr" rtl="0">
                  <a:lnSpc>
                    <a:spcPct val="17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
          <p:nvSpPr>
            <p:cNvPr id="453" name="Google Shape;453;p32"/>
            <p:cNvSpPr/>
            <p:nvPr/>
          </p:nvSpPr>
          <p:spPr>
            <a:xfrm>
              <a:off x="14578761" y="6698597"/>
              <a:ext cx="2546952" cy="2313131"/>
            </a:xfrm>
            <a:custGeom>
              <a:avLst/>
              <a:gdLst/>
              <a:ahLst/>
              <a:cxnLst/>
              <a:rect l="l" t="t" r="r" b="b"/>
              <a:pathLst>
                <a:path w="2546952" h="2313131" extrusionOk="0">
                  <a:moveTo>
                    <a:pt x="0" y="0"/>
                  </a:moveTo>
                  <a:lnTo>
                    <a:pt x="2546953" y="0"/>
                  </a:lnTo>
                  <a:lnTo>
                    <a:pt x="2546953" y="2313131"/>
                  </a:lnTo>
                  <a:lnTo>
                    <a:pt x="0" y="2313131"/>
                  </a:lnTo>
                  <a:lnTo>
                    <a:pt x="0" y="0"/>
                  </a:lnTo>
                  <a:close/>
                </a:path>
              </a:pathLst>
            </a:custGeom>
            <a:blipFill rotWithShape="1">
              <a:blip r:embed="rId7">
                <a:alphaModFix/>
              </a:blip>
              <a:stretch>
                <a:fillRect l="-56310" t="-81083" r="-24061" b="-116447"/>
              </a:stretch>
            </a:blipFill>
            <a:ln>
              <a:noFill/>
            </a:ln>
          </p:spPr>
        </p:sp>
      </p:grpSp>
      <p:sp>
        <p:nvSpPr>
          <p:cNvPr id="454" name="Google Shape;454;p32"/>
          <p:cNvSpPr/>
          <p:nvPr/>
        </p:nvSpPr>
        <p:spPr>
          <a:xfrm>
            <a:off x="194138" y="1892677"/>
            <a:ext cx="7406086" cy="4170320"/>
          </a:xfrm>
          <a:custGeom>
            <a:avLst/>
            <a:gdLst/>
            <a:ahLst/>
            <a:cxnLst/>
            <a:rect l="l" t="t" r="r" b="b"/>
            <a:pathLst>
              <a:path w="10174161" h="5729005" extrusionOk="0">
                <a:moveTo>
                  <a:pt x="0" y="0"/>
                </a:moveTo>
                <a:lnTo>
                  <a:pt x="10174161" y="0"/>
                </a:lnTo>
                <a:lnTo>
                  <a:pt x="10174161" y="5729005"/>
                </a:lnTo>
                <a:lnTo>
                  <a:pt x="0" y="5729005"/>
                </a:lnTo>
                <a:lnTo>
                  <a:pt x="0" y="0"/>
                </a:lnTo>
                <a:close/>
              </a:path>
            </a:pathLst>
          </a:custGeom>
          <a:blipFill rotWithShape="1">
            <a:blip r:embed="rId8">
              <a:alphaModFix/>
            </a:blip>
            <a:stretch>
              <a:fillRect/>
            </a:stretch>
          </a:blipFill>
          <a:ln>
            <a:noFill/>
          </a:ln>
        </p:spPr>
      </p:sp>
      <p:sp>
        <p:nvSpPr>
          <p:cNvPr id="455" name="Google Shape;455;p32"/>
          <p:cNvSpPr txBox="1"/>
          <p:nvPr/>
        </p:nvSpPr>
        <p:spPr>
          <a:xfrm rot="-1486566">
            <a:off x="2618685" y="4072190"/>
            <a:ext cx="2556992" cy="796556"/>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4360" b="1" i="0" u="none" strike="noStrike" cap="none">
                <a:solidFill>
                  <a:srgbClr val="EA3E43"/>
                </a:solidFill>
                <a:latin typeface="Poppins"/>
                <a:ea typeface="Poppins"/>
                <a:cs typeface="Poppins"/>
                <a:sym typeface="Poppins"/>
              </a:rPr>
              <a:t>Contoh </a:t>
            </a:r>
            <a:endParaRPr/>
          </a:p>
        </p:txBody>
      </p:sp>
      <p:sp>
        <p:nvSpPr>
          <p:cNvPr id="456" name="Google Shape;456;p32"/>
          <p:cNvSpPr txBox="1"/>
          <p:nvPr/>
        </p:nvSpPr>
        <p:spPr>
          <a:xfrm>
            <a:off x="544282" y="5367870"/>
            <a:ext cx="5990637" cy="603242"/>
          </a:xfrm>
          <a:prstGeom prst="rect">
            <a:avLst/>
          </a:prstGeom>
          <a:noFill/>
          <a:ln>
            <a:noFill/>
          </a:ln>
        </p:spPr>
        <p:txBody>
          <a:bodyPr spcFirstLastPara="1" wrap="square" lIns="0" tIns="0" rIns="0" bIns="0" anchor="t" anchorCtr="0">
            <a:spAutoFit/>
          </a:bodyPr>
          <a:lstStyle/>
          <a:p>
            <a:pPr marL="0" marR="0" lvl="0" indent="0" algn="l" rtl="0">
              <a:lnSpc>
                <a:spcPct val="131277"/>
              </a:lnSpc>
              <a:spcBef>
                <a:spcPts val="0"/>
              </a:spcBef>
              <a:spcAft>
                <a:spcPts val="0"/>
              </a:spcAft>
              <a:buNone/>
            </a:pPr>
            <a:r>
              <a:rPr lang="en-US" sz="1800" b="0" i="0" u="none" strike="noStrike" cap="none">
                <a:solidFill>
                  <a:srgbClr val="000000"/>
                </a:solidFill>
                <a:latin typeface="Poppins"/>
                <a:ea typeface="Poppins"/>
                <a:cs typeface="Poppins"/>
                <a:sym typeface="Poppins"/>
              </a:rPr>
              <a:t>sumber : </a:t>
            </a:r>
            <a:endParaRPr/>
          </a:p>
          <a:p>
            <a:pPr marL="0" marR="0" lvl="0" indent="0" algn="l" rtl="0">
              <a:lnSpc>
                <a:spcPct val="131277"/>
              </a:lnSpc>
              <a:spcBef>
                <a:spcPts val="0"/>
              </a:spcBef>
              <a:spcAft>
                <a:spcPts val="0"/>
              </a:spcAft>
              <a:buNone/>
            </a:pPr>
            <a:r>
              <a:rPr lang="en-US" sz="1800" b="0" i="0" u="none" strike="noStrike" cap="none">
                <a:solidFill>
                  <a:srgbClr val="000000"/>
                </a:solidFill>
                <a:latin typeface="Poppins"/>
                <a:ea typeface="Poppins"/>
                <a:cs typeface="Poppins"/>
                <a:sym typeface="Poppins"/>
              </a:rPr>
              <a:t>https://remaker.ai/face-swap-free/</a:t>
            </a:r>
            <a:endParaRPr/>
          </a:p>
        </p:txBody>
      </p:sp>
      <p:sp>
        <p:nvSpPr>
          <p:cNvPr id="457" name="Google Shape;457;p32"/>
          <p:cNvSpPr txBox="1"/>
          <p:nvPr/>
        </p:nvSpPr>
        <p:spPr>
          <a:xfrm>
            <a:off x="7720777" y="1672403"/>
            <a:ext cx="1960958" cy="355610"/>
          </a:xfrm>
          <a:prstGeom prst="rect">
            <a:avLst/>
          </a:prstGeom>
          <a:noFill/>
          <a:ln>
            <a:noFill/>
          </a:ln>
        </p:spPr>
        <p:txBody>
          <a:bodyPr spcFirstLastPara="1" wrap="square" lIns="0" tIns="0" rIns="0" bIns="0" anchor="t" anchorCtr="0">
            <a:spAutoFit/>
          </a:bodyPr>
          <a:lstStyle/>
          <a:p>
            <a:pPr marL="0" marR="0" lvl="0" indent="0" algn="ctr" rtl="0">
              <a:lnSpc>
                <a:spcPct val="192500"/>
              </a:lnSpc>
              <a:spcBef>
                <a:spcPts val="0"/>
              </a:spcBef>
              <a:spcAft>
                <a:spcPts val="0"/>
              </a:spcAft>
              <a:buNone/>
            </a:pPr>
            <a:r>
              <a:rPr lang="en-US" sz="1600" b="0" i="0" u="none" strike="noStrike" cap="none">
                <a:solidFill>
                  <a:schemeClr val="dk1"/>
                </a:solidFill>
                <a:latin typeface="Poppins"/>
                <a:ea typeface="Poppins"/>
                <a:cs typeface="Poppins"/>
                <a:sym typeface="Poppins"/>
              </a:rPr>
              <a:t>Original Image</a:t>
            </a:r>
            <a:endParaRPr/>
          </a:p>
        </p:txBody>
      </p:sp>
      <p:sp>
        <p:nvSpPr>
          <p:cNvPr id="458" name="Google Shape;458;p32"/>
          <p:cNvSpPr txBox="1"/>
          <p:nvPr/>
        </p:nvSpPr>
        <p:spPr>
          <a:xfrm>
            <a:off x="10147683" y="1676669"/>
            <a:ext cx="1688135" cy="355610"/>
          </a:xfrm>
          <a:prstGeom prst="rect">
            <a:avLst/>
          </a:prstGeom>
          <a:noFill/>
          <a:ln>
            <a:noFill/>
          </a:ln>
        </p:spPr>
        <p:txBody>
          <a:bodyPr spcFirstLastPara="1" wrap="square" lIns="0" tIns="0" rIns="0" bIns="0" anchor="t" anchorCtr="0">
            <a:spAutoFit/>
          </a:bodyPr>
          <a:lstStyle/>
          <a:p>
            <a:pPr marL="0" marR="0" lvl="0" indent="0" algn="ctr" rtl="0">
              <a:lnSpc>
                <a:spcPct val="192500"/>
              </a:lnSpc>
              <a:spcBef>
                <a:spcPts val="0"/>
              </a:spcBef>
              <a:spcAft>
                <a:spcPts val="0"/>
              </a:spcAft>
              <a:buNone/>
            </a:pPr>
            <a:r>
              <a:rPr lang="en-US" sz="1600" b="0" i="0" u="none" strike="noStrike" cap="none">
                <a:solidFill>
                  <a:schemeClr val="dk1"/>
                </a:solidFill>
                <a:latin typeface="Poppins"/>
                <a:ea typeface="Poppins"/>
                <a:cs typeface="Poppins"/>
                <a:sym typeface="Poppins"/>
              </a:rPr>
              <a:t>Target Face</a:t>
            </a:r>
            <a:endParaRPr/>
          </a:p>
        </p:txBody>
      </p:sp>
      <p:sp>
        <p:nvSpPr>
          <p:cNvPr id="459" name="Google Shape;459;p32"/>
          <p:cNvSpPr txBox="1"/>
          <p:nvPr/>
        </p:nvSpPr>
        <p:spPr>
          <a:xfrm>
            <a:off x="194138" y="5982571"/>
            <a:ext cx="9600758" cy="4000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1E4E79"/>
                </a:solidFill>
                <a:latin typeface="Calibri"/>
                <a:ea typeface="Calibri"/>
                <a:cs typeface="Calibri"/>
                <a:sym typeface="Calibri"/>
              </a:rPr>
              <a:t>Aset gambar bisa diunduh melalui tautan https://s.id/bimtekkkasmp2025</a:t>
            </a:r>
            <a:endParaRPr sz="2000" b="0" i="0" u="none" strike="noStrike" cap="none">
              <a:solidFill>
                <a:srgbClr val="1E4E79"/>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33"/>
          <p:cNvSpPr txBox="1"/>
          <p:nvPr/>
        </p:nvSpPr>
        <p:spPr>
          <a:xfrm>
            <a:off x="544282" y="155084"/>
            <a:ext cx="11393718" cy="624786"/>
          </a:xfrm>
          <a:prstGeom prst="rect">
            <a:avLst/>
          </a:prstGeom>
          <a:noFill/>
          <a:ln>
            <a:noFill/>
          </a:ln>
        </p:spPr>
        <p:txBody>
          <a:bodyPr spcFirstLastPara="1" wrap="square" lIns="0" tIns="0" rIns="0" bIns="0" anchor="t" anchorCtr="0">
            <a:spAutoFit/>
          </a:bodyPr>
          <a:lstStyle/>
          <a:p>
            <a:pPr marL="0" marR="0" lvl="0" indent="0" algn="l" rtl="0">
              <a:lnSpc>
                <a:spcPct val="233291"/>
              </a:lnSpc>
              <a:spcBef>
                <a:spcPts val="0"/>
              </a:spcBef>
              <a:spcAft>
                <a:spcPts val="0"/>
              </a:spcAft>
              <a:buNone/>
            </a:pPr>
            <a:r>
              <a:rPr lang="en-US" sz="2400" b="1" i="0" u="none" strike="noStrike" cap="none">
                <a:solidFill>
                  <a:srgbClr val="2E75B5"/>
                </a:solidFill>
                <a:latin typeface="Poppins"/>
                <a:ea typeface="Poppins"/>
                <a:cs typeface="Poppins"/>
                <a:sym typeface="Poppins"/>
              </a:rPr>
              <a:t>Teknik dalam Pembuatan Deepfake</a:t>
            </a:r>
            <a:endParaRPr/>
          </a:p>
        </p:txBody>
      </p:sp>
      <p:sp>
        <p:nvSpPr>
          <p:cNvPr id="465" name="Google Shape;465;p33"/>
          <p:cNvSpPr txBox="1"/>
          <p:nvPr/>
        </p:nvSpPr>
        <p:spPr>
          <a:xfrm>
            <a:off x="319313" y="975028"/>
            <a:ext cx="8142516" cy="5078313"/>
          </a:xfrm>
          <a:prstGeom prst="rect">
            <a:avLst/>
          </a:prstGeom>
          <a:noFill/>
          <a:ln>
            <a:noFill/>
          </a:ln>
        </p:spPr>
        <p:txBody>
          <a:bodyPr spcFirstLastPara="1" wrap="square" lIns="0" tIns="0" rIns="0" bIns="0" anchor="t" anchorCtr="0">
            <a:spAutoFit/>
          </a:bodyPr>
          <a:lstStyle/>
          <a:p>
            <a:pPr marL="647700" marR="0" lvl="1" indent="-323850" algn="just" rtl="0">
              <a:lnSpc>
                <a:spcPct val="100000"/>
              </a:lnSpc>
              <a:spcBef>
                <a:spcPts val="0"/>
              </a:spcBef>
              <a:spcAft>
                <a:spcPts val="0"/>
              </a:spcAft>
              <a:buClr>
                <a:srgbClr val="000000"/>
              </a:buClr>
              <a:buSzPts val="2200"/>
              <a:buFont typeface="Arial"/>
              <a:buChar char="•"/>
            </a:pPr>
            <a:r>
              <a:rPr lang="en-US" sz="2200" b="1" i="0" u="none" strike="noStrike" cap="none">
                <a:solidFill>
                  <a:srgbClr val="1E4E79"/>
                </a:solidFill>
                <a:latin typeface="Poppins"/>
                <a:ea typeface="Poppins"/>
                <a:cs typeface="Poppins"/>
                <a:sym typeface="Poppins"/>
              </a:rPr>
              <a:t>Teknik Lip Syncing </a:t>
            </a:r>
            <a:r>
              <a:rPr lang="en-US" sz="2200" b="0" i="0" u="none" strike="noStrike" cap="none">
                <a:solidFill>
                  <a:srgbClr val="1E4E79"/>
                </a:solidFill>
                <a:latin typeface="Poppins"/>
                <a:ea typeface="Poppins"/>
                <a:cs typeface="Poppins"/>
                <a:sym typeface="Poppins"/>
              </a:rPr>
              <a:t>: Teknik ini melibatkan sinkronisasi gerakan bibir, mulut, wajah, atau bahkan tubuh subjek dalam foto atau video seseorang dengan suara orang lain atau dengan trek audio tertentu.</a:t>
            </a:r>
            <a:endParaRPr/>
          </a:p>
          <a:p>
            <a:pPr marL="647700" marR="0" lvl="1" indent="-323850" algn="just" rtl="0">
              <a:lnSpc>
                <a:spcPct val="100000"/>
              </a:lnSpc>
              <a:spcBef>
                <a:spcPts val="0"/>
              </a:spcBef>
              <a:spcAft>
                <a:spcPts val="0"/>
              </a:spcAft>
              <a:buClr>
                <a:srgbClr val="000000"/>
              </a:buClr>
              <a:buSzPts val="2200"/>
              <a:buFont typeface="Arial"/>
              <a:buChar char="•"/>
            </a:pPr>
            <a:r>
              <a:rPr lang="en-US" sz="2200" b="1" i="0" u="none" strike="noStrike" cap="none">
                <a:solidFill>
                  <a:srgbClr val="1E4E79"/>
                </a:solidFill>
                <a:latin typeface="Poppins"/>
                <a:ea typeface="Poppins"/>
                <a:cs typeface="Poppins"/>
                <a:sym typeface="Poppins"/>
              </a:rPr>
              <a:t>Puppet Master </a:t>
            </a:r>
            <a:r>
              <a:rPr lang="en-US" sz="2200" b="0" i="0" u="none" strike="noStrike" cap="none">
                <a:solidFill>
                  <a:srgbClr val="1E4E79"/>
                </a:solidFill>
                <a:latin typeface="Poppins"/>
                <a:ea typeface="Poppins"/>
                <a:cs typeface="Poppins"/>
                <a:sym typeface="Poppins"/>
              </a:rPr>
              <a:t>: Teknik ini melibatkan penggunaan wajah seseorang untuk mengontrol ekspresi dan gerakan wajah orang lain dalam video. Dalam teknik ini, gerakan wajah seseorang diambil dan diterapkan pada wajah orang lain.</a:t>
            </a:r>
            <a:endParaRPr/>
          </a:p>
          <a:p>
            <a:pPr marL="647700" marR="0" lvl="1" indent="-323850" algn="just" rtl="0">
              <a:lnSpc>
                <a:spcPct val="100000"/>
              </a:lnSpc>
              <a:spcBef>
                <a:spcPts val="0"/>
              </a:spcBef>
              <a:spcAft>
                <a:spcPts val="0"/>
              </a:spcAft>
              <a:buClr>
                <a:srgbClr val="000000"/>
              </a:buClr>
              <a:buSzPts val="2200"/>
              <a:buFont typeface="Arial"/>
              <a:buChar char="•"/>
            </a:pPr>
            <a:r>
              <a:rPr lang="en-US" sz="2200" b="1" i="0" u="none" strike="noStrike" cap="none">
                <a:solidFill>
                  <a:srgbClr val="1E4E79"/>
                </a:solidFill>
                <a:latin typeface="Poppins"/>
                <a:ea typeface="Poppins"/>
                <a:cs typeface="Poppins"/>
                <a:sym typeface="Poppins"/>
              </a:rPr>
              <a:t>Voice Cloning </a:t>
            </a:r>
            <a:r>
              <a:rPr lang="en-US" sz="2200" b="0" i="0" u="none" strike="noStrike" cap="none">
                <a:solidFill>
                  <a:srgbClr val="1E4E79"/>
                </a:solidFill>
                <a:latin typeface="Poppins"/>
                <a:ea typeface="Poppins"/>
                <a:cs typeface="Poppins"/>
                <a:sym typeface="Poppins"/>
              </a:rPr>
              <a:t>: Selain manipulasi video, teknologi deepfake juga dapat digunakan untuk meniru suara seseorang. Dengan menggunakan data suara dari individu, model deep learning dapat menghasilkan rekaman audio yang terdengar sangat mirip dengan suara asli individu tersebut.</a:t>
            </a:r>
            <a:endParaRPr/>
          </a:p>
        </p:txBody>
      </p:sp>
      <p:sp>
        <p:nvSpPr>
          <p:cNvPr id="466" name="Google Shape;466;p33"/>
          <p:cNvSpPr/>
          <p:nvPr/>
        </p:nvSpPr>
        <p:spPr>
          <a:xfrm>
            <a:off x="8790139" y="1814784"/>
            <a:ext cx="3200183" cy="3228432"/>
          </a:xfrm>
          <a:custGeom>
            <a:avLst/>
            <a:gdLst/>
            <a:ahLst/>
            <a:cxnLst/>
            <a:rect l="l" t="t" r="r" b="b"/>
            <a:pathLst>
              <a:path w="3200183" h="3228432" extrusionOk="0">
                <a:moveTo>
                  <a:pt x="0" y="0"/>
                </a:moveTo>
                <a:lnTo>
                  <a:pt x="3200183" y="0"/>
                </a:lnTo>
                <a:lnTo>
                  <a:pt x="3200183" y="3228433"/>
                </a:lnTo>
                <a:lnTo>
                  <a:pt x="0" y="3228433"/>
                </a:lnTo>
                <a:lnTo>
                  <a:pt x="0" y="0"/>
                </a:lnTo>
                <a:close/>
              </a:path>
            </a:pathLst>
          </a:custGeom>
          <a:blipFill rotWithShape="1">
            <a:blip r:embed="rId3">
              <a:alphaModFix/>
            </a:blip>
            <a:stretch>
              <a:fillRect/>
            </a:stretch>
          </a:blipFill>
          <a:ln>
            <a:noFill/>
          </a:ln>
        </p:spPr>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34"/>
          <p:cNvSpPr txBox="1"/>
          <p:nvPr/>
        </p:nvSpPr>
        <p:spPr>
          <a:xfrm>
            <a:off x="544282" y="155084"/>
            <a:ext cx="11393718" cy="624786"/>
          </a:xfrm>
          <a:prstGeom prst="rect">
            <a:avLst/>
          </a:prstGeom>
          <a:noFill/>
          <a:ln>
            <a:noFill/>
          </a:ln>
        </p:spPr>
        <p:txBody>
          <a:bodyPr spcFirstLastPara="1" wrap="square" lIns="0" tIns="0" rIns="0" bIns="0" anchor="t" anchorCtr="0">
            <a:spAutoFit/>
          </a:bodyPr>
          <a:lstStyle/>
          <a:p>
            <a:pPr marL="0" marR="0" lvl="0" indent="0" algn="l" rtl="0">
              <a:lnSpc>
                <a:spcPct val="233291"/>
              </a:lnSpc>
              <a:spcBef>
                <a:spcPts val="0"/>
              </a:spcBef>
              <a:spcAft>
                <a:spcPts val="0"/>
              </a:spcAft>
              <a:buNone/>
            </a:pPr>
            <a:r>
              <a:rPr lang="en-US" sz="2400" b="1" i="0" u="none" strike="noStrike" cap="none">
                <a:solidFill>
                  <a:srgbClr val="2E75B5"/>
                </a:solidFill>
                <a:latin typeface="Poppins"/>
                <a:ea typeface="Poppins"/>
                <a:cs typeface="Poppins"/>
                <a:sym typeface="Poppins"/>
              </a:rPr>
              <a:t>Cara mendeteksi deepfake secara manual</a:t>
            </a:r>
            <a:endParaRPr/>
          </a:p>
        </p:txBody>
      </p:sp>
      <p:sp>
        <p:nvSpPr>
          <p:cNvPr id="472" name="Google Shape;472;p34"/>
          <p:cNvSpPr txBox="1"/>
          <p:nvPr/>
        </p:nvSpPr>
        <p:spPr>
          <a:xfrm>
            <a:off x="319313" y="975028"/>
            <a:ext cx="11393718" cy="4801314"/>
          </a:xfrm>
          <a:prstGeom prst="rect">
            <a:avLst/>
          </a:prstGeom>
          <a:noFill/>
          <a:ln>
            <a:noFill/>
          </a:ln>
        </p:spPr>
        <p:txBody>
          <a:bodyPr spcFirstLastPara="1" wrap="square" lIns="0" tIns="0" rIns="0" bIns="0" anchor="t" anchorCtr="0">
            <a:spAutoFit/>
          </a:bodyPr>
          <a:lstStyle/>
          <a:p>
            <a:pPr marL="647700" marR="0" lvl="1" indent="-323850" algn="just" rtl="0">
              <a:lnSpc>
                <a:spcPct val="100000"/>
              </a:lnSpc>
              <a:spcBef>
                <a:spcPts val="0"/>
              </a:spcBef>
              <a:spcAft>
                <a:spcPts val="0"/>
              </a:spcAft>
              <a:buClr>
                <a:srgbClr val="000000"/>
              </a:buClr>
              <a:buSzPts val="2400"/>
              <a:buFont typeface="Arial"/>
              <a:buChar char="•"/>
            </a:pPr>
            <a:r>
              <a:rPr lang="en-US" sz="2400" b="1" i="0" u="none" strike="noStrike" cap="none">
                <a:solidFill>
                  <a:srgbClr val="1E4E79"/>
                </a:solidFill>
                <a:latin typeface="Calibri"/>
                <a:ea typeface="Calibri"/>
                <a:cs typeface="Calibri"/>
                <a:sym typeface="Calibri"/>
              </a:rPr>
              <a:t>Perhatikan Wajah </a:t>
            </a:r>
            <a:r>
              <a:rPr lang="en-US" sz="2400" b="0" i="0" u="none" strike="noStrike" cap="none">
                <a:solidFill>
                  <a:srgbClr val="1E4E79"/>
                </a:solidFill>
                <a:latin typeface="Calibri"/>
                <a:ea typeface="Calibri"/>
                <a:cs typeface="Calibri"/>
                <a:sym typeface="Calibri"/>
              </a:rPr>
              <a:t>: Amati perubahan yang mencolok pada wajah orang dalam konten tersebut.</a:t>
            </a:r>
            <a:endParaRPr/>
          </a:p>
          <a:p>
            <a:pPr marL="647700" marR="0" lvl="1" indent="-323850" algn="just" rtl="0">
              <a:lnSpc>
                <a:spcPct val="100000"/>
              </a:lnSpc>
              <a:spcBef>
                <a:spcPts val="0"/>
              </a:spcBef>
              <a:spcAft>
                <a:spcPts val="0"/>
              </a:spcAft>
              <a:buClr>
                <a:srgbClr val="000000"/>
              </a:buClr>
              <a:buSzPts val="2400"/>
              <a:buFont typeface="Arial"/>
              <a:buChar char="•"/>
            </a:pPr>
            <a:r>
              <a:rPr lang="en-US" sz="2400" b="1" i="0" u="none" strike="noStrike" cap="none">
                <a:solidFill>
                  <a:srgbClr val="1E4E79"/>
                </a:solidFill>
                <a:latin typeface="Calibri"/>
                <a:ea typeface="Calibri"/>
                <a:cs typeface="Calibri"/>
                <a:sym typeface="Calibri"/>
              </a:rPr>
              <a:t>Analisis Bagian Pipi dan Dahi </a:t>
            </a:r>
            <a:r>
              <a:rPr lang="en-US" sz="2400" b="0" i="0" u="none" strike="noStrike" cap="none">
                <a:solidFill>
                  <a:srgbClr val="1E4E79"/>
                </a:solidFill>
                <a:latin typeface="Calibri"/>
                <a:ea typeface="Calibri"/>
                <a:cs typeface="Calibri"/>
                <a:sym typeface="Calibri"/>
              </a:rPr>
              <a:t>: Apakah kulit terlihat terlalu halus atau terlalu keriput? Perhatikan apakah usia kulit sesuai dengan usia rambut dan mata. </a:t>
            </a:r>
            <a:endParaRPr/>
          </a:p>
          <a:p>
            <a:pPr marL="647700" marR="0" lvl="1" indent="-323850" algn="just" rtl="0">
              <a:lnSpc>
                <a:spcPct val="100000"/>
              </a:lnSpc>
              <a:spcBef>
                <a:spcPts val="0"/>
              </a:spcBef>
              <a:spcAft>
                <a:spcPts val="0"/>
              </a:spcAft>
              <a:buClr>
                <a:srgbClr val="000000"/>
              </a:buClr>
              <a:buSzPts val="2400"/>
              <a:buFont typeface="Arial"/>
              <a:buChar char="•"/>
            </a:pPr>
            <a:r>
              <a:rPr lang="en-US" sz="2400" b="1" i="0" u="none" strike="noStrike" cap="none">
                <a:solidFill>
                  <a:srgbClr val="1E4E79"/>
                </a:solidFill>
                <a:latin typeface="Calibri"/>
                <a:ea typeface="Calibri"/>
                <a:cs typeface="Calibri"/>
                <a:sym typeface="Calibri"/>
              </a:rPr>
              <a:t>Observasi Kacamata </a:t>
            </a:r>
            <a:r>
              <a:rPr lang="en-US" sz="2400" b="0" i="0" u="none" strike="noStrike" cap="none">
                <a:solidFill>
                  <a:srgbClr val="1E4E79"/>
                </a:solidFill>
                <a:latin typeface="Calibri"/>
                <a:ea typeface="Calibri"/>
                <a:cs typeface="Calibri"/>
                <a:sym typeface="Calibri"/>
              </a:rPr>
              <a:t>: Apakah ada silau yang tidak konsisten atau terlalu banyak silau? Amati apakah sudut silau berubah saat orang tersebut bergerak. </a:t>
            </a:r>
            <a:endParaRPr/>
          </a:p>
          <a:p>
            <a:pPr marL="647700" marR="0" lvl="1" indent="-323850" algn="just" rtl="0">
              <a:lnSpc>
                <a:spcPct val="100000"/>
              </a:lnSpc>
              <a:spcBef>
                <a:spcPts val="0"/>
              </a:spcBef>
              <a:spcAft>
                <a:spcPts val="0"/>
              </a:spcAft>
              <a:buClr>
                <a:srgbClr val="000000"/>
              </a:buClr>
              <a:buSzPts val="2400"/>
              <a:buFont typeface="Arial"/>
              <a:buChar char="•"/>
            </a:pPr>
            <a:r>
              <a:rPr lang="en-US" sz="2400" b="1" i="0" u="none" strike="noStrike" cap="none">
                <a:solidFill>
                  <a:srgbClr val="1E4E79"/>
                </a:solidFill>
                <a:latin typeface="Calibri"/>
                <a:ea typeface="Calibri"/>
                <a:cs typeface="Calibri"/>
                <a:sym typeface="Calibri"/>
              </a:rPr>
              <a:t>Analisis Rambut di Wajah </a:t>
            </a:r>
            <a:r>
              <a:rPr lang="en-US" sz="2400" b="0" i="0" u="none" strike="noStrike" cap="none">
                <a:solidFill>
                  <a:srgbClr val="1E4E79"/>
                </a:solidFill>
                <a:latin typeface="Calibri"/>
                <a:ea typeface="Calibri"/>
                <a:cs typeface="Calibri"/>
                <a:sym typeface="Calibri"/>
              </a:rPr>
              <a:t>: Perhatikan apakah rambut wajah terlihat nyata. </a:t>
            </a:r>
            <a:endParaRPr/>
          </a:p>
          <a:p>
            <a:pPr marL="647700" marR="0" lvl="1" indent="-323850" algn="just" rtl="0">
              <a:lnSpc>
                <a:spcPct val="100000"/>
              </a:lnSpc>
              <a:spcBef>
                <a:spcPts val="0"/>
              </a:spcBef>
              <a:spcAft>
                <a:spcPts val="0"/>
              </a:spcAft>
              <a:buClr>
                <a:srgbClr val="000000"/>
              </a:buClr>
              <a:buSzPts val="2400"/>
              <a:buFont typeface="Arial"/>
              <a:buChar char="•"/>
            </a:pPr>
            <a:r>
              <a:rPr lang="en-US" sz="2400" b="1" i="0" u="none" strike="noStrike" cap="none">
                <a:solidFill>
                  <a:srgbClr val="1E4E79"/>
                </a:solidFill>
                <a:latin typeface="Calibri"/>
                <a:ea typeface="Calibri"/>
                <a:cs typeface="Calibri"/>
                <a:sym typeface="Calibri"/>
              </a:rPr>
              <a:t>Amati Tahi Lalat di Wajah </a:t>
            </a:r>
            <a:r>
              <a:rPr lang="en-US" sz="2400" b="0" i="0" u="none" strike="noStrike" cap="none">
                <a:solidFill>
                  <a:srgbClr val="1E4E79"/>
                </a:solidFill>
                <a:latin typeface="Calibri"/>
                <a:ea typeface="Calibri"/>
                <a:cs typeface="Calibri"/>
                <a:sym typeface="Calibri"/>
              </a:rPr>
              <a:t>: Keaslian tahi lalat pada wajah juga perlu diperhatikan sebagai tanda deepfake.</a:t>
            </a:r>
            <a:endParaRPr/>
          </a:p>
          <a:p>
            <a:pPr marL="647700" marR="0" lvl="1" indent="-323850" algn="just" rtl="0">
              <a:lnSpc>
                <a:spcPct val="100000"/>
              </a:lnSpc>
              <a:spcBef>
                <a:spcPts val="0"/>
              </a:spcBef>
              <a:spcAft>
                <a:spcPts val="0"/>
              </a:spcAft>
              <a:buClr>
                <a:srgbClr val="000000"/>
              </a:buClr>
              <a:buSzPts val="2400"/>
              <a:buFont typeface="Arial"/>
              <a:buChar char="•"/>
            </a:pPr>
            <a:r>
              <a:rPr lang="en-US" sz="2400" b="1" i="0" u="none" strike="noStrike" cap="none">
                <a:solidFill>
                  <a:srgbClr val="1E4E79"/>
                </a:solidFill>
                <a:latin typeface="Calibri"/>
                <a:ea typeface="Calibri"/>
                <a:cs typeface="Calibri"/>
                <a:sym typeface="Calibri"/>
              </a:rPr>
              <a:t>Perhatikan Kedipan </a:t>
            </a:r>
            <a:r>
              <a:rPr lang="en-US" sz="2400" b="0" i="0" u="none" strike="noStrike" cap="none">
                <a:solidFill>
                  <a:srgbClr val="1E4E79"/>
                </a:solidFill>
                <a:latin typeface="Calibri"/>
                <a:ea typeface="Calibri"/>
                <a:cs typeface="Calibri"/>
                <a:sym typeface="Calibri"/>
              </a:rPr>
              <a:t>: Apakah frekuensi kedipan terlihat normal? </a:t>
            </a:r>
            <a:endParaRPr/>
          </a:p>
          <a:p>
            <a:pPr marL="647700" marR="0" lvl="1" indent="-323850" algn="just" rtl="0">
              <a:lnSpc>
                <a:spcPct val="100000"/>
              </a:lnSpc>
              <a:spcBef>
                <a:spcPts val="0"/>
              </a:spcBef>
              <a:spcAft>
                <a:spcPts val="0"/>
              </a:spcAft>
              <a:buClr>
                <a:srgbClr val="000000"/>
              </a:buClr>
              <a:buSzPts val="2400"/>
              <a:buFont typeface="Arial"/>
              <a:buChar char="•"/>
            </a:pPr>
            <a:r>
              <a:rPr lang="en-US" sz="2400" b="1" i="0" u="none" strike="noStrike" cap="none">
                <a:solidFill>
                  <a:srgbClr val="1E4E79"/>
                </a:solidFill>
                <a:latin typeface="Calibri"/>
                <a:ea typeface="Calibri"/>
                <a:cs typeface="Calibri"/>
                <a:sym typeface="Calibri"/>
              </a:rPr>
              <a:t>Analisis Ukuran dan Warna Bibir </a:t>
            </a:r>
            <a:r>
              <a:rPr lang="en-US" sz="2400" b="0" i="0" u="none" strike="noStrike" cap="none">
                <a:solidFill>
                  <a:srgbClr val="1E4E79"/>
                </a:solidFill>
                <a:latin typeface="Calibri"/>
                <a:ea typeface="Calibri"/>
                <a:cs typeface="Calibri"/>
                <a:sym typeface="Calibri"/>
              </a:rPr>
              <a:t>: Apakah ukuran dan warna bibir sesuai dengan bagian lain wajah? </a:t>
            </a:r>
            <a:endParaRPr/>
          </a:p>
          <a:p>
            <a:pPr marL="647700" marR="0" lvl="1" indent="-323850" algn="just" rtl="0">
              <a:lnSpc>
                <a:spcPct val="100000"/>
              </a:lnSpc>
              <a:spcBef>
                <a:spcPts val="0"/>
              </a:spcBef>
              <a:spcAft>
                <a:spcPts val="0"/>
              </a:spcAft>
              <a:buClr>
                <a:srgbClr val="000000"/>
              </a:buClr>
              <a:buSzPts val="2400"/>
              <a:buFont typeface="Arial"/>
              <a:buChar char="•"/>
            </a:pPr>
            <a:r>
              <a:rPr lang="en-US" sz="2400" b="1" i="0" u="none" strike="noStrike" cap="none">
                <a:solidFill>
                  <a:srgbClr val="1E4E79"/>
                </a:solidFill>
                <a:latin typeface="Calibri"/>
                <a:ea typeface="Calibri"/>
                <a:cs typeface="Calibri"/>
                <a:sym typeface="Calibri"/>
              </a:rPr>
              <a:t>Analisis jari tangan </a:t>
            </a:r>
            <a:r>
              <a:rPr lang="en-US" sz="2400" b="0" i="0" u="none" strike="noStrike" cap="none">
                <a:solidFill>
                  <a:srgbClr val="1E4E79"/>
                </a:solidFill>
                <a:latin typeface="Calibri"/>
                <a:ea typeface="Calibri"/>
                <a:cs typeface="Calibri"/>
                <a:sym typeface="Calibri"/>
              </a:rPr>
              <a:t>: Perhatikan bentuk, jumlah jari, Apakah terlihat tidak wajar?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pic>
        <p:nvPicPr>
          <p:cNvPr id="477" name="Google Shape;477;p35"/>
          <p:cNvPicPr preferRelativeResize="0"/>
          <p:nvPr/>
        </p:nvPicPr>
        <p:blipFill rotWithShape="1">
          <a:blip r:embed="rId3">
            <a:alphaModFix/>
          </a:blip>
          <a:srcRect/>
          <a:stretch/>
        </p:blipFill>
        <p:spPr>
          <a:xfrm>
            <a:off x="3911600" y="1026846"/>
            <a:ext cx="7961086" cy="4804308"/>
          </a:xfrm>
          <a:prstGeom prst="rect">
            <a:avLst/>
          </a:prstGeom>
          <a:noFill/>
          <a:ln>
            <a:noFill/>
          </a:ln>
        </p:spPr>
      </p:pic>
      <p:sp>
        <p:nvSpPr>
          <p:cNvPr id="478" name="Google Shape;478;p35"/>
          <p:cNvSpPr txBox="1"/>
          <p:nvPr/>
        </p:nvSpPr>
        <p:spPr>
          <a:xfrm>
            <a:off x="544282" y="155084"/>
            <a:ext cx="11393718" cy="624786"/>
          </a:xfrm>
          <a:prstGeom prst="rect">
            <a:avLst/>
          </a:prstGeom>
          <a:noFill/>
          <a:ln>
            <a:noFill/>
          </a:ln>
        </p:spPr>
        <p:txBody>
          <a:bodyPr spcFirstLastPara="1" wrap="square" lIns="0" tIns="0" rIns="0" bIns="0" anchor="t" anchorCtr="0">
            <a:spAutoFit/>
          </a:bodyPr>
          <a:lstStyle/>
          <a:p>
            <a:pPr marL="0" marR="0" lvl="0" indent="0" algn="l" rtl="0">
              <a:lnSpc>
                <a:spcPct val="233291"/>
              </a:lnSpc>
              <a:spcBef>
                <a:spcPts val="0"/>
              </a:spcBef>
              <a:spcAft>
                <a:spcPts val="0"/>
              </a:spcAft>
              <a:buNone/>
            </a:pPr>
            <a:r>
              <a:rPr lang="en-US" sz="2400" b="1" i="0" u="none" strike="noStrike" cap="none">
                <a:solidFill>
                  <a:srgbClr val="2E75B5"/>
                </a:solidFill>
                <a:latin typeface="Poppins"/>
                <a:ea typeface="Poppins"/>
                <a:cs typeface="Poppins"/>
                <a:sym typeface="Poppins"/>
              </a:rPr>
              <a:t>Contoh Aktivitas Menganalisis konten Deepfake</a:t>
            </a:r>
            <a:endParaRPr/>
          </a:p>
        </p:txBody>
      </p:sp>
      <p:sp>
        <p:nvSpPr>
          <p:cNvPr id="479" name="Google Shape;479;p35"/>
          <p:cNvSpPr txBox="1"/>
          <p:nvPr/>
        </p:nvSpPr>
        <p:spPr>
          <a:xfrm>
            <a:off x="319314" y="2304657"/>
            <a:ext cx="3113316" cy="1354217"/>
          </a:xfrm>
          <a:prstGeom prst="rect">
            <a:avLst/>
          </a:prstGeom>
          <a:noFill/>
          <a:ln>
            <a:noFill/>
          </a:ln>
        </p:spPr>
        <p:txBody>
          <a:bodyPr spcFirstLastPara="1" wrap="square" lIns="0" tIns="0" rIns="0" bIns="0" anchor="t" anchorCtr="0">
            <a:spAutoFit/>
          </a:bodyPr>
          <a:lstStyle/>
          <a:p>
            <a:pPr marL="647700" marR="0" lvl="1" indent="-323850" algn="just" rtl="0">
              <a:lnSpc>
                <a:spcPct val="100000"/>
              </a:lnSpc>
              <a:spcBef>
                <a:spcPts val="0"/>
              </a:spcBef>
              <a:spcAft>
                <a:spcPts val="0"/>
              </a:spcAft>
              <a:buClr>
                <a:srgbClr val="000000"/>
              </a:buClr>
              <a:buSzPts val="2200"/>
              <a:buFont typeface="Arial"/>
              <a:buChar char="•"/>
            </a:pPr>
            <a:r>
              <a:rPr lang="en-US" sz="2200" b="0" i="0" u="none" strike="noStrike" cap="none">
                <a:solidFill>
                  <a:srgbClr val="1E4E79"/>
                </a:solidFill>
                <a:latin typeface="Calibri"/>
                <a:ea typeface="Calibri"/>
                <a:cs typeface="Calibri"/>
                <a:sym typeface="Calibri"/>
              </a:rPr>
              <a:t>Mari kita analisa, apakah gambar tersebut asli atau palsu?</a:t>
            </a:r>
            <a:endParaRPr/>
          </a:p>
        </p:txBody>
      </p:sp>
      <p:sp>
        <p:nvSpPr>
          <p:cNvPr id="480" name="Google Shape;480;p35"/>
          <p:cNvSpPr txBox="1"/>
          <p:nvPr/>
        </p:nvSpPr>
        <p:spPr>
          <a:xfrm>
            <a:off x="3741057" y="5973414"/>
            <a:ext cx="8080829" cy="408445"/>
          </a:xfrm>
          <a:prstGeom prst="rect">
            <a:avLst/>
          </a:prstGeom>
          <a:noFill/>
          <a:ln>
            <a:noFill/>
          </a:ln>
        </p:spPr>
        <p:txBody>
          <a:bodyPr spcFirstLastPara="1" wrap="square" lIns="0" tIns="0" rIns="0" bIns="0" anchor="t" anchorCtr="0">
            <a:spAutoFit/>
          </a:bodyPr>
          <a:lstStyle/>
          <a:p>
            <a:pPr marL="0" marR="0" lvl="0" indent="0" algn="l" rtl="0">
              <a:lnSpc>
                <a:spcPct val="175950"/>
              </a:lnSpc>
              <a:spcBef>
                <a:spcPts val="0"/>
              </a:spcBef>
              <a:spcAft>
                <a:spcPts val="0"/>
              </a:spcAft>
              <a:buNone/>
            </a:pPr>
            <a:r>
              <a:rPr lang="en-US" sz="2000" b="0" i="0" u="none" strike="noStrike" cap="none">
                <a:solidFill>
                  <a:schemeClr val="dk1"/>
                </a:solidFill>
                <a:latin typeface="Poppins"/>
                <a:ea typeface="Poppins"/>
                <a:cs typeface="Poppins"/>
                <a:sym typeface="Poppins"/>
              </a:rPr>
              <a:t>sumber gambar : </a:t>
            </a:r>
            <a:r>
              <a:rPr lang="en-US" sz="2000" b="0" i="0" u="sng" strike="noStrike" cap="none">
                <a:solidFill>
                  <a:schemeClr val="dk1"/>
                </a:solidFill>
                <a:latin typeface="Poppins"/>
                <a:ea typeface="Poppins"/>
                <a:cs typeface="Poppins"/>
                <a:sym typeface="Poppins"/>
                <a:hlinkClick r:id="rId4">
                  <a:extLst>
                    <a:ext uri="{A12FA001-AC4F-418D-AE19-62706E023703}">
                      <ahyp:hlinkClr xmlns:ahyp="http://schemas.microsoft.com/office/drawing/2018/hyperlinkcolor" val="tx"/>
                    </a:ext>
                  </a:extLst>
                </a:hlinkClick>
              </a:rPr>
              <a:t>https://detectfakes.kellogg.northwestern.edu</a:t>
            </a:r>
            <a:endParaRPr/>
          </a:p>
        </p:txBody>
      </p:sp>
      <p:sp>
        <p:nvSpPr>
          <p:cNvPr id="481" name="Google Shape;481;p35"/>
          <p:cNvSpPr txBox="1"/>
          <p:nvPr/>
        </p:nvSpPr>
        <p:spPr>
          <a:xfrm>
            <a:off x="197364" y="4486410"/>
            <a:ext cx="3235266" cy="144650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rgbClr val="1E4E79"/>
                </a:solidFill>
                <a:latin typeface="Calibri"/>
                <a:ea typeface="Calibri"/>
                <a:cs typeface="Calibri"/>
                <a:sym typeface="Calibri"/>
              </a:rPr>
              <a:t>Aset gambar bisa diunduh melalui tautan https://s.id/bimtekkkasmp2025</a:t>
            </a:r>
            <a:endParaRPr sz="2200" b="0" i="0" u="none" strike="noStrike" cap="none">
              <a:solidFill>
                <a:srgbClr val="1E4E79"/>
              </a:solidFill>
              <a:latin typeface="Calibri"/>
              <a:ea typeface="Calibri"/>
              <a:cs typeface="Calibri"/>
              <a:sym typeface="Calibri"/>
            </a:endParaRPr>
          </a:p>
        </p:txBody>
      </p:sp>
      <p:sp>
        <p:nvSpPr>
          <p:cNvPr id="482" name="Google Shape;482;p35"/>
          <p:cNvSpPr txBox="1"/>
          <p:nvPr/>
        </p:nvSpPr>
        <p:spPr>
          <a:xfrm>
            <a:off x="544282" y="1464126"/>
            <a:ext cx="3113316" cy="76940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rgbClr val="1E4E79"/>
                </a:solidFill>
                <a:latin typeface="Calibri"/>
                <a:ea typeface="Calibri"/>
                <a:cs typeface="Calibri"/>
                <a:sym typeface="Calibri"/>
              </a:rPr>
              <a:t>Perhatikan gambar disamping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pic>
        <p:nvPicPr>
          <p:cNvPr id="487" name="Google Shape;487;p36"/>
          <p:cNvPicPr preferRelativeResize="0"/>
          <p:nvPr/>
        </p:nvPicPr>
        <p:blipFill rotWithShape="1">
          <a:blip r:embed="rId3">
            <a:alphaModFix/>
          </a:blip>
          <a:srcRect/>
          <a:stretch/>
        </p:blipFill>
        <p:spPr>
          <a:xfrm>
            <a:off x="123336" y="478635"/>
            <a:ext cx="8650550" cy="5413829"/>
          </a:xfrm>
          <a:prstGeom prst="rect">
            <a:avLst/>
          </a:prstGeom>
          <a:noFill/>
          <a:ln>
            <a:noFill/>
          </a:ln>
        </p:spPr>
      </p:pic>
      <p:sp>
        <p:nvSpPr>
          <p:cNvPr id="488" name="Google Shape;488;p36"/>
          <p:cNvSpPr txBox="1"/>
          <p:nvPr/>
        </p:nvSpPr>
        <p:spPr>
          <a:xfrm>
            <a:off x="8563427" y="881842"/>
            <a:ext cx="3468916" cy="5232202"/>
          </a:xfrm>
          <a:prstGeom prst="rect">
            <a:avLst/>
          </a:prstGeom>
          <a:noFill/>
          <a:ln>
            <a:noFill/>
          </a:ln>
        </p:spPr>
        <p:txBody>
          <a:bodyPr spcFirstLastPara="1" wrap="square" lIns="0" tIns="0" rIns="0" bIns="0" anchor="t" anchorCtr="0">
            <a:spAutoFit/>
          </a:bodyPr>
          <a:lstStyle/>
          <a:p>
            <a:pPr marL="647700" marR="0" lvl="1" indent="-323850" algn="l" rtl="0">
              <a:lnSpc>
                <a:spcPct val="100000"/>
              </a:lnSpc>
              <a:spcBef>
                <a:spcPts val="0"/>
              </a:spcBef>
              <a:spcAft>
                <a:spcPts val="0"/>
              </a:spcAft>
              <a:buClr>
                <a:srgbClr val="000000"/>
              </a:buClr>
              <a:buSzPts val="2000"/>
              <a:buFont typeface="Arial"/>
              <a:buChar char="•"/>
            </a:pPr>
            <a:r>
              <a:rPr lang="en-US" sz="2000" b="0" i="0" u="none" strike="noStrike" cap="none">
                <a:solidFill>
                  <a:srgbClr val="1E4E79"/>
                </a:solidFill>
                <a:latin typeface="Poppins"/>
                <a:ea typeface="Poppins"/>
                <a:cs typeface="Poppins"/>
                <a:sym typeface="Poppins"/>
              </a:rPr>
              <a:t>No. 1 s.d. 4 : jari tangan terlihat tidak realistis, baik dari segi bentuk, jumlah, dan cara memegang.</a:t>
            </a:r>
            <a:endParaRPr/>
          </a:p>
          <a:p>
            <a:pPr marL="647700" marR="0" lvl="1" indent="-323850" algn="l" rtl="0">
              <a:lnSpc>
                <a:spcPct val="100000"/>
              </a:lnSpc>
              <a:spcBef>
                <a:spcPts val="0"/>
              </a:spcBef>
              <a:spcAft>
                <a:spcPts val="0"/>
              </a:spcAft>
              <a:buClr>
                <a:srgbClr val="000000"/>
              </a:buClr>
              <a:buSzPts val="2000"/>
              <a:buFont typeface="Arial"/>
              <a:buChar char="•"/>
            </a:pPr>
            <a:r>
              <a:rPr lang="en-US" sz="2000" b="0" i="0" u="none" strike="noStrike" cap="none">
                <a:solidFill>
                  <a:srgbClr val="1E4E79"/>
                </a:solidFill>
                <a:latin typeface="Poppins"/>
                <a:ea typeface="Poppins"/>
                <a:cs typeface="Poppins"/>
                <a:sym typeface="Poppins"/>
              </a:rPr>
              <a:t>No. 5 s.d 8 : Pasangan sepatu jika dilihat secara seksama, bentuknya tidak sama dan cenderung kurang beraturan, dan untuk no. 6 sepatu anak terlihat menyatu dengan sepatu orang dibelakangnya.</a:t>
            </a:r>
            <a:endParaRPr/>
          </a:p>
          <a:p>
            <a:pPr marL="647700" marR="0" lvl="1" indent="-323850" algn="l" rtl="0">
              <a:lnSpc>
                <a:spcPct val="100000"/>
              </a:lnSpc>
              <a:spcBef>
                <a:spcPts val="0"/>
              </a:spcBef>
              <a:spcAft>
                <a:spcPts val="0"/>
              </a:spcAft>
              <a:buClr>
                <a:srgbClr val="000000"/>
              </a:buClr>
              <a:buSzPts val="2000"/>
              <a:buFont typeface="Arial"/>
              <a:buChar char="•"/>
            </a:pPr>
            <a:r>
              <a:rPr lang="en-US" sz="2000" b="0" i="0" u="none" strike="noStrike" cap="none">
                <a:solidFill>
                  <a:srgbClr val="1E4E79"/>
                </a:solidFill>
                <a:latin typeface="Poppins"/>
                <a:ea typeface="Poppins"/>
                <a:cs typeface="Poppins"/>
                <a:sym typeface="Poppins"/>
              </a:rPr>
              <a:t>dsb.</a:t>
            </a:r>
            <a:endParaRPr/>
          </a:p>
        </p:txBody>
      </p:sp>
      <p:sp>
        <p:nvSpPr>
          <p:cNvPr id="489" name="Google Shape;489;p36"/>
          <p:cNvSpPr txBox="1"/>
          <p:nvPr/>
        </p:nvSpPr>
        <p:spPr>
          <a:xfrm>
            <a:off x="544282" y="-135199"/>
            <a:ext cx="11393718" cy="624786"/>
          </a:xfrm>
          <a:prstGeom prst="rect">
            <a:avLst/>
          </a:prstGeom>
          <a:noFill/>
          <a:ln>
            <a:noFill/>
          </a:ln>
        </p:spPr>
        <p:txBody>
          <a:bodyPr spcFirstLastPara="1" wrap="square" lIns="0" tIns="0" rIns="0" bIns="0" anchor="t" anchorCtr="0">
            <a:spAutoFit/>
          </a:bodyPr>
          <a:lstStyle/>
          <a:p>
            <a:pPr marL="0" marR="0" lvl="0" indent="0" algn="l" rtl="0">
              <a:lnSpc>
                <a:spcPct val="233291"/>
              </a:lnSpc>
              <a:spcBef>
                <a:spcPts val="0"/>
              </a:spcBef>
              <a:spcAft>
                <a:spcPts val="0"/>
              </a:spcAft>
              <a:buNone/>
            </a:pPr>
            <a:r>
              <a:rPr lang="en-US" sz="2400" b="1" i="0" u="none" strike="noStrike" cap="none">
                <a:solidFill>
                  <a:srgbClr val="2E75B5"/>
                </a:solidFill>
                <a:latin typeface="Poppins"/>
                <a:ea typeface="Poppins"/>
                <a:cs typeface="Poppins"/>
                <a:sym typeface="Poppins"/>
              </a:rPr>
              <a:t>Contoh Aktivitas Menganalisis konten Deepfake</a:t>
            </a:r>
            <a:endParaRPr/>
          </a:p>
        </p:txBody>
      </p:sp>
      <p:sp>
        <p:nvSpPr>
          <p:cNvPr id="490" name="Google Shape;490;p36"/>
          <p:cNvSpPr txBox="1"/>
          <p:nvPr/>
        </p:nvSpPr>
        <p:spPr>
          <a:xfrm>
            <a:off x="544282" y="5892464"/>
            <a:ext cx="8229604" cy="55399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chemeClr val="dk1"/>
                </a:solidFill>
                <a:highlight>
                  <a:srgbClr val="C0C0C0"/>
                </a:highlight>
                <a:latin typeface="Calibri"/>
                <a:ea typeface="Calibri"/>
                <a:cs typeface="Calibri"/>
                <a:sym typeface="Calibri"/>
              </a:rPr>
              <a:t>Setelah dilakukan pengamatan visual, banyak kejanggalan dan konten tersebut bisa dipastikan palsu</a:t>
            </a:r>
            <a:endParaRPr/>
          </a:p>
        </p:txBody>
      </p:sp>
      <p:sp>
        <p:nvSpPr>
          <p:cNvPr id="491" name="Google Shape;491;p36"/>
          <p:cNvSpPr txBox="1"/>
          <p:nvPr/>
        </p:nvSpPr>
        <p:spPr>
          <a:xfrm>
            <a:off x="8853711" y="517296"/>
            <a:ext cx="2772232" cy="27699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chemeClr val="dk1"/>
                </a:solidFill>
                <a:highlight>
                  <a:srgbClr val="C0C0C0"/>
                </a:highlight>
                <a:latin typeface="Poppins"/>
                <a:ea typeface="Poppins"/>
                <a:cs typeface="Poppins"/>
                <a:sym typeface="Poppins"/>
              </a:rPr>
              <a:t>Catatan hasil analisis: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37"/>
          <p:cNvSpPr txBox="1"/>
          <p:nvPr/>
        </p:nvSpPr>
        <p:spPr>
          <a:xfrm>
            <a:off x="544282" y="-135199"/>
            <a:ext cx="11393718" cy="624786"/>
          </a:xfrm>
          <a:prstGeom prst="rect">
            <a:avLst/>
          </a:prstGeom>
          <a:noFill/>
          <a:ln>
            <a:noFill/>
          </a:ln>
        </p:spPr>
        <p:txBody>
          <a:bodyPr spcFirstLastPara="1" wrap="square" lIns="0" tIns="0" rIns="0" bIns="0" anchor="t" anchorCtr="0">
            <a:spAutoFit/>
          </a:bodyPr>
          <a:lstStyle/>
          <a:p>
            <a:pPr marL="0" marR="0" lvl="0" indent="0" algn="l" rtl="0">
              <a:lnSpc>
                <a:spcPct val="233291"/>
              </a:lnSpc>
              <a:spcBef>
                <a:spcPts val="0"/>
              </a:spcBef>
              <a:spcAft>
                <a:spcPts val="0"/>
              </a:spcAft>
              <a:buNone/>
            </a:pPr>
            <a:r>
              <a:rPr lang="en-US" sz="2400" b="1" i="0" u="none" strike="noStrike" cap="none">
                <a:solidFill>
                  <a:srgbClr val="2E75B5"/>
                </a:solidFill>
                <a:latin typeface="Poppins"/>
                <a:ea typeface="Poppins"/>
                <a:cs typeface="Poppins"/>
                <a:sym typeface="Poppins"/>
              </a:rPr>
              <a:t>Contoh Aktivitas Menganalisis konten Deepfake</a:t>
            </a:r>
            <a:endParaRPr/>
          </a:p>
        </p:txBody>
      </p:sp>
      <p:sp>
        <p:nvSpPr>
          <p:cNvPr id="497" name="Google Shape;497;p37"/>
          <p:cNvSpPr txBox="1"/>
          <p:nvPr/>
        </p:nvSpPr>
        <p:spPr>
          <a:xfrm>
            <a:off x="9100458" y="1499771"/>
            <a:ext cx="2772232" cy="369331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400" b="0" i="0" u="none" strike="noStrike" cap="none">
                <a:solidFill>
                  <a:srgbClr val="1E4E79"/>
                </a:solidFill>
                <a:latin typeface="Poppins"/>
                <a:ea typeface="Poppins"/>
                <a:cs typeface="Poppins"/>
                <a:sym typeface="Poppins"/>
              </a:rPr>
              <a:t>Setelah diuji dengan  software pendeteksi deepfake (Hive Moderation), hasilnya “99.5%” yang berarti  menandakan konten tersebut palsu/fake.</a:t>
            </a:r>
            <a:endParaRPr/>
          </a:p>
        </p:txBody>
      </p:sp>
      <p:sp>
        <p:nvSpPr>
          <p:cNvPr id="498" name="Google Shape;498;p37"/>
          <p:cNvSpPr/>
          <p:nvPr/>
        </p:nvSpPr>
        <p:spPr>
          <a:xfrm>
            <a:off x="544282" y="578819"/>
            <a:ext cx="8360232" cy="5535225"/>
          </a:xfrm>
          <a:custGeom>
            <a:avLst/>
            <a:gdLst/>
            <a:ahLst/>
            <a:cxnLst/>
            <a:rect l="l" t="t" r="r" b="b"/>
            <a:pathLst>
              <a:path w="11077651" h="7747560" extrusionOk="0">
                <a:moveTo>
                  <a:pt x="0" y="0"/>
                </a:moveTo>
                <a:lnTo>
                  <a:pt x="11077651" y="0"/>
                </a:lnTo>
                <a:lnTo>
                  <a:pt x="11077651" y="7747559"/>
                </a:lnTo>
                <a:lnTo>
                  <a:pt x="0" y="7747559"/>
                </a:lnTo>
                <a:lnTo>
                  <a:pt x="0" y="0"/>
                </a:lnTo>
                <a:close/>
              </a:path>
            </a:pathLst>
          </a:custGeom>
          <a:blipFill rotWithShape="1">
            <a:blip r:embed="rId3">
              <a:alphaModFix/>
            </a:blip>
            <a:stretch>
              <a:fillRect/>
            </a:stretch>
          </a:blipFill>
          <a:ln>
            <a:noFill/>
          </a:ln>
        </p:spPr>
      </p:sp>
      <p:sp>
        <p:nvSpPr>
          <p:cNvPr id="499" name="Google Shape;499;p37"/>
          <p:cNvSpPr txBox="1"/>
          <p:nvPr/>
        </p:nvSpPr>
        <p:spPr>
          <a:xfrm>
            <a:off x="544282" y="5892464"/>
            <a:ext cx="8229604" cy="55399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highlight>
                  <a:srgbClr val="C0C0C0"/>
                </a:highlight>
                <a:latin typeface="Poppins"/>
                <a:ea typeface="Poppins"/>
                <a:cs typeface="Poppins"/>
                <a:sym typeface="Poppins"/>
              </a:rPr>
              <a:t>sumber : </a:t>
            </a:r>
            <a:endParaRPr/>
          </a:p>
          <a:p>
            <a:pPr marL="0" marR="0" lvl="0" indent="0" algn="l" rtl="0">
              <a:lnSpc>
                <a:spcPct val="100000"/>
              </a:lnSpc>
              <a:spcBef>
                <a:spcPts val="0"/>
              </a:spcBef>
              <a:spcAft>
                <a:spcPts val="0"/>
              </a:spcAft>
              <a:buNone/>
            </a:pPr>
            <a:r>
              <a:rPr lang="en-US" sz="1800" b="0" i="0" u="none" strike="noStrike" cap="none">
                <a:solidFill>
                  <a:schemeClr val="dk1"/>
                </a:solidFill>
                <a:highlight>
                  <a:srgbClr val="C0C0C0"/>
                </a:highlight>
                <a:latin typeface="Poppins"/>
                <a:ea typeface="Poppins"/>
                <a:cs typeface="Poppins"/>
                <a:sym typeface="Poppins"/>
              </a:rPr>
              <a:t>https://hivemoderation.com/ai-generated-content-detection</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38"/>
          <p:cNvSpPr txBox="1"/>
          <p:nvPr/>
        </p:nvSpPr>
        <p:spPr>
          <a:xfrm>
            <a:off x="544282" y="-135199"/>
            <a:ext cx="11393718" cy="624786"/>
          </a:xfrm>
          <a:prstGeom prst="rect">
            <a:avLst/>
          </a:prstGeom>
          <a:noFill/>
          <a:ln>
            <a:noFill/>
          </a:ln>
        </p:spPr>
        <p:txBody>
          <a:bodyPr spcFirstLastPara="1" wrap="square" lIns="0" tIns="0" rIns="0" bIns="0" anchor="t" anchorCtr="0">
            <a:spAutoFit/>
          </a:bodyPr>
          <a:lstStyle/>
          <a:p>
            <a:pPr marL="0" marR="0" lvl="0" indent="0" algn="l" rtl="0">
              <a:lnSpc>
                <a:spcPct val="233291"/>
              </a:lnSpc>
              <a:spcBef>
                <a:spcPts val="0"/>
              </a:spcBef>
              <a:spcAft>
                <a:spcPts val="0"/>
              </a:spcAft>
              <a:buNone/>
            </a:pPr>
            <a:r>
              <a:rPr lang="en-US" sz="2400" b="1" i="0" u="none" strike="noStrike" cap="none">
                <a:solidFill>
                  <a:srgbClr val="2E75B5"/>
                </a:solidFill>
                <a:latin typeface="Poppins"/>
                <a:ea typeface="Poppins"/>
                <a:cs typeface="Poppins"/>
                <a:sym typeface="Poppins"/>
              </a:rPr>
              <a:t>Contoh Aktivitas Menganalisis konten Deepfake</a:t>
            </a:r>
            <a:endParaRPr/>
          </a:p>
        </p:txBody>
      </p:sp>
      <p:sp>
        <p:nvSpPr>
          <p:cNvPr id="505" name="Google Shape;505;p38"/>
          <p:cNvSpPr txBox="1"/>
          <p:nvPr/>
        </p:nvSpPr>
        <p:spPr>
          <a:xfrm>
            <a:off x="9100458" y="1499771"/>
            <a:ext cx="2772232" cy="332398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400" b="0" i="0" u="none" strike="noStrike" cap="none">
                <a:solidFill>
                  <a:srgbClr val="1E4E79"/>
                </a:solidFill>
                <a:latin typeface="Poppins"/>
                <a:ea typeface="Poppins"/>
                <a:cs typeface="Poppins"/>
                <a:sym typeface="Poppins"/>
              </a:rPr>
              <a:t>Setelah diuji dengan  software pendeteksi deepfake (Is It AI), hasilnya “</a:t>
            </a:r>
            <a:r>
              <a:rPr lang="en-US" sz="2400" b="0" i="1" u="none" strike="noStrike" cap="none">
                <a:solidFill>
                  <a:srgbClr val="1E4E79"/>
                </a:solidFill>
                <a:latin typeface="Poppins"/>
                <a:ea typeface="Poppins"/>
                <a:cs typeface="Poppins"/>
                <a:sym typeface="Poppins"/>
              </a:rPr>
              <a:t>AI Generated</a:t>
            </a:r>
            <a:r>
              <a:rPr lang="en-US" sz="2400" b="0" i="0" u="none" strike="noStrike" cap="none">
                <a:solidFill>
                  <a:srgbClr val="1E4E79"/>
                </a:solidFill>
                <a:latin typeface="Poppins"/>
                <a:ea typeface="Poppins"/>
                <a:cs typeface="Poppins"/>
                <a:sym typeface="Poppins"/>
              </a:rPr>
              <a:t>”.  Menandakan konten tersebut palsu/fake.</a:t>
            </a:r>
            <a:endParaRPr/>
          </a:p>
        </p:txBody>
      </p:sp>
      <p:sp>
        <p:nvSpPr>
          <p:cNvPr id="506" name="Google Shape;506;p38"/>
          <p:cNvSpPr txBox="1"/>
          <p:nvPr/>
        </p:nvSpPr>
        <p:spPr>
          <a:xfrm>
            <a:off x="544282" y="5892464"/>
            <a:ext cx="8229604" cy="55399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0" i="0" u="none" strike="noStrike" cap="none">
                <a:solidFill>
                  <a:schemeClr val="dk1"/>
                </a:solidFill>
                <a:highlight>
                  <a:srgbClr val="C0C0C0"/>
                </a:highlight>
                <a:latin typeface="Poppins"/>
                <a:ea typeface="Poppins"/>
                <a:cs typeface="Poppins"/>
                <a:sym typeface="Poppins"/>
              </a:rPr>
              <a:t>sumber : </a:t>
            </a:r>
            <a:endParaRPr/>
          </a:p>
          <a:p>
            <a:pPr marL="0" marR="0" lvl="0" indent="0" algn="l" rtl="0">
              <a:lnSpc>
                <a:spcPct val="100000"/>
              </a:lnSpc>
              <a:spcBef>
                <a:spcPts val="0"/>
              </a:spcBef>
              <a:spcAft>
                <a:spcPts val="0"/>
              </a:spcAft>
              <a:buNone/>
            </a:pPr>
            <a:r>
              <a:rPr lang="en-US" sz="1800" b="0" i="0" u="none" strike="noStrike" cap="none">
                <a:solidFill>
                  <a:schemeClr val="dk1"/>
                </a:solidFill>
                <a:highlight>
                  <a:srgbClr val="C0C0C0"/>
                </a:highlight>
                <a:latin typeface="Poppins"/>
                <a:ea typeface="Poppins"/>
                <a:cs typeface="Poppins"/>
                <a:sym typeface="Poppins"/>
              </a:rPr>
              <a:t>https://isitai.com/ai-image-detector</a:t>
            </a:r>
            <a:endParaRPr/>
          </a:p>
        </p:txBody>
      </p:sp>
      <p:sp>
        <p:nvSpPr>
          <p:cNvPr id="507" name="Google Shape;507;p38"/>
          <p:cNvSpPr/>
          <p:nvPr/>
        </p:nvSpPr>
        <p:spPr>
          <a:xfrm>
            <a:off x="544283" y="621102"/>
            <a:ext cx="8396518" cy="5097528"/>
          </a:xfrm>
          <a:custGeom>
            <a:avLst/>
            <a:gdLst/>
            <a:ahLst/>
            <a:cxnLst/>
            <a:rect l="l" t="t" r="r" b="b"/>
            <a:pathLst>
              <a:path w="12081669" h="7715247" extrusionOk="0">
                <a:moveTo>
                  <a:pt x="0" y="0"/>
                </a:moveTo>
                <a:lnTo>
                  <a:pt x="12081669" y="0"/>
                </a:lnTo>
                <a:lnTo>
                  <a:pt x="12081669" y="7715247"/>
                </a:lnTo>
                <a:lnTo>
                  <a:pt x="0" y="7715247"/>
                </a:lnTo>
                <a:lnTo>
                  <a:pt x="0" y="0"/>
                </a:lnTo>
                <a:close/>
              </a:path>
            </a:pathLst>
          </a:custGeom>
          <a:blipFill rotWithShape="1">
            <a:blip r:embed="rId3">
              <a:alphaModFix/>
            </a:blip>
            <a:stretch>
              <a:fillRect/>
            </a:stretch>
          </a:blipFill>
          <a:ln>
            <a:noFill/>
          </a:ln>
        </p:spPr>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3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E75B5"/>
              </a:buClr>
              <a:buSzPts val="4400"/>
              <a:buFont typeface="Calibri"/>
              <a:buNone/>
            </a:pPr>
            <a:r>
              <a:rPr lang="en-US"/>
              <a:t>Aktivitas 2</a:t>
            </a:r>
            <a:endParaRPr/>
          </a:p>
        </p:txBody>
      </p:sp>
      <p:sp>
        <p:nvSpPr>
          <p:cNvPr id="513" name="Google Shape;513;p39"/>
          <p:cNvSpPr txBox="1"/>
          <p:nvPr/>
        </p:nvSpPr>
        <p:spPr>
          <a:xfrm>
            <a:off x="990600" y="2090510"/>
            <a:ext cx="5719561" cy="39702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1E4E79"/>
                </a:solidFill>
                <a:latin typeface="Calibri"/>
                <a:ea typeface="Calibri"/>
                <a:cs typeface="Calibri"/>
                <a:sym typeface="Calibri"/>
              </a:rPr>
              <a:t>Perhatikan gambar disamping !</a:t>
            </a:r>
            <a:endParaRPr sz="2800" b="0" i="0" u="none" strike="noStrike" cap="none">
              <a:solidFill>
                <a:srgbClr val="1E4E79"/>
              </a:solidFill>
              <a:latin typeface="Calibri"/>
              <a:ea typeface="Calibri"/>
              <a:cs typeface="Calibri"/>
              <a:sym typeface="Calibri"/>
            </a:endParaRPr>
          </a:p>
          <a:p>
            <a:pPr marL="457200" marR="0" lvl="0" indent="-457200" algn="l" rtl="0">
              <a:lnSpc>
                <a:spcPct val="100000"/>
              </a:lnSpc>
              <a:spcBef>
                <a:spcPts val="0"/>
              </a:spcBef>
              <a:spcAft>
                <a:spcPts val="0"/>
              </a:spcAft>
              <a:buClr>
                <a:srgbClr val="000000"/>
              </a:buClr>
              <a:buSzPts val="2800"/>
              <a:buFont typeface="Arial"/>
              <a:buAutoNum type="alphaLcPeriod"/>
            </a:pPr>
            <a:r>
              <a:rPr lang="en-US" sz="2800" b="0" i="0" u="none" strike="noStrike" cap="none">
                <a:solidFill>
                  <a:srgbClr val="1E4E79"/>
                </a:solidFill>
                <a:latin typeface="Calibri"/>
                <a:ea typeface="Calibri"/>
                <a:cs typeface="Calibri"/>
                <a:sym typeface="Calibri"/>
              </a:rPr>
              <a:t>Analisalah gambar secara manual dengan pengamatan visual.</a:t>
            </a:r>
            <a:endParaRPr/>
          </a:p>
          <a:p>
            <a:pPr marL="457200" marR="0" lvl="0" indent="-457200" algn="l" rtl="0">
              <a:lnSpc>
                <a:spcPct val="100000"/>
              </a:lnSpc>
              <a:spcBef>
                <a:spcPts val="0"/>
              </a:spcBef>
              <a:spcAft>
                <a:spcPts val="0"/>
              </a:spcAft>
              <a:buClr>
                <a:srgbClr val="000000"/>
              </a:buClr>
              <a:buSzPts val="2800"/>
              <a:buFont typeface="Arial"/>
              <a:buAutoNum type="alphaLcPeriod"/>
            </a:pPr>
            <a:r>
              <a:rPr lang="en-US" sz="2800" b="0" i="0" u="none" strike="noStrike" cap="none">
                <a:solidFill>
                  <a:srgbClr val="1E4E79"/>
                </a:solidFill>
                <a:latin typeface="Calibri"/>
                <a:ea typeface="Calibri"/>
                <a:cs typeface="Calibri"/>
                <a:sym typeface="Calibri"/>
              </a:rPr>
              <a:t>Analisalah gambar menggunakan dua aplikasi pendeteksi deepfake (misalnya </a:t>
            </a:r>
            <a:r>
              <a:rPr lang="en-US" sz="2800" b="0" i="0" u="sng" strike="noStrike" cap="none">
                <a:solidFill>
                  <a:srgbClr val="1E4E79"/>
                </a:solidFill>
                <a:latin typeface="Calibri"/>
                <a:ea typeface="Calibri"/>
                <a:cs typeface="Calibri"/>
                <a:sym typeface="Calibri"/>
              </a:rPr>
              <a:t>Hive Moderation </a:t>
            </a:r>
            <a:r>
              <a:rPr lang="en-US" sz="2800" b="0" i="0" u="none" strike="noStrike" cap="none">
                <a:solidFill>
                  <a:srgbClr val="1E4E79"/>
                </a:solidFill>
                <a:latin typeface="Calibri"/>
                <a:ea typeface="Calibri"/>
                <a:cs typeface="Calibri"/>
                <a:sym typeface="Calibri"/>
              </a:rPr>
              <a:t>dan </a:t>
            </a:r>
            <a:r>
              <a:rPr lang="en-US" sz="2800" b="0" i="0" u="sng" strike="noStrike" cap="none">
                <a:solidFill>
                  <a:srgbClr val="1E4E79"/>
                </a:solidFill>
                <a:latin typeface="Calibri"/>
                <a:ea typeface="Calibri"/>
                <a:cs typeface="Calibri"/>
                <a:sym typeface="Calibri"/>
              </a:rPr>
              <a:t>is it ai</a:t>
            </a:r>
            <a:r>
              <a:rPr lang="en-US" sz="2800" b="0" i="0" u="none" strike="noStrike" cap="none">
                <a:solidFill>
                  <a:srgbClr val="1E4E79"/>
                </a:solidFill>
                <a:latin typeface="Calibri"/>
                <a:ea typeface="Calibri"/>
                <a:cs typeface="Calibri"/>
                <a:sym typeface="Calibri"/>
              </a:rPr>
              <a:t>).</a:t>
            </a:r>
            <a:endParaRPr/>
          </a:p>
          <a:p>
            <a:pPr marL="457200" marR="0" lvl="0" indent="-457200" algn="l" rtl="0">
              <a:lnSpc>
                <a:spcPct val="100000"/>
              </a:lnSpc>
              <a:spcBef>
                <a:spcPts val="0"/>
              </a:spcBef>
              <a:spcAft>
                <a:spcPts val="0"/>
              </a:spcAft>
              <a:buClr>
                <a:srgbClr val="000000"/>
              </a:buClr>
              <a:buSzPts val="2800"/>
              <a:buFont typeface="Arial"/>
              <a:buAutoNum type="alphaLcPeriod"/>
            </a:pPr>
            <a:r>
              <a:rPr lang="en-US" sz="2800" b="0" i="0" u="none" strike="noStrike" cap="none">
                <a:solidFill>
                  <a:srgbClr val="1E4E79"/>
                </a:solidFill>
                <a:latin typeface="Calibri"/>
                <a:ea typeface="Calibri"/>
                <a:cs typeface="Calibri"/>
                <a:sym typeface="Calibri"/>
              </a:rPr>
              <a:t>Buatlah Kesimpulan dari hasil analisa yang sudah dilakukan.</a:t>
            </a:r>
            <a:endParaRPr sz="2800" b="0" i="0" u="none" strike="noStrike" cap="none">
              <a:solidFill>
                <a:srgbClr val="1E4E79"/>
              </a:solidFill>
              <a:latin typeface="Calibri"/>
              <a:ea typeface="Calibri"/>
              <a:cs typeface="Calibri"/>
              <a:sym typeface="Calibri"/>
            </a:endParaRPr>
          </a:p>
        </p:txBody>
      </p:sp>
      <p:pic>
        <p:nvPicPr>
          <p:cNvPr id="514" name="Google Shape;514;p39" descr="Group brainstorm with solid fill"/>
          <p:cNvPicPr preferRelativeResize="0"/>
          <p:nvPr/>
        </p:nvPicPr>
        <p:blipFill rotWithShape="1">
          <a:blip r:embed="rId3">
            <a:alphaModFix/>
          </a:blip>
          <a:srcRect/>
          <a:stretch/>
        </p:blipFill>
        <p:spPr>
          <a:xfrm>
            <a:off x="9961565" y="282477"/>
            <a:ext cx="1386840" cy="1386840"/>
          </a:xfrm>
          <a:prstGeom prst="rect">
            <a:avLst/>
          </a:prstGeom>
          <a:noFill/>
          <a:ln>
            <a:noFill/>
          </a:ln>
        </p:spPr>
      </p:pic>
      <p:sp>
        <p:nvSpPr>
          <p:cNvPr id="515" name="Google Shape;515;p39"/>
          <p:cNvSpPr txBox="1"/>
          <p:nvPr/>
        </p:nvSpPr>
        <p:spPr>
          <a:xfrm>
            <a:off x="7048106" y="5966868"/>
            <a:ext cx="4729795" cy="76940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rgbClr val="1E4E79"/>
                </a:solidFill>
                <a:latin typeface="Calibri"/>
                <a:ea typeface="Calibri"/>
                <a:cs typeface="Calibri"/>
                <a:sym typeface="Calibri"/>
              </a:rPr>
              <a:t>Aset gambar bisa diunduh melalui tautan https://s.id/bimtekkkasmp2025</a:t>
            </a:r>
            <a:endParaRPr sz="2200" b="0" i="0" u="none" strike="noStrike" cap="none">
              <a:solidFill>
                <a:srgbClr val="1E4E79"/>
              </a:solidFill>
              <a:latin typeface="Calibri"/>
              <a:ea typeface="Calibri"/>
              <a:cs typeface="Calibri"/>
              <a:sym typeface="Calibri"/>
            </a:endParaRPr>
          </a:p>
        </p:txBody>
      </p:sp>
      <p:sp>
        <p:nvSpPr>
          <p:cNvPr id="516" name="Google Shape;516;p39"/>
          <p:cNvSpPr txBox="1"/>
          <p:nvPr/>
        </p:nvSpPr>
        <p:spPr>
          <a:xfrm>
            <a:off x="1524000" y="1037278"/>
            <a:ext cx="10791469" cy="624786"/>
          </a:xfrm>
          <a:prstGeom prst="rect">
            <a:avLst/>
          </a:prstGeom>
          <a:noFill/>
          <a:ln>
            <a:noFill/>
          </a:ln>
        </p:spPr>
        <p:txBody>
          <a:bodyPr spcFirstLastPara="1" wrap="square" lIns="0" tIns="0" rIns="0" bIns="0" anchor="t" anchorCtr="0">
            <a:spAutoFit/>
          </a:bodyPr>
          <a:lstStyle/>
          <a:p>
            <a:pPr marL="0" marR="0" lvl="0" indent="0" algn="l" rtl="0">
              <a:lnSpc>
                <a:spcPct val="233291"/>
              </a:lnSpc>
              <a:spcBef>
                <a:spcPts val="0"/>
              </a:spcBef>
              <a:spcAft>
                <a:spcPts val="0"/>
              </a:spcAft>
              <a:buNone/>
            </a:pPr>
            <a:r>
              <a:rPr lang="en-US" sz="2400" b="1" i="0" u="none" strike="noStrike" cap="none">
                <a:solidFill>
                  <a:srgbClr val="2E75B5"/>
                </a:solidFill>
                <a:latin typeface="Poppins"/>
                <a:ea typeface="Poppins"/>
                <a:cs typeface="Poppins"/>
                <a:sym typeface="Poppins"/>
              </a:rPr>
              <a:t>Menganalisis Konten Deepfake</a:t>
            </a:r>
            <a:endParaRPr/>
          </a:p>
        </p:txBody>
      </p:sp>
      <p:pic>
        <p:nvPicPr>
          <p:cNvPr id="517" name="Google Shape;517;p39"/>
          <p:cNvPicPr preferRelativeResize="0"/>
          <p:nvPr/>
        </p:nvPicPr>
        <p:blipFill rotWithShape="1">
          <a:blip r:embed="rId4">
            <a:alphaModFix/>
          </a:blip>
          <a:srcRect/>
          <a:stretch/>
        </p:blipFill>
        <p:spPr>
          <a:xfrm>
            <a:off x="7139657" y="1782709"/>
            <a:ext cx="4208748" cy="4184159"/>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E75B5"/>
              </a:buClr>
              <a:buSzPts val="4400"/>
              <a:buFont typeface="Calibri"/>
              <a:buNone/>
            </a:pPr>
            <a:r>
              <a:rPr lang="en-US"/>
              <a:t>Refleksi Aktivitas 2</a:t>
            </a:r>
            <a:endParaRPr/>
          </a:p>
        </p:txBody>
      </p:sp>
      <p:sp>
        <p:nvSpPr>
          <p:cNvPr id="523" name="Google Shape;523;p40"/>
          <p:cNvSpPr txBox="1"/>
          <p:nvPr/>
        </p:nvSpPr>
        <p:spPr>
          <a:xfrm>
            <a:off x="3450776" y="2334217"/>
            <a:ext cx="8030028" cy="3816389"/>
          </a:xfrm>
          <a:prstGeom prst="rect">
            <a:avLst/>
          </a:prstGeom>
          <a:noFill/>
          <a:ln>
            <a:noFill/>
          </a:ln>
        </p:spPr>
        <p:txBody>
          <a:bodyPr spcFirstLastPara="1" wrap="square" lIns="91425" tIns="45700" rIns="91425" bIns="45700" anchor="t" anchorCtr="0">
            <a:spAutoFit/>
          </a:bodyPr>
          <a:lstStyle/>
          <a:p>
            <a:pPr marL="457200" marR="0" lvl="0" indent="-457200" algn="l" rtl="0">
              <a:lnSpc>
                <a:spcPct val="100000"/>
              </a:lnSpc>
              <a:spcBef>
                <a:spcPts val="0"/>
              </a:spcBef>
              <a:spcAft>
                <a:spcPts val="0"/>
              </a:spcAft>
              <a:buClr>
                <a:srgbClr val="000000"/>
              </a:buClr>
              <a:buSzPts val="2200"/>
              <a:buFont typeface="Arial"/>
              <a:buAutoNum type="alphaLcPeriod"/>
            </a:pPr>
            <a:r>
              <a:rPr lang="en-US" sz="2200" b="0" i="0" u="none" strike="noStrike" cap="none">
                <a:solidFill>
                  <a:srgbClr val="1E4E79"/>
                </a:solidFill>
                <a:latin typeface="Calibri"/>
                <a:ea typeface="Calibri"/>
                <a:cs typeface="Calibri"/>
                <a:sym typeface="Calibri"/>
              </a:rPr>
              <a:t>Bagaimana pengalaman Bapak/Ibu saat menganalisis sebuah gambar untuk menentukan apakah gambar tersebut asli atau buatan KA? </a:t>
            </a:r>
            <a:endParaRPr/>
          </a:p>
          <a:p>
            <a:pPr marL="457200" marR="0" lvl="0" indent="-457200" algn="l" rtl="0">
              <a:lnSpc>
                <a:spcPct val="100000"/>
              </a:lnSpc>
              <a:spcBef>
                <a:spcPts val="0"/>
              </a:spcBef>
              <a:spcAft>
                <a:spcPts val="0"/>
              </a:spcAft>
              <a:buClr>
                <a:srgbClr val="000000"/>
              </a:buClr>
              <a:buSzPts val="2200"/>
              <a:buFont typeface="Arial"/>
              <a:buAutoNum type="alphaLcPeriod"/>
            </a:pPr>
            <a:r>
              <a:rPr lang="en-US" sz="2200" b="0" i="0" u="none" strike="noStrike" cap="none">
                <a:solidFill>
                  <a:srgbClr val="1E4E79"/>
                </a:solidFill>
                <a:latin typeface="Calibri"/>
                <a:ea typeface="Calibri"/>
                <a:cs typeface="Calibri"/>
                <a:sym typeface="Calibri"/>
              </a:rPr>
              <a:t>Apa saja indikator visual yang Bapak/Ibu perhatikan dalam pengujian manual? Dan bagaimana hasil analisis setelah menggunakan dua aplikasi pendeteksi deepfake (misalnya Hive Moderation dan is it ai)? </a:t>
            </a:r>
            <a:endParaRPr/>
          </a:p>
          <a:p>
            <a:pPr marL="457200" marR="0" lvl="0" indent="-457200" algn="l" rtl="0">
              <a:lnSpc>
                <a:spcPct val="100000"/>
              </a:lnSpc>
              <a:spcBef>
                <a:spcPts val="0"/>
              </a:spcBef>
              <a:spcAft>
                <a:spcPts val="0"/>
              </a:spcAft>
              <a:buClr>
                <a:srgbClr val="000000"/>
              </a:buClr>
              <a:buSzPts val="2200"/>
              <a:buFont typeface="Arial"/>
              <a:buAutoNum type="alphaLcPeriod"/>
            </a:pPr>
            <a:r>
              <a:rPr lang="en-US" sz="2200" b="0" i="0" u="none" strike="noStrike" cap="none">
                <a:solidFill>
                  <a:srgbClr val="1E4E79"/>
                </a:solidFill>
                <a:latin typeface="Calibri"/>
                <a:ea typeface="Calibri"/>
                <a:cs typeface="Calibri"/>
                <a:sym typeface="Calibri"/>
              </a:rPr>
              <a:t>Jika Bapak/Ibu diberi kesempatan untuk mengembangkan aktivitas ini lebih lanjut, ide atau pendekatan apa yang ingin Bapak/Ibu tambahkan untuk memperkuat kemampuan deteksi konten digital palsu di lingkungan pembelajaran?</a:t>
            </a:r>
            <a:endParaRPr/>
          </a:p>
        </p:txBody>
      </p:sp>
      <p:pic>
        <p:nvPicPr>
          <p:cNvPr id="524" name="Google Shape;524;p40" descr="Group brainstorm with solid fill"/>
          <p:cNvPicPr preferRelativeResize="0"/>
          <p:nvPr/>
        </p:nvPicPr>
        <p:blipFill rotWithShape="1">
          <a:blip r:embed="rId3">
            <a:alphaModFix/>
          </a:blip>
          <a:srcRect/>
          <a:stretch/>
        </p:blipFill>
        <p:spPr>
          <a:xfrm>
            <a:off x="9961565" y="282477"/>
            <a:ext cx="1386840" cy="1386840"/>
          </a:xfrm>
          <a:prstGeom prst="rect">
            <a:avLst/>
          </a:prstGeom>
          <a:noFill/>
          <a:ln>
            <a:noFill/>
          </a:ln>
        </p:spPr>
      </p:pic>
      <p:sp>
        <p:nvSpPr>
          <p:cNvPr id="525" name="Google Shape;525;p40"/>
          <p:cNvSpPr txBox="1"/>
          <p:nvPr/>
        </p:nvSpPr>
        <p:spPr>
          <a:xfrm>
            <a:off x="1574799" y="1037278"/>
            <a:ext cx="9773605" cy="624786"/>
          </a:xfrm>
          <a:prstGeom prst="rect">
            <a:avLst/>
          </a:prstGeom>
          <a:noFill/>
          <a:ln>
            <a:noFill/>
          </a:ln>
        </p:spPr>
        <p:txBody>
          <a:bodyPr spcFirstLastPara="1" wrap="square" lIns="0" tIns="0" rIns="0" bIns="0" anchor="t" anchorCtr="0">
            <a:spAutoFit/>
          </a:bodyPr>
          <a:lstStyle/>
          <a:p>
            <a:pPr marL="0" marR="0" lvl="0" indent="0" algn="l" rtl="0">
              <a:lnSpc>
                <a:spcPct val="233291"/>
              </a:lnSpc>
              <a:spcBef>
                <a:spcPts val="0"/>
              </a:spcBef>
              <a:spcAft>
                <a:spcPts val="0"/>
              </a:spcAft>
              <a:buNone/>
            </a:pPr>
            <a:r>
              <a:rPr lang="en-US" sz="2400" b="1" i="0" u="none" strike="noStrike" cap="none">
                <a:solidFill>
                  <a:srgbClr val="2E75B5"/>
                </a:solidFill>
                <a:latin typeface="Poppins"/>
                <a:ea typeface="Poppins"/>
                <a:cs typeface="Poppins"/>
                <a:sym typeface="Poppins"/>
              </a:rPr>
              <a:t>Menganalisis Konten Deepfake</a:t>
            </a:r>
            <a:endParaRPr/>
          </a:p>
        </p:txBody>
      </p:sp>
      <p:sp>
        <p:nvSpPr>
          <p:cNvPr id="526" name="Google Shape;526;p40"/>
          <p:cNvSpPr/>
          <p:nvPr/>
        </p:nvSpPr>
        <p:spPr>
          <a:xfrm>
            <a:off x="711196" y="2629657"/>
            <a:ext cx="2467432" cy="2704343"/>
          </a:xfrm>
          <a:custGeom>
            <a:avLst/>
            <a:gdLst/>
            <a:ahLst/>
            <a:cxnLst/>
            <a:rect l="l" t="t" r="r" b="b"/>
            <a:pathLst>
              <a:path w="1309886" h="1389799" extrusionOk="0">
                <a:moveTo>
                  <a:pt x="0" y="0"/>
                </a:moveTo>
                <a:lnTo>
                  <a:pt x="1309886" y="0"/>
                </a:lnTo>
                <a:lnTo>
                  <a:pt x="1309886" y="1389800"/>
                </a:lnTo>
                <a:lnTo>
                  <a:pt x="0" y="1389800"/>
                </a:lnTo>
                <a:lnTo>
                  <a:pt x="0" y="0"/>
                </a:lnTo>
                <a:close/>
              </a:path>
            </a:pathLst>
          </a:custGeom>
          <a:blipFill rotWithShape="1">
            <a:blip r:embed="rId4">
              <a:alphaModFix/>
            </a:blip>
            <a:stretch>
              <a:fillRect/>
            </a:stretch>
          </a:blipFill>
          <a:ln>
            <a:noFill/>
          </a:ln>
        </p:spPr>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4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2E75B5"/>
              </a:buClr>
              <a:buSzPts val="6000"/>
              <a:buFont typeface="Calibri"/>
              <a:buNone/>
            </a:pPr>
            <a:r>
              <a:rPr lang="en-US"/>
              <a:t>Lembar Kerja</a:t>
            </a:r>
            <a:endParaRPr/>
          </a:p>
        </p:txBody>
      </p:sp>
      <p:sp>
        <p:nvSpPr>
          <p:cNvPr id="532" name="Google Shape;532;p4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457200" lvl="0" indent="-228600" algn="l" rtl="0">
              <a:lnSpc>
                <a:spcPct val="90000"/>
              </a:lnSpc>
              <a:spcBef>
                <a:spcPts val="1000"/>
              </a:spcBef>
              <a:spcAft>
                <a:spcPts val="0"/>
              </a:spcAft>
              <a:buClr>
                <a:srgbClr val="2E75B5"/>
              </a:buClr>
              <a:buSzPts val="2400"/>
              <a:buNone/>
            </a:pPr>
            <a:r>
              <a:rPr lang="en-US"/>
              <a:t>Mengaplikasi</a:t>
            </a:r>
            <a:endParaRPr/>
          </a:p>
        </p:txBody>
      </p:sp>
      <p:sp>
        <p:nvSpPr>
          <p:cNvPr id="533" name="Google Shape;533;p41"/>
          <p:cNvSpPr/>
          <p:nvPr/>
        </p:nvSpPr>
        <p:spPr>
          <a:xfrm>
            <a:off x="7482114" y="2913575"/>
            <a:ext cx="4372947" cy="3703803"/>
          </a:xfrm>
          <a:custGeom>
            <a:avLst/>
            <a:gdLst/>
            <a:ahLst/>
            <a:cxnLst/>
            <a:rect l="l" t="t" r="r" b="b"/>
            <a:pathLst>
              <a:path w="5203119" h="4114800" extrusionOk="0">
                <a:moveTo>
                  <a:pt x="0" y="0"/>
                </a:moveTo>
                <a:lnTo>
                  <a:pt x="5203119" y="0"/>
                </a:lnTo>
                <a:lnTo>
                  <a:pt x="5203119" y="4114800"/>
                </a:lnTo>
                <a:lnTo>
                  <a:pt x="0" y="4114800"/>
                </a:lnTo>
                <a:lnTo>
                  <a:pt x="0" y="0"/>
                </a:lnTo>
                <a:close/>
              </a:path>
            </a:pathLst>
          </a:custGeom>
          <a:blipFill rotWithShape="1">
            <a:blip r:embed="rId3">
              <a:alphaModFix/>
            </a:blip>
            <a:stretch>
              <a:fillRect/>
            </a:stretch>
          </a:blipFill>
          <a:ln>
            <a:noFill/>
          </a:ln>
        </p:spPr>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4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E75B5"/>
              </a:buClr>
              <a:buSzPts val="4400"/>
              <a:buFont typeface="Calibri"/>
              <a:buNone/>
            </a:pPr>
            <a:r>
              <a:rPr lang="en-US"/>
              <a:t>LK Mengaplikasi</a:t>
            </a:r>
            <a:endParaRPr/>
          </a:p>
        </p:txBody>
      </p:sp>
      <p:sp>
        <p:nvSpPr>
          <p:cNvPr id="539" name="Google Shape;539;p42"/>
          <p:cNvSpPr txBox="1"/>
          <p:nvPr/>
        </p:nvSpPr>
        <p:spPr>
          <a:xfrm>
            <a:off x="838200" y="2091711"/>
            <a:ext cx="10610088" cy="39702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1E4E79"/>
                </a:solidFill>
                <a:latin typeface="Calibri"/>
                <a:ea typeface="Calibri"/>
                <a:cs typeface="Calibri"/>
                <a:sym typeface="Calibri"/>
              </a:rPr>
              <a:t>Instruksi:</a:t>
            </a:r>
            <a:endParaRPr/>
          </a:p>
          <a:p>
            <a:pPr marL="514350" marR="0" lvl="0" indent="-514350" algn="l" rtl="0">
              <a:lnSpc>
                <a:spcPct val="100000"/>
              </a:lnSpc>
              <a:spcBef>
                <a:spcPts val="0"/>
              </a:spcBef>
              <a:spcAft>
                <a:spcPts val="0"/>
              </a:spcAft>
              <a:buClr>
                <a:srgbClr val="000000"/>
              </a:buClr>
              <a:buSzPts val="2800"/>
              <a:buFont typeface="Arial"/>
              <a:buAutoNum type="arabicPeriod"/>
            </a:pPr>
            <a:r>
              <a:rPr lang="en-US" sz="2800" b="0" i="0" u="none" strike="noStrike" cap="none">
                <a:solidFill>
                  <a:srgbClr val="1E4E79"/>
                </a:solidFill>
                <a:latin typeface="Calibri"/>
                <a:ea typeface="Calibri"/>
                <a:cs typeface="Calibri"/>
                <a:sym typeface="Calibri"/>
              </a:rPr>
              <a:t>Bentuk kelompok per kelompok 5-6 peserta beserta tugasnya</a:t>
            </a:r>
            <a:endParaRPr sz="2800" b="0" i="0" u="none" strike="noStrike" cap="none">
              <a:solidFill>
                <a:srgbClr val="1E4E79"/>
              </a:solidFill>
              <a:latin typeface="Calibri"/>
              <a:ea typeface="Calibri"/>
              <a:cs typeface="Calibri"/>
              <a:sym typeface="Calibri"/>
            </a:endParaRPr>
          </a:p>
          <a:p>
            <a:pPr marL="514350" marR="0" lvl="0" indent="-514350" algn="l" rtl="0">
              <a:lnSpc>
                <a:spcPct val="100000"/>
              </a:lnSpc>
              <a:spcBef>
                <a:spcPts val="0"/>
              </a:spcBef>
              <a:spcAft>
                <a:spcPts val="0"/>
              </a:spcAft>
              <a:buClr>
                <a:srgbClr val="000000"/>
              </a:buClr>
              <a:buSzPts val="2800"/>
              <a:buFont typeface="Arial"/>
              <a:buAutoNum type="arabicPeriod"/>
            </a:pPr>
            <a:r>
              <a:rPr lang="en-US" sz="2800" b="0" i="0" u="none" strike="noStrike" cap="none">
                <a:solidFill>
                  <a:srgbClr val="1E4E79"/>
                </a:solidFill>
                <a:latin typeface="Calibri"/>
                <a:ea typeface="Calibri"/>
                <a:cs typeface="Calibri"/>
                <a:sym typeface="Calibri"/>
              </a:rPr>
              <a:t>Unduh file LK Mengaplikasi di LMS dan asset gambar (Gbr.3) bisa diunduh melalui tautan </a:t>
            </a:r>
            <a:r>
              <a:rPr lang="en-US" sz="2800" b="0" i="0" u="sng" strike="noStrike" cap="none">
                <a:solidFill>
                  <a:srgbClr val="1E4E79"/>
                </a:solidFill>
                <a:latin typeface="Calibri"/>
                <a:ea typeface="Calibri"/>
                <a:cs typeface="Calibri"/>
                <a:sym typeface="Calibri"/>
              </a:rPr>
              <a:t>https://s.id/bimtekkkasmp2025</a:t>
            </a:r>
            <a:endParaRPr sz="2800" b="0" i="0" u="sng" strike="noStrike" cap="none">
              <a:solidFill>
                <a:srgbClr val="1E4E79"/>
              </a:solidFill>
              <a:latin typeface="Calibri"/>
              <a:ea typeface="Calibri"/>
              <a:cs typeface="Calibri"/>
              <a:sym typeface="Calibri"/>
            </a:endParaRPr>
          </a:p>
          <a:p>
            <a:pPr marL="514350" marR="0" lvl="0" indent="-514350" algn="l" rtl="0">
              <a:lnSpc>
                <a:spcPct val="100000"/>
              </a:lnSpc>
              <a:spcBef>
                <a:spcPts val="0"/>
              </a:spcBef>
              <a:spcAft>
                <a:spcPts val="0"/>
              </a:spcAft>
              <a:buClr>
                <a:srgbClr val="000000"/>
              </a:buClr>
              <a:buSzPts val="2800"/>
              <a:buFont typeface="Arial"/>
              <a:buAutoNum type="arabicPeriod"/>
            </a:pPr>
            <a:r>
              <a:rPr lang="en-US" sz="2800" b="0" i="0" u="none" strike="noStrike" cap="none">
                <a:solidFill>
                  <a:srgbClr val="1E4E79"/>
                </a:solidFill>
                <a:latin typeface="Calibri"/>
                <a:ea typeface="Calibri"/>
                <a:cs typeface="Calibri"/>
                <a:sym typeface="Calibri"/>
              </a:rPr>
              <a:t>Kerjakanlah LK Mengaplikasi bagian 3.3 secara berkelompok</a:t>
            </a:r>
            <a:endParaRPr sz="2800" b="0" i="0" u="none" strike="noStrike" cap="none">
              <a:solidFill>
                <a:srgbClr val="1E4E79"/>
              </a:solidFill>
              <a:latin typeface="Calibri"/>
              <a:ea typeface="Calibri"/>
              <a:cs typeface="Calibri"/>
              <a:sym typeface="Calibri"/>
            </a:endParaRPr>
          </a:p>
          <a:p>
            <a:pPr marL="514350" marR="0" lvl="0" indent="-514350" algn="l" rtl="0">
              <a:lnSpc>
                <a:spcPct val="100000"/>
              </a:lnSpc>
              <a:spcBef>
                <a:spcPts val="0"/>
              </a:spcBef>
              <a:spcAft>
                <a:spcPts val="0"/>
              </a:spcAft>
              <a:buClr>
                <a:srgbClr val="000000"/>
              </a:buClr>
              <a:buSzPts val="2800"/>
              <a:buFont typeface="Arial"/>
              <a:buAutoNum type="arabicPeriod"/>
            </a:pPr>
            <a:r>
              <a:rPr lang="en-US" sz="2800" b="0" i="0" u="none" strike="noStrike" cap="none">
                <a:solidFill>
                  <a:srgbClr val="1E4E79"/>
                </a:solidFill>
                <a:latin typeface="Calibri"/>
                <a:ea typeface="Calibri"/>
                <a:cs typeface="Calibri"/>
                <a:sym typeface="Calibri"/>
              </a:rPr>
              <a:t>Tugas :  menganalisis Konten Deepfake</a:t>
            </a:r>
            <a:endParaRPr/>
          </a:p>
          <a:p>
            <a:pPr marL="514350" marR="0" lvl="0" indent="-514350" algn="l" rtl="0">
              <a:lnSpc>
                <a:spcPct val="100000"/>
              </a:lnSpc>
              <a:spcBef>
                <a:spcPts val="0"/>
              </a:spcBef>
              <a:spcAft>
                <a:spcPts val="0"/>
              </a:spcAft>
              <a:buClr>
                <a:srgbClr val="000000"/>
              </a:buClr>
              <a:buSzPts val="2800"/>
              <a:buFont typeface="Arial"/>
              <a:buAutoNum type="arabicPeriod"/>
            </a:pPr>
            <a:r>
              <a:rPr lang="en-US" sz="2800" b="0" i="0" u="none" strike="noStrike" cap="none">
                <a:solidFill>
                  <a:srgbClr val="1E4E79"/>
                </a:solidFill>
                <a:latin typeface="Calibri"/>
                <a:ea typeface="Calibri"/>
                <a:cs typeface="Calibri"/>
                <a:sym typeface="Calibri"/>
              </a:rPr>
              <a:t>Alokasi penggerjaan </a:t>
            </a:r>
            <a:r>
              <a:rPr lang="en-US" sz="2800" b="1" i="0" u="none" strike="noStrike" cap="none">
                <a:solidFill>
                  <a:srgbClr val="1E4E79"/>
                </a:solidFill>
                <a:latin typeface="Calibri"/>
                <a:ea typeface="Calibri"/>
                <a:cs typeface="Calibri"/>
                <a:sym typeface="Calibri"/>
              </a:rPr>
              <a:t>90 menit</a:t>
            </a:r>
            <a:r>
              <a:rPr lang="en-US" sz="2800" b="0" i="0" u="none" strike="noStrike" cap="none">
                <a:solidFill>
                  <a:srgbClr val="1E4E79"/>
                </a:solidFill>
                <a:latin typeface="Calibri"/>
                <a:ea typeface="Calibri"/>
                <a:cs typeface="Calibri"/>
                <a:sym typeface="Calibri"/>
              </a:rPr>
              <a:t>, setelah itu presentasikan hasil masing-masing kelompok</a:t>
            </a:r>
            <a:endParaRPr/>
          </a:p>
          <a:p>
            <a:pPr marL="514350" marR="0" lvl="0" indent="-514350" algn="l" rtl="0">
              <a:lnSpc>
                <a:spcPct val="100000"/>
              </a:lnSpc>
              <a:spcBef>
                <a:spcPts val="0"/>
              </a:spcBef>
              <a:spcAft>
                <a:spcPts val="0"/>
              </a:spcAft>
              <a:buClr>
                <a:srgbClr val="000000"/>
              </a:buClr>
              <a:buSzPts val="2800"/>
              <a:buFont typeface="Arial"/>
              <a:buAutoNum type="arabicPeriod"/>
            </a:pPr>
            <a:r>
              <a:rPr lang="en-US" sz="2800" b="0" i="0" u="none" strike="noStrike" cap="none">
                <a:solidFill>
                  <a:srgbClr val="1E4E79"/>
                </a:solidFill>
                <a:latin typeface="Calibri"/>
                <a:ea typeface="Calibri"/>
                <a:cs typeface="Calibri"/>
                <a:sym typeface="Calibri"/>
              </a:rPr>
              <a:t>Hasil presentasi disimpan dalam bentuk pdf dan diunggah di LMS.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p4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2E75B5"/>
              </a:buClr>
              <a:buSzPts val="6000"/>
              <a:buFont typeface="Calibri"/>
              <a:buNone/>
            </a:pPr>
            <a:r>
              <a:rPr lang="en-US"/>
              <a:t>Lembar Kerja</a:t>
            </a:r>
            <a:endParaRPr/>
          </a:p>
        </p:txBody>
      </p:sp>
      <p:sp>
        <p:nvSpPr>
          <p:cNvPr id="545" name="Google Shape;545;p4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457200" lvl="0" indent="-228600" algn="l" rtl="0">
              <a:lnSpc>
                <a:spcPct val="90000"/>
              </a:lnSpc>
              <a:spcBef>
                <a:spcPts val="1000"/>
              </a:spcBef>
              <a:spcAft>
                <a:spcPts val="0"/>
              </a:spcAft>
              <a:buClr>
                <a:srgbClr val="2E75B5"/>
              </a:buClr>
              <a:buSzPts val="2400"/>
              <a:buNone/>
            </a:pPr>
            <a:r>
              <a:rPr lang="en-US"/>
              <a:t>Merefleksi</a:t>
            </a:r>
            <a:endParaRPr/>
          </a:p>
        </p:txBody>
      </p:sp>
      <p:pic>
        <p:nvPicPr>
          <p:cNvPr id="546" name="Google Shape;546;p43" descr="Checklist with solid fill"/>
          <p:cNvPicPr preferRelativeResize="0"/>
          <p:nvPr/>
        </p:nvPicPr>
        <p:blipFill rotWithShape="1">
          <a:blip r:embed="rId3">
            <a:alphaModFix/>
          </a:blip>
          <a:srcRect/>
          <a:stretch/>
        </p:blipFill>
        <p:spPr>
          <a:xfrm>
            <a:off x="9265920" y="2261870"/>
            <a:ext cx="2081530" cy="208153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1" name="Google Shape;551;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E75B5"/>
              </a:buClr>
              <a:buSzPts val="4400"/>
              <a:buFont typeface="Calibri"/>
              <a:buNone/>
            </a:pPr>
            <a:r>
              <a:rPr lang="en-US"/>
              <a:t>LK Refleksi</a:t>
            </a:r>
            <a:endParaRPr/>
          </a:p>
        </p:txBody>
      </p:sp>
      <p:sp>
        <p:nvSpPr>
          <p:cNvPr id="552" name="Google Shape;552;p44"/>
          <p:cNvSpPr txBox="1"/>
          <p:nvPr/>
        </p:nvSpPr>
        <p:spPr>
          <a:xfrm>
            <a:off x="838200" y="2240344"/>
            <a:ext cx="10610088" cy="31085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1E4E79"/>
                </a:solidFill>
                <a:latin typeface="Calibri"/>
                <a:ea typeface="Calibri"/>
                <a:cs typeface="Calibri"/>
                <a:sym typeface="Calibri"/>
              </a:rPr>
              <a:t>Instruksi:</a:t>
            </a:r>
            <a:endParaRPr/>
          </a:p>
          <a:p>
            <a:pPr marL="514350" marR="0" lvl="0" indent="-514350" algn="l" rtl="0">
              <a:lnSpc>
                <a:spcPct val="100000"/>
              </a:lnSpc>
              <a:spcBef>
                <a:spcPts val="0"/>
              </a:spcBef>
              <a:spcAft>
                <a:spcPts val="0"/>
              </a:spcAft>
              <a:buClr>
                <a:srgbClr val="000000"/>
              </a:buClr>
              <a:buSzPts val="2800"/>
              <a:buFont typeface="Arial"/>
              <a:buAutoNum type="arabicPeriod"/>
            </a:pPr>
            <a:r>
              <a:rPr lang="en-US" sz="2800" b="0" i="0" u="none" strike="noStrike" cap="none">
                <a:solidFill>
                  <a:srgbClr val="1E4E79"/>
                </a:solidFill>
                <a:latin typeface="Calibri"/>
                <a:ea typeface="Calibri"/>
                <a:cs typeface="Calibri"/>
                <a:sym typeface="Calibri"/>
              </a:rPr>
              <a:t>Unduh file LK Merefleksi di LMS</a:t>
            </a:r>
            <a:endParaRPr/>
          </a:p>
          <a:p>
            <a:pPr marL="514350" marR="0" lvl="0" indent="-514350" algn="l" rtl="0">
              <a:lnSpc>
                <a:spcPct val="100000"/>
              </a:lnSpc>
              <a:spcBef>
                <a:spcPts val="0"/>
              </a:spcBef>
              <a:spcAft>
                <a:spcPts val="0"/>
              </a:spcAft>
              <a:buClr>
                <a:srgbClr val="000000"/>
              </a:buClr>
              <a:buSzPts val="2800"/>
              <a:buFont typeface="Arial"/>
              <a:buAutoNum type="arabicPeriod"/>
            </a:pPr>
            <a:r>
              <a:rPr lang="en-US" sz="2800" b="0" i="0" u="none" strike="noStrike" cap="none">
                <a:solidFill>
                  <a:srgbClr val="1E4E79"/>
                </a:solidFill>
                <a:latin typeface="Calibri"/>
                <a:ea typeface="Calibri"/>
                <a:cs typeface="Calibri"/>
                <a:sym typeface="Calibri"/>
              </a:rPr>
              <a:t>Kerjakanlah LK Merefleksi bagian 3.4</a:t>
            </a:r>
            <a:endParaRPr sz="2800" b="0" i="0" u="none" strike="noStrike" cap="none">
              <a:solidFill>
                <a:srgbClr val="1E4E79"/>
              </a:solidFill>
              <a:latin typeface="Calibri"/>
              <a:ea typeface="Calibri"/>
              <a:cs typeface="Calibri"/>
              <a:sym typeface="Calibri"/>
            </a:endParaRPr>
          </a:p>
          <a:p>
            <a:pPr marL="514350" marR="0" lvl="0" indent="-514350" algn="l" rtl="0">
              <a:lnSpc>
                <a:spcPct val="100000"/>
              </a:lnSpc>
              <a:spcBef>
                <a:spcPts val="0"/>
              </a:spcBef>
              <a:spcAft>
                <a:spcPts val="0"/>
              </a:spcAft>
              <a:buClr>
                <a:srgbClr val="000000"/>
              </a:buClr>
              <a:buSzPts val="2800"/>
              <a:buFont typeface="Arial"/>
              <a:buAutoNum type="arabicPeriod"/>
            </a:pPr>
            <a:r>
              <a:rPr lang="en-US" sz="2800" b="0" i="0" u="none" strike="noStrike" cap="none">
                <a:solidFill>
                  <a:srgbClr val="1E4E79"/>
                </a:solidFill>
                <a:latin typeface="Calibri"/>
                <a:ea typeface="Calibri"/>
                <a:cs typeface="Calibri"/>
                <a:sym typeface="Calibri"/>
              </a:rPr>
              <a:t>Dengan pendekatan 4F (Fact, Feeling, Finding, dan Future)</a:t>
            </a:r>
            <a:endParaRPr/>
          </a:p>
          <a:p>
            <a:pPr marL="514350" marR="0" lvl="0" indent="-514350" algn="l" rtl="0">
              <a:lnSpc>
                <a:spcPct val="100000"/>
              </a:lnSpc>
              <a:spcBef>
                <a:spcPts val="0"/>
              </a:spcBef>
              <a:spcAft>
                <a:spcPts val="0"/>
              </a:spcAft>
              <a:buClr>
                <a:srgbClr val="000000"/>
              </a:buClr>
              <a:buSzPts val="2800"/>
              <a:buFont typeface="Arial"/>
              <a:buAutoNum type="arabicPeriod"/>
            </a:pPr>
            <a:r>
              <a:rPr lang="en-US" sz="2800" b="0" i="0" u="none" strike="noStrike" cap="none">
                <a:solidFill>
                  <a:srgbClr val="1E4E79"/>
                </a:solidFill>
                <a:latin typeface="Calibri"/>
                <a:ea typeface="Calibri"/>
                <a:cs typeface="Calibri"/>
                <a:sym typeface="Calibri"/>
              </a:rPr>
              <a:t>Perhatikan Rubrik pada slide berikut untuk mengisi Refleksinya.</a:t>
            </a:r>
            <a:endParaRPr/>
          </a:p>
          <a:p>
            <a:pPr marL="514350" marR="0" lvl="0" indent="-514350" algn="l" rtl="0">
              <a:lnSpc>
                <a:spcPct val="100000"/>
              </a:lnSpc>
              <a:spcBef>
                <a:spcPts val="0"/>
              </a:spcBef>
              <a:spcAft>
                <a:spcPts val="0"/>
              </a:spcAft>
              <a:buClr>
                <a:srgbClr val="000000"/>
              </a:buClr>
              <a:buSzPts val="2800"/>
              <a:buFont typeface="Arial"/>
              <a:buAutoNum type="arabicPeriod"/>
            </a:pPr>
            <a:r>
              <a:rPr lang="en-US" sz="2800" b="0" i="0" u="none" strike="noStrike" cap="none">
                <a:solidFill>
                  <a:srgbClr val="1E4E79"/>
                </a:solidFill>
                <a:latin typeface="Calibri"/>
                <a:ea typeface="Calibri"/>
                <a:cs typeface="Calibri"/>
                <a:sym typeface="Calibri"/>
              </a:rPr>
              <a:t>Unggah hasilnya dalam bentuk File PDF ke LMS</a:t>
            </a:r>
            <a:endParaRPr/>
          </a:p>
          <a:p>
            <a:pPr marL="514350" marR="0" lvl="0" indent="-514350" algn="l" rtl="0">
              <a:lnSpc>
                <a:spcPct val="100000"/>
              </a:lnSpc>
              <a:spcBef>
                <a:spcPts val="0"/>
              </a:spcBef>
              <a:spcAft>
                <a:spcPts val="0"/>
              </a:spcAft>
              <a:buClr>
                <a:srgbClr val="000000"/>
              </a:buClr>
              <a:buSzPts val="2800"/>
              <a:buFont typeface="Arial"/>
              <a:buAutoNum type="arabicPeriod"/>
            </a:pPr>
            <a:r>
              <a:rPr lang="en-US" sz="2800" b="0" i="0" u="none" strike="noStrike" cap="none">
                <a:solidFill>
                  <a:srgbClr val="1E4E79"/>
                </a:solidFill>
                <a:latin typeface="Calibri"/>
                <a:ea typeface="Calibri"/>
                <a:cs typeface="Calibri"/>
                <a:sym typeface="Calibri"/>
              </a:rPr>
              <a:t>Alokasi waktu pengerjaan </a:t>
            </a:r>
            <a:r>
              <a:rPr lang="en-US" sz="2800" b="1" i="0" u="none" strike="noStrike" cap="none">
                <a:solidFill>
                  <a:srgbClr val="1E4E79"/>
                </a:solidFill>
                <a:latin typeface="Calibri"/>
                <a:ea typeface="Calibri"/>
                <a:cs typeface="Calibri"/>
                <a:sym typeface="Calibri"/>
              </a:rPr>
              <a:t>20 menit</a:t>
            </a:r>
            <a:endParaRPr sz="1800" b="1" i="0" u="none" strike="noStrike" cap="none">
              <a:solidFill>
                <a:srgbClr val="000000"/>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4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E75B5"/>
              </a:buClr>
              <a:buSzPts val="4400"/>
              <a:buFont typeface="Calibri"/>
              <a:buNone/>
            </a:pPr>
            <a:r>
              <a:rPr lang="en-US"/>
              <a:t>LK Refleksi</a:t>
            </a:r>
            <a:endParaRPr/>
          </a:p>
        </p:txBody>
      </p:sp>
      <p:sp>
        <p:nvSpPr>
          <p:cNvPr id="558" name="Google Shape;558;p45"/>
          <p:cNvSpPr txBox="1"/>
          <p:nvPr/>
        </p:nvSpPr>
        <p:spPr>
          <a:xfrm>
            <a:off x="1252538" y="1929141"/>
            <a:ext cx="10610088"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1E4E79"/>
                </a:solidFill>
                <a:latin typeface="Calibri"/>
                <a:ea typeface="Calibri"/>
                <a:cs typeface="Calibri"/>
                <a:sym typeface="Calibri"/>
              </a:rPr>
              <a:t>Rubrik:</a:t>
            </a:r>
            <a:endParaRPr/>
          </a:p>
        </p:txBody>
      </p:sp>
      <p:graphicFrame>
        <p:nvGraphicFramePr>
          <p:cNvPr id="559" name="Google Shape;559;p45"/>
          <p:cNvGraphicFramePr/>
          <p:nvPr/>
        </p:nvGraphicFramePr>
        <p:xfrm>
          <a:off x="838200" y="2562540"/>
          <a:ext cx="10515600" cy="3636838"/>
        </p:xfrm>
        <a:graphic>
          <a:graphicData uri="http://schemas.openxmlformats.org/drawingml/2006/table">
            <a:tbl>
              <a:tblPr firstRow="1" firstCol="1" bandRow="1">
                <a:noFill/>
                <a:tableStyleId>{8E672876-49A7-4F25-B86E-DCB586B44718}</a:tableStyleId>
              </a:tblPr>
              <a:tblGrid>
                <a:gridCol w="1992700">
                  <a:extLst>
                    <a:ext uri="{9D8B030D-6E8A-4147-A177-3AD203B41FA5}">
                      <a16:colId xmlns:a16="http://schemas.microsoft.com/office/drawing/2014/main" val="20000"/>
                    </a:ext>
                  </a:extLst>
                </a:gridCol>
                <a:gridCol w="4484300">
                  <a:extLst>
                    <a:ext uri="{9D8B030D-6E8A-4147-A177-3AD203B41FA5}">
                      <a16:colId xmlns:a16="http://schemas.microsoft.com/office/drawing/2014/main" val="20001"/>
                    </a:ext>
                  </a:extLst>
                </a:gridCol>
                <a:gridCol w="4038600">
                  <a:extLst>
                    <a:ext uri="{9D8B030D-6E8A-4147-A177-3AD203B41FA5}">
                      <a16:colId xmlns:a16="http://schemas.microsoft.com/office/drawing/2014/main" val="20002"/>
                    </a:ext>
                  </a:extLst>
                </a:gridCol>
              </a:tblGrid>
              <a:tr h="225100">
                <a:tc>
                  <a:txBody>
                    <a:bodyPr/>
                    <a:lstStyle/>
                    <a:p>
                      <a:pPr marL="457200" marR="0" lvl="0" indent="0" algn="l" rtl="0">
                        <a:lnSpc>
                          <a:spcPct val="107000"/>
                        </a:lnSpc>
                        <a:spcBef>
                          <a:spcPts val="0"/>
                        </a:spcBef>
                        <a:spcAft>
                          <a:spcPts val="0"/>
                        </a:spcAft>
                        <a:buNone/>
                      </a:pPr>
                      <a:r>
                        <a:rPr lang="en-US" sz="1600" u="none" strike="noStrike" cap="none">
                          <a:latin typeface="Arial"/>
                          <a:ea typeface="Arial"/>
                          <a:cs typeface="Arial"/>
                          <a:sym typeface="Arial"/>
                        </a:rPr>
                        <a:t>Indikator</a:t>
                      </a:r>
                      <a:endParaRPr sz="1600" u="none" strike="noStrike" cap="none">
                        <a:latin typeface="Arial"/>
                        <a:ea typeface="Arial"/>
                        <a:cs typeface="Arial"/>
                        <a:sym typeface="Arial"/>
                      </a:endParaRPr>
                    </a:p>
                  </a:txBody>
                  <a:tcPr marL="68575" marR="68575" marT="0" marB="0"/>
                </a:tc>
                <a:tc>
                  <a:txBody>
                    <a:bodyPr/>
                    <a:lstStyle/>
                    <a:p>
                      <a:pPr marL="457200" marR="0" lvl="0" indent="0" algn="l" rtl="0">
                        <a:lnSpc>
                          <a:spcPct val="107000"/>
                        </a:lnSpc>
                        <a:spcBef>
                          <a:spcPts val="0"/>
                        </a:spcBef>
                        <a:spcAft>
                          <a:spcPts val="0"/>
                        </a:spcAft>
                        <a:buNone/>
                      </a:pPr>
                      <a:r>
                        <a:rPr lang="en-US" sz="1600" u="none" strike="noStrike" cap="none">
                          <a:latin typeface="Arial"/>
                          <a:ea typeface="Arial"/>
                          <a:cs typeface="Arial"/>
                          <a:sym typeface="Arial"/>
                        </a:rPr>
                        <a:t>Completed</a:t>
                      </a:r>
                      <a:endParaRPr sz="1600" u="none" strike="noStrike" cap="none">
                        <a:latin typeface="Arial"/>
                        <a:ea typeface="Arial"/>
                        <a:cs typeface="Arial"/>
                        <a:sym typeface="Arial"/>
                      </a:endParaRPr>
                    </a:p>
                  </a:txBody>
                  <a:tcPr marL="68575" marR="68575" marT="0" marB="0"/>
                </a:tc>
                <a:tc>
                  <a:txBody>
                    <a:bodyPr/>
                    <a:lstStyle/>
                    <a:p>
                      <a:pPr marL="457200" marR="0" lvl="0" indent="0" algn="l" rtl="0">
                        <a:lnSpc>
                          <a:spcPct val="107000"/>
                        </a:lnSpc>
                        <a:spcBef>
                          <a:spcPts val="0"/>
                        </a:spcBef>
                        <a:spcAft>
                          <a:spcPts val="0"/>
                        </a:spcAft>
                        <a:buNone/>
                      </a:pPr>
                      <a:r>
                        <a:rPr lang="en-US" sz="1600" u="none" strike="noStrike" cap="none">
                          <a:latin typeface="Arial"/>
                          <a:ea typeface="Arial"/>
                          <a:cs typeface="Arial"/>
                          <a:sym typeface="Arial"/>
                        </a:rPr>
                        <a:t>Not Completed</a:t>
                      </a:r>
                      <a:endParaRPr sz="1600" u="none" strike="noStrike" cap="none">
                        <a:latin typeface="Arial"/>
                        <a:ea typeface="Arial"/>
                        <a:cs typeface="Arial"/>
                        <a:sym typeface="Arial"/>
                      </a:endParaRPr>
                    </a:p>
                  </a:txBody>
                  <a:tcPr marL="68575" marR="68575" marT="0" marB="0"/>
                </a:tc>
                <a:extLst>
                  <a:ext uri="{0D108BD9-81ED-4DB2-BD59-A6C34878D82A}">
                    <a16:rowId xmlns:a16="http://schemas.microsoft.com/office/drawing/2014/main" val="10000"/>
                  </a:ext>
                </a:extLst>
              </a:tr>
              <a:tr h="696125">
                <a:tc>
                  <a:txBody>
                    <a:bodyPr/>
                    <a:lstStyle/>
                    <a:p>
                      <a:pPr marL="457200" marR="0" lvl="0" indent="0" algn="l" rtl="0">
                        <a:lnSpc>
                          <a:spcPct val="107000"/>
                        </a:lnSpc>
                        <a:spcBef>
                          <a:spcPts val="0"/>
                        </a:spcBef>
                        <a:spcAft>
                          <a:spcPts val="0"/>
                        </a:spcAft>
                        <a:buNone/>
                      </a:pPr>
                      <a:r>
                        <a:rPr lang="en-US" sz="1600" u="none" strike="noStrike" cap="none">
                          <a:latin typeface="Arial"/>
                          <a:ea typeface="Arial"/>
                          <a:cs typeface="Arial"/>
                          <a:sym typeface="Arial"/>
                        </a:rPr>
                        <a:t>Fact (Fakta)</a:t>
                      </a:r>
                      <a:endParaRPr sz="1600" u="none" strike="noStrike" cap="none">
                        <a:latin typeface="Arial"/>
                        <a:ea typeface="Arial"/>
                        <a:cs typeface="Arial"/>
                        <a:sym typeface="Arial"/>
                      </a:endParaRPr>
                    </a:p>
                  </a:txBody>
                  <a:tcPr marL="68575" marR="68575" marT="0" marB="0"/>
                </a:tc>
                <a:tc>
                  <a:txBody>
                    <a:bodyPr/>
                    <a:lstStyle/>
                    <a:p>
                      <a:pPr marL="457200" marR="0" lvl="0" indent="0" algn="l" rtl="0">
                        <a:lnSpc>
                          <a:spcPct val="107000"/>
                        </a:lnSpc>
                        <a:spcBef>
                          <a:spcPts val="0"/>
                        </a:spcBef>
                        <a:spcAft>
                          <a:spcPts val="0"/>
                        </a:spcAft>
                        <a:buNone/>
                      </a:pPr>
                      <a:r>
                        <a:rPr lang="en-US" sz="1600" u="none" strike="noStrike" cap="none">
                          <a:latin typeface="Arial"/>
                          <a:ea typeface="Arial"/>
                          <a:cs typeface="Arial"/>
                          <a:sym typeface="Arial"/>
                        </a:rPr>
                        <a:t>Menyampaikan fakta yang akurat terkait etika dan resiko penggunaan KA generatif.</a:t>
                      </a:r>
                      <a:endParaRPr sz="1600" u="none" strike="noStrike" cap="none">
                        <a:latin typeface="Arial"/>
                        <a:ea typeface="Arial"/>
                        <a:cs typeface="Arial"/>
                        <a:sym typeface="Arial"/>
                      </a:endParaRPr>
                    </a:p>
                  </a:txBody>
                  <a:tcPr marL="68575" marR="68575" marT="0" marB="0"/>
                </a:tc>
                <a:tc>
                  <a:txBody>
                    <a:bodyPr/>
                    <a:lstStyle/>
                    <a:p>
                      <a:pPr marL="457200" marR="0" lvl="0" indent="0" algn="l" rtl="0">
                        <a:lnSpc>
                          <a:spcPct val="107000"/>
                        </a:lnSpc>
                        <a:spcBef>
                          <a:spcPts val="0"/>
                        </a:spcBef>
                        <a:spcAft>
                          <a:spcPts val="0"/>
                        </a:spcAft>
                        <a:buNone/>
                      </a:pPr>
                      <a:r>
                        <a:rPr lang="en-US" sz="1600" u="none" strike="noStrike" cap="none">
                          <a:latin typeface="Arial"/>
                          <a:ea typeface="Arial"/>
                          <a:cs typeface="Arial"/>
                          <a:sym typeface="Arial"/>
                        </a:rPr>
                        <a:t>Fakta tidak lengkap, kabur, atau tidak sesuai konteks pertanyaan.</a:t>
                      </a:r>
                      <a:endParaRPr sz="1600" u="none" strike="noStrike" cap="none">
                        <a:latin typeface="Arial"/>
                        <a:ea typeface="Arial"/>
                        <a:cs typeface="Arial"/>
                        <a:sym typeface="Arial"/>
                      </a:endParaRPr>
                    </a:p>
                  </a:txBody>
                  <a:tcPr marL="68575" marR="68575" marT="0" marB="0"/>
                </a:tc>
                <a:extLst>
                  <a:ext uri="{0D108BD9-81ED-4DB2-BD59-A6C34878D82A}">
                    <a16:rowId xmlns:a16="http://schemas.microsoft.com/office/drawing/2014/main" val="10001"/>
                  </a:ext>
                </a:extLst>
              </a:tr>
              <a:tr h="1087075">
                <a:tc>
                  <a:txBody>
                    <a:bodyPr/>
                    <a:lstStyle/>
                    <a:p>
                      <a:pPr marL="457200" marR="0" lvl="0" indent="0" algn="l" rtl="0">
                        <a:lnSpc>
                          <a:spcPct val="107000"/>
                        </a:lnSpc>
                        <a:spcBef>
                          <a:spcPts val="0"/>
                        </a:spcBef>
                        <a:spcAft>
                          <a:spcPts val="0"/>
                        </a:spcAft>
                        <a:buNone/>
                      </a:pPr>
                      <a:r>
                        <a:rPr lang="en-US" sz="1600" u="none" strike="noStrike" cap="none">
                          <a:latin typeface="Arial"/>
                          <a:ea typeface="Arial"/>
                          <a:cs typeface="Arial"/>
                          <a:sym typeface="Arial"/>
                        </a:rPr>
                        <a:t>Feeling (Perasan)</a:t>
                      </a:r>
                      <a:endParaRPr sz="1600" u="none" strike="noStrike" cap="none">
                        <a:latin typeface="Arial"/>
                        <a:ea typeface="Arial"/>
                        <a:cs typeface="Arial"/>
                        <a:sym typeface="Arial"/>
                      </a:endParaRPr>
                    </a:p>
                  </a:txBody>
                  <a:tcPr marL="68575" marR="68575" marT="0" marB="0"/>
                </a:tc>
                <a:tc>
                  <a:txBody>
                    <a:bodyPr/>
                    <a:lstStyle/>
                    <a:p>
                      <a:pPr marL="457200" marR="0" lvl="0" indent="0" algn="l" rtl="0">
                        <a:lnSpc>
                          <a:spcPct val="107000"/>
                        </a:lnSpc>
                        <a:spcBef>
                          <a:spcPts val="0"/>
                        </a:spcBef>
                        <a:spcAft>
                          <a:spcPts val="0"/>
                        </a:spcAft>
                        <a:buNone/>
                      </a:pPr>
                      <a:r>
                        <a:rPr lang="en-US" sz="1600" u="none" strike="noStrike" cap="none">
                          <a:latin typeface="Arial"/>
                          <a:ea typeface="Arial"/>
                          <a:cs typeface="Arial"/>
                          <a:sym typeface="Arial"/>
                        </a:rPr>
                        <a:t>Mengungkapkan perasaan pribadi yang relevan terhadap pengalaman atau pemahaman tentang etika dan resiko KA generatif.</a:t>
                      </a:r>
                      <a:endParaRPr sz="1600" u="none" strike="noStrike" cap="none">
                        <a:latin typeface="Arial"/>
                        <a:ea typeface="Arial"/>
                        <a:cs typeface="Arial"/>
                        <a:sym typeface="Arial"/>
                      </a:endParaRPr>
                    </a:p>
                  </a:txBody>
                  <a:tcPr marL="68575" marR="68575" marT="0" marB="0"/>
                </a:tc>
                <a:tc>
                  <a:txBody>
                    <a:bodyPr/>
                    <a:lstStyle/>
                    <a:p>
                      <a:pPr marL="457200" marR="0" lvl="0" indent="0" algn="l" rtl="0">
                        <a:lnSpc>
                          <a:spcPct val="107000"/>
                        </a:lnSpc>
                        <a:spcBef>
                          <a:spcPts val="0"/>
                        </a:spcBef>
                        <a:spcAft>
                          <a:spcPts val="0"/>
                        </a:spcAft>
                        <a:buNone/>
                      </a:pPr>
                      <a:r>
                        <a:rPr lang="en-US" sz="1600" u="none" strike="noStrike" cap="none">
                          <a:latin typeface="Arial"/>
                          <a:ea typeface="Arial"/>
                          <a:cs typeface="Arial"/>
                          <a:sym typeface="Arial"/>
                        </a:rPr>
                        <a:t>Tidak mencantumkan perasaan atau bersifat terlalu umum/tidak nyambung</a:t>
                      </a:r>
                      <a:endParaRPr sz="1600" u="none" strike="noStrike" cap="none">
                        <a:latin typeface="Arial"/>
                        <a:ea typeface="Arial"/>
                        <a:cs typeface="Arial"/>
                        <a:sym typeface="Arial"/>
                      </a:endParaRPr>
                    </a:p>
                  </a:txBody>
                  <a:tcPr marL="68575" marR="68575" marT="0" marB="0"/>
                </a:tc>
                <a:extLst>
                  <a:ext uri="{0D108BD9-81ED-4DB2-BD59-A6C34878D82A}">
                    <a16:rowId xmlns:a16="http://schemas.microsoft.com/office/drawing/2014/main" val="10002"/>
                  </a:ext>
                </a:extLst>
              </a:tr>
              <a:tr h="847925">
                <a:tc>
                  <a:txBody>
                    <a:bodyPr/>
                    <a:lstStyle/>
                    <a:p>
                      <a:pPr marL="457200" marR="0" lvl="0" indent="0" algn="l" rtl="0">
                        <a:lnSpc>
                          <a:spcPct val="107000"/>
                        </a:lnSpc>
                        <a:spcBef>
                          <a:spcPts val="0"/>
                        </a:spcBef>
                        <a:spcAft>
                          <a:spcPts val="0"/>
                        </a:spcAft>
                        <a:buNone/>
                      </a:pPr>
                      <a:r>
                        <a:rPr lang="en-US" sz="1600" u="none" strike="noStrike" cap="none">
                          <a:latin typeface="Arial"/>
                          <a:ea typeface="Arial"/>
                          <a:cs typeface="Arial"/>
                          <a:sym typeface="Arial"/>
                        </a:rPr>
                        <a:t>Finding (Penemuan)</a:t>
                      </a:r>
                      <a:endParaRPr sz="1600" u="none" strike="noStrike" cap="none">
                        <a:latin typeface="Arial"/>
                        <a:ea typeface="Arial"/>
                        <a:cs typeface="Arial"/>
                        <a:sym typeface="Arial"/>
                      </a:endParaRPr>
                    </a:p>
                  </a:txBody>
                  <a:tcPr marL="68575" marR="68575" marT="0" marB="0"/>
                </a:tc>
                <a:tc>
                  <a:txBody>
                    <a:bodyPr/>
                    <a:lstStyle/>
                    <a:p>
                      <a:pPr marL="457200" marR="0" lvl="0" indent="0" algn="l" rtl="0">
                        <a:lnSpc>
                          <a:spcPct val="107000"/>
                        </a:lnSpc>
                        <a:spcBef>
                          <a:spcPts val="0"/>
                        </a:spcBef>
                        <a:spcAft>
                          <a:spcPts val="0"/>
                        </a:spcAft>
                        <a:buNone/>
                      </a:pPr>
                      <a:r>
                        <a:rPr lang="en-US" sz="1600" u="none" strike="noStrike" cap="none">
                          <a:latin typeface="Arial"/>
                          <a:ea typeface="Arial"/>
                          <a:cs typeface="Arial"/>
                          <a:sym typeface="Arial"/>
                        </a:rPr>
                        <a:t>Menyimpulkan pembelajaran utama dari pengalaman atau pengetahuan baru, termasuk tantangan dan solusinya</a:t>
                      </a:r>
                      <a:endParaRPr sz="1600" u="none" strike="noStrike" cap="none">
                        <a:latin typeface="Arial"/>
                        <a:ea typeface="Arial"/>
                        <a:cs typeface="Arial"/>
                        <a:sym typeface="Arial"/>
                      </a:endParaRPr>
                    </a:p>
                  </a:txBody>
                  <a:tcPr marL="68575" marR="68575" marT="0" marB="0"/>
                </a:tc>
                <a:tc>
                  <a:txBody>
                    <a:bodyPr/>
                    <a:lstStyle/>
                    <a:p>
                      <a:pPr marL="457200" marR="0" lvl="0" indent="0" algn="l" rtl="0">
                        <a:lnSpc>
                          <a:spcPct val="107000"/>
                        </a:lnSpc>
                        <a:spcBef>
                          <a:spcPts val="0"/>
                        </a:spcBef>
                        <a:spcAft>
                          <a:spcPts val="0"/>
                        </a:spcAft>
                        <a:buNone/>
                      </a:pPr>
                      <a:r>
                        <a:rPr lang="en-US" sz="1600" u="none" strike="noStrike" cap="none">
                          <a:latin typeface="Arial"/>
                          <a:ea typeface="Arial"/>
                          <a:cs typeface="Arial"/>
                          <a:sym typeface="Arial"/>
                        </a:rPr>
                        <a:t>Tidak ada insight yang mendalam, atau hanya mengulang fakta tanpa pemahaman baru.</a:t>
                      </a:r>
                      <a:endParaRPr sz="1600" u="none" strike="noStrike" cap="none">
                        <a:latin typeface="Arial"/>
                        <a:ea typeface="Arial"/>
                        <a:cs typeface="Arial"/>
                        <a:sym typeface="Arial"/>
                      </a:endParaRPr>
                    </a:p>
                  </a:txBody>
                  <a:tcPr marL="68575" marR="68575" marT="0" marB="0"/>
                </a:tc>
                <a:extLst>
                  <a:ext uri="{0D108BD9-81ED-4DB2-BD59-A6C34878D82A}">
                    <a16:rowId xmlns:a16="http://schemas.microsoft.com/office/drawing/2014/main" val="10003"/>
                  </a:ext>
                </a:extLst>
              </a:tr>
              <a:tr h="696125">
                <a:tc>
                  <a:txBody>
                    <a:bodyPr/>
                    <a:lstStyle/>
                    <a:p>
                      <a:pPr marL="457200" marR="0" lvl="0" indent="0" algn="l" rtl="0">
                        <a:lnSpc>
                          <a:spcPct val="107000"/>
                        </a:lnSpc>
                        <a:spcBef>
                          <a:spcPts val="0"/>
                        </a:spcBef>
                        <a:spcAft>
                          <a:spcPts val="0"/>
                        </a:spcAft>
                        <a:buNone/>
                      </a:pPr>
                      <a:r>
                        <a:rPr lang="en-US" sz="1600" u="none" strike="noStrike" cap="none">
                          <a:latin typeface="Arial"/>
                          <a:ea typeface="Arial"/>
                          <a:cs typeface="Arial"/>
                          <a:sym typeface="Arial"/>
                        </a:rPr>
                        <a:t>Future</a:t>
                      </a:r>
                      <a:endParaRPr/>
                    </a:p>
                    <a:p>
                      <a:pPr marL="457200" marR="0" lvl="0" indent="0" algn="l" rtl="0">
                        <a:lnSpc>
                          <a:spcPct val="107000"/>
                        </a:lnSpc>
                        <a:spcBef>
                          <a:spcPts val="0"/>
                        </a:spcBef>
                        <a:spcAft>
                          <a:spcPts val="0"/>
                        </a:spcAft>
                        <a:buNone/>
                      </a:pPr>
                      <a:r>
                        <a:rPr lang="en-US" sz="1600" u="none" strike="noStrike" cap="none">
                          <a:latin typeface="Arial"/>
                          <a:ea typeface="Arial"/>
                          <a:cs typeface="Arial"/>
                          <a:sym typeface="Arial"/>
                        </a:rPr>
                        <a:t>(Masa Depan)</a:t>
                      </a:r>
                      <a:endParaRPr sz="1600" u="none" strike="noStrike" cap="none">
                        <a:latin typeface="Arial"/>
                        <a:ea typeface="Arial"/>
                        <a:cs typeface="Arial"/>
                        <a:sym typeface="Arial"/>
                      </a:endParaRPr>
                    </a:p>
                  </a:txBody>
                  <a:tcPr marL="68575" marR="68575" marT="0" marB="0"/>
                </a:tc>
                <a:tc>
                  <a:txBody>
                    <a:bodyPr/>
                    <a:lstStyle/>
                    <a:p>
                      <a:pPr marL="457200" marR="0" lvl="0" indent="0" algn="l" rtl="0">
                        <a:lnSpc>
                          <a:spcPct val="107000"/>
                        </a:lnSpc>
                        <a:spcBef>
                          <a:spcPts val="0"/>
                        </a:spcBef>
                        <a:spcAft>
                          <a:spcPts val="0"/>
                        </a:spcAft>
                        <a:buNone/>
                      </a:pPr>
                      <a:r>
                        <a:rPr lang="en-US" sz="1600" u="none" strike="noStrike" cap="none">
                          <a:latin typeface="Arial"/>
                          <a:ea typeface="Arial"/>
                          <a:cs typeface="Arial"/>
                          <a:sym typeface="Arial"/>
                        </a:rPr>
                        <a:t>Menyampaikan rencana konkret untuk meningkatkan pemahaman atau praktik di masa depan.</a:t>
                      </a:r>
                      <a:endParaRPr sz="1600" u="none" strike="noStrike" cap="none">
                        <a:latin typeface="Arial"/>
                        <a:ea typeface="Arial"/>
                        <a:cs typeface="Arial"/>
                        <a:sym typeface="Arial"/>
                      </a:endParaRPr>
                    </a:p>
                  </a:txBody>
                  <a:tcPr marL="68575" marR="68575" marT="0" marB="0"/>
                </a:tc>
                <a:tc>
                  <a:txBody>
                    <a:bodyPr/>
                    <a:lstStyle/>
                    <a:p>
                      <a:pPr marL="457200" marR="0" lvl="0" indent="0" algn="l" rtl="0">
                        <a:lnSpc>
                          <a:spcPct val="107000"/>
                        </a:lnSpc>
                        <a:spcBef>
                          <a:spcPts val="0"/>
                        </a:spcBef>
                        <a:spcAft>
                          <a:spcPts val="0"/>
                        </a:spcAft>
                        <a:buNone/>
                      </a:pPr>
                      <a:r>
                        <a:rPr lang="en-US" sz="1600" u="none" strike="noStrike" cap="none">
                          <a:latin typeface="Arial"/>
                          <a:ea typeface="Arial"/>
                          <a:cs typeface="Arial"/>
                          <a:sym typeface="Arial"/>
                        </a:rPr>
                        <a:t>Tidak ada rencana, atau rencana terlalu umum dan tidak terkait langsung.</a:t>
                      </a:r>
                      <a:endParaRPr sz="1600" u="none" strike="noStrike" cap="none">
                        <a:latin typeface="Arial"/>
                        <a:ea typeface="Arial"/>
                        <a:cs typeface="Arial"/>
                        <a:sym typeface="Arial"/>
                      </a:endParaRPr>
                    </a:p>
                  </a:txBody>
                  <a:tcPr marL="68575" marR="68575" marT="0" marB="0"/>
                </a:tc>
                <a:extLst>
                  <a:ext uri="{0D108BD9-81ED-4DB2-BD59-A6C34878D82A}">
                    <a16:rowId xmlns:a16="http://schemas.microsoft.com/office/drawing/2014/main" val="10004"/>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4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E75B5"/>
              </a:buClr>
              <a:buSzPts val="4400"/>
              <a:buFont typeface="Calibri"/>
              <a:buNone/>
            </a:pPr>
            <a:r>
              <a:rPr lang="en-US"/>
              <a:t>Penguatan</a:t>
            </a:r>
            <a:endParaRPr/>
          </a:p>
        </p:txBody>
      </p:sp>
      <p:sp>
        <p:nvSpPr>
          <p:cNvPr id="565" name="Google Shape;565;p46"/>
          <p:cNvSpPr txBox="1">
            <a:spLocks noGrp="1"/>
          </p:cNvSpPr>
          <p:nvPr>
            <p:ph type="body" idx="1"/>
          </p:nvPr>
        </p:nvSpPr>
        <p:spPr>
          <a:xfrm>
            <a:off x="767960" y="1869168"/>
            <a:ext cx="7454384" cy="4351338"/>
          </a:xfrm>
          <a:prstGeom prst="rect">
            <a:avLst/>
          </a:prstGeom>
          <a:noFill/>
          <a:ln>
            <a:noFill/>
          </a:ln>
        </p:spPr>
        <p:txBody>
          <a:bodyPr spcFirstLastPara="1" wrap="square" lIns="91425" tIns="45700" rIns="91425" bIns="45700" anchor="t" anchorCtr="0">
            <a:normAutofit fontScale="92500" lnSpcReduction="10000"/>
          </a:bodyPr>
          <a:lstStyle/>
          <a:p>
            <a:pPr marL="50800" lvl="0" indent="0" algn="l" rtl="0">
              <a:lnSpc>
                <a:spcPct val="100000"/>
              </a:lnSpc>
              <a:spcBef>
                <a:spcPts val="1000"/>
              </a:spcBef>
              <a:spcAft>
                <a:spcPts val="0"/>
              </a:spcAft>
              <a:buSzPct val="126126"/>
              <a:buNone/>
            </a:pPr>
            <a:r>
              <a:rPr lang="en-US" sz="2400"/>
              <a:t>Telah kita pelajari bersama bahwa Kecerdasan Artifisial (KA) bukan lagi masa depan dan KA adalah bagian dari kehidupan sekarang. Di kelas, di ponsel murid, di sistem pendidikan, bahkan dalam cara kita mengakses informasi. Tapi di balik segala kecanggihan itu, ada tantangan baru yang tidak kalah penting yaitu </a:t>
            </a:r>
            <a:r>
              <a:rPr lang="en-US" sz="2400" b="1"/>
              <a:t>bagaimana memastikan KA digunakan secara aman, adil, dan etis</a:t>
            </a:r>
            <a:r>
              <a:rPr lang="en-US" sz="2400"/>
              <a:t>. </a:t>
            </a:r>
            <a:endParaRPr/>
          </a:p>
          <a:p>
            <a:pPr marL="50800" lvl="0" indent="0" algn="l" rtl="0">
              <a:lnSpc>
                <a:spcPct val="100000"/>
              </a:lnSpc>
              <a:spcBef>
                <a:spcPts val="1000"/>
              </a:spcBef>
              <a:spcAft>
                <a:spcPts val="0"/>
              </a:spcAft>
              <a:buSzPct val="126126"/>
              <a:buNone/>
            </a:pPr>
            <a:r>
              <a:rPr lang="en-US" sz="2400"/>
              <a:t>Sebagai pendidik, peran Bapak/Ibu sangat sentral dan strategis. Anda tidak hanya menyampaikan informasi, tetapi juga menanamkan nilai-nilai. Ketika murid mulai mengenal KA, mereka perlu diarahkan bukan hanya untuk “menguasai teknologi”, tetapi juga memahami tanggung jawab moral di balik penggunaannya.</a:t>
            </a:r>
            <a:endParaRPr/>
          </a:p>
        </p:txBody>
      </p:sp>
      <p:sp>
        <p:nvSpPr>
          <p:cNvPr id="566" name="Google Shape;566;p46"/>
          <p:cNvSpPr/>
          <p:nvPr/>
        </p:nvSpPr>
        <p:spPr>
          <a:xfrm>
            <a:off x="8519887" y="3429001"/>
            <a:ext cx="3785118" cy="3429000"/>
          </a:xfrm>
          <a:custGeom>
            <a:avLst/>
            <a:gdLst/>
            <a:ahLst/>
            <a:cxnLst/>
            <a:rect l="l" t="t" r="r" b="b"/>
            <a:pathLst>
              <a:path w="5203119" h="4114800" extrusionOk="0">
                <a:moveTo>
                  <a:pt x="0" y="0"/>
                </a:moveTo>
                <a:lnTo>
                  <a:pt x="5203119" y="0"/>
                </a:lnTo>
                <a:lnTo>
                  <a:pt x="5203119" y="4114800"/>
                </a:lnTo>
                <a:lnTo>
                  <a:pt x="0" y="4114800"/>
                </a:lnTo>
                <a:lnTo>
                  <a:pt x="0" y="0"/>
                </a:lnTo>
                <a:close/>
              </a:path>
            </a:pathLst>
          </a:custGeom>
          <a:blipFill rotWithShape="1">
            <a:blip r:embed="rId3">
              <a:alphaModFix/>
            </a:blip>
            <a:stretch>
              <a:fillRect/>
            </a:stretch>
          </a:blipFill>
          <a:ln>
            <a:noFill/>
          </a:ln>
        </p:spPr>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571" name="Google Shape;571;p4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2E75B5"/>
              </a:buClr>
              <a:buSzPts val="6000"/>
              <a:buFont typeface="Calibri"/>
              <a:buNone/>
            </a:pPr>
            <a:r>
              <a:rPr lang="en-US"/>
              <a:t>Penutup</a:t>
            </a:r>
            <a:endParaRPr/>
          </a:p>
        </p:txBody>
      </p:sp>
      <p:sp>
        <p:nvSpPr>
          <p:cNvPr id="572" name="Google Shape;572;p4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2E75B5"/>
              </a:buClr>
              <a:buSzPts val="2400"/>
              <a:buNone/>
            </a:pP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Shape 576"/>
        <p:cNvGrpSpPr/>
        <p:nvPr/>
      </p:nvGrpSpPr>
      <p:grpSpPr>
        <a:xfrm>
          <a:off x="0" y="0"/>
          <a:ext cx="0" cy="0"/>
          <a:chOff x="0" y="0"/>
          <a:chExt cx="0" cy="0"/>
        </a:xfrm>
      </p:grpSpPr>
      <p:sp>
        <p:nvSpPr>
          <p:cNvPr id="577" name="Google Shape;577;p4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2E75B5"/>
              </a:buClr>
              <a:buSzPts val="6000"/>
              <a:buFont typeface="Calibri"/>
              <a:buNone/>
            </a:pPr>
            <a:r>
              <a:rPr lang="en-US"/>
              <a:t>Terima Kasih</a:t>
            </a:r>
            <a:endParaRPr/>
          </a:p>
        </p:txBody>
      </p:sp>
      <p:sp>
        <p:nvSpPr>
          <p:cNvPr id="578" name="Google Shape;578;p4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2E75B5"/>
              </a:buClr>
              <a:buSzPts val="2400"/>
              <a:buNone/>
            </a:pP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3223</Words>
  <Application>Microsoft Office PowerPoint</Application>
  <PresentationFormat>Layar Lebar</PresentationFormat>
  <Paragraphs>278</Paragraphs>
  <Slides>48</Slides>
  <Notes>48</Notes>
  <HiddenSlides>1</HiddenSlides>
  <MMClips>0</MMClips>
  <ScaleCrop>false</ScaleCrop>
  <HeadingPairs>
    <vt:vector size="6" baseType="variant">
      <vt:variant>
        <vt:lpstr>Font Dipakai</vt:lpstr>
      </vt:variant>
      <vt:variant>
        <vt:i4>4</vt:i4>
      </vt:variant>
      <vt:variant>
        <vt:lpstr>Tema</vt:lpstr>
      </vt:variant>
      <vt:variant>
        <vt:i4>1</vt:i4>
      </vt:variant>
      <vt:variant>
        <vt:lpstr>Judul Slide</vt:lpstr>
      </vt:variant>
      <vt:variant>
        <vt:i4>48</vt:i4>
      </vt:variant>
    </vt:vector>
  </HeadingPairs>
  <TitlesOfParts>
    <vt:vector size="53" baseType="lpstr">
      <vt:lpstr>Arial</vt:lpstr>
      <vt:lpstr>Open Sans</vt:lpstr>
      <vt:lpstr>Calibri</vt:lpstr>
      <vt:lpstr>Poppins</vt:lpstr>
      <vt:lpstr>Office Theme</vt:lpstr>
      <vt:lpstr>KODING DAN KECERDASAN ARTIFISIAL</vt:lpstr>
      <vt:lpstr>Etika dan Resiko Kecerdasan Artifisial</vt:lpstr>
      <vt:lpstr>Tujuan Pelatihan</vt:lpstr>
      <vt:lpstr>Kesepakatan Belajar</vt:lpstr>
      <vt:lpstr>Mindfulness</vt:lpstr>
      <vt:lpstr>Lembar Kerja</vt:lpstr>
      <vt:lpstr>LK Memahami (3.1 dan 3.2)</vt:lpstr>
      <vt:lpstr>Tahapan Pembelajaran</vt:lpstr>
      <vt:lpstr>Instruksi Pembelajaran Memahami</vt:lpstr>
      <vt:lpstr>Kecerdasan Artifisial Generatif dan Implementasinya</vt:lpstr>
      <vt:lpstr>Kecerdasan Artifisial Generatif</vt:lpstr>
      <vt:lpstr>Ruang Lingkup dan Definisi Teknologi KA Generatif</vt:lpstr>
      <vt:lpstr>Prinsip Kerja KA Generatif</vt:lpstr>
      <vt:lpstr>Presentasi PowerPoint</vt:lpstr>
      <vt:lpstr>Presentasi PowerPoint</vt:lpstr>
      <vt:lpstr>Presentasi PowerPoint</vt:lpstr>
      <vt:lpstr>Presentasi PowerPoint</vt:lpstr>
      <vt:lpstr>Kualitas Data dalam KA</vt:lpstr>
      <vt:lpstr>Faktor-Faktor Penentu Kualitas Dataset</vt:lpstr>
      <vt:lpstr>Presentasi PowerPoint</vt:lpstr>
      <vt:lpstr>Presentasi PowerPoint</vt:lpstr>
      <vt:lpstr>Presentasi PowerPoint</vt:lpstr>
      <vt:lpstr>Implementasi KA Generatif</vt:lpstr>
      <vt:lpstr>Aktivitas 1</vt:lpstr>
      <vt:lpstr>Refleksi Aktivitas 1</vt:lpstr>
      <vt:lpstr>Etika dan Resiko Penggunaan Kecerdasan Artifisial</vt:lpstr>
      <vt:lpstr>Etika dalam Penggunaan KA Generatif</vt:lpstr>
      <vt:lpstr>Presentasi PowerPoint</vt:lpstr>
      <vt:lpstr>Presentasi PowerPoint</vt:lpstr>
      <vt:lpstr>Presentasi PowerPoint</vt:lpstr>
      <vt:lpstr>Teknologi Deepfake</vt:lpstr>
      <vt:lpstr>Presentasi PowerPoint</vt:lpstr>
      <vt:lpstr>Presentasi PowerPoint</vt:lpstr>
      <vt:lpstr>Presentasi PowerPoint</vt:lpstr>
      <vt:lpstr>Presentasi PowerPoint</vt:lpstr>
      <vt:lpstr>Presentasi PowerPoint</vt:lpstr>
      <vt:lpstr>Presentasi PowerPoint</vt:lpstr>
      <vt:lpstr>Presentasi PowerPoint</vt:lpstr>
      <vt:lpstr>Aktivitas 2</vt:lpstr>
      <vt:lpstr>Refleksi Aktivitas 2</vt:lpstr>
      <vt:lpstr>Lembar Kerja</vt:lpstr>
      <vt:lpstr>LK Mengaplikasi</vt:lpstr>
      <vt:lpstr>Lembar Kerja</vt:lpstr>
      <vt:lpstr>LK Refleksi</vt:lpstr>
      <vt:lpstr>LK Refleksi</vt:lpstr>
      <vt:lpstr>Penguatan</vt:lpstr>
      <vt:lpstr>Penutup</vt:lpstr>
      <vt:lpstr>Terima Kasih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Yoki Ariyana</dc:creator>
  <cp:lastModifiedBy>andi agung</cp:lastModifiedBy>
  <cp:revision>1</cp:revision>
  <dcterms:created xsi:type="dcterms:W3CDTF">2025-05-02T05:28:58Z</dcterms:created>
  <dcterms:modified xsi:type="dcterms:W3CDTF">2025-07-11T11:49:27Z</dcterms:modified>
</cp:coreProperties>
</file>