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335" r:id="rId3"/>
    <p:sldId id="309" r:id="rId4"/>
    <p:sldId id="311" r:id="rId5"/>
    <p:sldId id="319" r:id="rId6"/>
    <p:sldId id="320" r:id="rId7"/>
    <p:sldId id="263" r:id="rId8"/>
    <p:sldId id="301" r:id="rId9"/>
    <p:sldId id="302" r:id="rId10"/>
    <p:sldId id="303" r:id="rId11"/>
    <p:sldId id="304" r:id="rId12"/>
    <p:sldId id="363" r:id="rId13"/>
    <p:sldId id="305" r:id="rId14"/>
    <p:sldId id="308" r:id="rId15"/>
    <p:sldId id="337" r:id="rId16"/>
    <p:sldId id="339" r:id="rId17"/>
    <p:sldId id="340" r:id="rId18"/>
    <p:sldId id="341" r:id="rId19"/>
    <p:sldId id="364" r:id="rId20"/>
    <p:sldId id="366" r:id="rId21"/>
    <p:sldId id="362" r:id="rId22"/>
    <p:sldId id="359" r:id="rId23"/>
    <p:sldId id="298" r:id="rId24"/>
    <p:sldId id="300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Helvetica Neue" panose="020B0604020202020204" charset="0"/>
      <p:regular r:id="rId31"/>
      <p:bold r:id="rId32"/>
      <p:italic r:id="rId33"/>
      <p:boldItalic r:id="rId34"/>
    </p:embeddedFont>
    <p:embeddedFont>
      <p:font typeface="Poppins" panose="00000500000000000000" pitchFamily="2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i5CZaodIF5aehkOrMbr1qRQ8Wp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6879EF-8C8B-49F9-AA38-4FCC930E2A87}">
  <a:tblStyle styleId="{E26879EF-8C8B-49F9-AA38-4FCC930E2A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290E6F-A9A9-4D9F-8730-2762479B258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4774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31143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3322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6687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0957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801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3975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47216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2797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66293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/>
          <p:nvPr/>
        </p:nvSpPr>
        <p:spPr>
          <a:xfrm>
            <a:off x="0" y="1166259"/>
            <a:ext cx="10167060" cy="5423028"/>
          </a:xfrm>
          <a:custGeom>
            <a:avLst/>
            <a:gdLst/>
            <a:ahLst/>
            <a:cxnLst/>
            <a:rect l="l" t="t" r="r" b="b"/>
            <a:pathLst>
              <a:path w="11802702" h="5886598" extrusionOk="0">
                <a:moveTo>
                  <a:pt x="0" y="0"/>
                </a:moveTo>
                <a:lnTo>
                  <a:pt x="11802702" y="0"/>
                </a:lnTo>
                <a:lnTo>
                  <a:pt x="11802702" y="5886598"/>
                </a:lnTo>
                <a:lnTo>
                  <a:pt x="0" y="5886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/>
            </a:stretch>
          </a:blipFill>
          <a:ln>
            <a:noFill/>
          </a:ln>
        </p:spPr>
      </p:sp>
      <p:sp>
        <p:nvSpPr>
          <p:cNvPr id="17" name="Google Shape;17;p47"/>
          <p:cNvSpPr txBox="1">
            <a:spLocks noGrp="1"/>
          </p:cNvSpPr>
          <p:nvPr>
            <p:ph type="ctrTitle"/>
          </p:nvPr>
        </p:nvSpPr>
        <p:spPr>
          <a:xfrm>
            <a:off x="404037" y="2723868"/>
            <a:ext cx="5996763" cy="195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  <a:defRPr sz="6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subTitle" idx="1"/>
          </p:nvPr>
        </p:nvSpPr>
        <p:spPr>
          <a:xfrm>
            <a:off x="404037" y="5071743"/>
            <a:ext cx="5996763" cy="135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  <a:defRPr sz="2400">
                <a:solidFill>
                  <a:srgbClr val="7030A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47"/>
          <p:cNvSpPr/>
          <p:nvPr/>
        </p:nvSpPr>
        <p:spPr>
          <a:xfrm>
            <a:off x="4607442" y="29499"/>
            <a:ext cx="7570382" cy="6996223"/>
          </a:xfrm>
          <a:custGeom>
            <a:avLst/>
            <a:gdLst/>
            <a:ahLst/>
            <a:cxnLst/>
            <a:rect l="l" t="t" r="r" b="b"/>
            <a:pathLst>
              <a:path w="7570382" h="6996223" extrusionOk="0">
                <a:moveTo>
                  <a:pt x="3700130" y="0"/>
                </a:moveTo>
                <a:lnTo>
                  <a:pt x="0" y="6889898"/>
                </a:lnTo>
                <a:lnTo>
                  <a:pt x="7570382" y="6996223"/>
                </a:lnTo>
                <a:cubicBezTo>
                  <a:pt x="7563293" y="4664149"/>
                  <a:pt x="7556205" y="2353339"/>
                  <a:pt x="7549116" y="21265"/>
                </a:cubicBezTo>
                <a:lnTo>
                  <a:pt x="3700130" y="0"/>
                </a:lnTo>
                <a:close/>
              </a:path>
            </a:pathLst>
          </a:custGeom>
          <a:solidFill>
            <a:schemeClr val="accent1">
              <a:alpha val="4274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7"/>
          <p:cNvSpPr/>
          <p:nvPr/>
        </p:nvSpPr>
        <p:spPr>
          <a:xfrm>
            <a:off x="7461657" y="-395468"/>
            <a:ext cx="5041085" cy="5373859"/>
          </a:xfrm>
          <a:custGeom>
            <a:avLst/>
            <a:gdLst/>
            <a:ahLst/>
            <a:cxnLst/>
            <a:rect l="l" t="t" r="r" b="b"/>
            <a:pathLst>
              <a:path w="5041085" h="5373859" extrusionOk="0">
                <a:moveTo>
                  <a:pt x="0" y="0"/>
                </a:moveTo>
                <a:lnTo>
                  <a:pt x="5041085" y="0"/>
                </a:lnTo>
                <a:lnTo>
                  <a:pt x="5041085" y="5373860"/>
                </a:lnTo>
                <a:lnTo>
                  <a:pt x="0" y="53738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1000"/>
            </a:blip>
            <a:stretch>
              <a:fillRect/>
            </a:stretch>
          </a:blipFill>
          <a:ln>
            <a:noFill/>
          </a:ln>
        </p:spPr>
      </p:sp>
      <p:sp>
        <p:nvSpPr>
          <p:cNvPr id="21" name="Google Shape;21;p47"/>
          <p:cNvSpPr/>
          <p:nvPr/>
        </p:nvSpPr>
        <p:spPr>
          <a:xfrm>
            <a:off x="6096000" y="3339842"/>
            <a:ext cx="5598042" cy="4986342"/>
          </a:xfrm>
          <a:custGeom>
            <a:avLst/>
            <a:gdLst/>
            <a:ahLst/>
            <a:cxnLst/>
            <a:rect l="l" t="t" r="r" b="b"/>
            <a:pathLst>
              <a:path w="6592378" h="6477011" extrusionOk="0">
                <a:moveTo>
                  <a:pt x="0" y="0"/>
                </a:moveTo>
                <a:lnTo>
                  <a:pt x="6592378" y="0"/>
                </a:lnTo>
                <a:lnTo>
                  <a:pt x="6592378" y="6477011"/>
                </a:lnTo>
                <a:lnTo>
                  <a:pt x="0" y="6477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7000"/>
            </a:blip>
            <a:stretch>
              <a:fillRect/>
            </a:stretch>
          </a:blipFill>
          <a:ln>
            <a:noFill/>
          </a:ln>
        </p:spPr>
      </p:sp>
      <p:sp>
        <p:nvSpPr>
          <p:cNvPr id="22" name="Google Shape;22;p47"/>
          <p:cNvSpPr/>
          <p:nvPr/>
        </p:nvSpPr>
        <p:spPr>
          <a:xfrm>
            <a:off x="157608" y="65658"/>
            <a:ext cx="1021286" cy="1030324"/>
          </a:xfrm>
          <a:custGeom>
            <a:avLst/>
            <a:gdLst/>
            <a:ahLst/>
            <a:cxnLst/>
            <a:rect l="l" t="t" r="r" b="b"/>
            <a:pathLst>
              <a:path w="1021286" h="1030324" extrusionOk="0">
                <a:moveTo>
                  <a:pt x="0" y="0"/>
                </a:moveTo>
                <a:lnTo>
                  <a:pt x="1021287" y="0"/>
                </a:lnTo>
                <a:lnTo>
                  <a:pt x="1021287" y="1030325"/>
                </a:lnTo>
                <a:lnTo>
                  <a:pt x="0" y="1030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" name="Google Shape;23;p47"/>
          <p:cNvSpPr txBox="1"/>
          <p:nvPr/>
        </p:nvSpPr>
        <p:spPr>
          <a:xfrm>
            <a:off x="1251100" y="257433"/>
            <a:ext cx="7287526" cy="68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Kementerian Pendidikan Dasar dan Menengah</a:t>
            </a:r>
            <a:endParaRPr sz="1800" b="0" i="0" u="none" strike="noStrike" cap="none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sp>
        <p:nvSpPr>
          <p:cNvPr id="24" name="Google Shape;24;p47"/>
          <p:cNvSpPr/>
          <p:nvPr/>
        </p:nvSpPr>
        <p:spPr>
          <a:xfrm>
            <a:off x="9912176" y="5513256"/>
            <a:ext cx="2036751" cy="1253166"/>
          </a:xfrm>
          <a:custGeom>
            <a:avLst/>
            <a:gdLst/>
            <a:ahLst/>
            <a:cxnLst/>
            <a:rect l="l" t="t" r="r" b="b"/>
            <a:pathLst>
              <a:path w="2036751" h="1253166" extrusionOk="0">
                <a:moveTo>
                  <a:pt x="0" y="0"/>
                </a:moveTo>
                <a:lnTo>
                  <a:pt x="2036750" y="0"/>
                </a:lnTo>
                <a:lnTo>
                  <a:pt x="2036750" y="1253167"/>
                </a:lnTo>
                <a:lnTo>
                  <a:pt x="0" y="1253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36039" b="-67113"/>
            </a:stretch>
          </a:blipFill>
          <a:ln>
            <a:noFill/>
          </a:ln>
        </p:spPr>
      </p:sp>
      <p:sp>
        <p:nvSpPr>
          <p:cNvPr id="25" name="Google Shape;25;p47"/>
          <p:cNvSpPr/>
          <p:nvPr/>
        </p:nvSpPr>
        <p:spPr>
          <a:xfrm>
            <a:off x="7586400" y="5611560"/>
            <a:ext cx="2229434" cy="1085305"/>
          </a:xfrm>
          <a:custGeom>
            <a:avLst/>
            <a:gdLst/>
            <a:ahLst/>
            <a:cxnLst/>
            <a:rect l="l" t="t" r="r" b="b"/>
            <a:pathLst>
              <a:path w="1820628" h="798727" extrusionOk="0">
                <a:moveTo>
                  <a:pt x="0" y="0"/>
                </a:moveTo>
                <a:lnTo>
                  <a:pt x="1820629" y="0"/>
                </a:lnTo>
                <a:lnTo>
                  <a:pt x="1820629" y="798727"/>
                </a:lnTo>
                <a:lnTo>
                  <a:pt x="0" y="798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407476" t="-1512772" r="-113525" b="-15620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7321343" h="8639020" extrusionOk="0">
                <a:moveTo>
                  <a:pt x="0" y="0"/>
                </a:moveTo>
                <a:lnTo>
                  <a:pt x="17321344" y="0"/>
                </a:lnTo>
                <a:lnTo>
                  <a:pt x="17321344" y="8639020"/>
                </a:lnTo>
                <a:lnTo>
                  <a:pt x="0" y="863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 l="-6031" t="-9276" r="-6030" b="-1367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  <a:defRPr sz="60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  <a:defRPr sz="2400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cxnSp>
        <p:nvCxnSpPr>
          <p:cNvPr id="30" name="Google Shape;30;p48"/>
          <p:cNvCxnSpPr/>
          <p:nvPr/>
        </p:nvCxnSpPr>
        <p:spPr>
          <a:xfrm>
            <a:off x="838200" y="4582742"/>
            <a:ext cx="7497726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1" name="Google Shape;31;p48"/>
          <p:cNvCxnSpPr/>
          <p:nvPr/>
        </p:nvCxnSpPr>
        <p:spPr>
          <a:xfrm>
            <a:off x="6719777" y="4582742"/>
            <a:ext cx="4634023" cy="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48"/>
          <p:cNvSpPr/>
          <p:nvPr/>
        </p:nvSpPr>
        <p:spPr>
          <a:xfrm>
            <a:off x="157608" y="65658"/>
            <a:ext cx="1021286" cy="1030324"/>
          </a:xfrm>
          <a:custGeom>
            <a:avLst/>
            <a:gdLst/>
            <a:ahLst/>
            <a:cxnLst/>
            <a:rect l="l" t="t" r="r" b="b"/>
            <a:pathLst>
              <a:path w="1021286" h="1030324" extrusionOk="0">
                <a:moveTo>
                  <a:pt x="0" y="0"/>
                </a:moveTo>
                <a:lnTo>
                  <a:pt x="1021287" y="0"/>
                </a:lnTo>
                <a:lnTo>
                  <a:pt x="1021287" y="1030325"/>
                </a:lnTo>
                <a:lnTo>
                  <a:pt x="0" y="10303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3" name="Google Shape;33;p48"/>
          <p:cNvSpPr txBox="1"/>
          <p:nvPr/>
        </p:nvSpPr>
        <p:spPr>
          <a:xfrm>
            <a:off x="1251100" y="257433"/>
            <a:ext cx="7287526" cy="680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Kementerian Pendidikan Dasar dan Menengah</a:t>
            </a:r>
            <a:endParaRPr sz="1800" b="0">
              <a:solidFill>
                <a:srgbClr val="2E75B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2E75B5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sp>
        <p:nvSpPr>
          <p:cNvPr id="34" name="Google Shape;34;p48"/>
          <p:cNvSpPr/>
          <p:nvPr/>
        </p:nvSpPr>
        <p:spPr>
          <a:xfrm>
            <a:off x="10222728" y="-58471"/>
            <a:ext cx="1681726" cy="1077325"/>
          </a:xfrm>
          <a:custGeom>
            <a:avLst/>
            <a:gdLst/>
            <a:ahLst/>
            <a:cxnLst/>
            <a:rect l="l" t="t" r="r" b="b"/>
            <a:pathLst>
              <a:path w="2036751" h="1253166" extrusionOk="0">
                <a:moveTo>
                  <a:pt x="0" y="0"/>
                </a:moveTo>
                <a:lnTo>
                  <a:pt x="2036750" y="0"/>
                </a:lnTo>
                <a:lnTo>
                  <a:pt x="2036750" y="1253167"/>
                </a:lnTo>
                <a:lnTo>
                  <a:pt x="0" y="12531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36039" b="-67113"/>
            </a:stretch>
          </a:blipFill>
          <a:ln>
            <a:noFill/>
          </a:ln>
        </p:spPr>
      </p:sp>
      <p:sp>
        <p:nvSpPr>
          <p:cNvPr id="35" name="Google Shape;35;p48"/>
          <p:cNvSpPr/>
          <p:nvPr/>
        </p:nvSpPr>
        <p:spPr>
          <a:xfrm>
            <a:off x="8554354" y="128679"/>
            <a:ext cx="1727680" cy="823745"/>
          </a:xfrm>
          <a:custGeom>
            <a:avLst/>
            <a:gdLst/>
            <a:ahLst/>
            <a:cxnLst/>
            <a:rect l="l" t="t" r="r" b="b"/>
            <a:pathLst>
              <a:path w="1820628" h="798727" extrusionOk="0">
                <a:moveTo>
                  <a:pt x="0" y="0"/>
                </a:moveTo>
                <a:lnTo>
                  <a:pt x="1820629" y="0"/>
                </a:lnTo>
                <a:lnTo>
                  <a:pt x="1820629" y="798727"/>
                </a:lnTo>
                <a:lnTo>
                  <a:pt x="0" y="798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407476" t="-1512772" r="-113525" b="-15620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  <a:defRPr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9"/>
          <p:cNvSpPr/>
          <p:nvPr/>
        </p:nvSpPr>
        <p:spPr>
          <a:xfrm>
            <a:off x="0" y="1690688"/>
            <a:ext cx="12191999" cy="5167312"/>
          </a:xfrm>
          <a:custGeom>
            <a:avLst/>
            <a:gdLst/>
            <a:ahLst/>
            <a:cxnLst/>
            <a:rect l="l" t="t" r="r" b="b"/>
            <a:pathLst>
              <a:path w="17321343" h="8639020" extrusionOk="0">
                <a:moveTo>
                  <a:pt x="0" y="0"/>
                </a:moveTo>
                <a:lnTo>
                  <a:pt x="17321344" y="0"/>
                </a:lnTo>
                <a:lnTo>
                  <a:pt x="17321344" y="8639020"/>
                </a:lnTo>
                <a:lnTo>
                  <a:pt x="0" y="86390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31999"/>
            </a:blip>
            <a:stretch>
              <a:fillRect/>
            </a:stretch>
          </a:blipFill>
          <a:ln>
            <a:noFill/>
          </a:ln>
        </p:spPr>
      </p:sp>
      <p:cxnSp>
        <p:nvCxnSpPr>
          <p:cNvPr id="39" name="Google Shape;39;p49"/>
          <p:cNvCxnSpPr/>
          <p:nvPr/>
        </p:nvCxnSpPr>
        <p:spPr>
          <a:xfrm>
            <a:off x="838200" y="1690688"/>
            <a:ext cx="7497726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0" name="Google Shape;40;p49"/>
          <p:cNvCxnSpPr/>
          <p:nvPr/>
        </p:nvCxnSpPr>
        <p:spPr>
          <a:xfrm>
            <a:off x="6719777" y="1690688"/>
            <a:ext cx="4634023" cy="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" name="Google Shape;41;p49"/>
          <p:cNvSpPr/>
          <p:nvPr/>
        </p:nvSpPr>
        <p:spPr>
          <a:xfrm>
            <a:off x="105273" y="6268035"/>
            <a:ext cx="494516" cy="498893"/>
          </a:xfrm>
          <a:custGeom>
            <a:avLst/>
            <a:gdLst/>
            <a:ahLst/>
            <a:cxnLst/>
            <a:rect l="l" t="t" r="r" b="b"/>
            <a:pathLst>
              <a:path w="659355" h="665190" extrusionOk="0">
                <a:moveTo>
                  <a:pt x="0" y="0"/>
                </a:moveTo>
                <a:lnTo>
                  <a:pt x="659355" y="0"/>
                </a:lnTo>
                <a:lnTo>
                  <a:pt x="659355" y="665190"/>
                </a:lnTo>
                <a:lnTo>
                  <a:pt x="0" y="6651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2" name="Google Shape;42;p49"/>
          <p:cNvSpPr txBox="1"/>
          <p:nvPr/>
        </p:nvSpPr>
        <p:spPr>
          <a:xfrm>
            <a:off x="629853" y="6388734"/>
            <a:ext cx="6303024" cy="29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E75B5"/>
                </a:solidFill>
                <a:latin typeface="Poppins"/>
                <a:ea typeface="Poppins"/>
                <a:cs typeface="Poppins"/>
                <a:sym typeface="Poppins"/>
              </a:rPr>
              <a:t>Kementerian Pendidikan Dasar dan Menengah</a:t>
            </a:r>
            <a:endParaRPr sz="1700">
              <a:solidFill>
                <a:srgbClr val="2E75B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AF6">
            <a:alpha val="45882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>
            <a:spLocks noGrp="1"/>
          </p:cNvSpPr>
          <p:nvPr>
            <p:ph type="ctrTitle"/>
          </p:nvPr>
        </p:nvSpPr>
        <p:spPr>
          <a:xfrm>
            <a:off x="404037" y="2723868"/>
            <a:ext cx="5996763" cy="195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sz="4400" dirty="0" err="1"/>
              <a:t>Literasi</a:t>
            </a:r>
            <a:r>
              <a:rPr lang="en-US" sz="4400" dirty="0"/>
              <a:t> </a:t>
            </a:r>
            <a:r>
              <a:rPr lang="en-US" sz="4400" dirty="0" err="1"/>
              <a:t>Algoritma</a:t>
            </a:r>
            <a:r>
              <a:rPr lang="en-US" sz="4400" dirty="0"/>
              <a:t> dan </a:t>
            </a:r>
            <a:br>
              <a:rPr lang="en-US" sz="4400" dirty="0"/>
            </a:br>
            <a:r>
              <a:rPr lang="en-US" sz="4400" dirty="0" err="1"/>
              <a:t>Konten</a:t>
            </a:r>
            <a:r>
              <a:rPr lang="en-US" sz="4400" dirty="0"/>
              <a:t> Digital</a:t>
            </a:r>
          </a:p>
        </p:txBody>
      </p:sp>
      <p:sp>
        <p:nvSpPr>
          <p:cNvPr id="60" name="Google Shape;60;p1"/>
          <p:cNvSpPr txBox="1">
            <a:spLocks noGrp="1"/>
          </p:cNvSpPr>
          <p:nvPr>
            <p:ph type="subTitle" idx="1"/>
          </p:nvPr>
        </p:nvSpPr>
        <p:spPr>
          <a:xfrm>
            <a:off x="404037" y="5071743"/>
            <a:ext cx="5996763" cy="1357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400"/>
              <a:buNone/>
            </a:pPr>
            <a:r>
              <a:rPr lang="en-US"/>
              <a:t>Pendidikan Dasar dan Menengah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415365" y="1486249"/>
            <a:ext cx="5996763" cy="123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Modul </a:t>
            </a:r>
            <a:r>
              <a:rPr lang="en-US" sz="44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4400" b="1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9E251-DCDB-4C8E-A465-414791C9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Produksi Konten dan Desiminasi Konten Digital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67817-3EC7-407F-A25C-6F0DBD45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 Modul 2.2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3434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Kesepakatan</a:t>
            </a:r>
            <a:r>
              <a:rPr lang="en-US" dirty="0"/>
              <a:t> </a:t>
            </a:r>
            <a:r>
              <a:rPr lang="en-US" dirty="0" err="1"/>
              <a:t>Belajar</a:t>
            </a:r>
            <a:endParaRPr lang="en-ID" dirty="0"/>
          </a:p>
        </p:txBody>
      </p:sp>
      <p:pic>
        <p:nvPicPr>
          <p:cNvPr id="4" name="Graphic 3" descr="Stopwatch with solid fill">
            <a:extLst>
              <a:ext uri="{FF2B5EF4-FFF2-40B4-BE49-F238E27FC236}">
                <a16:creationId xmlns:a16="http://schemas.microsoft.com/office/drawing/2014/main" id="{39CA5F6F-2118-49E3-84D6-39A399194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1080" y="2682239"/>
            <a:ext cx="914400" cy="914400"/>
          </a:xfrm>
          <a:prstGeom prst="rect">
            <a:avLst/>
          </a:prstGeom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9D37064B-9113-456D-AF15-85E545C20A49}"/>
              </a:ext>
            </a:extLst>
          </p:cNvPr>
          <p:cNvSpPr txBox="1"/>
          <p:nvPr/>
        </p:nvSpPr>
        <p:spPr>
          <a:xfrm>
            <a:off x="2209800" y="2939405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Hadir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tepat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7" name="Graphic 6" descr="Smart Phone with solid fill">
            <a:extLst>
              <a:ext uri="{FF2B5EF4-FFF2-40B4-BE49-F238E27FC236}">
                <a16:creationId xmlns:a16="http://schemas.microsoft.com/office/drawing/2014/main" id="{7DF77D22-D74E-43BA-A00A-6EFE129F9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4431" y="4209092"/>
            <a:ext cx="761049" cy="761049"/>
          </a:xfrm>
          <a:prstGeom prst="rect">
            <a:avLst/>
          </a:prstGeom>
        </p:spPr>
      </p:pic>
      <p:sp>
        <p:nvSpPr>
          <p:cNvPr id="8" name="&quot;Not Allowed&quot; Symbol 7">
            <a:extLst>
              <a:ext uri="{FF2B5EF4-FFF2-40B4-BE49-F238E27FC236}">
                <a16:creationId xmlns:a16="http://schemas.microsoft.com/office/drawing/2014/main" id="{9B7F6D2D-D5CC-4332-BE62-8949BA0A7111}"/>
              </a:ext>
            </a:extLst>
          </p:cNvPr>
          <p:cNvSpPr/>
          <p:nvPr/>
        </p:nvSpPr>
        <p:spPr>
          <a:xfrm>
            <a:off x="1021080" y="4130989"/>
            <a:ext cx="1051560" cy="914401"/>
          </a:xfrm>
          <a:prstGeom prst="noSmoking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9" name="Google Shape;99;p6">
            <a:extLst>
              <a:ext uri="{FF2B5EF4-FFF2-40B4-BE49-F238E27FC236}">
                <a16:creationId xmlns:a16="http://schemas.microsoft.com/office/drawing/2014/main" id="{30EFBD8D-BF89-4599-9C44-5922A0EF384E}"/>
              </a:ext>
            </a:extLst>
          </p:cNvPr>
          <p:cNvSpPr txBox="1"/>
          <p:nvPr/>
        </p:nvSpPr>
        <p:spPr>
          <a:xfrm>
            <a:off x="2209800" y="4388154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Ponsel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mode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hening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1" name="Graphic 10" descr="Meeting with solid fill">
            <a:extLst>
              <a:ext uri="{FF2B5EF4-FFF2-40B4-BE49-F238E27FC236}">
                <a16:creationId xmlns:a16="http://schemas.microsoft.com/office/drawing/2014/main" id="{25F884CF-5501-4729-977C-F5FB06723E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16858" y="2710806"/>
            <a:ext cx="914400" cy="914400"/>
          </a:xfrm>
          <a:prstGeom prst="rect">
            <a:avLst/>
          </a:prstGeom>
        </p:spPr>
      </p:pic>
      <p:sp>
        <p:nvSpPr>
          <p:cNvPr id="12" name="Google Shape;99;p6">
            <a:extLst>
              <a:ext uri="{FF2B5EF4-FFF2-40B4-BE49-F238E27FC236}">
                <a16:creationId xmlns:a16="http://schemas.microsoft.com/office/drawing/2014/main" id="{BDF068C3-7172-448C-9346-E3350B4B2160}"/>
              </a:ext>
            </a:extLst>
          </p:cNvPr>
          <p:cNvSpPr txBox="1"/>
          <p:nvPr/>
        </p:nvSpPr>
        <p:spPr>
          <a:xfrm>
            <a:off x="6505578" y="3028931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Saling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menghormati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4" name="Graphic 13" descr="Customer review with solid fill">
            <a:extLst>
              <a:ext uri="{FF2B5EF4-FFF2-40B4-BE49-F238E27FC236}">
                <a16:creationId xmlns:a16="http://schemas.microsoft.com/office/drawing/2014/main" id="{9E816402-26EB-4669-B017-7DCC820030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6858" y="4084308"/>
            <a:ext cx="914400" cy="914400"/>
          </a:xfrm>
          <a:prstGeom prst="rect">
            <a:avLst/>
          </a:prstGeom>
        </p:spPr>
      </p:pic>
      <p:sp>
        <p:nvSpPr>
          <p:cNvPr id="15" name="Google Shape;99;p6">
            <a:extLst>
              <a:ext uri="{FF2B5EF4-FFF2-40B4-BE49-F238E27FC236}">
                <a16:creationId xmlns:a16="http://schemas.microsoft.com/office/drawing/2014/main" id="{1E532CC9-014F-4CE0-968A-927971BED355}"/>
              </a:ext>
            </a:extLst>
          </p:cNvPr>
          <p:cNvSpPr txBox="1"/>
          <p:nvPr/>
        </p:nvSpPr>
        <p:spPr>
          <a:xfrm>
            <a:off x="6505578" y="4526266"/>
            <a:ext cx="44958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Aktif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pembelajaran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  <p:pic>
        <p:nvPicPr>
          <p:cNvPr id="17" name="Graphic 16" descr="Large paint brush with solid fill">
            <a:extLst>
              <a:ext uri="{FF2B5EF4-FFF2-40B4-BE49-F238E27FC236}">
                <a16:creationId xmlns:a16="http://schemas.microsoft.com/office/drawing/2014/main" id="{4F6DD62B-C685-4B0F-992D-2EC8B6DB64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30696" y="3429000"/>
            <a:ext cx="914400" cy="914400"/>
          </a:xfrm>
          <a:prstGeom prst="rect">
            <a:avLst/>
          </a:prstGeom>
        </p:spPr>
      </p:pic>
      <p:sp>
        <p:nvSpPr>
          <p:cNvPr id="18" name="Google Shape;99;p6">
            <a:extLst>
              <a:ext uri="{FF2B5EF4-FFF2-40B4-BE49-F238E27FC236}">
                <a16:creationId xmlns:a16="http://schemas.microsoft.com/office/drawing/2014/main" id="{1966595C-4B01-4567-A411-6A8AD34BCA19}"/>
              </a:ext>
            </a:extLst>
          </p:cNvPr>
          <p:cNvSpPr txBox="1"/>
          <p:nvPr/>
        </p:nvSpPr>
        <p:spPr>
          <a:xfrm>
            <a:off x="10245096" y="3554654"/>
            <a:ext cx="1512564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Menjaga</a:t>
            </a:r>
            <a:r>
              <a:rPr lang="en-US" sz="20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0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kebersihan</a:t>
            </a:r>
            <a:endParaRPr lang="en-US" sz="20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2004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Mindfulness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55BA7-A5EF-4AC7-A0D5-A21889359B7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838200" y="2279015"/>
            <a:ext cx="4865583" cy="3664585"/>
          </a:xfrm>
          <a:prstGeom prst="rect">
            <a:avLst/>
          </a:prstGeom>
        </p:spPr>
      </p:pic>
      <p:sp>
        <p:nvSpPr>
          <p:cNvPr id="5" name="Google Shape;99;p6">
            <a:extLst>
              <a:ext uri="{FF2B5EF4-FFF2-40B4-BE49-F238E27FC236}">
                <a16:creationId xmlns:a16="http://schemas.microsoft.com/office/drawing/2014/main" id="{69910DB8-E13C-4850-8C47-D82F0E7FC277}"/>
              </a:ext>
            </a:extLst>
          </p:cNvPr>
          <p:cNvSpPr txBox="1"/>
          <p:nvPr/>
        </p:nvSpPr>
        <p:spPr>
          <a:xfrm>
            <a:off x="5703783" y="3561497"/>
            <a:ext cx="565404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Dengan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panduan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Pengajar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Koding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dan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Kecerdasan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Artifisial</a:t>
            </a:r>
            <a:endParaRPr lang="en-US" sz="32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lakukan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32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kegiatan</a:t>
            </a:r>
            <a:r>
              <a:rPr lang="en-US" sz="32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Teknik STOP.</a:t>
            </a:r>
            <a:endParaRPr lang="en-US" sz="32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2012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8F953A-BA00-47F3-8B98-F8E4E283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Lembar </a:t>
            </a:r>
            <a:r>
              <a:rPr lang="en-US" dirty="0" err="1"/>
              <a:t>Kerja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F5DC6-1EDA-4CB6-A953-0F48F4171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Mengaplikasi</a:t>
            </a:r>
            <a:endParaRPr lang="en-ID" dirty="0"/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4F1573B0-7C25-484D-9F8A-B01278CE4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5920" y="2261870"/>
            <a:ext cx="2081530" cy="20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70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Memahami</a:t>
            </a:r>
            <a:r>
              <a:rPr lang="en-US" dirty="0"/>
              <a:t> (2.4.a dan 2.4.b)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51BB4E18-9DC0-42FF-9013-012CB59DCC47}"/>
              </a:ext>
            </a:extLst>
          </p:cNvPr>
          <p:cNvSpPr txBox="1"/>
          <p:nvPr/>
        </p:nvSpPr>
        <p:spPr>
          <a:xfrm>
            <a:off x="838200" y="2240344"/>
            <a:ext cx="10610088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Unduh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file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Memahami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di LMS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Memahami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2.4.a dan LK 2.4.b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2.4.a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membuat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mind-map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resume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berbasis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i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cornell</a:t>
            </a:r>
            <a:r>
              <a:rPr lang="en-US" sz="2800" i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-note taking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Untuk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bagian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2.4.b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setelah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mengerjakan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3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soal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mintalah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umpan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balik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2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rekan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sejawat</a:t>
            </a:r>
            <a:endParaRPr lang="en-US" sz="2800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 LK 2.4.a dan 2.4.b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unggah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LMS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menjadi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1 file PDF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Alokasi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waktu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pengerjaan</a:t>
            </a:r>
            <a:r>
              <a:rPr lang="en-US" sz="28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20 </a:t>
            </a:r>
            <a:r>
              <a:rPr lang="en-US" sz="28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menit</a:t>
            </a:r>
            <a:endParaRPr sz="1800" b="1" dirty="0"/>
          </a:p>
        </p:txBody>
      </p:sp>
    </p:spTree>
    <p:extLst>
      <p:ext uri="{BB962C8B-B14F-4D97-AF65-F5344CB8AC3E}">
        <p14:creationId xmlns:p14="http://schemas.microsoft.com/office/powerpoint/2010/main" val="121816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sz="3600" dirty="0" err="1"/>
              <a:t>Mengelola</a:t>
            </a:r>
            <a:r>
              <a:rPr lang="en-US" sz="3600" dirty="0"/>
              <a:t> data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kehidupan</a:t>
            </a:r>
            <a:r>
              <a:rPr lang="en-US" sz="3600" dirty="0"/>
              <a:t> </a:t>
            </a:r>
            <a:r>
              <a:rPr lang="en-US" sz="3600" dirty="0" err="1"/>
              <a:t>sehari-hari</a:t>
            </a:r>
            <a:endParaRPr lang="en-US" sz="3600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03458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nn-NO" sz="32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Pada Sub Bab ini kita akan membahas tentang produksi konten digital dan desiminasi konten digital yang berkaitan dengan sub bab sebelumnya.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Unsur-unsur</a:t>
            </a:r>
            <a:r>
              <a:rPr lang="en-US" dirty="0"/>
              <a:t> </a:t>
            </a:r>
            <a:r>
              <a:rPr lang="en-US" dirty="0" err="1"/>
              <a:t>Komunikasi</a:t>
            </a:r>
            <a:endParaRPr lang="en-US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Komunikator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media,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Komunikan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Efek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/timbal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balik</a:t>
            </a:r>
            <a:endParaRPr lang="en-US" sz="28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87520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Strategi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Penyusunan</a:t>
            </a:r>
            <a:r>
              <a:rPr lang="en-US" dirty="0"/>
              <a:t> </a:t>
            </a:r>
            <a:r>
              <a:rPr lang="en-US" dirty="0" err="1"/>
              <a:t>Pesan</a:t>
            </a:r>
            <a:endParaRPr lang="en-US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Penentuan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Target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audiens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Penulisan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gaya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bercerita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Inti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Nilai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emosional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Manfaat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isi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 yang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menarik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8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relevan</a:t>
            </a:r>
            <a:r>
              <a:rPr lang="en-US" sz="28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9387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sz="4000" dirty="0" err="1"/>
              <a:t>Prinsip-prinsip</a:t>
            </a:r>
            <a:r>
              <a:rPr lang="en-US" sz="4000" dirty="0"/>
              <a:t> </a:t>
            </a:r>
            <a:r>
              <a:rPr lang="en-US" sz="4000" dirty="0" err="1"/>
              <a:t>Dalam</a:t>
            </a:r>
            <a:r>
              <a:rPr lang="en-US" sz="4000" dirty="0"/>
              <a:t> </a:t>
            </a:r>
            <a:r>
              <a:rPr lang="en-US" sz="4000" dirty="0" err="1"/>
              <a:t>Penyusunan</a:t>
            </a:r>
            <a:r>
              <a:rPr lang="en-US" sz="4000" dirty="0"/>
              <a:t> Tata </a:t>
            </a:r>
            <a:r>
              <a:rPr lang="en-US" sz="4000" dirty="0" err="1"/>
              <a:t>Letak</a:t>
            </a:r>
            <a:endParaRPr lang="en-US" sz="4000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Kesatuan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(Unity) dan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keselarasan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(Harmony),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menekankan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pada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keselarasan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unsur-unsur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disusun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desain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bisa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dikatakan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menyatu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apabila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secara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keseluruhan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tampak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harmonis</a:t>
            </a:r>
            <a:endParaRPr lang="en-US" sz="20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Keseimbangan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(Balance),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keteraturan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tatanan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diantara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bagian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bagian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lainya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pada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suatu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karya</a:t>
            </a:r>
            <a:endParaRPr lang="en-US" sz="20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Kesebandingan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(Proportion),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perbandingan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ukuran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digunakan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secara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keseluruhan</a:t>
            </a:r>
            <a:endParaRPr lang="en-US" sz="20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Irama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(Rhythm),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pengulangan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unsur-unsur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tata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letak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secara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teratur</a:t>
            </a:r>
            <a:endParaRPr lang="en-US" sz="20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Penekanan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Fokus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(Dominance),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menarik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perhatian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menghilangkan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kebosanan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dan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memecah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keteraturan</a:t>
            </a:r>
            <a:endParaRPr lang="en-US" sz="20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Kontras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(contrast),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perbedaan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mencolok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pada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beberapa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unsur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tata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letak</a:t>
            </a:r>
            <a:endParaRPr lang="en-US" sz="20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Repetisi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(Repetition),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pengulangan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rangkaian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komposisi</a:t>
            </a:r>
            <a:r>
              <a:rPr lang="en-US" sz="20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desain</a:t>
            </a:r>
            <a:endParaRPr lang="en-US" sz="20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066053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Alat Dan Platform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Produksi</a:t>
            </a:r>
            <a:endParaRPr lang="en-US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Teks editor dan blog: Platform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WordPress, Medium,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Google Docs,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Desain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Grafis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Adobe Photoshop, Illustrator,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Canva,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Video: Adobe Premiere Pro, Final Cut Pro, DaVinci Resolve,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Audio: Audacity, Adobe Audition,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GarageBand,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Animasi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3D: Blender, Maya,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After Effects,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Tangkap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: Snagit,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ScreenPal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Screenpresso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TechSmith, Adobe Captivate, Loom,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Ashampoo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Snap,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PicPick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Snipping Tool,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WinSnap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dll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08207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9E251-DCDB-4C8E-A465-414791C9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Pembuatan Konten Digital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67817-3EC7-407F-A25C-6F0DBD451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6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83607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Aktivitas</a:t>
            </a:r>
            <a:r>
              <a:rPr lang="en-US" dirty="0"/>
              <a:t> 6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40D7290-38B6-EEDA-FD2A-88359A4C4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480211"/>
              </p:ext>
            </p:extLst>
          </p:nvPr>
        </p:nvGraphicFramePr>
        <p:xfrm>
          <a:off x="838200" y="2161032"/>
          <a:ext cx="10515600" cy="4192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0702">
                  <a:extLst>
                    <a:ext uri="{9D8B030D-6E8A-4147-A177-3AD203B41FA5}">
                      <a16:colId xmlns:a16="http://schemas.microsoft.com/office/drawing/2014/main" val="210881727"/>
                    </a:ext>
                  </a:extLst>
                </a:gridCol>
                <a:gridCol w="331241">
                  <a:extLst>
                    <a:ext uri="{9D8B030D-6E8A-4147-A177-3AD203B41FA5}">
                      <a16:colId xmlns:a16="http://schemas.microsoft.com/office/drawing/2014/main" val="1145271947"/>
                    </a:ext>
                  </a:extLst>
                </a:gridCol>
                <a:gridCol w="7773657">
                  <a:extLst>
                    <a:ext uri="{9D8B030D-6E8A-4147-A177-3AD203B41FA5}">
                      <a16:colId xmlns:a16="http://schemas.microsoft.com/office/drawing/2014/main" val="3316136440"/>
                    </a:ext>
                  </a:extLst>
                </a:gridCol>
              </a:tblGrid>
              <a:tr h="870613">
                <a:tc>
                  <a:txBody>
                    <a:bodyPr/>
                    <a:lstStyle/>
                    <a:p>
                      <a:r>
                        <a:rPr lang="en-US" sz="2200" b="1" u="none" strike="noStrike" cap="none" dirty="0" err="1">
                          <a:solidFill>
                            <a:srgbClr val="1E4E79"/>
                          </a:solidFill>
                          <a:sym typeface="Arial"/>
                        </a:rPr>
                        <a:t>Tujuan</a:t>
                      </a:r>
                      <a:endParaRPr lang="en-US" sz="2200" b="1" i="0" u="none" strike="noStrike" cap="none" dirty="0">
                        <a:solidFill>
                          <a:srgbClr val="1E4E79"/>
                        </a:solidFill>
                        <a:latin typeface="Helvetica Neue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: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Peserta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pelatihan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dapat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memadukan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literasi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digital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serta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menciptakan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konten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digital yang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efisien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dan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sesuai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dengan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sasaran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audiens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.</a:t>
                      </a:r>
                    </a:p>
                    <a:p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17022"/>
                  </a:ext>
                </a:extLst>
              </a:tr>
              <a:tr h="808835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1E4E79"/>
                          </a:solidFill>
                          <a:sym typeface="Helvetica Neue"/>
                        </a:rPr>
                        <a:t>Plugged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: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Video: Adobe Premiere Pro, Final Cut Pro, DaVinci Resolve, dan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IMovie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761390"/>
                  </a:ext>
                </a:extLst>
              </a:tr>
              <a:tr h="1141885">
                <a:tc>
                  <a:txBody>
                    <a:bodyPr/>
                    <a:lstStyle/>
                    <a:p>
                      <a:r>
                        <a:rPr lang="en-US" sz="2200" b="1" dirty="0" err="1">
                          <a:solidFill>
                            <a:srgbClr val="1E4E79"/>
                          </a:solidFill>
                          <a:sym typeface="Helvetica Neue"/>
                        </a:rPr>
                        <a:t>Tangkap</a:t>
                      </a:r>
                      <a:r>
                        <a:rPr lang="en-US" sz="2200" b="1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b="1" dirty="0" err="1">
                          <a:solidFill>
                            <a:srgbClr val="1E4E79"/>
                          </a:solidFill>
                          <a:sym typeface="Helvetica Neue"/>
                        </a:rPr>
                        <a:t>layar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:</a:t>
                      </a:r>
                      <a:endParaRPr lang="en-US" sz="2200" dirty="0"/>
                    </a:p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Snagit,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ScreenPal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,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Screenpresso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, TechSmith, Adobe Captivate, Loom,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Ashampoo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Snap,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PicPick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, Snipping Tool,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WinSnap</a:t>
                      </a:r>
                      <a:endParaRPr 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393100"/>
                  </a:ext>
                </a:extLst>
              </a:tr>
              <a:tr h="808835">
                <a:tc>
                  <a:txBody>
                    <a:bodyPr/>
                    <a:lstStyle/>
                    <a:p>
                      <a:r>
                        <a:rPr lang="en-US" sz="2200" b="1" dirty="0">
                          <a:solidFill>
                            <a:srgbClr val="1E4E79"/>
                          </a:solidFill>
                          <a:sym typeface="Helvetica Neue"/>
                        </a:rPr>
                        <a:t>Unplugged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:</a:t>
                      </a:r>
                      <a:endParaRPr lang="en-US" sz="2200" dirty="0"/>
                    </a:p>
                    <a:p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Kertas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,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pensil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,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atau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papan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 </a:t>
                      </a:r>
                      <a:r>
                        <a:rPr lang="en-US" sz="2200" dirty="0" err="1">
                          <a:solidFill>
                            <a:srgbClr val="1E4E79"/>
                          </a:solidFill>
                          <a:sym typeface="Helvetica Neue"/>
                        </a:rPr>
                        <a:t>tulis</a:t>
                      </a:r>
                      <a:r>
                        <a:rPr lang="en-US" sz="2200" dirty="0">
                          <a:solidFill>
                            <a:srgbClr val="1E4E79"/>
                          </a:solidFill>
                          <a:sym typeface="Helvetica Neue"/>
                        </a:rPr>
                        <a:t>.</a:t>
                      </a:r>
                      <a:endParaRPr lang="en-US" sz="2200" dirty="0">
                        <a:solidFill>
                          <a:srgbClr val="1E4E79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443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114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6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Mengidentifikasi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menjangkau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target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audiens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Tangkap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pengelolaan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penyusunan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instruksi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Gabungkan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4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menjadi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1 video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sesuai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kebutuhan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Tangkap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Layar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5,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Penyusunan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Instruksi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kemas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sesuai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kebutuhan</a:t>
            </a: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38241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Diseminasi</a:t>
            </a:r>
            <a:r>
              <a:rPr lang="en-US" i="1" dirty="0"/>
              <a:t> </a:t>
            </a:r>
            <a:r>
              <a:rPr lang="en-US" i="1" dirty="0" err="1"/>
              <a:t>Konten</a:t>
            </a:r>
            <a:r>
              <a:rPr lang="en-US" i="1" dirty="0"/>
              <a:t> Digital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Aktivitas</a:t>
            </a:r>
            <a:r>
              <a:rPr lang="en-US" dirty="0"/>
              <a:t> 7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44554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Diseminasi</a:t>
            </a:r>
            <a:r>
              <a:rPr lang="en-US" dirty="0"/>
              <a:t> </a:t>
            </a:r>
            <a:r>
              <a:rPr lang="en-US" dirty="0" err="1"/>
              <a:t>Konten</a:t>
            </a:r>
            <a:r>
              <a:rPr lang="en-US" dirty="0"/>
              <a:t> Digital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Media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Sosial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Facebook, Instagram, X/Twitter, LinkedIn, dan TikTok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digunakan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membagikan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kepada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audiens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luas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berinteraksi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dengan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mereka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secara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langsung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Platform Video: YouTube dan TikTok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adalah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platform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utama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mengunggah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menyebarkan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video.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Podcasting Platforms: Spotify, Apple Podcasts, dan Google Podcasts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memungkinkan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penyebaran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audio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podcast.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Situs Web dan Blog: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Publikasi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 situs web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blog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pribadi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perusahaan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yang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bisa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diakses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oleh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pengunjung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Email Marketing: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Penggunaan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email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sebagai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alat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menyebarkan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kepada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pelanggan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subscriber.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Streaming Platforms: Platform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Twitch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YouTube Live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memungkinkan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penyebaran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secara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langsung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melalui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streaming.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Marketplace Digital: Platform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Amazon, eBay,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Etsy yang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digunakan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menjual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digital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seperti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e-book,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musik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desain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grafis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  <a:buFont typeface="+mj-lt"/>
              <a:buAutoNum type="arabicPeriod"/>
            </a:pP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Platform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Berbagi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Dokumen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Scribd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SlideShare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untuk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menyebarkan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dokumen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16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presentasi</a:t>
            </a:r>
            <a:r>
              <a:rPr lang="en-US" sz="16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dan e-book.</a:t>
            </a:r>
          </a:p>
        </p:txBody>
      </p:sp>
    </p:spTree>
    <p:extLst>
      <p:ext uri="{BB962C8B-B14F-4D97-AF65-F5344CB8AC3E}">
        <p14:creationId xmlns:p14="http://schemas.microsoft.com/office/powerpoint/2010/main" val="2158615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 err="1"/>
              <a:t>Aktivitas</a:t>
            </a:r>
            <a:r>
              <a:rPr lang="en-US" dirty="0"/>
              <a:t> 7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Tujuan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Peserta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pelatihan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mendesiminasikan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merefleksikan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dan 			 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berinovasi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konten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digital.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Plugged	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Platform Video: YouTube dan TikTok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 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Unplugged	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Mading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Papan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Tugas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Kelas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7635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US" dirty="0"/>
              <a:t>Langkah-Langkah </a:t>
            </a:r>
            <a:r>
              <a:rPr lang="en-US" dirty="0" err="1"/>
              <a:t>Aktivitas</a:t>
            </a:r>
            <a:r>
              <a:rPr lang="en-US" dirty="0"/>
              <a:t> 7</a:t>
            </a:r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Diseminasikan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video pada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6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platform video: YouTube </a:t>
            </a:r>
            <a:r>
              <a:rPr lang="en-US" sz="2400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TikTok</a:t>
            </a:r>
          </a:p>
        </p:txBody>
      </p:sp>
    </p:spTree>
    <p:extLst>
      <p:ext uri="{BB962C8B-B14F-4D97-AF65-F5344CB8AC3E}">
        <p14:creationId xmlns:p14="http://schemas.microsoft.com/office/powerpoint/2010/main" val="106119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8F953A-BA00-47F3-8B98-F8E4E283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Lembar </a:t>
            </a:r>
            <a:r>
              <a:rPr lang="en-US" dirty="0" err="1"/>
              <a:t>Kerja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F5DC6-1EDA-4CB6-A953-0F48F4171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Memahami</a:t>
            </a:r>
            <a:endParaRPr lang="en-ID" dirty="0"/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4F1573B0-7C25-484D-9F8A-B01278CE4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5920" y="2261870"/>
            <a:ext cx="2081530" cy="2081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9738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D4A3F-9E7E-4473-AEF5-52FBAAD6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LK </a:t>
            </a:r>
            <a:r>
              <a:rPr lang="en-US" dirty="0" err="1"/>
              <a:t>Mengaplikasi</a:t>
            </a:r>
            <a:r>
              <a:rPr lang="en-US" dirty="0"/>
              <a:t> (2.5)</a:t>
            </a:r>
            <a:endParaRPr lang="en-ID" dirty="0"/>
          </a:p>
        </p:txBody>
      </p:sp>
      <p:sp>
        <p:nvSpPr>
          <p:cNvPr id="3" name="Google Shape;99;p6">
            <a:extLst>
              <a:ext uri="{FF2B5EF4-FFF2-40B4-BE49-F238E27FC236}">
                <a16:creationId xmlns:a16="http://schemas.microsoft.com/office/drawing/2014/main" id="{51BB4E18-9DC0-42FF-9013-012CB59DCC47}"/>
              </a:ext>
            </a:extLst>
          </p:cNvPr>
          <p:cNvSpPr txBox="1"/>
          <p:nvPr/>
        </p:nvSpPr>
        <p:spPr>
          <a:xfrm>
            <a:off x="838200" y="2240344"/>
            <a:ext cx="1061008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Instruksi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: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Kerjakanlah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Mengaplikasi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LK 2.5</a:t>
            </a: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Kerjakan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6 dan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7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Unggah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atau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sematkan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b="1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link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hasil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6 dan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Aktivitas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7 </a:t>
            </a:r>
            <a:r>
              <a:rPr lang="en-US" sz="2400" dirty="0" err="1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dalam</a:t>
            </a:r>
            <a:r>
              <a:rPr lang="en-US" sz="2400" dirty="0">
                <a:solidFill>
                  <a:srgbClr val="1E4E79"/>
                </a:solidFill>
                <a:latin typeface="Calibri"/>
                <a:cs typeface="Calibri"/>
                <a:sym typeface="Calibri"/>
              </a:rPr>
              <a:t> LMS</a:t>
            </a:r>
            <a:endParaRPr lang="en-US" sz="2400" b="1" dirty="0">
              <a:solidFill>
                <a:srgbClr val="1E4E79"/>
              </a:solidFill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1561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D90805-E280-4F01-B338-E8D09A26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/>
              <a:t>Sesi</a:t>
            </a:r>
            <a:r>
              <a:rPr lang="en-US" i="1" dirty="0"/>
              <a:t> Q&amp;A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B3FD5-3243-44E8-BBB6-F8D658275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61589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endParaRPr lang="en-US" dirty="0"/>
          </a:p>
        </p:txBody>
      </p:sp>
      <p:sp>
        <p:nvSpPr>
          <p:cNvPr id="112" name="Google Shape;112;p8"/>
          <p:cNvSpPr/>
          <p:nvPr/>
        </p:nvSpPr>
        <p:spPr>
          <a:xfrm>
            <a:off x="838200" y="2421441"/>
            <a:ext cx="10783824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40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Selamat</a:t>
            </a:r>
            <a:r>
              <a:rPr lang="en-US" sz="40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 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Anda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telah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berhasil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menyelesaikan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materi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dalam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Modul 2 Sub Bab 2.2</a:t>
            </a: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Sekarang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Anda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mengerjakan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Aktivitas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Pembelajaran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agar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dapat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memahami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mengeksplorasi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dan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merefleksikan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pembelajaran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Anda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selama</a:t>
            </a:r>
            <a:r>
              <a:rPr lang="en-US" sz="2400" b="1" dirty="0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Sub Modul  </a:t>
            </a:r>
            <a:r>
              <a:rPr lang="en-US" sz="2400" b="1" dirty="0" err="1">
                <a:solidFill>
                  <a:srgbClr val="1E4E7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</a:t>
            </a: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b="1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R="0" lvl="0" algn="ctr" rtl="0"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200"/>
            </a:pPr>
            <a:endParaRPr lang="en-US" sz="2400" dirty="0">
              <a:solidFill>
                <a:srgbClr val="1E4E7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07410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</a:pPr>
            <a:r>
              <a:rPr lang="en-US"/>
              <a:t>Penutup</a:t>
            </a:r>
            <a:endParaRPr/>
          </a:p>
        </p:txBody>
      </p:sp>
      <p:sp>
        <p:nvSpPr>
          <p:cNvPr id="415" name="Google Shape;415;p4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6000"/>
              <a:buFont typeface="Calibri"/>
              <a:buNone/>
            </a:pPr>
            <a:r>
              <a:rPr lang="en-US"/>
              <a:t>Terima Kasih</a:t>
            </a:r>
            <a:endParaRPr/>
          </a:p>
        </p:txBody>
      </p:sp>
      <p:sp>
        <p:nvSpPr>
          <p:cNvPr id="429" name="Google Shape;429;p4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828</Words>
  <Application>Microsoft Office PowerPoint</Application>
  <PresentationFormat>Widescreen</PresentationFormat>
  <Paragraphs>105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Poppins</vt:lpstr>
      <vt:lpstr>Arial</vt:lpstr>
      <vt:lpstr>Helvetica Neue</vt:lpstr>
      <vt:lpstr>Calibri</vt:lpstr>
      <vt:lpstr>Office Theme</vt:lpstr>
      <vt:lpstr>Literasi Algoritma dan  Konten Digital</vt:lpstr>
      <vt:lpstr>Produksi Konten dan Desiminasi Konten Digital</vt:lpstr>
      <vt:lpstr>Kesepakatan Belajar</vt:lpstr>
      <vt:lpstr>Mindfulness</vt:lpstr>
      <vt:lpstr>Lembar Kerja</vt:lpstr>
      <vt:lpstr>LK Memahami (2.4.a dan 2.4.b)</vt:lpstr>
      <vt:lpstr>Mengelola data dalam kehidupan sehari-hari</vt:lpstr>
      <vt:lpstr>Unsur-unsur Komunikasi</vt:lpstr>
      <vt:lpstr>Strategi Dalam Penyusunan Pesan</vt:lpstr>
      <vt:lpstr>Prinsip-prinsip Dalam Penyusunan Tata Letak</vt:lpstr>
      <vt:lpstr>Alat Dan Platform Untuk Produksi</vt:lpstr>
      <vt:lpstr>Pembuatan Konten Digital</vt:lpstr>
      <vt:lpstr>Aktivitas 6</vt:lpstr>
      <vt:lpstr>Langkah-Langkah Aktivitas 6</vt:lpstr>
      <vt:lpstr>Diseminasi Konten Digital</vt:lpstr>
      <vt:lpstr>Diseminasi Konten Digital</vt:lpstr>
      <vt:lpstr>Aktivitas 7</vt:lpstr>
      <vt:lpstr>Langkah-Langkah Aktivitas 7</vt:lpstr>
      <vt:lpstr>Lembar Kerja</vt:lpstr>
      <vt:lpstr>LK Mengaplikasi (2.5)</vt:lpstr>
      <vt:lpstr>Sesi Q&amp;A</vt:lpstr>
      <vt:lpstr>PowerPoint Presentation</vt:lpstr>
      <vt:lpstr>Penutup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KODING DAN KECERDASAN ARTIFISIAL</dc:title>
  <dc:creator>Yoki Ariyana</dc:creator>
  <cp:lastModifiedBy>insanbjn</cp:lastModifiedBy>
  <cp:revision>7</cp:revision>
  <dcterms:created xsi:type="dcterms:W3CDTF">2025-05-02T05:28:58Z</dcterms:created>
  <dcterms:modified xsi:type="dcterms:W3CDTF">2025-06-24T16:42:16Z</dcterms:modified>
</cp:coreProperties>
</file>